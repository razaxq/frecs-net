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15270b54c1b4616" /><Relationship Type="http://schemas.openxmlformats.org/officeDocument/2006/relationships/extended-properties" Target="/docProps/app.xml" Id="Rad56ddcac68a46a5" /><Relationship Type="http://schemas.openxmlformats.org/officeDocument/2006/relationships/officeDocument" Target="/ppt/presentation.xml" Id="Rd564044830064cd9" /></Relationships>
</file>

<file path=ppt/presentation.xml><?xml version="1.0" encoding="utf-8"?>
<p:presentation xmlns:p="http://schemas.openxmlformats.org/presentationml/2006/main">
  <p:sldMasterIdLst>
    <p:sldMasterId xmlns:r="http://schemas.openxmlformats.org/officeDocument/2006/relationships" id="2147483648" r:id="Re31fef4b761c4dba"/>
  </p:sldMasterIdLst>
  <p:notesMasterIdLst>
    <p:notesMasterId xmlns:r="http://schemas.openxmlformats.org/officeDocument/2006/relationships" r:id="R06c0a6baab4c48f6"/>
  </p:notesMasterIdLst>
  <p:sldIdLst>
    <p:sldId xmlns:r="http://schemas.openxmlformats.org/officeDocument/2006/relationships" id="256" r:id="R1e1e5ba1c99745a0"/>
    <p:sldId xmlns:r="http://schemas.openxmlformats.org/officeDocument/2006/relationships" id="257" r:id="R1cdd2b7786b94927"/>
    <p:sldId xmlns:r="http://schemas.openxmlformats.org/officeDocument/2006/relationships" id="258" r:id="Re64f416c6d1942b9"/>
    <p:sldId xmlns:r="http://schemas.openxmlformats.org/officeDocument/2006/relationships" id="259" r:id="Rf78920b07cf64420"/>
    <p:sldId xmlns:r="http://schemas.openxmlformats.org/officeDocument/2006/relationships" id="260" r:id="R457ff1ede0174b53"/>
    <p:sldId xmlns:r="http://schemas.openxmlformats.org/officeDocument/2006/relationships" id="261" r:id="R6569921781004d4a"/>
    <p:sldId xmlns:r="http://schemas.openxmlformats.org/officeDocument/2006/relationships" id="262" r:id="Rd188103210f0416f"/>
    <p:sldId xmlns:r="http://schemas.openxmlformats.org/officeDocument/2006/relationships" id="263" r:id="R3e34d171e51d4306"/>
    <p:sldId xmlns:r="http://schemas.openxmlformats.org/officeDocument/2006/relationships" id="264" r:id="R4eff55daabe54440"/>
    <p:sldId xmlns:r="http://schemas.openxmlformats.org/officeDocument/2006/relationships" id="265" r:id="R1d97a8dff68c4fca"/>
    <p:sldId xmlns:r="http://schemas.openxmlformats.org/officeDocument/2006/relationships" id="266" r:id="R13d7bdf5ea144dcc"/>
    <p:sldId xmlns:r="http://schemas.openxmlformats.org/officeDocument/2006/relationships" id="267" r:id="Ra657ce00fbe74a00"/>
    <p:sldId xmlns:r="http://schemas.openxmlformats.org/officeDocument/2006/relationships" id="268" r:id="R81c2f4f6f82d4d2d"/>
    <p:sldId xmlns:r="http://schemas.openxmlformats.org/officeDocument/2006/relationships" id="269" r:id="R2baa689a330745ff"/>
    <p:sldId xmlns:r="http://schemas.openxmlformats.org/officeDocument/2006/relationships" id="270" r:id="R415a986f09f143df"/>
    <p:sldId xmlns:r="http://schemas.openxmlformats.org/officeDocument/2006/relationships" id="271" r:id="Ra0d9cb59beab4f98"/>
    <p:sldId xmlns:r="http://schemas.openxmlformats.org/officeDocument/2006/relationships" id="272" r:id="Rf806a98c392b466e"/>
    <p:sldId xmlns:r="http://schemas.openxmlformats.org/officeDocument/2006/relationships" id="273" r:id="R6c708943d7f343ba"/>
    <p:sldId xmlns:r="http://schemas.openxmlformats.org/officeDocument/2006/relationships" id="274" r:id="R81d5a59a11544895"/>
    <p:sldId xmlns:r="http://schemas.openxmlformats.org/officeDocument/2006/relationships" id="275" r:id="Ra1cd9f8ec5d14b18"/>
    <p:sldId xmlns:r="http://schemas.openxmlformats.org/officeDocument/2006/relationships" id="276" r:id="R8de5222c67dd4b56"/>
    <p:sldId xmlns:r="http://schemas.openxmlformats.org/officeDocument/2006/relationships" id="277" r:id="Rccf82bd53ea84caa"/>
    <p:sldId xmlns:r="http://schemas.openxmlformats.org/officeDocument/2006/relationships" id="278" r:id="R05563041ef484062"/>
    <p:sldId xmlns:r="http://schemas.openxmlformats.org/officeDocument/2006/relationships" id="279" r:id="R9e6ba46b9fd54f94"/>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2b1676d1b3c4712" /><Relationship Type="http://schemas.openxmlformats.org/officeDocument/2006/relationships/slideMaster" Target="/ppt/slideMasters/slideMaster1.xml" Id="Re31fef4b761c4dba" /><Relationship Type="http://schemas.openxmlformats.org/officeDocument/2006/relationships/notesMaster" Target="/ppt/notesMasters/notesMaster1.xml" Id="R06c0a6baab4c48f6" /><Relationship Type="http://schemas.openxmlformats.org/officeDocument/2006/relationships/presProps" Target="/ppt/presProps.xml" Id="Raec56dce312241e1" /><Relationship Type="http://schemas.openxmlformats.org/officeDocument/2006/relationships/viewProps" Target="/ppt/viewProps.xml" Id="R276a891fe494409f" /><Relationship Type="http://schemas.openxmlformats.org/officeDocument/2006/relationships/tableStyles" Target="/ppt/tableStyles.xml" Id="Rd34461df2b7c4bf7" /><Relationship Type="http://schemas.openxmlformats.org/officeDocument/2006/relationships/slide" Target="/ppt/slides/slide1.xml" Id="R1e1e5ba1c99745a0" /><Relationship Type="http://schemas.openxmlformats.org/officeDocument/2006/relationships/slide" Target="/ppt/slides/slide2.xml" Id="R1cdd2b7786b94927" /><Relationship Type="http://schemas.openxmlformats.org/officeDocument/2006/relationships/slide" Target="/ppt/slides/slide3.xml" Id="Re64f416c6d1942b9" /><Relationship Type="http://schemas.openxmlformats.org/officeDocument/2006/relationships/slide" Target="/ppt/slides/slide4.xml" Id="Rf78920b07cf64420" /><Relationship Type="http://schemas.openxmlformats.org/officeDocument/2006/relationships/slide" Target="/ppt/slides/slide5.xml" Id="R457ff1ede0174b53" /><Relationship Type="http://schemas.openxmlformats.org/officeDocument/2006/relationships/slide" Target="/ppt/slides/slide6.xml" Id="R6569921781004d4a" /><Relationship Type="http://schemas.openxmlformats.org/officeDocument/2006/relationships/slide" Target="/ppt/slides/slide7.xml" Id="Rd188103210f0416f" /><Relationship Type="http://schemas.openxmlformats.org/officeDocument/2006/relationships/slide" Target="/ppt/slides/slide8.xml" Id="R3e34d171e51d4306" /><Relationship Type="http://schemas.openxmlformats.org/officeDocument/2006/relationships/slide" Target="/ppt/slides/slide9.xml" Id="R4eff55daabe54440" /><Relationship Type="http://schemas.openxmlformats.org/officeDocument/2006/relationships/slide" Target="/ppt/slides/slide10.xml" Id="R1d97a8dff68c4fca" /><Relationship Type="http://schemas.openxmlformats.org/officeDocument/2006/relationships/slide" Target="/ppt/slides/slide11.xml" Id="R13d7bdf5ea144dcc" /><Relationship Type="http://schemas.openxmlformats.org/officeDocument/2006/relationships/slide" Target="/ppt/slides/slide12.xml" Id="Ra657ce00fbe74a00" /><Relationship Type="http://schemas.openxmlformats.org/officeDocument/2006/relationships/slide" Target="/ppt/slides/slide13.xml" Id="R81c2f4f6f82d4d2d" /><Relationship Type="http://schemas.openxmlformats.org/officeDocument/2006/relationships/slide" Target="/ppt/slides/slide14.xml" Id="R2baa689a330745ff" /><Relationship Type="http://schemas.openxmlformats.org/officeDocument/2006/relationships/slide" Target="/ppt/slides/slide15.xml" Id="R415a986f09f143df" /><Relationship Type="http://schemas.openxmlformats.org/officeDocument/2006/relationships/slide" Target="/ppt/slides/slide16.xml" Id="Ra0d9cb59beab4f98" /><Relationship Type="http://schemas.openxmlformats.org/officeDocument/2006/relationships/slide" Target="/ppt/slides/slide17.xml" Id="Rf806a98c392b466e" /><Relationship Type="http://schemas.openxmlformats.org/officeDocument/2006/relationships/slide" Target="/ppt/slides/slide18.xml" Id="R6c708943d7f343ba" /><Relationship Type="http://schemas.openxmlformats.org/officeDocument/2006/relationships/slide" Target="/ppt/slides/slide19.xml" Id="R81d5a59a11544895" /><Relationship Type="http://schemas.openxmlformats.org/officeDocument/2006/relationships/slide" Target="/ppt/slides/slide20.xml" Id="Ra1cd9f8ec5d14b18" /><Relationship Type="http://schemas.openxmlformats.org/officeDocument/2006/relationships/slide" Target="/ppt/slides/slide21.xml" Id="R8de5222c67dd4b56" /><Relationship Type="http://schemas.openxmlformats.org/officeDocument/2006/relationships/slide" Target="/ppt/slides/slide22.xml" Id="Rccf82bd53ea84caa" /><Relationship Type="http://schemas.openxmlformats.org/officeDocument/2006/relationships/slide" Target="/ppt/slides/slide23.xml" Id="R05563041ef484062" /><Relationship Type="http://schemas.openxmlformats.org/officeDocument/2006/relationships/slide" Target="/ppt/slides/slide24.xml" Id="R9e6ba46b9fd54f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7f40253e694a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db334cb47b4e4c" /><Relationship Type="http://schemas.openxmlformats.org/officeDocument/2006/relationships/notesMaster" Target="/ppt/notesMasters/notesMaster1.xml" Id="R2641bfa3e3d141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b4369216964721" /><Relationship Type="http://schemas.openxmlformats.org/officeDocument/2006/relationships/notesMaster" Target="/ppt/notesMasters/notesMaster1.xml" Id="Rb1655c16bd8943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d5a7da108743f9" /><Relationship Type="http://schemas.openxmlformats.org/officeDocument/2006/relationships/notesMaster" Target="/ppt/notesMasters/notesMaster1.xml" Id="Re1b9372f288641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5b7bd0dd184c4d" /><Relationship Type="http://schemas.openxmlformats.org/officeDocument/2006/relationships/notesMaster" Target="/ppt/notesMasters/notesMaster1.xml" Id="R96aa4e0a581b48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303cc38a464a8c" /><Relationship Type="http://schemas.openxmlformats.org/officeDocument/2006/relationships/notesMaster" Target="/ppt/notesMasters/notesMaster1.xml" Id="Rc9038222846942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116017113d4f44" /><Relationship Type="http://schemas.openxmlformats.org/officeDocument/2006/relationships/notesMaster" Target="/ppt/notesMasters/notesMaster1.xml" Id="Rd68ec1110c224e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7684973bd047e2" /><Relationship Type="http://schemas.openxmlformats.org/officeDocument/2006/relationships/notesMaster" Target="/ppt/notesMasters/notesMaster1.xml" Id="Rba2403095ed549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0fe97598784a1f" /><Relationship Type="http://schemas.openxmlformats.org/officeDocument/2006/relationships/notesMaster" Target="/ppt/notesMasters/notesMaster1.xml" Id="Rb3f26593577947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37a6f1f57f4e89" /><Relationship Type="http://schemas.openxmlformats.org/officeDocument/2006/relationships/notesMaster" Target="/ppt/notesMasters/notesMaster1.xml" Id="R4775aa62a0f84d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206da0e76f643a1" /><Relationship Type="http://schemas.openxmlformats.org/officeDocument/2006/relationships/notesMaster" Target="/ppt/notesMasters/notesMaster1.xml" Id="Rf4b2a3d135c54e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55df9b31fb4ca0" /><Relationship Type="http://schemas.openxmlformats.org/officeDocument/2006/relationships/notesMaster" Target="/ppt/notesMasters/notesMaster1.xml" Id="Rf77e84fb34cc44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52b18c1561d497a" /><Relationship Type="http://schemas.openxmlformats.org/officeDocument/2006/relationships/notesMaster" Target="/ppt/notesMasters/notesMaster1.xml" Id="R99061728a4d94c4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56d7308f1454155" /><Relationship Type="http://schemas.openxmlformats.org/officeDocument/2006/relationships/notesMaster" Target="/ppt/notesMasters/notesMaster1.xml" Id="R384684ebd8b9440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81a1455920348b2" /><Relationship Type="http://schemas.openxmlformats.org/officeDocument/2006/relationships/notesMaster" Target="/ppt/notesMasters/notesMaster1.xml" Id="R3295226d298949b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273f85f81549d9" /><Relationship Type="http://schemas.openxmlformats.org/officeDocument/2006/relationships/notesMaster" Target="/ppt/notesMasters/notesMaster1.xml" Id="Rf177c5ef1a03484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0f78d6dbb4d4afb" /><Relationship Type="http://schemas.openxmlformats.org/officeDocument/2006/relationships/notesMaster" Target="/ppt/notesMasters/notesMaster1.xml" Id="R2383dfac157645c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368c0bab22b4c37" /><Relationship Type="http://schemas.openxmlformats.org/officeDocument/2006/relationships/notesMaster" Target="/ppt/notesMasters/notesMaster1.xml" Id="R650143abcf0d459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1809d806226486c" /><Relationship Type="http://schemas.openxmlformats.org/officeDocument/2006/relationships/notesMaster" Target="/ppt/notesMasters/notesMaster1.xml" Id="R333e8080c2cc49e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4dd1082f7334411" /><Relationship Type="http://schemas.openxmlformats.org/officeDocument/2006/relationships/notesMaster" Target="/ppt/notesMasters/notesMaster1.xml" Id="Rb10d7bb30073476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b4540ecdc344db5" /><Relationship Type="http://schemas.openxmlformats.org/officeDocument/2006/relationships/notesMaster" Target="/ppt/notesMasters/notesMaster1.xml" Id="R8bf83ecc2aaa40c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a0fe2610e8e4011" /><Relationship Type="http://schemas.openxmlformats.org/officeDocument/2006/relationships/notesMaster" Target="/ppt/notesMasters/notesMaster1.xml" Id="R2b763607ac8b4ff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88c1d88d4ff459e" /><Relationship Type="http://schemas.openxmlformats.org/officeDocument/2006/relationships/notesMaster" Target="/ppt/notesMasters/notesMaster1.xml" Id="Rb130e2c621e64f4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4544d6d5dc04a9e" /><Relationship Type="http://schemas.openxmlformats.org/officeDocument/2006/relationships/notesMaster" Target="/ppt/notesMasters/notesMaster1.xml" Id="Re2ff77551c614e4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b8a067e92c345ef" /><Relationship Type="http://schemas.openxmlformats.org/officeDocument/2006/relationships/notesMaster" Target="/ppt/notesMasters/notesMaster1.xml" Id="R9d7c7a3f1b0442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notes</a:t>
            </a:r>
          </a:p>
          <a:p xmlns:a="http://schemas.openxmlformats.org/drawingml/2006/main">
            <a:r>
              <a:t>This work studies FSDR and complete RACE for text-guided infection segmentation in chest X-rays. All headline results use the fixed Test split and the matched single-cycle cosine study.</a:t>
            </a:r>
          </a:p>
          <a:p xmlns:a="http://schemas.openxmlformats.org/drawingml/2006/main">
            <a:r>
              <a:t/>
            </a:r>
            <a:endParaRPr/>
          </a:p>
          <a:p xmlns:a="http://schemas.openxmlformats.org/drawingml/2006/main">
            <a:r>
              <a:t>中文讲稿</a:t>
            </a:r>
          </a:p>
          <a:p xmlns:a="http://schemas.openxmlformats.org/drawingml/2006/main">
            <a:r>
              <a:t>本次汇报介绍 FSDR 和完整 RACE 胸片感染分割。主结论来自固定测试集，以及采用单次余弦的匹配实验。</a:t>
            </a:r>
          </a:p>
          <a:p xmlns:a="http://schemas.openxmlformats.org/drawingml/2006/main">
            <a:r>
              <a:t/>
            </a:r>
            <a:endParaRPr/>
          </a:p>
          <a:p xmlns:a="http://schemas.openxmlformats.org/drawingml/2006/main">
            <a:r>
              <a:t>Sources</a:t>
            </a:r>
          </a:p>
          <a:p xmlns:a="http://schemas.openxmlformats.org/drawingml/2006/main">
            <a:r>
              <a:t>evidence/primary_results.json</a:t>
            </a:r>
          </a:p>
          <a:p xmlns:a="http://schemas.openxmlformats.org/drawingml/2006/main">
            <a:r>
              <a:t>Original: docs/results/stage1_overall_20260915/FINAL_RESULTS.json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notes</a:t>
            </a:r>
          </a:p>
          <a:p xmlns:a="http://schemas.openxmlformats.org/drawingml/2006/main">
            <a:r>
              <a:t>The input is a chest X-ray and its dataset-provided text description, and the target is a binary infection mask. This is the exact description paired with C07. Anatomical wording is preserved as supplied; it is not a new clinical interpretation. The design motivations are detail-preserving fusion and report-image agreement.</a:t>
            </a:r>
          </a:p>
          <a:p xmlns:a="http://schemas.openxmlformats.org/drawingml/2006/main">
            <a:r>
              <a:t/>
            </a:r>
          </a:p>
          <a:p xmlns:a="http://schemas.openxmlformats.org/drawingml/2006/main">
            <a:r>
              <a:t>中文讲稿</a:t>
            </a:r>
          </a:p>
          <a:p xmlns:a="http://schemas.openxmlformats.org/drawingml/2006/main">
            <a:r>
              <a:t>输入为胸片和数据集配套描述，输出感染二值掩膜。展示的是 C07 原始配对描述，保留数据集解剖措辞，不重新进行临床判断。设计动机是兼顾语义与细节，并在报告引导中引入视觉一致性。</a:t>
            </a:r>
          </a:p>
          <a:p xmlns:a="http://schemas.openxmlformats.org/drawingml/2006/main">
            <a:r>
              <a:t/>
            </a:r>
          </a:p>
          <a:p xmlns:a="http://schemas.openxmlformats.org/drawingml/2006/main">
            <a:r>
              <a:t>Sources</a:t>
            </a:r>
          </a:p>
          <a:p xmlns:a="http://schemas.openxmlformats.org/drawingml/2006/main">
            <a:r>
              <a:t>evidence/case_reports.json</a:t>
            </a:r>
          </a:p>
          <a:p xmlns:a="http://schemas.openxmlformats.org/drawingml/2006/main">
            <a:r>
              <a:t>assets/C07_image.png</a:t>
            </a:r>
          </a:p>
          <a:p xmlns:a="http://schemas.openxmlformats.org/drawingml/2006/main">
            <a:r>
              <a:t>assets/C07_gt.png</a:t>
            </a:r>
          </a:p>
          <a:p xmlns:a="http://schemas.openxmlformats.org/drawingml/2006/main">
            <a:r>
              <a:t>evidence/qualitative_selection.json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notes</a:t>
            </a:r>
          </a:p>
          <a:p xmlns:a="http://schemas.openxmlformats.org/drawingml/2006/main">
            <a:r>
              <a:t>FSDR changes decoder skip fusion. Complete RACE refines CNN skips using report, anatomy and visual evidence and includes auxiliary training. The gains are 0.5058 and 0.2428 percentage points, respectively. Auxiliary supervision is not claimed as a separate innovation.</a:t>
            </a:r>
          </a:p>
          <a:p xmlns:a="http://schemas.openxmlformats.org/drawingml/2006/main">
            <a:r>
              <a:t/>
            </a:r>
          </a:p>
          <a:p xmlns:a="http://schemas.openxmlformats.org/drawingml/2006/main">
            <a:r>
              <a:t>中文讲稿</a:t>
            </a:r>
          </a:p>
          <a:p xmlns:a="http://schemas.openxmlformats.org/drawingml/2006/main">
            <a:r>
              <a:t>FSDR 改变解码器跳跃融合。完整 RACE 利用报告、解剖与视觉证据精炼 CNN 跳连，并包含辅助训练。两项增益分别为 0.5058 和 0.2428 个百分点，不将辅助监督单独计为创新点。</a:t>
            </a:r>
          </a:p>
          <a:p xmlns:a="http://schemas.openxmlformats.org/drawingml/2006/main">
            <a:r>
              <a:t/>
            </a:r>
          </a:p>
          <a:p xmlns:a="http://schemas.openxmlformats.org/drawingml/2006/main">
            <a:r>
              <a:t>Sources</a:t>
            </a:r>
          </a:p>
          <a:p xmlns:a="http://schemas.openxmlformats.org/drawingml/2006/main">
            <a:r>
              <a:t>evidence/primary_results.json</a:t>
            </a:r>
          </a:p>
          <a:p xmlns:a="http://schemas.openxmlformats.org/drawingml/2006/main">
            <a:r>
              <a:t>Original: docs/results/stage1_overall_20260915/FINAL_RESULTS.json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notes</a:t>
            </a:r>
          </a:p>
          <a:p xmlns:a="http://schemas.openxmlformats.org/drawingml/2006/main">
            <a:r>
              <a:t>The double-U structure follows LViT. CNN features enter the same-scale ViT stages, and reconstructed ViT features V1–V4 return to the decoder. RACE refines only the decoder-bound CNN skips; the CNN encoder continues with the original features. FSDR is inside each up stage and replaces PLAM fusion. The labelled ViT, text and anatomy ports avoid crossing wires. Adaptive filtering is active only at up4 and up3.</a:t>
            </a:r>
          </a:p>
          <a:p xmlns:a="http://schemas.openxmlformats.org/drawingml/2006/main">
            <a:r>
              <a:t/>
            </a:r>
          </a:p>
          <a:p xmlns:a="http://schemas.openxmlformats.org/drawingml/2006/main">
            <a:r>
              <a:t>中文讲稿</a:t>
            </a:r>
          </a:p>
          <a:p xmlns:a="http://schemas.openxmlformats.org/drawingml/2006/main">
            <a:r>
              <a:t>整体保留 LViT 双 U 结构。同尺度 CNN 特征进入 ViT，重建 ViT 特征 V1–V4 返回解码器。RACE 仅精炼发往解码器的 CNN 跳连，编码器主路径继续使用原特征。FSDR 位于每个 up stage 内，替换 PLAM 融合。图中以同名端口连接 ViT、文本和解剖条件，自适应滤波仅作用于 up4/up3。</a:t>
            </a:r>
          </a:p>
          <a:p xmlns:a="http://schemas.openxmlformats.org/drawingml/2006/main">
            <a:r>
              <a:t/>
            </a:r>
          </a:p>
          <a:p xmlns:a="http://schemas.openxmlformats.org/drawingml/2006/main">
            <a:r>
              <a:t>Sources</a:t>
            </a:r>
          </a:p>
          <a:p xmlns:a="http://schemas.openxmlformats.org/drawingml/2006/main">
            <a:r>
              <a:t>nets/LViT.py</a:t>
            </a:r>
          </a:p>
          <a:p xmlns:a="http://schemas.openxmlformats.org/drawingml/2006/main">
            <a:r>
              <a:t>nets/eppa.py</a:t>
            </a:r>
          </a:p>
          <a:p xmlns:a="http://schemas.openxmlformats.org/drawingml/2006/main">
            <a:r>
              <a:t>nets/race_fuse.py</a:t>
            </a:r>
          </a:p>
          <a:p xmlns:a="http://schemas.openxmlformats.org/drawingml/2006/main">
            <a:r>
              <a:t>docs/presentations/20260922/drawio/FSDR_RACE_architecture_concise.drawio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notes</a:t>
            </a:r>
          </a:p>
          <a:p xmlns:a="http://schemas.openxmlformats.org/drawingml/2006/main">
            <a:r>
              <a:t>PLAM receives the sum of CNN and reconstructed ViT features. FSDR keeps CNN, ViT, decoder and text features separate while computing corrections. It outputs a refined skip Y and decoder D prime before concatenation and two convolutions. D prime equals D at shallow stages. The matched baseline uses our common recipe, not an unchanged reproduction of the official training pipeline.</a:t>
            </a:r>
          </a:p>
          <a:p xmlns:a="http://schemas.openxmlformats.org/drawingml/2006/main">
            <a:r>
              <a:t/>
            </a:r>
            <a:endParaRPr/>
          </a:p>
          <a:p xmlns:a="http://schemas.openxmlformats.org/drawingml/2006/main">
            <a:r>
              <a:t>中文讲稿</a:t>
            </a:r>
          </a:p>
          <a:p xmlns:a="http://schemas.openxmlformats.org/drawingml/2006/main">
            <a:r>
              <a:t>PLAM 接收 CNN 与 ViT 重建特征之和。FSDR 在计算修正时保留 CNN、ViT、解码器和文本来源，输出 Y 与 D′ 后再拼接并卷积。浅层 D′=D。匹配基线使用本研究共同配方，不等同于官方完整训练流程原样复现。</a:t>
            </a:r>
          </a:p>
          <a:p xmlns:a="http://schemas.openxmlformats.org/drawingml/2006/main">
            <a:r>
              <a:t/>
            </a:r>
            <a:endParaRPr/>
          </a:p>
          <a:p xmlns:a="http://schemas.openxmlformats.org/drawingml/2006/main">
            <a:r>
              <a:t>Sources</a:t>
            </a:r>
          </a:p>
          <a:p xmlns:a="http://schemas.openxmlformats.org/drawingml/2006/main">
            <a:r>
              <a:t>nets/LViT.py</a:t>
            </a:r>
          </a:p>
          <a:p xmlns:a="http://schemas.openxmlformats.org/drawingml/2006/main">
            <a:r>
              <a:t>nets/eppa.py</a:t>
            </a:r>
          </a:p>
          <a:p xmlns:a="http://schemas.openxmlformats.org/drawingml/2006/main">
            <a:r>
              <a:t>docs/results/plam_baseline_audit_20260916/AUDIT.md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notes</a:t>
            </a:r>
          </a:p>
          <a:p xmlns:a="http://schemas.openxmlformats.org/drawingml/2006/main">
            <a:r>
              <a:t>This schematic isolates the semantic-detail paths. Fixed Haar decomposition separates low and high frequencies. Low-frequency CNN, ViT and refined decoder context plus text produce semantic corrections and region support S. S guides high-frequency local and dilated convolution refinement. The original CNN feature bypass is retained. The equation also includes the adaptive residual, whose bank and decoder update appear in the backup. Dashed context ports are schematic; this is not a proof that each mechanism alone causes the measured gain.</a:t>
            </a:r>
          </a:p>
          <a:p xmlns:a="http://schemas.openxmlformats.org/drawingml/2006/main">
            <a:r>
              <a:t/>
            </a:r>
            <a:endParaRPr/>
          </a:p>
          <a:p xmlns:a="http://schemas.openxmlformats.org/drawingml/2006/main">
            <a:r>
              <a:t>中文讲稿</a:t>
            </a:r>
          </a:p>
          <a:p xmlns:a="http://schemas.openxmlformats.org/drawingml/2006/main">
            <a:r>
              <a:t>本页突出语义与细节两条路径：Haar 固定分频，低频 CNN、ViT、精炼解码器及文本产生语义修正与区域支持 S；S 引导高频局部/扩张卷积精炼。保留原始 CNN 特征恒等路径。公式中的自适应残差和 D′ 见备份。该图说明设计，不将各内部机制单独宣称为已验证的增益来源。</a:t>
            </a:r>
          </a:p>
          <a:p xmlns:a="http://schemas.openxmlformats.org/drawingml/2006/main">
            <a:r>
              <a:t/>
            </a:r>
            <a:endParaRPr/>
          </a:p>
          <a:p xmlns:a="http://schemas.openxmlformats.org/drawingml/2006/main">
            <a:r>
              <a:t>Sources</a:t>
            </a:r>
          </a:p>
          <a:p xmlns:a="http://schemas.openxmlformats.org/drawingml/2006/main">
            <a:r>
              <a:t>nets/eppa.py</a:t>
            </a:r>
          </a:p>
          <a:p xmlns:a="http://schemas.openxmlformats.org/drawingml/2006/main">
            <a:r>
              <a:t>docs/FSDR.md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notes</a:t>
            </a:r>
          </a:p>
          <a:p xmlns:a="http://schemas.openxmlformats.org/drawingml/2006/main">
            <a:r>
              <a:t>Text features are pooled and mapped to six slot logits and probabilities z. The anatomical basis B maps those values to a spatial prior P. CNN features yield visual evidence E; anatomical zone pooling gives q, compared with z to obtain an agreement scalar A. Their product is G. A bounded, initially zero residual scale preserves the identity path. GroupNorm and GELU are omitted from the diagram for clarity and remain in the code. Count and slot auxiliary objectives belong to training; ground truth is not used in inference. Complete RACE is what the three-seed experiment measures.</a:t>
            </a:r>
          </a:p>
          <a:p xmlns:a="http://schemas.openxmlformats.org/drawingml/2006/main">
            <a:r>
              <a:t/>
            </a:r>
            <a:endParaRPr/>
          </a:p>
          <a:p xmlns:a="http://schemas.openxmlformats.org/drawingml/2006/main">
            <a:r>
              <a:t>中文讲稿</a:t>
            </a:r>
          </a:p>
          <a:p xmlns:a="http://schemas.openxmlformats.org/drawingml/2006/main">
            <a:r>
              <a:t>文本经过池化与槽位预测得到 z，再与六区域解剖基底 B 形成空间先验 P。CNN 产生视觉证据 E，经区域池化得到 q，与 z 比较得到一致性标量 A。三者相乘为 G，以初始为零的有界残差尺度修正 C。图中为易读省略 GN/GELU，代码保留。计数及槽位辅助目标用于训练，推理无需 GT。三种子实验评价完整 RACE。</a:t>
            </a:r>
          </a:p>
          <a:p xmlns:a="http://schemas.openxmlformats.org/drawingml/2006/main">
            <a:r>
              <a:t/>
            </a:r>
            <a:endParaRPr/>
          </a:p>
          <a:p xmlns:a="http://schemas.openxmlformats.org/drawingml/2006/main">
            <a:r>
              <a:t>Sources</a:t>
            </a:r>
          </a:p>
          <a:p xmlns:a="http://schemas.openxmlformats.org/drawingml/2006/main">
            <a:r>
              <a:t>nets/race_fuse.py</a:t>
            </a:r>
          </a:p>
          <a:p xmlns:a="http://schemas.openxmlformats.org/drawingml/2006/main">
            <a:r>
              <a:t>nets/LViT.py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notes</a:t>
            </a:r>
          </a:p>
          <a:p xmlns:a="http://schemas.openxmlformats.org/drawingml/2006/main">
            <a:r>
              <a:t>The primary evidence uses a two-by-two architecture ablation across three seeds under one fixed protocol. Dice and Focal weights are 0.5 each, with focal gamma 2. The best checkpoint is selected only by validation macro IoU, then evaluated with a fixed strict threshold. The evaluation is retrospective, not an untouched prospective Test study.</a:t>
            </a:r>
          </a:p>
          <a:p xmlns:a="http://schemas.openxmlformats.org/drawingml/2006/main">
            <a:r>
              <a:t/>
            </a:r>
            <a:endParaRPr/>
          </a:p>
          <a:p xmlns:a="http://schemas.openxmlformats.org/drawingml/2006/main">
            <a:r>
              <a:t>中文讲稿</a:t>
            </a:r>
          </a:p>
          <a:p xmlns:a="http://schemas.openxmlformats.org/drawingml/2006/main">
            <a:r>
              <a:t>核心证据为固定配方下两因素四配置、三种子的消融。Dice/Focal 权重均为 0.5，gamma=2。以验证集 macro IoU 选 Best，固定严格 &gt;0.5 阈值后评估 Test。测试集曾用于研究，属于回顾性评价。</a:t>
            </a:r>
          </a:p>
          <a:p xmlns:a="http://schemas.openxmlformats.org/drawingml/2006/main">
            <a:r>
              <a:t/>
            </a:r>
            <a:endParaRPr/>
          </a:p>
          <a:p xmlns:a="http://schemas.openxmlformats.org/drawingml/2006/main">
            <a:r>
              <a:t>Sources</a:t>
            </a:r>
          </a:p>
          <a:p xmlns:a="http://schemas.openxmlformats.org/drawingml/2006/main">
            <a:r>
              <a:t>evidence/primary_results.json</a:t>
            </a:r>
          </a:p>
          <a:p xmlns:a="http://schemas.openxmlformats.org/drawingml/2006/main">
            <a:r>
              <a:t>Original: docs/results/stage1_overall_20260915/FINAL_RESULTS.json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notes</a:t>
            </a:r>
          </a:p>
          <a:p xmlns:a="http://schemas.openxmlformats.org/drawingml/2006/main">
            <a:r>
              <a:t>The combined model reaches 76.2262 plus or minus 0.0456 percent Test IoU and 84.7112 plus or minus 0.0348 percent Dice. Relative to matched PLAM the gains are 0.7487 and 0.6861 percentage points. Display rounding is two decimals, while every raw run is kept in the backup and source JSON. RACE means the complete module including auxiliary training.</a:t>
            </a:r>
          </a:p>
          <a:p xmlns:a="http://schemas.openxmlformats.org/drawingml/2006/main">
            <a:r>
              <a:t/>
            </a:r>
            <a:endParaRPr/>
          </a:p>
          <a:p xmlns:a="http://schemas.openxmlformats.org/drawingml/2006/main">
            <a:r>
              <a:t>中文讲稿</a:t>
            </a:r>
          </a:p>
          <a:p xmlns:a="http://schemas.openxmlformats.org/drawingml/2006/main">
            <a:r>
              <a:t>组合 Test IoU 为 76.2262±0.0456%，Dice 为 84.7112±0.0348%；相对匹配 PLAM 分别提高 0.7487 和 0.6861 个百分点。主表仅显示两位小数，全部原始运行与更高精度保留在备份和 JSON。RACE 指包含辅助训练的完整模块。</a:t>
            </a:r>
          </a:p>
          <a:p xmlns:a="http://schemas.openxmlformats.org/drawingml/2006/main">
            <a:r>
              <a:t/>
            </a:r>
            <a:endParaRPr/>
          </a:p>
          <a:p xmlns:a="http://schemas.openxmlformats.org/drawingml/2006/main">
            <a:r>
              <a:t>Sources</a:t>
            </a:r>
          </a:p>
          <a:p xmlns:a="http://schemas.openxmlformats.org/drawingml/2006/main">
            <a:r>
              <a:t>evidence/primary_results.json</a:t>
            </a:r>
          </a:p>
          <a:p xmlns:a="http://schemas.openxmlformats.org/drawingml/2006/main">
            <a:r>
              <a:t>Original: docs/results/stage1_overall_20260915/FINAL_RESULTS.json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notes</a:t>
            </a:r>
          </a:p>
          <a:p xmlns:a="http://schemas.openxmlformats.org/drawingml/2006/main">
            <a:r>
              <a:t>Every displayed same-seed gain is positive. The combined improvement spans 0.6810 to 0.7895 percentage points. The full five-contrast table appears at the end of the backup. Three seeds support consistency in this protocol but are not evidence of universal stability or a population-level significance claim. Embedded chart values are rounded to six decimals for Excel portability, and visible labels to two; the unrounded source JSON is retained.</a:t>
            </a:r>
          </a:p>
          <a:p xmlns:a="http://schemas.openxmlformats.org/drawingml/2006/main">
            <a:r>
              <a:t/>
            </a:r>
            <a:endParaRPr/>
          </a:p>
          <a:p xmlns:a="http://schemas.openxmlformats.org/drawingml/2006/main">
            <a:r>
              <a:t>中文讲稿</a:t>
            </a:r>
          </a:p>
          <a:p xmlns:a="http://schemas.openxmlformats.org/drawingml/2006/main">
            <a:r>
              <a:t>图中三种配对比较的全部种子增益为正，组合提升范围 0.6810–0.7895 个百分点。完整五组对比放在备份末页。三次重复支持本配方下的一致性，不宣称普遍稳定或总体统计显著。内嵌图表数值保留六位小数以兼容 Excel，标签显示两位，原始 JSON 保留完整精度。</a:t>
            </a:r>
          </a:p>
          <a:p xmlns:a="http://schemas.openxmlformats.org/drawingml/2006/main">
            <a:r>
              <a:t/>
            </a:r>
            <a:endParaRPr/>
          </a:p>
          <a:p xmlns:a="http://schemas.openxmlformats.org/drawingml/2006/main">
            <a:r>
              <a:t>Sources</a:t>
            </a:r>
          </a:p>
          <a:p xmlns:a="http://schemas.openxmlformats.org/drawingml/2006/main">
            <a:r>
              <a:t>evidence/primary_results.json</a:t>
            </a:r>
          </a:p>
          <a:p xmlns:a="http://schemas.openxmlformats.org/drawingml/2006/main">
            <a:r>
              <a:t>Original: docs/results/stage1_overall_20260915/FINAL_RESULTS.json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notes</a:t>
            </a:r>
          </a:p>
          <a:p xmlns:a="http://schemas.openxmlformats.org/drawingml/2006/main">
            <a:r>
              <a:t>External methods are evaluated on the same 2113 Test images at the same threshold. MMI uses the author checkpoint; GuideDecoder and DD-CMD are single-seed retrainings with their own recipes. Our row averages three models. DD-CMD is 0.0732 IoU percentage points higher. This is contextual evidence, while the recipe-matched ablation isolates our module changes.</a:t>
            </a:r>
          </a:p>
          <a:p xmlns:a="http://schemas.openxmlformats.org/drawingml/2006/main">
            <a:r>
              <a:t/>
            </a:r>
            <a:endParaRPr/>
          </a:p>
          <a:p xmlns:a="http://schemas.openxmlformats.org/drawingml/2006/main">
            <a:r>
              <a:t>中文讲稿</a:t>
            </a:r>
          </a:p>
          <a:p xmlns:a="http://schemas.openxmlformats.org/drawingml/2006/main">
            <a:r>
              <a:t>外部方法采用相同 2113 张 Test 与相同阈值。MMI 使用作者权重，GuideDecoder/DD-CMD 为各自配方的单种子复训，本方法为三种子均值。DD-CMD 高 0.0732 个 IoU 百分点。此表提供背景，模块增益以同配方消融为核心证据。</a:t>
            </a:r>
          </a:p>
          <a:p xmlns:a="http://schemas.openxmlformats.org/drawingml/2006/main">
            <a:r>
              <a:t/>
            </a:r>
            <a:endParaRPr/>
          </a:p>
          <a:p xmlns:a="http://schemas.openxmlformats.org/drawingml/2006/main">
            <a:r>
              <a:t>Sources</a:t>
            </a:r>
          </a:p>
          <a:p xmlns:a="http://schemas.openxmlformats.org/drawingml/2006/main">
            <a:r>
              <a:t>evidence/external_results.json</a:t>
            </a:r>
          </a:p>
          <a:p xmlns:a="http://schemas.openxmlformats.org/drawingml/2006/main">
            <a:r>
              <a:t>evidence/primary_results.json</a:t>
            </a:r>
          </a:p>
          <a:p xmlns:a="http://schemas.openxmlformats.org/drawingml/2006/main">
            <a:r>
              <a:t>Original: docs/results/stage1_overall_20260915/FINAL_RESULTS.json</a:t>
            </a:r>
          </a:p>
          <a:p xmlns:a="http://schemas.openxmlformats.org/drawingml/2006/main">
            <a:r>
              <a:t>docs/results/text_guided_baselines_20260920/FINAL_REPORT.md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notes</a:t>
            </a:r>
          </a:p>
          <a:p xmlns:a="http://schemas.openxmlformats.org/drawingml/2006/main">
            <a:r>
              <a:t>C07 illustrates reduced false-negative area relative to the selected PLAM checkpoint. The main row shows each image once rather than duplicating masks and errors. Zooms show the same image coordinates. These selected checkpoints use different seeds, so this slide illustrates a case and does not attribute the full per-image gain causally to one module.</a:t>
            </a:r>
          </a:p>
          <a:p xmlns:a="http://schemas.openxmlformats.org/drawingml/2006/main">
            <a:r>
              <a:t/>
            </a:r>
            <a:endParaRPr/>
          </a:p>
          <a:p xmlns:a="http://schemas.openxmlformats.org/drawingml/2006/main">
            <a:r>
              <a:t>中文讲稿</a:t>
            </a:r>
          </a:p>
          <a:p xmlns:a="http://schemas.openxmlformats.org/drawingml/2006/main">
            <a:r>
              <a:t>C07 展示相对所选 PLAM 模型漏分区域减少。主排不再重复展示二值掩膜和误差图，局部放大保持相同坐标。使用不同种子的模型，只作定性说明，不能将该图全部增益归因于单一模块。</a:t>
            </a:r>
          </a:p>
          <a:p xmlns:a="http://schemas.openxmlformats.org/drawingml/2006/main">
            <a:r>
              <a:t/>
            </a:r>
            <a:endParaRPr/>
          </a:p>
          <a:p xmlns:a="http://schemas.openxmlformats.org/drawingml/2006/main">
            <a:r>
              <a:t>Sources</a:t>
            </a:r>
          </a:p>
          <a:p xmlns:a="http://schemas.openxmlformats.org/drawingml/2006/main">
            <a:r>
              <a:t>evidence/qualitative_selection.json</a:t>
            </a:r>
          </a:p>
          <a:p xmlns:a="http://schemas.openxmlformats.org/drawingml/2006/main">
            <a:r>
              <a:t>evidence/qualitative_metrics.csv</a:t>
            </a:r>
          </a:p>
          <a:p xmlns:a="http://schemas.openxmlformats.org/drawingml/2006/main">
            <a:r>
              <a:t>assets/C07_comparison.png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notes</a:t>
            </a:r>
          </a:p>
          <a:p xmlns:a="http://schemas.openxmlformats.org/drawingml/2006/main">
            <a:r>
              <a:t>G18 is retained as a limitation: the combined model scores 78.3001 percent IoU versus 81.2922 for PLAM plus RACE, a decrease of 2.9921 percentage points. Boundary false positives remain. The selected checkpoints use different seeds; this is a qualitative limitation, not a matched causal estimate.</a:t>
            </a:r>
          </a:p>
          <a:p xmlns:a="http://schemas.openxmlformats.org/drawingml/2006/main">
            <a:r>
              <a:t/>
            </a:r>
            <a:endParaRPr/>
          </a:p>
          <a:p xmlns:a="http://schemas.openxmlformats.org/drawingml/2006/main">
            <a:r>
              <a:t>中文讲稿</a:t>
            </a:r>
            <a:endParaRPr/>
          </a:p>
          <a:p xmlns:a="http://schemas.openxmlformats.org/drawingml/2006/main">
            <a:r>
              <a:t>保留 G18 的局限：组合 IoU 为 78.3001%，低于 PLAM+RACE 的 81.2922%，下降 2.9921 个百分点，仍有边界误分。这是跨种子定性局限，不是匹配因果估计。</a:t>
            </a:r>
          </a:p>
          <a:p xmlns:a="http://schemas.openxmlformats.org/drawingml/2006/main">
            <a:r>
              <a:t/>
            </a:r>
            <a:endParaRPr/>
          </a:p>
          <a:p xmlns:a="http://schemas.openxmlformats.org/drawingml/2006/main">
            <a:r>
              <a:t>Sources</a:t>
            </a:r>
          </a:p>
          <a:p xmlns:a="http://schemas.openxmlformats.org/drawingml/2006/main">
            <a:r>
              <a:t>evidence/qualitative_selection.json</a:t>
            </a:r>
          </a:p>
          <a:p xmlns:a="http://schemas.openxmlformats.org/drawingml/2006/main">
            <a:r>
              <a:t>evidence/qualitative_metrics.csv</a:t>
            </a:r>
            <a:endParaRPr/>
          </a:p>
          <a:p xmlns:a="http://schemas.openxmlformats.org/drawingml/2006/main">
            <a:r>
              <a:t>assets/G18_comparison.png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notes</a:t>
            </a:r>
          </a:p>
          <a:p xmlns:a="http://schemas.openxmlformats.org/drawingml/2006/main">
            <a:r>
              <a:t>The strongest supported claim is the matched three-seed improvement of FSDR and complete RACE on this dataset and protocol. The combined model improves mean Test IoU by 0.7487 percentage points. Remaining limits include retrospective Test access, split independence, and a single-seed routing-versus-auxiliary diagnosis. Independent-cohort evaluation and repeated mechanism controls are the next evidence needed.</a:t>
            </a:r>
          </a:p>
          <a:p xmlns:a="http://schemas.openxmlformats.org/drawingml/2006/main">
            <a:r>
              <a:t/>
            </a:r>
            <a:endParaRPr/>
          </a:p>
          <a:p xmlns:a="http://schemas.openxmlformats.org/drawingml/2006/main">
            <a:r>
              <a:t>中文讲稿</a:t>
            </a:r>
          </a:p>
          <a:p xmlns:a="http://schemas.openxmlformats.org/drawingml/2006/main">
            <a:r>
              <a:t>最强结论是在当前数据集与配方下，三种子匹配实验支持 FSDR 与完整 RACE，组合平均 Test IoU 提高 0.7487 个百分点。限制包括测试集的既往研究使用、数据划分独立性，以及路由/辅助训练诊断仅有单种子。后续需独立队列与重复机制对照。</a:t>
            </a:r>
          </a:p>
          <a:p xmlns:a="http://schemas.openxmlformats.org/drawingml/2006/main">
            <a:r>
              <a:t/>
            </a:r>
            <a:endParaRPr/>
          </a:p>
          <a:p xmlns:a="http://schemas.openxmlformats.org/drawingml/2006/main">
            <a:r>
              <a:t>Sources</a:t>
            </a:r>
          </a:p>
          <a:p xmlns:a="http://schemas.openxmlformats.org/drawingml/2006/main">
            <a:r>
              <a:t>evidence/primary_results.json</a:t>
            </a:r>
          </a:p>
          <a:p xmlns:a="http://schemas.openxmlformats.org/drawingml/2006/main">
            <a:r>
              <a:t>Original: docs/results/stage1_overall_20260915/FINAL_RESULTS.json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Thank you. I welcome questions about the two modules, the matched ablations and the interpretation of the completed results.</a:t>
            </a:r>
          </a:p>
          <a:p xmlns:a="http://schemas.openxmlformats.org/drawingml/2006/main">
            <a:endParaRPr/>
          </a:p>
          <a:p xmlns:a="http://schemas.openxmlformats.org/drawingml/2006/main">
            <a:r>
              <a:t>中文讲稿</a:t>
            </a:r>
          </a:p>
          <a:p xmlns:a="http://schemas.openxmlformats.org/drawingml/2006/main">
            <a:r>
              <a:t>谢谢。欢迎就两个模块、匹配消融及最终结果的解释提问。</a:t>
            </a:r>
          </a:p>
          <a:p xmlns:a="http://schemas.openxmlformats.org/drawingml/2006/main">
            <a:endParaRPr/>
          </a:p>
          <a:p xmlns:a="http://schemas.openxmlformats.org/drawingml/2006/main">
            <a:r>
              <a:t>Sources · 15 September 2026</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The backup slides contain detailed fusion results, the FSDR formulation, the separate learning-rate study, fixed-model RACE diagnostics, evaluation protocol and report-target binding comparisons.</a:t>
            </a:r>
          </a:p>
          <a:p xmlns:a="http://schemas.openxmlformats.org/drawingml/2006/main">
            <a:endParaRPr/>
          </a:p>
          <a:p xmlns:a="http://schemas.openxmlformats.org/drawingml/2006/main">
            <a:r>
              <a:t>中文讲稿</a:t>
            </a:r>
          </a:p>
          <a:p xmlns:a="http://schemas.openxmlformats.org/drawingml/2006/main">
            <a:r>
              <a:t>备用页提供详细融合成绩、FSDR 公式、独立学习率实验、RACE 固定模型诊断、评估协议及报告目标绑定对照。</a:t>
            </a:r>
          </a:p>
          <a:p xmlns:a="http://schemas.openxmlformats.org/drawingml/2006/main">
            <a:endParaRPr/>
          </a:p>
          <a:p xmlns:a="http://schemas.openxmlformats.org/drawingml/2006/main">
            <a:r>
              <a:t>Sources · 15 September 2026</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This table retains all 12 primary results, including the weaker runs. The combined model achieves IoU values of 76.2485, 76.2562 and 76.1738 percent. Each Best epoch comes from validation selection. We report the mean over every seed rather than choosing a winning seed for the quantitative headline.</a:t>
            </a:r>
          </a:p>
          <a:p xmlns:a="http://schemas.openxmlformats.org/drawingml/2006/main">
            <a:endParaRPr/>
          </a:p>
          <a:p xmlns:a="http://schemas.openxmlformats.org/drawingml/2006/main">
            <a:r>
              <a:t>中文讲稿</a:t>
            </a:r>
          </a:p>
          <a:p xmlns:a="http://schemas.openxmlformats.org/drawingml/2006/main">
            <a:r>
              <a:t>本页保留全部十二个主实验模型，包括较弱种子。组合模型三个 IoU 为 76.2485%、76.2562%、76.1738%。Best 轮次均由验证集选择，量化主结论使用全部种子均值，不挑选最优种子作为成绩。</a:t>
            </a:r>
          </a:p>
          <a:p xmlns:a="http://schemas.openxmlformats.org/drawingml/2006/main">
            <a:endParaRPr/>
          </a:p>
          <a:p xmlns:a="http://schemas.openxmlformats.org/drawingml/2006/main">
            <a:r>
              <a:t>Sources (snapshot: 22 September 2026)</a:t>
            </a:r>
          </a:p>
          <a:p xmlns:a="http://schemas.openxmlformats.org/drawingml/2006/main">
            <a:r>
              <a:t>docs/results/stage1_overall_20260915/FINAL_REPORT.md</a:t>
            </a:r>
          </a:p>
          <a:p xmlns:a="http://schemas.openxmlformats.org/drawingml/2006/main">
            <a:r>
              <a:t>docs/results/stage1_overall_20260915/FINAL_RESULTS.json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notes</a:t>
            </a:r>
          </a:p>
          <a:p xmlns:a="http://schemas.openxmlformats.org/drawingml/2006/main">
            <a:r>
              <a:t>The low-pass and high-pass branches learn different spatial mixing weights over the same three low-pass operators: identity, blur 3 and blur 5. The high-pass branch subtracts its learned low-pass result from the raw CNN skip. The decoder is updated by a bounded low-pass correction. Corrected D prime is Haar-split again before semantic refinement.</a:t>
            </a:r>
          </a:p>
          <a:p xmlns:a="http://schemas.openxmlformats.org/drawingml/2006/main">
            <a:r>
              <a:t/>
            </a:r>
            <a:endParaRPr/>
          </a:p>
          <a:p xmlns:a="http://schemas.openxmlformats.org/drawingml/2006/main">
            <a:r>
              <a:t>中文讲稿</a:t>
            </a:r>
          </a:p>
          <a:p xmlns:a="http://schemas.openxmlformats.org/drawingml/2006/main">
            <a:r>
              <a:t>低通与高通分支对恒等、3×3 模糊、5×5 模糊学习不同空间混合权重。高通分支由原始 CNN 跳跃特征减去其低通结果得到；解码器采用有界低通修正。D′ 随后重新做 Haar 分解进入语义精炼。</a:t>
            </a:r>
          </a:p>
          <a:p xmlns:a="http://schemas.openxmlformats.org/drawingml/2006/main">
            <a:r>
              <a:t/>
            </a:r>
            <a:endParaRPr/>
          </a:p>
          <a:p xmlns:a="http://schemas.openxmlformats.org/drawingml/2006/main">
            <a:r>
              <a:t>Sources</a:t>
            </a:r>
          </a:p>
          <a:p xmlns:a="http://schemas.openxmlformats.org/drawingml/2006/main">
            <a:r>
              <a:t>nets/eppa.py</a:t>
            </a:r>
          </a:p>
          <a:p xmlns:a="http://schemas.openxmlformats.org/drawingml/2006/main">
            <a:r>
              <a:t>docs/FSDR.md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This earlier single-cycle study uses seed 1219 and the matched auxiliary-only control. It separates the routing increment from auxiliary training. The route alone has a positive point estimate but an image-paired confidence interval that crosses zero. The repeated three-seed study evaluates the complete module. We do not assign its entire gain to routing.</a:t>
            </a:r>
          </a:p>
          <a:p xmlns:a="http://schemas.openxmlformats.org/drawingml/2006/main">
            <a:endParaRPr/>
          </a:p>
          <a:p xmlns:a="http://schemas.openxmlformats.org/drawingml/2006/main">
            <a:r>
              <a:t>中文讲稿</a:t>
            </a:r>
          </a:p>
          <a:p xmlns:a="http://schemas.openxmlformats.org/drawingml/2006/main">
            <a:r>
              <a:t>该单周期实验使用 seed1219 及匹配的仅辅助监督对照，用来分离路由增量。路由点估计为正，但逐图配对置信区间跨零。三种子主实验评价完整模块，不能把全部增益归因于路由。</a:t>
            </a:r>
          </a:p>
          <a:p xmlns:a="http://schemas.openxmlformats.org/drawingml/2006/main">
            <a:endParaRPr/>
          </a:p>
          <a:p xmlns:a="http://schemas.openxmlformats.org/drawingml/2006/main">
            <a:r>
              <a:t>Sources (snapshot: 22 September 2026)</a:t>
            </a:r>
          </a:p>
          <a:p xmlns:a="http://schemas.openxmlformats.org/drawingml/2006/main">
            <a:r>
              <a:t>Source: previous defence slide 10, original evidence notes follow.</a:t>
            </a:r>
          </a:p>
          <a:p xmlns:a="http://schemas.openxmlformats.org/drawingml/2006/main">
            <a:r>
              <a:t>English speaker script</a:t>
            </a:r>
          </a:p>
          <a:p xmlns:a="http://schemas.openxmlformats.org/drawingml/2006/main">
            <a:r>
              <a:t>The completed auxiliary-only control helps separate the two changes. Adding auxiliary objectives produces a Test IoU point estimate of plus 0.1915 percentage points. Enabling routing with those objectives held fixed adds 0.2472 points. Both image-paired confidence intervals cross zero. The complete configuration improves by 0.4387 points, with an interval from 0.1405 to 0.7276 points. This supports improvement of the full configuration on this split and seed. It does not establish that the route alone has a reliable positive effect, and the additive arithmetic is not a proof of independent causal contributions.</a:t>
            </a:r>
          </a:p>
          <a:p xmlns:a="http://schemas.openxmlformats.org/drawingml/2006/main">
            <a:endParaRPr/>
          </a:p>
          <a:p xmlns:a="http://schemas.openxmlformats.org/drawingml/2006/main">
            <a:r>
              <a:t>中文讲稿</a:t>
            </a:r>
          </a:p>
          <a:p xmlns:a="http://schemas.openxmlformats.org/drawingml/2006/main">
            <a:r>
              <a:t>已经完成的仅辅助监督对照将两项变化分开：辅助目标的 Test IoU 点估计为 +0.1915 个百分点，固定辅助目标再开启路由为 +0.2472 个百分点。两者图像配对区间均跨零。完整配置的增益为 +0.4387 个百分点，区间为 [+0.1405,+0.7276]。因此支持该划分和种子上的完整配置改善，但路由独立贡献的证据还不充分，不能把全部提升归因于路由。</a:t>
            </a:r>
          </a:p>
          <a:p xmlns:a="http://schemas.openxmlformats.org/drawingml/2006/main">
            <a:endParaRPr/>
          </a:p>
          <a:p xmlns:a="http://schemas.openxmlformats.org/drawingml/2006/main">
            <a:r>
              <a:t>Evidence details</a:t>
            </a:r>
          </a:p>
          <a:p xmlns:a="http://schemas.openxmlformats.org/drawingml/2006/main">
            <a:r>
              <a:t>10,000 paired-image bootstrap resamples; RNG seed 20260914. These are not patient-cluster or across-training-seed intervals.</a:t>
            </a:r>
          </a:p>
          <a:p xmlns:a="http://schemas.openxmlformats.org/drawingml/2006/main">
            <a:endParaRPr/>
          </a:p>
          <a:p xmlns:a="http://schemas.openxmlformats.org/drawingml/2006/main">
            <a:r>
              <a:t>Sources · 15 September 2026</a:t>
            </a:r>
          </a:p>
          <a:p xmlns:a="http://schemas.openxmlformats.org/drawingml/2006/main">
            <a:r>
              <a:t>outputs/p8_binding_aux_20260915/FINAL_RESULTS.json</a:t>
            </a:r>
          </a:p>
          <a:p xmlns:a="http://schemas.openxmlformats.org/drawingml/2006/main">
            <a:r>
              <a:t>outputs/p8_research_20260914/test_20260915/TEST_RESULTS.json</a:t>
            </a:r>
          </a:p>
          <a:p xmlns:a="http://schemas.openxmlformats.org/drawingml/2006/main">
            <a:r>
              <a:t>outputs/p8_research_20260914/FINAL_PAIR_REPORT.md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The combined model has the highest validation and Test means among the four matched configurations. Validation IoU selects checkpoints. The headline result is Test IoU. The standard deviations describe variation across three training seeds, and the data-split limitations still apply.</a:t>
            </a:r>
          </a:p>
          <a:p xmlns:a="http://schemas.openxmlformats.org/drawingml/2006/main">
            <a:endParaRPr/>
          </a:p>
          <a:p xmlns:a="http://schemas.openxmlformats.org/drawingml/2006/main">
            <a:r>
              <a:t>中文讲稿</a:t>
            </a:r>
          </a:p>
          <a:p xmlns:a="http://schemas.openxmlformats.org/drawingml/2006/main">
            <a:r>
              <a:t>组合在四组匹配配置中具有最高验证和测试均值。验证 IoU 负责选权重，最终成绩以测试 IoU 为准。标准差表示三个训练种子之间的变化，数据划分限制仍然适用。</a:t>
            </a:r>
          </a:p>
          <a:p xmlns:a="http://schemas.openxmlformats.org/drawingml/2006/main">
            <a:endParaRPr/>
          </a:p>
          <a:p xmlns:a="http://schemas.openxmlformats.org/drawingml/2006/main">
            <a:r>
              <a:t>Sources (snapshot: 22 September 2026)</a:t>
            </a:r>
          </a:p>
          <a:p xmlns:a="http://schemas.openxmlformats.org/drawingml/2006/main">
            <a:r>
              <a:t>docs/results/stage1_overall_20260915/FINAL_REPORT.md</a:t>
            </a:r>
          </a:p>
          <a:p xmlns:a="http://schemas.openxmlformats.org/drawingml/2006/main">
            <a:r>
              <a:t>docs/results/stage1_overall_20260915/FINAL_RESULTS.json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The dataset has 5,716 training, 1,429 validation and 2,113 Test images. The primary study selects Best by validation macro IoU and evaluates that fixed checkpoint using probability strictly greater than 0.5. The patient audit finds 434 recoverable IDs shared by Train and Val. No recoverable Test ID overlaps Train or Val, but anonymous samples prevent proving full patient independence. The Test set has prior research access, so it is not an untouched prospective evaluation.</a:t>
            </a:r>
          </a:p>
          <a:p xmlns:a="http://schemas.openxmlformats.org/drawingml/2006/main">
            <a:endParaRPr/>
          </a:p>
          <a:p xmlns:a="http://schemas.openxmlformats.org/drawingml/2006/main">
            <a:r>
              <a:t>中文讲稿</a:t>
            </a:r>
          </a:p>
          <a:p xmlns:a="http://schemas.openxmlformats.org/drawingml/2006/main">
            <a:r>
              <a:t>数据划分为训练 5716、验证 1429、测试 2113。主实验由验证 macro IoU 选择 Best，再以严格 &gt;0.5 的阈值评估该固定检查点。审计发现 Train/Val 共享 434 个可恢复患者 ID；可恢复 Test ID 未发现交叉，但匿名病例使完整患者独立性无法证明。Test 曾用于研究，不能宣称完全未接触的前瞻评估。</a:t>
            </a:r>
          </a:p>
          <a:p xmlns:a="http://schemas.openxmlformats.org/drawingml/2006/main">
            <a:endParaRPr/>
          </a:p>
          <a:p xmlns:a="http://schemas.openxmlformats.org/drawingml/2006/main">
            <a:r>
              <a:t>Sources (snapshot: 22 September 2026)</a:t>
            </a:r>
          </a:p>
          <a:p xmlns:a="http://schemas.openxmlformats.org/drawingml/2006/main">
            <a:r>
              <a:t>docs/results/plam_baseline_audit_20260916/AUDIT.md</a:t>
            </a:r>
          </a:p>
          <a:p xmlns:a="http://schemas.openxmlformats.org/drawingml/2006/main">
            <a:r>
              <a:t>docs/results/stage1_overall_20260915/FINAL_REPORT.md</a:t>
            </a:r>
          </a:p>
          <a:p xmlns:a="http://schemas.openxmlformats.org/drawingml/2006/main">
            <a:r>
              <a:t>docs/results/stage1_overall_20260915/FINAL_RESULTS.json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The repository integrates FSDR and complete RACE source with the result snapshots. Each experiment retains its original full source commit, tag and checkpoint hash. Integration did not retrain or re-evaluate models. The primary study contains 12 single-cycle models. External comparisons have their own source and recipe metadata. Reproduction follows those per-run records.</a:t>
            </a:r>
          </a:p>
          <a:p xmlns:a="http://schemas.openxmlformats.org/drawingml/2006/main">
            <a:endParaRPr/>
          </a:p>
          <a:p xmlns:a="http://schemas.openxmlformats.org/drawingml/2006/main">
            <a:r>
              <a:t>中文讲稿</a:t>
            </a:r>
          </a:p>
          <a:p xmlns:a="http://schemas.openxmlformats.org/drawingml/2006/main">
            <a:r>
              <a:t>仓库整合 FSDR 和完整 RACE 源码及结果快照。每项实验保留原始完整 SHA、标签和权重哈希，整合没有重新训练或推理。主实验为十二个单周期模型，外部对照有各自来源和配方。复现遵循每项运行记录。</a:t>
            </a:r>
          </a:p>
          <a:p xmlns:a="http://schemas.openxmlformats.org/drawingml/2006/main">
            <a:endParaRPr/>
          </a:p>
          <a:p xmlns:a="http://schemas.openxmlformats.org/drawingml/2006/main">
            <a:r>
              <a:t>Sources (snapshot: 22 September 2026)</a:t>
            </a:r>
          </a:p>
          <a:p xmlns:a="http://schemas.openxmlformats.org/drawingml/2006/main">
            <a:r>
              <a:t>docs/PAPER_RESULTS.md</a:t>
            </a:r>
          </a:p>
          <a:p xmlns:a="http://schemas.openxmlformats.org/drawingml/2006/main">
            <a:r>
              <a:t>docs/results/IMPORT_PROVENANCE.json</a:t>
            </a:r>
          </a:p>
          <a:p xmlns:a="http://schemas.openxmlformats.org/drawingml/2006/main">
            <a:r>
              <a:t>docs/results/stage1_overall_20260915/FINAL_REPORT.md</a:t>
            </a:r>
          </a:p>
          <a:p xmlns:a="http://schemas.openxmlformats.org/drawingml/2006/main">
            <a:r>
              <a:t>docs/results/stage1_overall_20260915/FINAL_RESULTS.json</a:t>
            </a:r>
          </a:p>
          <a:p xmlns:a="http://schemas.openxmlformats.org/drawingml/2006/main">
            <a:r>
              <a:t>docs/results/text_guided_baselines_20260920/FINAL_RESULTS.json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update (22 September 2026)</a:t>
            </a:r>
          </a:p>
          <a:p xmlns:a="http://schemas.openxmlformats.org/drawingml/2006/main">
            <a:r>
              <a:t>Historical comparison: seed 1219 only. This binding-repair diagnostic does not replace the complete-module three-seed ablation.</a:t>
            </a:r>
          </a:p>
          <a:p xmlns:a="http://schemas.openxmlformats.org/drawingml/2006/main">
            <a:r>
              <a:t>历史比较：仅 seed1219。绑定修复诊断不替代完整模块三种子消融。</a:t>
            </a:r>
          </a:p>
          <a:p xmlns:a="http://schemas.openxmlformats.org/drawingml/2006/main">
            <a:endParaRPr/>
          </a:p>
          <a:p xmlns:a="http://schemas.openxmlformats.org/drawingml/2006/main">
            <a:r>
              <a:t>English speaker script</a:t>
            </a:r>
          </a:p>
          <a:p xmlns:a="http://schemas.openxmlformats.org/drawingml/2006/main">
            <a:r>
              <a:t>Both RACE variants completed 80 epochs and used validation-selected checkpoints at epoch 75. Corrected binding improves Test IoU relative to original binding by 0.2981 percentage points, while the validation point estimate is lower by 0.1107 points and its interval crosses zero. We retain this split difference without retuning. The main contribution is the RACE mechanism. Repairing report-target assignment is implementation correctness and must not be presented as an additional architectural innovation. Both variants are reported so the correction is not hidden.</a:t>
            </a:r>
          </a:p>
          <a:p xmlns:a="http://schemas.openxmlformats.org/drawingml/2006/main">
            <a:endParaRPr/>
          </a:p>
          <a:p xmlns:a="http://schemas.openxmlformats.org/drawingml/2006/main">
            <a:r>
              <a:t>中文讲稿</a:t>
            </a:r>
          </a:p>
          <a:p xmlns:a="http://schemas.openxmlformats.org/drawingml/2006/main">
            <a:r>
              <a:t>两种 RACE 均完成 80 轮并使用 Val 选定的第 75 轮检查点。修正绑定相对原绑定的 Test IoU 增益为 0.2981 个百分点，而 Val 点估计低 0.1107 个百分点且区间跨零，两项结果同时保留，不据此回调参数。报告目标绑定修复属于实现正确性，不作为额外结构创新。</a:t>
            </a:r>
          </a:p>
          <a:p xmlns:a="http://schemas.openxmlformats.org/drawingml/2006/main">
            <a:endParaRPr/>
          </a:p>
          <a:p xmlns:a="http://schemas.openxmlformats.org/drawingml/2006/main">
            <a:r>
              <a:t>Sources · 15 September 2026</a:t>
            </a:r>
          </a:p>
          <a:p xmlns:a="http://schemas.openxmlformats.org/drawingml/2006/main">
            <a:r>
              <a:t>outputs/p8_binding_aux_20260915/FINAL_RESULTS.json</a:t>
            </a:r>
          </a:p>
          <a:p xmlns:a="http://schemas.openxmlformats.org/drawingml/2006/main">
            <a:r>
              <a:t>outputs/p8_research_20260914/test_20260915/TEST_RESULTS.json</a:t>
            </a:r>
          </a:p>
          <a:p xmlns:a="http://schemas.openxmlformats.org/drawingml/2006/main">
            <a:r>
              <a:t>outputs/p8_research_20260914/FINAL_PAIR_REPORT.md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notes</a:t>
            </a:r>
          </a:p>
          <a:p xmlns:a="http://schemas.openxmlformats.org/drawingml/2006/main">
            <a:r>
              <a:t>These are the full-precision paired-seed comparisons behind the main chart. Each column subtracts two models with the same seed. Mean differences are computed before rounding. All five contrasts are positive in all three seeds.</a:t>
            </a:r>
          </a:p>
          <a:p xmlns:a="http://schemas.openxmlformats.org/drawingml/2006/main">
            <a:r>
              <a:t/>
            </a:r>
          </a:p>
          <a:p xmlns:a="http://schemas.openxmlformats.org/drawingml/2006/main">
            <a:r>
              <a:t>中文讲稿</a:t>
            </a:r>
          </a:p>
          <a:p xmlns:a="http://schemas.openxmlformats.org/drawingml/2006/main">
            <a:r>
              <a:t>这是主图对应的完整精度配对比较。每列比较同一种子的两模型，先计算差值和均值再显示舍入值。五组对比、三个种子全部为正。</a:t>
            </a:r>
          </a:p>
          <a:p xmlns:a="http://schemas.openxmlformats.org/drawingml/2006/main">
            <a:r>
              <a:t/>
            </a:r>
          </a:p>
          <a:p xmlns:a="http://schemas.openxmlformats.org/drawingml/2006/main">
            <a:r>
              <a:t>Sources</a:t>
            </a:r>
          </a:p>
          <a:p xmlns:a="http://schemas.openxmlformats.org/drawingml/2006/main">
            <a:r>
              <a:t>evidence/primary_results.json</a:t>
            </a:r>
          </a:p>
          <a:p xmlns:a="http://schemas.openxmlformats.org/drawingml/2006/main">
            <a:r>
              <a:t>Original: docs/results/stage1_overall_20260915/FINAL_RESULTS.json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6dd20a21784f22"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81b120a611405e" /><Relationship Type="http://schemas.openxmlformats.org/officeDocument/2006/relationships/slideLayout" Target="/ppt/slideLayouts/slideLayout1.xml" Id="Re82d5987847e486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2d5987847e486e"/>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398b2f97b94ad8" /><Relationship Type="http://schemas.openxmlformats.org/officeDocument/2006/relationships/notesSlide" Target="/ppt/notesSlides/notesSlide1.xml" Id="R23e247dde05d40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7c9a37d8f6d4bce" /><Relationship Type="http://schemas.openxmlformats.org/officeDocument/2006/relationships/image" Target="/ppt/media/image.png" Id="R769cc93e3e2c4e99" /><Relationship Type="http://schemas.openxmlformats.org/officeDocument/2006/relationships/image" Target="/ppt/media/image2.png" Id="Rc616ee24ba134347" /><Relationship Type="http://schemas.openxmlformats.org/officeDocument/2006/relationships/notesSlide" Target="/ppt/notesSlides/notesSlide2.xml" Id="R3b2650d89b5c43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1c2c8f1acb4957" /><Relationship Type="http://schemas.openxmlformats.org/officeDocument/2006/relationships/notesSlide" Target="/ppt/notesSlides/notesSlide3.xml" Id="R1de784c3361e47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e5eaa7fc87d4596" /><Relationship Type="http://schemas.openxmlformats.org/officeDocument/2006/relationships/notesSlide" Target="/ppt/notesSlides/notesSlide4.xml" Id="Rdd59da2f1df844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e3850be08b044cb" /><Relationship Type="http://schemas.openxmlformats.org/officeDocument/2006/relationships/notesSlide" Target="/ppt/notesSlides/notesSlide5.xml" Id="Re2309f85ed114b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3286d8e49f54da8" /><Relationship Type="http://schemas.openxmlformats.org/officeDocument/2006/relationships/notesSlide" Target="/ppt/notesSlides/notesSlide6.xml" Id="R54144365a6e74a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17408f946af4c68" /><Relationship Type="http://schemas.openxmlformats.org/officeDocument/2006/relationships/notesSlide" Target="/ppt/notesSlides/notesSlide7.xml" Id="R43c1c723d87d40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b4ab7021ce04c87" /><Relationship Type="http://schemas.openxmlformats.org/officeDocument/2006/relationships/notesSlide" Target="/ppt/notesSlides/notesSlide8.xml" Id="R86769051843746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06defb04a6843d0" /><Relationship Type="http://schemas.openxmlformats.org/officeDocument/2006/relationships/notesSlide" Target="/ppt/notesSlides/notesSlide9.xml" Id="Re5bc11d8606b45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5d6459eefc84016" /><Relationship Type="http://schemas.openxmlformats.org/officeDocument/2006/relationships/chart" Target="/ppt/slides/charts/chart1.xml" Id="Rc66bd96bd49e4f39" /><Relationship Type="http://schemas.openxmlformats.org/officeDocument/2006/relationships/notesSlide" Target="/ppt/notesSlides/notesSlide10.xml" Id="Rff317b0c8c2a4a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051c059c1024e31" /><Relationship Type="http://schemas.openxmlformats.org/officeDocument/2006/relationships/notesSlide" Target="/ppt/notesSlides/notesSlide11.xml" Id="Re73f2cb26c87498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efc297aa8f74e89" /><Relationship Type="http://schemas.openxmlformats.org/officeDocument/2006/relationships/image" Target="/ppt/media/image3.png" Id="R2b49f38934294b13" /><Relationship Type="http://schemas.openxmlformats.org/officeDocument/2006/relationships/image" Target="/ppt/media/image4.png" Id="R77b43a4cad0446b7" /><Relationship Type="http://schemas.openxmlformats.org/officeDocument/2006/relationships/image" Target="/ppt/media/image5.png" Id="Redbbd18e225b4a0e" /><Relationship Type="http://schemas.openxmlformats.org/officeDocument/2006/relationships/image" Target="/ppt/media/image6.png" Id="R4f524d4d0cd247fc" /><Relationship Type="http://schemas.openxmlformats.org/officeDocument/2006/relationships/image" Target="/ppt/media/image7.png" Id="R3d1530a23d684d64" /><Relationship Type="http://schemas.openxmlformats.org/officeDocument/2006/relationships/image" Target="/ppt/media/image8.png" Id="R482796bd875345dd" /><Relationship Type="http://schemas.openxmlformats.org/officeDocument/2006/relationships/notesSlide" Target="/ppt/notesSlides/notesSlide12.xml" Id="R1bda0b879fb1434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fedcb947b8548c2" /><Relationship Type="http://schemas.openxmlformats.org/officeDocument/2006/relationships/image" Target="/ppt/media/image9.png" Id="R3a3012d2153e4d21" /><Relationship Type="http://schemas.openxmlformats.org/officeDocument/2006/relationships/image" Target="/ppt/media/image10.png" Id="Rbd125e26618f456d" /><Relationship Type="http://schemas.openxmlformats.org/officeDocument/2006/relationships/image" Target="/ppt/media/image11.png" Id="Raeb132fbe5f84404" /><Relationship Type="http://schemas.openxmlformats.org/officeDocument/2006/relationships/image" Target="/ppt/media/image12.png" Id="Rfd2b5ecd466d49de" /><Relationship Type="http://schemas.openxmlformats.org/officeDocument/2006/relationships/image" Target="/ppt/media/image13.png" Id="Raf3d73327fbf4c67" /><Relationship Type="http://schemas.openxmlformats.org/officeDocument/2006/relationships/image" Target="/ppt/media/image14.png" Id="R6ceb71910a4c410a" /><Relationship Type="http://schemas.openxmlformats.org/officeDocument/2006/relationships/notesSlide" Target="/ppt/notesSlides/notesSlide13.xml" Id="Rfc0e75140ce04a7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fd1881088ea4329" /><Relationship Type="http://schemas.openxmlformats.org/officeDocument/2006/relationships/notesSlide" Target="/ppt/notesSlides/notesSlide14.xml" Id="Rb8faf9fbd1f2408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f833dbd68584dfa" /><Relationship Type="http://schemas.openxmlformats.org/officeDocument/2006/relationships/notesSlide" Target="/ppt/notesSlides/notesSlide15.xml" Id="R2a435f0d95b1469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284c7b7c8db4523" /><Relationship Type="http://schemas.openxmlformats.org/officeDocument/2006/relationships/notesSlide" Target="/ppt/notesSlides/notesSlide16.xml" Id="Rd2c3141aaf1346e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093c1b5988d4574" /><Relationship Type="http://schemas.openxmlformats.org/officeDocument/2006/relationships/notesSlide" Target="/ppt/notesSlides/notesSlide17.xml" Id="Rd9880ba0218f4ae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2886f37698448d3" /><Relationship Type="http://schemas.openxmlformats.org/officeDocument/2006/relationships/notesSlide" Target="/ppt/notesSlides/notesSlide18.xml" Id="R390124dba33c471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36d5191cedb4b3b" /><Relationship Type="http://schemas.openxmlformats.org/officeDocument/2006/relationships/notesSlide" Target="/ppt/notesSlides/notesSlide19.xml" Id="R32b75d060bc4489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1474cb559794d82" /><Relationship Type="http://schemas.openxmlformats.org/officeDocument/2006/relationships/notesSlide" Target="/ppt/notesSlides/notesSlide20.xml" Id="R7096498e4520450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763c663adb84152" /><Relationship Type="http://schemas.openxmlformats.org/officeDocument/2006/relationships/notesSlide" Target="/ppt/notesSlides/notesSlide21.xml" Id="Rc2e08c6cca784e0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56fd21607db450d" /><Relationship Type="http://schemas.openxmlformats.org/officeDocument/2006/relationships/notesSlide" Target="/ppt/notesSlides/notesSlide22.xml" Id="R42475816517747e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9cd5431224d4baf" /><Relationship Type="http://schemas.openxmlformats.org/officeDocument/2006/relationships/notesSlide" Target="/ppt/notesSlides/notesSlide23.xml" Id="Rfcf49a314d1a4dc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f7f7f5997b14b90" /><Relationship Type="http://schemas.openxmlformats.org/officeDocument/2006/relationships/notesSlide" Target="/ppt/notesSlides/notesSlide24.xml" Id="R46a12eff953c441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Seed 1219</c:v>
          </c:tx>
          <c:spPr>
            <a:solidFill xmlns:a="http://schemas.openxmlformats.org/drawingml/2006/main">
              <a:srgbClr val="527E9F"/>
            </a:solidFill>
          </c:spPr>
          <c:invertIfNegative val="0"/>
          <c:cat>
            <c:strRef>
              <c:f>'Chart Data'!$A$2:$A$4</c:f>
              <c:strCache>
                <c:ptCount val="3"/>
                <c:pt idx="0">
                  <c:v>FSDR − PLAM</c:v>
                </c:pt>
                <c:pt idx="1">
                  <c:v>Complete RACE
added to FSDR</c:v>
                </c:pt>
                <c:pt idx="2">
                  <c:v>Combined − PLAM</c:v>
                </c:pt>
              </c:strCache>
            </c:strRef>
          </c:cat>
          <c:val>
            <c:numRef>
              <c:f>'Chart Data'!$B$2:$B$4</c:f>
              <c:numCache>
                <c:formatCode>0.0</c:formatCode>
                <c:ptCount val="3"/>
                <c:pt idx="0">
                  <c:v>0.242326</c:v>
                </c:pt>
                <c:pt idx="1">
                  <c:v>0.438713</c:v>
                </c:pt>
                <c:pt idx="2">
                  <c:v>0.681038</c:v>
                </c:pt>
              </c:numCache>
            </c:numRef>
          </c:val>
        </c:ser>
        <c:ser>
          <c:idx val="1"/>
          <c:order val="1"/>
          <c:tx>
            <c:v>Seed 2027</c:v>
          </c:tx>
          <c:spPr>
            <a:solidFill xmlns:a="http://schemas.openxmlformats.org/drawingml/2006/main">
              <a:srgbClr val="A9C39A"/>
            </a:solidFill>
          </c:spPr>
          <c:invertIfNegative val="0"/>
          <c:cat>
            <c:strRef>
              <c:f>'Chart Data'!$C$2:$C$4</c:f>
              <c:strCache>
                <c:ptCount val="3"/>
                <c:pt idx="0">
                  <c:v>FSDR − PLAM</c:v>
                </c:pt>
                <c:pt idx="1">
                  <c:v>Complete RACE
added to FSDR</c:v>
                </c:pt>
                <c:pt idx="2">
                  <c:v>Combined − PLAM</c:v>
                </c:pt>
              </c:strCache>
            </c:strRef>
          </c:cat>
          <c:val>
            <c:numRef>
              <c:f>'Chart Data'!$D$2:$D$4</c:f>
              <c:numCache>
                <c:formatCode>0.0</c:formatCode>
                <c:ptCount val="3"/>
                <c:pt idx="0">
                  <c:v>0.619086</c:v>
                </c:pt>
                <c:pt idx="1">
                  <c:v>0.170393</c:v>
                </c:pt>
                <c:pt idx="2">
                  <c:v>0.789479</c:v>
                </c:pt>
              </c:numCache>
            </c:numRef>
          </c:val>
        </c:ser>
        <c:ser>
          <c:idx val="2"/>
          <c:order val="2"/>
          <c:tx>
            <c:v>Seed 3407</c:v>
          </c:tx>
          <c:spPr>
            <a:solidFill xmlns:a="http://schemas.openxmlformats.org/drawingml/2006/main">
              <a:srgbClr val="DFAB67"/>
            </a:solidFill>
          </c:spPr>
          <c:invertIfNegative val="0"/>
          <c:cat>
            <c:strRef>
              <c:f>'Chart Data'!$E$2:$E$4</c:f>
              <c:strCache>
                <c:ptCount val="3"/>
                <c:pt idx="0">
                  <c:v>FSDR − PLAM</c:v>
                </c:pt>
                <c:pt idx="1">
                  <c:v>Complete RACE
added to FSDR</c:v>
                </c:pt>
                <c:pt idx="2">
                  <c:v>Combined − PLAM</c:v>
                </c:pt>
              </c:strCache>
            </c:strRef>
          </c:cat>
          <c:val>
            <c:numRef>
              <c:f>'Chart Data'!$F$2:$F$4</c:f>
              <c:numCache>
                <c:formatCode>0.0</c:formatCode>
                <c:ptCount val="3"/>
                <c:pt idx="0">
                  <c:v>0.656072</c:v>
                </c:pt>
                <c:pt idx="1">
                  <c:v>0.119413</c:v>
                </c:pt>
                <c:pt idx="2">
                  <c:v>0.775486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solidFill>
                    <a:srgbClr val="202124"/>
                  </a:solidFill>
                  <a:latin typeface="Calibri"/>
                  <a:ea typeface="Calibri"/>
                  <a:cs typeface="Calibr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8B959A"/>
            </a:solidFill>
          </a:ln>
        </c:spPr>
        <c:txPr>
          <a:bodyPr xmlns:a="http://schemas.openxmlformats.org/drawingml/2006/main" anchorCtr="1"/>
          <a:lstStyle xmlns:a="http://schemas.openxmlformats.org/drawingml/2006/main"/>
          <a:p xmlns:a="http://schemas.openxmlformats.org/drawingml/2006/main">
            <a:pPr>
              <a:defRPr sz="1650">
                <a:solidFill>
                  <a:srgbClr val="202124"/>
                </a:solidFill>
                <a:latin typeface="Calibri"/>
                <a:ea typeface="Calibri"/>
                <a:cs typeface="Calibri"/>
              </a:defRPr>
            </a:pPr>
          </a:p>
        </c:txPr>
        <c:crossAx val="48672768"/>
      </c:catAx>
      <c:valAx>
        <c:axId val="48672768"/>
        <c:scaling>
          <c:orientation val="minMax"/>
          <c:max val="0.9"/>
          <c:min val="0"/>
        </c:scaling>
        <c:delete val="0"/>
        <c:axPos val="l"/>
        <c:majorGridlines>
          <c:spPr>
            <a:ln xmlns:a="http://schemas.openxmlformats.org/drawingml/2006/main" w="6668">
              <a:solidFill>
                <a:srgbClr val="D6DBDE"/>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2686C"/>
                </a:solidFill>
                <a:latin typeface="Calibri"/>
                <a:ea typeface="Calibri"/>
                <a:cs typeface="Calibri"/>
              </a:defRPr>
            </a:pPr>
          </a:p>
        </c:txPr>
        <c:crossAx val="48650112"/>
        <c:crossBetween val="between"/>
        <c:majorUnit val="0.3"/>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202124"/>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1212"/>
        </a:solidFill>
      </p:bgPr>
    </p:bg>
    <p:spTree>
      <p:nvGrpSpPr>
        <p:cNvPr id="1" name=""/>
        <p:cNvGrpSpPr/>
        <p:nvPr/>
      </p:nvGrpSpPr>
      <p:grpSpPr>
        <a:xfrm xmlns:a="http://schemas.openxmlformats.org/drawingml/2006/main"/>
      </p:grpSpPr>
      <p:sp>
        <p:nvSpPr>
          <p:cNvPr id="3" name="Text 1">
            <a:extLst xmlns:a="http://schemas.openxmlformats.org/drawingml/2006/main">
              <a:ext uri="{FF2B5EF4-FFF2-40B4-BE49-F238E27FC236}">
                <a16:creationId xmlns:a16="http://schemas.microsoft.com/office/drawing/2014/main" id="{7C63F583-713A-442F-B7A9-949E82235146}"/>
              </a:ext>
            </a:extLst>
          </p:cNvPr>
          <p:cNvSpPr>
            <a:spLocks xmlns:a="http://schemas.openxmlformats.org/drawingml/2006/main" noGrp="1"/>
          </p:cNvSpPr>
          <p:nvPr/>
        </p:nvSpPr>
        <p:spPr>
          <a:xfrm xmlns:a="http://schemas.openxmlformats.org/drawingml/2006/main">
            <a:off x="640080" y="3794760"/>
            <a:ext cx="10058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a:solidFill>
                  <a:srgbClr val="FFFFFF"/>
                </a:solidFill>
                <a:latin typeface="Calibri"/>
                <a:ea typeface="Calibri"/>
                <a:cs typeface="Calibri"/>
              </a:rPr>
              <a:t>Ramos Wang   ·   SID 550378666</a:t>
            </a:r>
            <a:endParaRPr sz="1700"/>
          </a:p>
        </p:txBody>
      </p:sp>
      <p:sp>
        <p:nvSpPr>
          <p:cNvPr id="4" name="Text 2">
            <a:extLst xmlns:a="http://schemas.openxmlformats.org/drawingml/2006/main">
              <a:ext uri="{FF2B5EF4-FFF2-40B4-BE49-F238E27FC236}">
                <a16:creationId xmlns:a16="http://schemas.microsoft.com/office/drawing/2014/main" id="{0A45F3AC-156B-42B7-BBC4-D239DF443609}"/>
              </a:ext>
            </a:extLst>
          </p:cNvPr>
          <p:cNvSpPr>
            <a:spLocks xmlns:a="http://schemas.openxmlformats.org/drawingml/2006/main" noGrp="1"/>
          </p:cNvSpPr>
          <p:nvPr/>
        </p:nvSpPr>
        <p:spPr>
          <a:xfrm xmlns:a="http://schemas.openxmlformats.org/drawingml/2006/main">
            <a:off x="640080" y="4251960"/>
            <a:ext cx="1005840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900"/>
              </a:lnSpc>
              <a:buNone/>
            </a:pPr>
            <a:r>
              <a:rPr sz="1300">
                <a:solidFill>
                  <a:srgbClr val="B8B8B8"/>
                </a:solidFill>
                <a:latin typeface="Calibri"/>
                <a:ea typeface="Calibri"/>
                <a:cs typeface="Calibri"/>
              </a:rPr>
              <a:t>Supervisor: Prof. Yonghui Li</a:t>
            </a:r>
            <a:endParaRPr sz="1300"/>
          </a:p>
          <a:p xmlns:a="http://schemas.openxmlformats.org/drawingml/2006/main">
            <a:pPr marL="0" indent="0">
              <a:lnSpc>
                <a:spcPts val="1900"/>
              </a:lnSpc>
              <a:buNone/>
            </a:pPr>
            <a:r>
              <a:rPr sz="1300">
                <a:solidFill>
                  <a:srgbClr val="B8B8B8"/>
                </a:solidFill>
                <a:latin typeface="Calibri"/>
                <a:ea typeface="Calibri"/>
                <a:cs typeface="Calibri"/>
              </a:rPr>
              <a:t>ELEC5223 Dissertation B  ·  School of Electrical and Computer Engineering</a:t>
            </a:r>
            <a:endParaRPr sz="1300"/>
          </a:p>
          <a:p xmlns:a="http://schemas.openxmlformats.org/drawingml/2006/main">
            <a:pPr marL="0" indent="0">
              <a:lnSpc>
                <a:spcPts val="1900"/>
              </a:lnSpc>
              <a:buNone/>
            </a:pPr>
            <a:r>
              <a:rPr sz="1300">
                <a:solidFill>
                  <a:srgbClr val="B8B8B8"/>
                </a:solidFill>
                <a:latin typeface="Calibri"/>
                <a:ea typeface="Calibri"/>
                <a:cs typeface="Calibri"/>
              </a:rPr>
              <a:t>The University of Sydney</a:t>
            </a:r>
            <a:endParaRPr sz="1300"/>
          </a:p>
        </p:txBody>
      </p:sp>
      <p:sp>
        <p:nvSpPr>
          <p:cNvPr id="5" name="Project update: 7 September 2026">
            <a:extLst xmlns:a="http://schemas.openxmlformats.org/drawingml/2006/main">
              <a:ext uri="{FF2B5EF4-FFF2-40B4-BE49-F238E27FC236}">
                <a16:creationId xmlns:a16="http://schemas.microsoft.com/office/drawing/2014/main" id="{8560DC34-A698-4B9E-B8B4-A6E14295BC5E}"/>
              </a:ext>
            </a:extLst>
          </p:cNvPr>
          <p:cNvSpPr>
            <a:spLocks xmlns:a="http://schemas.openxmlformats.org/drawingml/2006/main" noGrp="1"/>
          </p:cNvSpPr>
          <p:nvPr/>
        </p:nvSpPr>
        <p:spPr>
          <a:xfrm xmlns:a="http://schemas.openxmlformats.org/drawingml/2006/main">
            <a:off x="640080" y="56102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BBBBBB"/>
                </a:solidFill>
                <a:latin typeface="Calibri"/>
                <a:ea typeface="Calibri"/>
                <a:cs typeface="Calibri"/>
              </a:defRPr>
            </a:pPr>
            <a:r>
              <a:rPr sz="1800" b="0">
                <a:solidFill>
                  <a:srgbClr val="BBBBBB"/>
                </a:solidFill>
                <a:latin typeface="Calibri"/>
                <a:ea typeface="Calibri"/>
                <a:cs typeface="Calibri"/>
              </a:rPr>
              <a:t>Final defence</a:t>
            </a:r>
          </a:p>
        </p:txBody>
      </p:sp>
      <p:sp>
        <p:nvSpPr>
          <p:cNvPr id="7" name="矩形 6">
            <a:extLst xmlns:a="http://schemas.openxmlformats.org/drawingml/2006/main">
              <a:ext uri="{FF2B5EF4-FFF2-40B4-BE49-F238E27FC236}">
                <a16:creationId xmlns:a16="http://schemas.microsoft.com/office/drawing/2014/main" id="{883ED68C-619D-4C34-BD7B-097EB4A1A9C9}"/>
              </a:ext>
            </a:extLst>
          </p:cNvPr>
          <p:cNvSpPr>
            <a:spLocks xmlns:a="http://schemas.openxmlformats.org/drawingml/2006/main" noGrp="1"/>
          </p:cNvSpPr>
          <p:nvPr/>
        </p:nvSpPr>
        <p:spPr>
          <a:xfrm xmlns:a="http://schemas.openxmlformats.org/drawingml/2006/main">
            <a:off x="640080" y="1600200"/>
            <a:ext cx="1047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FFFFFF"/>
                </a:solidFill>
                <a:latin typeface="Cambria"/>
                <a:ea typeface="Cambria"/>
                <a:cs typeface="Cambria"/>
              </a:defRPr>
            </a:pPr>
            <a:r>
              <a:rPr sz="3000" b="1">
                <a:solidFill>
                  <a:srgbClr val="FFFFFF"/>
                </a:solidFill>
                <a:latin typeface="Cambria"/>
                <a:ea typeface="Cambria"/>
                <a:cs typeface="Cambria"/>
              </a:rPr>
              <a:t>Text-Guided Segmentation of COVID-19 Infections</a:t>
            </a:r>
          </a:p>
          <a:p xmlns:a="http://schemas.openxmlformats.org/drawingml/2006/main">
            <a:pPr algn="l">
              <a:buNone/>
              <a:defRPr sz="3000" b="1">
                <a:solidFill>
                  <a:srgbClr val="FFFFFF"/>
                </a:solidFill>
                <a:latin typeface="Cambria"/>
                <a:ea typeface="Cambria"/>
                <a:cs typeface="Cambria"/>
              </a:defRPr>
            </a:pPr>
            <a:r>
              <a:rPr sz="3000" b="1">
                <a:solidFill>
                  <a:srgbClr val="FFFFFF"/>
                </a:solidFill>
                <a:latin typeface="Cambria"/>
                <a:ea typeface="Cambria"/>
                <a:cs typeface="Cambria"/>
              </a:rPr>
              <a:t>in Chest X-rays</a:t>
            </a:r>
          </a:p>
        </p:txBody>
      </p:sp>
    </p:spTree>
    <p:extLst>
      <p:ext uri="{BB962C8B-B14F-4D97-AF65-F5344CB8AC3E}">
        <p14:creationId xmlns:p14="http://schemas.microsoft.com/office/powerpoint/2010/main" val="7896331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guided infection segmentation">
            <a:extLst xmlns:a="http://schemas.openxmlformats.org/drawingml/2006/main">
              <a:ext uri="{FF2B5EF4-FFF2-40B4-BE49-F238E27FC236}">
                <a16:creationId xmlns:a16="http://schemas.microsoft.com/office/drawing/2014/main" id="{490E445C-E9B1-4DB5-8489-1FCF002BD538}"/>
              </a:ext>
            </a:extLst>
          </p:cNvPr>
          <p:cNvSpPr>
            <a:spLocks xmlns:a="http://schemas.openxmlformats.org/drawingml/2006/main" noGrp="1"/>
          </p:cNvSpPr>
          <p:nvPr/>
        </p:nvSpPr>
        <p:spPr>
          <a:xfrm xmlns:a="http://schemas.openxmlformats.org/drawingml/2006/main">
            <a:off x="638175" y="361950"/>
            <a:ext cx="10915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02124"/>
                </a:solidFill>
                <a:latin typeface="Cambria"/>
                <a:ea typeface="Cambria"/>
                <a:cs typeface="Cambria"/>
              </a:defRPr>
            </a:defPPr>
          </a:lstStyle>
          <a:p xmlns:a="http://schemas.openxmlformats.org/drawingml/2006/main">
            <a:pPr algn="l">
              <a:defRPr sz="3000" b="1">
                <a:solidFill>
                  <a:srgbClr val="202124"/>
                </a:solidFill>
                <a:latin typeface="Cambria"/>
                <a:ea typeface="Cambria"/>
                <a:cs typeface="Cambria"/>
              </a:defRPr>
            </a:pPr>
            <a:r>
              <a:rPr sz="3000" b="1">
                <a:solidFill>
                  <a:srgbClr val="202124"/>
                </a:solidFill>
                <a:latin typeface="Cambria"/>
                <a:ea typeface="Cambria"/>
                <a:cs typeface="Cambria"/>
              </a:rPr>
              <a:t>Text-guided infection segmentation</a:t>
            </a:r>
          </a:p>
        </p:txBody>
      </p:sp>
      <p:sp>
        <p:nvSpPr>
          <p:cNvPr id="2" name="QaTa-COV19 v2 · example C07 · dataset-provided descript">
            <a:extLst xmlns:a="http://schemas.openxmlformats.org/drawingml/2006/main">
              <a:ext uri="{FF2B5EF4-FFF2-40B4-BE49-F238E27FC236}">
                <a16:creationId xmlns:a16="http://schemas.microsoft.com/office/drawing/2014/main" id="{7160649D-EFC7-4AE7-96E6-E8F15EE241B0}"/>
              </a:ext>
            </a:extLst>
          </p:cNvPr>
          <p:cNvSpPr>
            <a:spLocks xmlns:a="http://schemas.openxmlformats.org/drawingml/2006/main" noGrp="1"/>
          </p:cNvSpPr>
          <p:nvPr/>
        </p:nvSpPr>
        <p:spPr>
          <a:xfrm xmlns:a="http://schemas.openxmlformats.org/drawingml/2006/main">
            <a:off x="638175" y="6477000"/>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929699"/>
                </a:solidFill>
                <a:latin typeface="Calibri"/>
                <a:ea typeface="Calibri"/>
                <a:cs typeface="Calibri"/>
              </a:defRPr>
            </a:defPPr>
          </a:lstStyle>
          <a:p xmlns:a="http://schemas.openxmlformats.org/drawingml/2006/main">
            <a:pPr algn="l">
              <a:defRPr sz="900" b="0">
                <a:solidFill>
                  <a:srgbClr val="929699"/>
                </a:solidFill>
                <a:latin typeface="Calibri"/>
                <a:ea typeface="Calibri"/>
                <a:cs typeface="Calibri"/>
              </a:defRPr>
            </a:pPr>
            <a:r>
              <a:rPr sz="900" b="0">
                <a:solidFill>
                  <a:srgbClr val="929699"/>
                </a:solidFill>
                <a:latin typeface="Calibri"/>
                <a:ea typeface="Calibri"/>
                <a:cs typeface="Calibri"/>
              </a:rPr>
              <a:t>QaTa-COV19 v2 · example C07 · dataset-provided description</a:t>
            </a:r>
          </a:p>
        </p:txBody>
      </p:sp>
      <p:sp>
        <p:nvSpPr>
          <p:cNvPr id="3" name="2">
            <a:extLst xmlns:a="http://schemas.openxmlformats.org/drawingml/2006/main">
              <a:ext uri="{FF2B5EF4-FFF2-40B4-BE49-F238E27FC236}">
                <a16:creationId xmlns:a16="http://schemas.microsoft.com/office/drawing/2014/main" id="{1910B13D-FBC6-4BDB-AD76-28DA152D4670}"/>
              </a:ext>
            </a:extLst>
          </p:cNvPr>
          <p:cNvSpPr>
            <a:spLocks xmlns:a="http://schemas.openxmlformats.org/drawingml/2006/main" noGrp="1"/>
          </p:cNvSpPr>
          <p:nvPr/>
        </p:nvSpPr>
        <p:spPr>
          <a:xfrm xmlns:a="http://schemas.openxmlformats.org/drawingml/2006/main">
            <a:off x="11144250" y="6477000"/>
            <a:ext cx="4095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929699"/>
                </a:solidFill>
                <a:latin typeface="Calibri"/>
                <a:ea typeface="Calibri"/>
                <a:cs typeface="Calibri"/>
              </a:defRPr>
            </a:defPPr>
          </a:lstStyle>
          <a:p xmlns:a="http://schemas.openxmlformats.org/drawingml/2006/main">
            <a:pPr algn="r">
              <a:defRPr sz="900" b="0">
                <a:solidFill>
                  <a:srgbClr val="929699"/>
                </a:solidFill>
                <a:latin typeface="Calibri"/>
                <a:ea typeface="Calibri"/>
                <a:cs typeface="Calibri"/>
              </a:defRPr>
            </a:pPr>
            <a:r>
              <a:rPr sz="900" b="0">
                <a:solidFill>
                  <a:srgbClr val="929699"/>
                </a:solidFill>
                <a:latin typeface="Calibri"/>
                <a:ea typeface="Calibri"/>
                <a:cs typeface="Calibri"/>
              </a:rPr>
              <a:t>2</a:t>
            </a:r>
          </a:p>
        </p:txBody>
      </p:sp>
      <p:sp>
        <p:nvSpPr>
          <p:cNvPr id="4" name="Chest X-ray">
            <a:extLst xmlns:a="http://schemas.openxmlformats.org/drawingml/2006/main">
              <a:ext uri="{FF2B5EF4-FFF2-40B4-BE49-F238E27FC236}">
                <a16:creationId xmlns:a16="http://schemas.microsoft.com/office/drawing/2014/main" id="{517F2EE0-FA0C-467E-8335-6C0DF6486504}"/>
              </a:ext>
            </a:extLst>
          </p:cNvPr>
          <p:cNvSpPr>
            <a:spLocks xmlns:a="http://schemas.openxmlformats.org/drawingml/2006/main" noGrp="1"/>
          </p:cNvSpPr>
          <p:nvPr/>
        </p:nvSpPr>
        <p:spPr>
          <a:xfrm xmlns:a="http://schemas.openxmlformats.org/drawingml/2006/main">
            <a:off x="638175" y="1419225"/>
            <a:ext cx="257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124"/>
                </a:solidFill>
                <a:latin typeface="Calibri"/>
                <a:ea typeface="Calibri"/>
                <a:cs typeface="Calibri"/>
              </a:defRPr>
            </a:defPPr>
          </a:lstStyle>
          <a:p xmlns:a="http://schemas.openxmlformats.org/drawingml/2006/main">
            <a:pPr algn="l">
              <a:defRPr sz="1875" b="1">
                <a:solidFill>
                  <a:srgbClr val="202124"/>
                </a:solidFill>
                <a:latin typeface="Calibri"/>
                <a:ea typeface="Calibri"/>
                <a:cs typeface="Calibri"/>
              </a:defRPr>
            </a:pPr>
            <a:r>
              <a:rPr sz="1875" b="1">
                <a:solidFill>
                  <a:srgbClr val="202124"/>
                </a:solidFill>
                <a:latin typeface="Calibri"/>
                <a:ea typeface="Calibri"/>
                <a:cs typeface="Calibri"/>
              </a:rPr>
              <a:t>Chest X-ray</a:t>
            </a:r>
          </a:p>
        </p:txBody>
      </p:sp>
      <p:pic>
        <p:nvPicPr>
          <p:cNvPr id="5" name="">
            <a:extLst xmlns:a="http://schemas.openxmlformats.org/drawingml/2006/main">
              <a:ext uri="{FF2B5EF4-FFF2-40B4-BE49-F238E27FC236}">
                <a16:creationId xmlns:a16="http://schemas.microsoft.com/office/drawing/2014/main" id="{4DBC55AF-D983-4164-9C04-01F21C30722E}"/>
              </a:ext>
            </a:extLst>
          </p:cNvPr>
          <p:cNvPicPr>
            <a:picLocks xmlns:a="http://schemas.openxmlformats.org/drawingml/2006/main" noChangeAspect="1"/>
          </p:cNvPicPr>
          <p:nvPr/>
        </p:nvPicPr>
        <p:blipFill>
          <a:blip xmlns:r="http://schemas.openxmlformats.org/officeDocument/2006/relationships" xmlns:a="http://schemas.openxmlformats.org/drawingml/2006/main" r:embed="R769cc93e3e2c4e99"/>
          <a:srcRect xmlns:a="http://schemas.openxmlformats.org/drawingml/2006/main" l="0" t="0" r="0" b="0"/>
          <a:stretch xmlns:a="http://schemas.openxmlformats.org/drawingml/2006/main">
            <a:fillRect l="0" t="0" r="0" b="0"/>
          </a:stretch>
        </p:blipFill>
        <p:spPr>
          <a:xfrm xmlns:a="http://schemas.openxmlformats.org/drawingml/2006/main">
            <a:off x="638175" y="1885950"/>
            <a:ext cx="2552700" cy="2552700"/>
          </a:xfrm>
          <a:prstGeom xmlns:a="http://schemas.openxmlformats.org/drawingml/2006/main" prst="rect">
            <a:avLst/>
          </a:prstGeom>
        </p:spPr>
      </p:pic>
      <p:sp>
        <p:nvSpPr>
          <p:cNvPr id="6" name="Report">
            <a:extLst xmlns:a="http://schemas.openxmlformats.org/drawingml/2006/main">
              <a:ext uri="{FF2B5EF4-FFF2-40B4-BE49-F238E27FC236}">
                <a16:creationId xmlns:a16="http://schemas.microsoft.com/office/drawing/2014/main" id="{6262C98D-0BA7-4BFD-9E01-DEB1BF5C2023}"/>
              </a:ext>
            </a:extLst>
          </p:cNvPr>
          <p:cNvSpPr>
            <a:spLocks xmlns:a="http://schemas.openxmlformats.org/drawingml/2006/main" noGrp="1"/>
          </p:cNvSpPr>
          <p:nvPr/>
        </p:nvSpPr>
        <p:spPr>
          <a:xfrm xmlns:a="http://schemas.openxmlformats.org/drawingml/2006/main">
            <a:off x="4000500" y="14192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124"/>
                </a:solidFill>
                <a:latin typeface="Calibri"/>
                <a:ea typeface="Calibri"/>
                <a:cs typeface="Calibri"/>
              </a:defRPr>
            </a:defPPr>
          </a:lstStyle>
          <a:p xmlns:a="http://schemas.openxmlformats.org/drawingml/2006/main">
            <a:pPr algn="l">
              <a:defRPr sz="1875" b="1">
                <a:solidFill>
                  <a:srgbClr val="202124"/>
                </a:solidFill>
                <a:latin typeface="Calibri"/>
                <a:ea typeface="Calibri"/>
                <a:cs typeface="Calibri"/>
              </a:defRPr>
            </a:pPr>
            <a:r>
              <a:rPr sz="1875" b="1">
                <a:solidFill>
                  <a:srgbClr val="202124"/>
                </a:solidFill>
                <a:latin typeface="Calibri"/>
                <a:ea typeface="Calibri"/>
                <a:cs typeface="Calibri"/>
              </a:rPr>
              <a:t>Report</a:t>
            </a:r>
          </a:p>
        </p:txBody>
      </p:sp>
      <p:sp>
        <p:nvSpPr>
          <p:cNvPr id="7" name="“Bilateral pulmonary infection,&#10;two infected areas, upp">
            <a:extLst xmlns:a="http://schemas.openxmlformats.org/drawingml/2006/main">
              <a:ext uri="{FF2B5EF4-FFF2-40B4-BE49-F238E27FC236}">
                <a16:creationId xmlns:a16="http://schemas.microsoft.com/office/drawing/2014/main" id="{3DBA5C06-C741-4830-9EED-91F779FBFCD3}"/>
              </a:ext>
            </a:extLst>
          </p:cNvPr>
          <p:cNvSpPr>
            <a:spLocks xmlns:a="http://schemas.openxmlformats.org/drawingml/2006/main" noGrp="1"/>
          </p:cNvSpPr>
          <p:nvPr/>
        </p:nvSpPr>
        <p:spPr>
          <a:xfrm xmlns:a="http://schemas.openxmlformats.org/drawingml/2006/main">
            <a:off x="4000500" y="1990725"/>
            <a:ext cx="3857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202124"/>
                </a:solidFill>
                <a:latin typeface="Calibri"/>
                <a:ea typeface="Calibri"/>
                <a:cs typeface="Calibri"/>
              </a:defRPr>
            </a:defPPr>
          </a:lstStyle>
          <a:p xmlns:a="http://schemas.openxmlformats.org/drawingml/2006/main">
            <a:pPr algn="l">
              <a:defRPr sz="2025" b="0">
                <a:solidFill>
                  <a:srgbClr val="202124"/>
                </a:solidFill>
                <a:latin typeface="Calibri"/>
                <a:ea typeface="Calibri"/>
                <a:cs typeface="Calibri"/>
              </a:defRPr>
            </a:pPr>
            <a:r>
              <a:rPr sz="2025" b="0">
                <a:solidFill>
                  <a:srgbClr val="202124"/>
                </a:solidFill>
                <a:latin typeface="Calibri"/>
                <a:ea typeface="Calibri"/>
                <a:cs typeface="Calibri"/>
              </a:rPr>
              <a:t>“Bilateral pulmonary infection,</a:t>
            </a:r>
          </a:p>
          <a:p xmlns:a="http://schemas.openxmlformats.org/drawingml/2006/main">
            <a:pPr algn="l">
              <a:defRPr sz="2025" b="0">
                <a:solidFill>
                  <a:srgbClr val="202124"/>
                </a:solidFill>
                <a:latin typeface="Calibri"/>
                <a:ea typeface="Calibri"/>
                <a:cs typeface="Calibri"/>
              </a:defRPr>
            </a:pPr>
            <a:r>
              <a:rPr sz="2025" b="0">
                <a:solidFill>
                  <a:srgbClr val="202124"/>
                </a:solidFill>
                <a:latin typeface="Calibri"/>
                <a:ea typeface="Calibri"/>
                <a:cs typeface="Calibri"/>
              </a:rPr>
              <a:t>two infected areas, upper left</a:t>
            </a:r>
          </a:p>
          <a:p xmlns:a="http://schemas.openxmlformats.org/drawingml/2006/main">
            <a:pPr algn="l">
              <a:defRPr sz="2025" b="0">
                <a:solidFill>
                  <a:srgbClr val="202124"/>
                </a:solidFill>
                <a:latin typeface="Calibri"/>
                <a:ea typeface="Calibri"/>
                <a:cs typeface="Calibri"/>
              </a:defRPr>
            </a:pPr>
            <a:r>
              <a:rPr sz="2025" b="0">
                <a:solidFill>
                  <a:srgbClr val="202124"/>
                </a:solidFill>
                <a:latin typeface="Calibri"/>
                <a:ea typeface="Calibri"/>
                <a:cs typeface="Calibri"/>
              </a:rPr>
              <a:t>lung and lower right lung.”</a:t>
            </a:r>
          </a:p>
        </p:txBody>
      </p:sp>
      <p:sp>
        <p:nvSpPr>
          <p:cNvPr id="8" name="Ground-truth mask">
            <a:extLst xmlns:a="http://schemas.openxmlformats.org/drawingml/2006/main">
              <a:ext uri="{FF2B5EF4-FFF2-40B4-BE49-F238E27FC236}">
                <a16:creationId xmlns:a16="http://schemas.microsoft.com/office/drawing/2014/main" id="{13D9DD35-64FA-4361-A0B3-AD0C8551CC6F}"/>
              </a:ext>
            </a:extLst>
          </p:cNvPr>
          <p:cNvSpPr>
            <a:spLocks xmlns:a="http://schemas.openxmlformats.org/drawingml/2006/main" noGrp="1"/>
          </p:cNvSpPr>
          <p:nvPr/>
        </p:nvSpPr>
        <p:spPr>
          <a:xfrm xmlns:a="http://schemas.openxmlformats.org/drawingml/2006/main">
            <a:off x="8839200" y="1419225"/>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124"/>
                </a:solidFill>
                <a:latin typeface="Calibri"/>
                <a:ea typeface="Calibri"/>
                <a:cs typeface="Calibri"/>
              </a:defRPr>
            </a:defPPr>
          </a:lstStyle>
          <a:p xmlns:a="http://schemas.openxmlformats.org/drawingml/2006/main">
            <a:pPr algn="l">
              <a:defRPr sz="1875" b="1">
                <a:solidFill>
                  <a:srgbClr val="202124"/>
                </a:solidFill>
                <a:latin typeface="Calibri"/>
                <a:ea typeface="Calibri"/>
                <a:cs typeface="Calibri"/>
              </a:defRPr>
            </a:pPr>
            <a:r>
              <a:rPr sz="1875" b="1">
                <a:solidFill>
                  <a:srgbClr val="202124"/>
                </a:solidFill>
                <a:latin typeface="Calibri"/>
                <a:ea typeface="Calibri"/>
                <a:cs typeface="Calibri"/>
              </a:rPr>
              <a:t>Ground-truth mask</a:t>
            </a:r>
          </a:p>
        </p:txBody>
      </p:sp>
      <p:pic>
        <p:nvPicPr>
          <p:cNvPr id="9" name="">
            <a:extLst xmlns:a="http://schemas.openxmlformats.org/drawingml/2006/main">
              <a:ext uri="{FF2B5EF4-FFF2-40B4-BE49-F238E27FC236}">
                <a16:creationId xmlns:a16="http://schemas.microsoft.com/office/drawing/2014/main" id="{69DD117F-D53D-4A41-B6D0-B526B2316938}"/>
              </a:ext>
            </a:extLst>
          </p:cNvPr>
          <p:cNvPicPr>
            <a:picLocks xmlns:a="http://schemas.openxmlformats.org/drawingml/2006/main" noChangeAspect="1"/>
          </p:cNvPicPr>
          <p:nvPr/>
        </p:nvPicPr>
        <p:blipFill>
          <a:blip xmlns:r="http://schemas.openxmlformats.org/officeDocument/2006/relationships" xmlns:a="http://schemas.openxmlformats.org/drawingml/2006/main" r:embed="Rc616ee24ba134347"/>
          <a:srcRect xmlns:a="http://schemas.openxmlformats.org/drawingml/2006/main" l="0" t="0" r="0" b="0"/>
          <a:stretch xmlns:a="http://schemas.openxmlformats.org/drawingml/2006/main">
            <a:fillRect l="0" t="0" r="0" b="0"/>
          </a:stretch>
        </p:blipFill>
        <p:spPr>
          <a:xfrm xmlns:a="http://schemas.openxmlformats.org/drawingml/2006/main">
            <a:off x="8839200" y="1885950"/>
            <a:ext cx="2552700" cy="25527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3F18377-0C1B-40E5-8A63-0CA4C7FCB56D}"/>
              </a:ext>
            </a:extLst>
          </p:cNvPr>
          <p:cNvSpPr>
            <a:spLocks xmlns:a="http://schemas.openxmlformats.org/drawingml/2006/main" noGrp="1"/>
          </p:cNvSpPr>
          <p:nvPr/>
        </p:nvSpPr>
        <p:spPr>
          <a:xfrm xmlns:a="http://schemas.openxmlformats.org/drawingml/2006/main">
            <a:off x="3371850" y="2828925"/>
            <a:ext cx="419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0">
                <a:solidFill>
                  <a:srgbClr val="62686C"/>
                </a:solidFill>
                <a:latin typeface="Calibri"/>
                <a:ea typeface="Calibri"/>
                <a:cs typeface="Calibri"/>
              </a:defRPr>
            </a:defPPr>
          </a:lstStyle>
          <a:p xmlns:a="http://schemas.openxmlformats.org/drawingml/2006/main">
            <a:pPr algn="ctr">
              <a:defRPr sz="2850" b="0">
                <a:solidFill>
                  <a:srgbClr val="62686C"/>
                </a:solidFill>
                <a:latin typeface="Calibri"/>
                <a:ea typeface="Calibri"/>
                <a:cs typeface="Calibri"/>
              </a:defRPr>
            </a:pPr>
            <a:r>
              <a:rPr sz="2850" b="0">
                <a:solidFill>
                  <a:srgbClr val="62686C"/>
                </a:solidFill>
                <a:latin typeface="Calibri"/>
                <a:ea typeface="Calibri"/>
                <a:cs typeface="Calibri"/>
              </a:rPr>
              <a:t>+</a:t>
            </a:r>
          </a:p>
        </p:txBody>
      </p:sp>
      <p:cxnSp>
        <p:nvCxnSpPr>
          <p:cNvPr id="11" name="">
            <a:extLst xmlns:a="http://schemas.openxmlformats.org/drawingml/2006/main">
              <a:ext uri="{FF2B5EF4-FFF2-40B4-BE49-F238E27FC236}">
                <a16:creationId xmlns:a16="http://schemas.microsoft.com/office/drawing/2014/main" id="{7B6010EC-717A-4377-9D63-AA6087CB5E9E}"/>
              </a:ext>
            </a:extLst>
          </p:cNvPr>
          <p:cNvCxnSpPr/>
          <p:nvPr/>
        </p:nvCxnSpPr>
        <p:spPr>
          <a:xfrm xmlns:a="http://schemas.openxmlformats.org/drawingml/2006/main">
            <a:off x="8029575" y="3076575"/>
            <a:ext cx="571500" cy="0"/>
          </a:xfrm>
          <a:prstGeom xmlns:a="http://schemas.openxmlformats.org/drawingml/2006/main" prst="straightConnector1">
            <a:avLst/>
          </a:prstGeom>
          <a:ln xmlns:a="http://schemas.openxmlformats.org/drawingml/2006/main" w="17145">
            <a:solidFill>
              <a:srgbClr val="62686C"/>
            </a:solidFill>
            <a:tailEnd type="triangle" w="sm" len="sm"/>
          </a:ln>
        </p:spPr>
      </p:cxnSp>
      <p:sp>
        <p:nvSpPr>
          <p:cNvPr id="12" name="">
            <a:extLst xmlns:a="http://schemas.openxmlformats.org/drawingml/2006/main">
              <a:ext uri="{FF2B5EF4-FFF2-40B4-BE49-F238E27FC236}">
                <a16:creationId xmlns:a16="http://schemas.microsoft.com/office/drawing/2014/main" id="{9FE8FD08-0ECA-4D14-AB58-E265728D292A}"/>
              </a:ext>
            </a:extLst>
          </p:cNvPr>
          <p:cNvSpPr>
            <a:spLocks xmlns:a="http://schemas.openxmlformats.org/drawingml/2006/main" noGrp="1"/>
          </p:cNvSpPr>
          <p:nvPr/>
        </p:nvSpPr>
        <p:spPr>
          <a:xfrm xmlns:a="http://schemas.openxmlformats.org/drawingml/2006/main">
            <a:off x="638175" y="4819650"/>
            <a:ext cx="10915650" cy="0"/>
          </a:xfrm>
          <a:prstGeom xmlns:a="http://schemas.openxmlformats.org/drawingml/2006/main" prst="line">
            <a:avLst/>
          </a:prstGeom>
          <a:noFill xmlns:a="http://schemas.openxmlformats.org/drawingml/2006/main"/>
          <a:ln xmlns:a="http://schemas.openxmlformats.org/drawingml/2006/main" w="13335">
            <a:solidFill>
              <a:srgbClr val="C9CDCF"/>
            </a:solidFill>
            <a:prstDash val="solid"/>
          </a:ln>
        </p:spPr>
      </p:sp>
      <p:sp>
        <p:nvSpPr>
          <p:cNvPr id="13" name="Semantic cues are coarse">
            <a:extLst xmlns:a="http://schemas.openxmlformats.org/drawingml/2006/main">
              <a:ext uri="{FF2B5EF4-FFF2-40B4-BE49-F238E27FC236}">
                <a16:creationId xmlns:a16="http://schemas.microsoft.com/office/drawing/2014/main" id="{583590FB-F5AD-4734-944E-65311A3B1D81}"/>
              </a:ext>
            </a:extLst>
          </p:cNvPr>
          <p:cNvSpPr>
            <a:spLocks xmlns:a="http://schemas.openxmlformats.org/drawingml/2006/main" noGrp="1"/>
          </p:cNvSpPr>
          <p:nvPr/>
        </p:nvSpPr>
        <p:spPr>
          <a:xfrm xmlns:a="http://schemas.openxmlformats.org/drawingml/2006/main">
            <a:off x="638175" y="50387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78974E"/>
                </a:solidFill>
                <a:latin typeface="Calibri"/>
                <a:ea typeface="Calibri"/>
                <a:cs typeface="Calibri"/>
              </a:defRPr>
            </a:defPPr>
          </a:lstStyle>
          <a:p xmlns:a="http://schemas.openxmlformats.org/drawingml/2006/main">
            <a:pPr algn="l">
              <a:defRPr sz="2100" b="1">
                <a:solidFill>
                  <a:srgbClr val="78974E"/>
                </a:solidFill>
                <a:latin typeface="Calibri"/>
                <a:ea typeface="Calibri"/>
                <a:cs typeface="Calibri"/>
              </a:defRPr>
            </a:pPr>
            <a:r>
              <a:rPr sz="2100" b="1">
                <a:solidFill>
                  <a:srgbClr val="78974E"/>
                </a:solidFill>
                <a:latin typeface="Calibri"/>
                <a:ea typeface="Calibri"/>
                <a:cs typeface="Calibri"/>
              </a:rPr>
              <a:t>Semantic cues are coarse</a:t>
            </a:r>
          </a:p>
        </p:txBody>
      </p:sp>
      <p:sp>
        <p:nvSpPr>
          <p:cNvPr id="14" name="Fusion must retain local spatial detail.">
            <a:extLst xmlns:a="http://schemas.openxmlformats.org/drawingml/2006/main">
              <a:ext uri="{FF2B5EF4-FFF2-40B4-BE49-F238E27FC236}">
                <a16:creationId xmlns:a16="http://schemas.microsoft.com/office/drawing/2014/main" id="{909B9F97-7E5D-4A76-95E2-98E1F52A8FFF}"/>
              </a:ext>
            </a:extLst>
          </p:cNvPr>
          <p:cNvSpPr>
            <a:spLocks xmlns:a="http://schemas.openxmlformats.org/drawingml/2006/main" noGrp="1"/>
          </p:cNvSpPr>
          <p:nvPr/>
        </p:nvSpPr>
        <p:spPr>
          <a:xfrm xmlns:a="http://schemas.openxmlformats.org/drawingml/2006/main">
            <a:off x="638175" y="546735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202124"/>
                </a:solidFill>
                <a:latin typeface="Calibri"/>
                <a:ea typeface="Calibri"/>
                <a:cs typeface="Calibri"/>
              </a:defRPr>
            </a:defPPr>
          </a:lstStyle>
          <a:p xmlns:a="http://schemas.openxmlformats.org/drawingml/2006/main">
            <a:pPr algn="l">
              <a:defRPr sz="1875" b="0">
                <a:solidFill>
                  <a:srgbClr val="202124"/>
                </a:solidFill>
                <a:latin typeface="Calibri"/>
                <a:ea typeface="Calibri"/>
                <a:cs typeface="Calibri"/>
              </a:defRPr>
            </a:pPr>
            <a:r>
              <a:rPr sz="1875" b="0">
                <a:solidFill>
                  <a:srgbClr val="202124"/>
                </a:solidFill>
                <a:latin typeface="Calibri"/>
                <a:ea typeface="Calibri"/>
                <a:cs typeface="Calibri"/>
              </a:rPr>
              <a:t>Fusion must retain local spatial detail.</a:t>
            </a:r>
          </a:p>
        </p:txBody>
      </p:sp>
      <p:sp>
        <p:nvSpPr>
          <p:cNvPr id="15" name="Report and image may disagree">
            <a:extLst xmlns:a="http://schemas.openxmlformats.org/drawingml/2006/main">
              <a:ext uri="{FF2B5EF4-FFF2-40B4-BE49-F238E27FC236}">
                <a16:creationId xmlns:a16="http://schemas.microsoft.com/office/drawing/2014/main" id="{473AE4C3-2D93-4067-AED1-F03798FCAA7A}"/>
              </a:ext>
            </a:extLst>
          </p:cNvPr>
          <p:cNvSpPr>
            <a:spLocks xmlns:a="http://schemas.openxmlformats.org/drawingml/2006/main" noGrp="1"/>
          </p:cNvSpPr>
          <p:nvPr/>
        </p:nvSpPr>
        <p:spPr>
          <a:xfrm xmlns:a="http://schemas.openxmlformats.org/drawingml/2006/main">
            <a:off x="6457950" y="50387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CA863D"/>
                </a:solidFill>
                <a:latin typeface="Calibri"/>
                <a:ea typeface="Calibri"/>
                <a:cs typeface="Calibri"/>
              </a:defRPr>
            </a:defPPr>
          </a:lstStyle>
          <a:p xmlns:a="http://schemas.openxmlformats.org/drawingml/2006/main">
            <a:pPr algn="l">
              <a:defRPr sz="2100" b="1">
                <a:solidFill>
                  <a:srgbClr val="CA863D"/>
                </a:solidFill>
                <a:latin typeface="Calibri"/>
                <a:ea typeface="Calibri"/>
                <a:cs typeface="Calibri"/>
              </a:defRPr>
            </a:pPr>
            <a:r>
              <a:rPr sz="2100" b="1">
                <a:solidFill>
                  <a:srgbClr val="CA863D"/>
                </a:solidFill>
                <a:latin typeface="Calibri"/>
                <a:ea typeface="Calibri"/>
                <a:cs typeface="Calibri"/>
              </a:rPr>
              <a:t>Report and image may disagree</a:t>
            </a:r>
          </a:p>
        </p:txBody>
      </p:sp>
      <p:sp>
        <p:nvSpPr>
          <p:cNvPr id="16" name="Routing should also use visual evidence.">
            <a:extLst xmlns:a="http://schemas.openxmlformats.org/drawingml/2006/main">
              <a:ext uri="{FF2B5EF4-FFF2-40B4-BE49-F238E27FC236}">
                <a16:creationId xmlns:a16="http://schemas.microsoft.com/office/drawing/2014/main" id="{D0BC3C9C-E7DD-4CA9-BBB8-862FC1F38A80}"/>
              </a:ext>
            </a:extLst>
          </p:cNvPr>
          <p:cNvSpPr>
            <a:spLocks xmlns:a="http://schemas.openxmlformats.org/drawingml/2006/main" noGrp="1"/>
          </p:cNvSpPr>
          <p:nvPr/>
        </p:nvSpPr>
        <p:spPr>
          <a:xfrm xmlns:a="http://schemas.openxmlformats.org/drawingml/2006/main">
            <a:off x="6457950" y="5467350"/>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202124"/>
                </a:solidFill>
                <a:latin typeface="Calibri"/>
                <a:ea typeface="Calibri"/>
                <a:cs typeface="Calibri"/>
              </a:defRPr>
            </a:defPPr>
          </a:lstStyle>
          <a:p xmlns:a="http://schemas.openxmlformats.org/drawingml/2006/main">
            <a:pPr algn="l">
              <a:defRPr sz="1875" b="0">
                <a:solidFill>
                  <a:srgbClr val="202124"/>
                </a:solidFill>
                <a:latin typeface="Calibri"/>
                <a:ea typeface="Calibri"/>
                <a:cs typeface="Calibri"/>
              </a:defRPr>
            </a:pPr>
            <a:r>
              <a:rPr sz="1875" b="0">
                <a:solidFill>
                  <a:srgbClr val="202124"/>
                </a:solidFill>
                <a:latin typeface="Calibri"/>
                <a:ea typeface="Calibri"/>
                <a:cs typeface="Calibri"/>
              </a:rPr>
              <a:t>Routing should also use visual evidence.</a:t>
            </a:r>
          </a:p>
        </p:txBody>
      </p:sp>
    </p:spTree>
    <p:extLst>
      <p:ext uri="{BB962C8B-B14F-4D97-AF65-F5344CB8AC3E}">
        <p14:creationId xmlns:p14="http://schemas.microsoft.com/office/powerpoint/2010/main" val="30748688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wo architectural contributions">
            <a:extLst xmlns:a="http://schemas.openxmlformats.org/drawingml/2006/main">
              <a:ext uri="{FF2B5EF4-FFF2-40B4-BE49-F238E27FC236}">
                <a16:creationId xmlns:a16="http://schemas.microsoft.com/office/drawing/2014/main" id="{CFA7E07F-D004-494D-81E5-7D88DF8B2650}"/>
              </a:ext>
            </a:extLst>
          </p:cNvPr>
          <p:cNvSpPr>
            <a:spLocks xmlns:a="http://schemas.openxmlformats.org/drawingml/2006/main" noGrp="1"/>
          </p:cNvSpPr>
          <p:nvPr/>
        </p:nvSpPr>
        <p:spPr>
          <a:xfrm xmlns:a="http://schemas.openxmlformats.org/drawingml/2006/main">
            <a:off x="638175" y="361950"/>
            <a:ext cx="10915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02124"/>
                </a:solidFill>
                <a:latin typeface="Cambria"/>
                <a:ea typeface="Cambria"/>
                <a:cs typeface="Cambria"/>
              </a:defRPr>
            </a:defPPr>
          </a:lstStyle>
          <a:p xmlns:a="http://schemas.openxmlformats.org/drawingml/2006/main">
            <a:pPr algn="l">
              <a:defRPr sz="3000" b="1">
                <a:solidFill>
                  <a:srgbClr val="202124"/>
                </a:solidFill>
                <a:latin typeface="Cambria"/>
                <a:ea typeface="Cambria"/>
                <a:cs typeface="Cambria"/>
              </a:defRPr>
            </a:pPr>
            <a:r>
              <a:rPr sz="3000" b="1">
                <a:solidFill>
                  <a:srgbClr val="202124"/>
                </a:solidFill>
                <a:latin typeface="Cambria"/>
                <a:ea typeface="Cambria"/>
                <a:cs typeface="Cambria"/>
              </a:rPr>
              <a:t>Two architectural contributions</a:t>
            </a:r>
          </a:p>
        </p:txBody>
      </p:sp>
      <p:sp>
        <p:nvSpPr>
          <p:cNvPr id="2" name="Matched single-cycle cosine · three seeds · Test macro ">
            <a:extLst xmlns:a="http://schemas.openxmlformats.org/drawingml/2006/main">
              <a:ext uri="{FF2B5EF4-FFF2-40B4-BE49-F238E27FC236}">
                <a16:creationId xmlns:a16="http://schemas.microsoft.com/office/drawing/2014/main" id="{8A080874-F2A6-484B-8663-DE69039AE59D}"/>
              </a:ext>
            </a:extLst>
          </p:cNvPr>
          <p:cNvSpPr>
            <a:spLocks xmlns:a="http://schemas.openxmlformats.org/drawingml/2006/main" noGrp="1"/>
          </p:cNvSpPr>
          <p:nvPr/>
        </p:nvSpPr>
        <p:spPr>
          <a:xfrm xmlns:a="http://schemas.openxmlformats.org/drawingml/2006/main">
            <a:off x="638175" y="6477000"/>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929699"/>
                </a:solidFill>
                <a:latin typeface="Calibri"/>
                <a:ea typeface="Calibri"/>
                <a:cs typeface="Calibri"/>
              </a:defRPr>
            </a:defPPr>
          </a:lstStyle>
          <a:p xmlns:a="http://schemas.openxmlformats.org/drawingml/2006/main">
            <a:pPr algn="l">
              <a:defRPr sz="900" b="0">
                <a:solidFill>
                  <a:srgbClr val="929699"/>
                </a:solidFill>
                <a:latin typeface="Calibri"/>
                <a:ea typeface="Calibri"/>
                <a:cs typeface="Calibri"/>
              </a:defRPr>
            </a:pPr>
            <a:r>
              <a:rPr sz="900" b="0">
                <a:solidFill>
                  <a:srgbClr val="929699"/>
                </a:solidFill>
                <a:latin typeface="Calibri"/>
                <a:ea typeface="Calibri"/>
                <a:cs typeface="Calibri"/>
              </a:rPr>
              <a:t>Matched single-cycle cosine · three seeds · Test macro IoU</a:t>
            </a:r>
          </a:p>
        </p:txBody>
      </p:sp>
      <p:sp>
        <p:nvSpPr>
          <p:cNvPr id="3" name="3">
            <a:extLst xmlns:a="http://schemas.openxmlformats.org/drawingml/2006/main">
              <a:ext uri="{FF2B5EF4-FFF2-40B4-BE49-F238E27FC236}">
                <a16:creationId xmlns:a16="http://schemas.microsoft.com/office/drawing/2014/main" id="{14BAD1FC-5070-4EE3-B648-CA34DB8C364A}"/>
              </a:ext>
            </a:extLst>
          </p:cNvPr>
          <p:cNvSpPr>
            <a:spLocks xmlns:a="http://schemas.openxmlformats.org/drawingml/2006/main" noGrp="1"/>
          </p:cNvSpPr>
          <p:nvPr/>
        </p:nvSpPr>
        <p:spPr>
          <a:xfrm xmlns:a="http://schemas.openxmlformats.org/drawingml/2006/main">
            <a:off x="11144250" y="6477000"/>
            <a:ext cx="4095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929699"/>
                </a:solidFill>
                <a:latin typeface="Calibri"/>
                <a:ea typeface="Calibri"/>
                <a:cs typeface="Calibri"/>
              </a:defRPr>
            </a:defPPr>
          </a:lstStyle>
          <a:p xmlns:a="http://schemas.openxmlformats.org/drawingml/2006/main">
            <a:pPr algn="r">
              <a:defRPr sz="900" b="0">
                <a:solidFill>
                  <a:srgbClr val="929699"/>
                </a:solidFill>
                <a:latin typeface="Calibri"/>
                <a:ea typeface="Calibri"/>
                <a:cs typeface="Calibri"/>
              </a:defRPr>
            </a:pPr>
            <a:r>
              <a:rPr sz="900" b="0">
                <a:solidFill>
                  <a:srgbClr val="929699"/>
                </a:solidFill>
                <a:latin typeface="Calibri"/>
                <a:ea typeface="Calibri"/>
                <a:cs typeface="Calibri"/>
              </a:rPr>
              <a:t>3</a:t>
            </a:r>
          </a:p>
        </p:txBody>
      </p:sp>
      <p:sp>
        <p:nvSpPr>
          <p:cNvPr id="4" name="FSDR">
            <a:extLst xmlns:a="http://schemas.openxmlformats.org/drawingml/2006/main">
              <a:ext uri="{FF2B5EF4-FFF2-40B4-BE49-F238E27FC236}">
                <a16:creationId xmlns:a16="http://schemas.microsoft.com/office/drawing/2014/main" id="{D4A09402-01BF-45FA-9506-6813B58A081E}"/>
              </a:ext>
            </a:extLst>
          </p:cNvPr>
          <p:cNvSpPr>
            <a:spLocks xmlns:a="http://schemas.openxmlformats.org/drawingml/2006/main" noGrp="1"/>
          </p:cNvSpPr>
          <p:nvPr/>
        </p:nvSpPr>
        <p:spPr>
          <a:xfrm xmlns:a="http://schemas.openxmlformats.org/drawingml/2006/main">
            <a:off x="638175" y="1504950"/>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925" b="1">
                <a:solidFill>
                  <a:srgbClr val="78974E"/>
                </a:solidFill>
                <a:latin typeface="Calibri"/>
                <a:ea typeface="Calibri"/>
                <a:cs typeface="Calibri"/>
              </a:defRPr>
            </a:defPPr>
          </a:lstStyle>
          <a:p xmlns:a="http://schemas.openxmlformats.org/drawingml/2006/main">
            <a:pPr algn="l">
              <a:defRPr sz="2925" b="1">
                <a:solidFill>
                  <a:srgbClr val="78974E"/>
                </a:solidFill>
                <a:latin typeface="Calibri"/>
                <a:ea typeface="Calibri"/>
                <a:cs typeface="Calibri"/>
              </a:defRPr>
            </a:pPr>
            <a:r>
              <a:rPr sz="2925" b="1">
                <a:solidFill>
                  <a:srgbClr val="78974E"/>
                </a:solidFill>
                <a:latin typeface="Calibri"/>
                <a:ea typeface="Calibri"/>
                <a:cs typeface="Calibri"/>
              </a:rPr>
              <a:t>FSDR</a:t>
            </a:r>
          </a:p>
        </p:txBody>
      </p:sp>
      <p:sp>
        <p:nvSpPr>
          <p:cNvPr id="5" name="Frequency-aware Semantic–Detail Refinement">
            <a:extLst xmlns:a="http://schemas.openxmlformats.org/drawingml/2006/main">
              <a:ext uri="{FF2B5EF4-FFF2-40B4-BE49-F238E27FC236}">
                <a16:creationId xmlns:a16="http://schemas.microsoft.com/office/drawing/2014/main" id="{633098B8-7622-4993-A964-004AA19A8C79}"/>
              </a:ext>
            </a:extLst>
          </p:cNvPr>
          <p:cNvSpPr>
            <a:spLocks xmlns:a="http://schemas.openxmlformats.org/drawingml/2006/main" noGrp="1"/>
          </p:cNvSpPr>
          <p:nvPr/>
        </p:nvSpPr>
        <p:spPr>
          <a:xfrm xmlns:a="http://schemas.openxmlformats.org/drawingml/2006/main">
            <a:off x="638175" y="2133600"/>
            <a:ext cx="10915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202124"/>
                </a:solidFill>
                <a:latin typeface="Calibri"/>
                <a:ea typeface="Calibri"/>
                <a:cs typeface="Calibri"/>
              </a:defRPr>
            </a:defPPr>
          </a:lstStyle>
          <a:p xmlns:a="http://schemas.openxmlformats.org/drawingml/2006/main">
            <a:pPr algn="l">
              <a:defRPr sz="2100" b="1">
                <a:solidFill>
                  <a:srgbClr val="202124"/>
                </a:solidFill>
                <a:latin typeface="Calibri"/>
                <a:ea typeface="Calibri"/>
                <a:cs typeface="Calibri"/>
              </a:defRPr>
            </a:pPr>
            <a:r>
              <a:rPr sz="2100" b="1">
                <a:solidFill>
                  <a:srgbClr val="202124"/>
                </a:solidFill>
                <a:latin typeface="Calibri"/>
                <a:ea typeface="Calibri"/>
                <a:cs typeface="Calibri"/>
              </a:rPr>
              <a:t>Frequency-aware Semantic–Detail Refinement</a:t>
            </a:r>
          </a:p>
        </p:txBody>
      </p:sp>
      <p:sp>
        <p:nvSpPr>
          <p:cNvPr id="6" name="Keep CNN, ViT and decoder features separate during refi">
            <a:extLst xmlns:a="http://schemas.openxmlformats.org/drawingml/2006/main">
              <a:ext uri="{FF2B5EF4-FFF2-40B4-BE49-F238E27FC236}">
                <a16:creationId xmlns:a16="http://schemas.microsoft.com/office/drawing/2014/main" id="{4C44AC8D-42E0-4599-B0C2-08789823B5F6}"/>
              </a:ext>
            </a:extLst>
          </p:cNvPr>
          <p:cNvSpPr>
            <a:spLocks xmlns:a="http://schemas.openxmlformats.org/drawingml/2006/main" noGrp="1"/>
          </p:cNvSpPr>
          <p:nvPr/>
        </p:nvSpPr>
        <p:spPr>
          <a:xfrm xmlns:a="http://schemas.openxmlformats.org/drawingml/2006/main">
            <a:off x="638175" y="2667000"/>
            <a:ext cx="8953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202124"/>
                </a:solidFill>
                <a:latin typeface="Calibri"/>
                <a:ea typeface="Calibri"/>
                <a:cs typeface="Calibri"/>
              </a:defRPr>
            </a:defPPr>
          </a:lstStyle>
          <a:p xmlns:a="http://schemas.openxmlformats.org/drawingml/2006/main">
            <a:pPr algn="l">
              <a:defRPr sz="2025" b="0">
                <a:solidFill>
                  <a:srgbClr val="202124"/>
                </a:solidFill>
                <a:latin typeface="Calibri"/>
                <a:ea typeface="Calibri"/>
                <a:cs typeface="Calibri"/>
              </a:defRPr>
            </a:pPr>
            <a:r>
              <a:rPr sz="2025" b="0">
                <a:solidFill>
                  <a:srgbClr val="202124"/>
                </a:solidFill>
                <a:latin typeface="Calibri"/>
                <a:ea typeface="Calibri"/>
                <a:cs typeface="Calibri"/>
              </a:rPr>
              <a:t>Keep CNN, ViT and decoder features separate during refinement.</a:t>
            </a:r>
          </a:p>
          <a:p xmlns:a="http://schemas.openxmlformats.org/drawingml/2006/main">
            <a:pPr algn="l">
              <a:defRPr sz="2025" b="0">
                <a:solidFill>
                  <a:srgbClr val="202124"/>
                </a:solidFill>
                <a:latin typeface="Calibri"/>
                <a:ea typeface="Calibri"/>
                <a:cs typeface="Calibri"/>
              </a:defRPr>
            </a:pPr>
            <a:r>
              <a:rPr sz="2025" b="0">
                <a:solidFill>
                  <a:srgbClr val="202124"/>
                </a:solidFill>
                <a:latin typeface="Calibri"/>
                <a:ea typeface="Calibri"/>
                <a:cs typeface="Calibri"/>
              </a:rPr>
              <a:t>Use semantic support to guide local detail.</a:t>
            </a:r>
          </a:p>
        </p:txBody>
      </p:sp>
      <p:sp>
        <p:nvSpPr>
          <p:cNvPr id="7" name="+0.51 pp">
            <a:extLst xmlns:a="http://schemas.openxmlformats.org/drawingml/2006/main">
              <a:ext uri="{FF2B5EF4-FFF2-40B4-BE49-F238E27FC236}">
                <a16:creationId xmlns:a16="http://schemas.microsoft.com/office/drawing/2014/main" id="{2469378F-F805-49C0-BB7B-737BF1C35AEA}"/>
              </a:ext>
            </a:extLst>
          </p:cNvPr>
          <p:cNvSpPr>
            <a:spLocks xmlns:a="http://schemas.openxmlformats.org/drawingml/2006/main" noGrp="1"/>
          </p:cNvSpPr>
          <p:nvPr/>
        </p:nvSpPr>
        <p:spPr>
          <a:xfrm xmlns:a="http://schemas.openxmlformats.org/drawingml/2006/main">
            <a:off x="9620250" y="2628900"/>
            <a:ext cx="19335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625" b="1">
                <a:solidFill>
                  <a:srgbClr val="78974E"/>
                </a:solidFill>
                <a:latin typeface="Calibri"/>
                <a:ea typeface="Calibri"/>
                <a:cs typeface="Calibri"/>
              </a:defRPr>
            </a:defPPr>
          </a:lstStyle>
          <a:p xmlns:a="http://schemas.openxmlformats.org/drawingml/2006/main">
            <a:pPr algn="r">
              <a:defRPr sz="2625" b="1">
                <a:solidFill>
                  <a:srgbClr val="78974E"/>
                </a:solidFill>
                <a:latin typeface="Calibri"/>
                <a:ea typeface="Calibri"/>
                <a:cs typeface="Calibri"/>
              </a:defRPr>
            </a:pPr>
            <a:r>
              <a:rPr sz="2625" b="1">
                <a:solidFill>
                  <a:srgbClr val="78974E"/>
                </a:solidFill>
                <a:latin typeface="Calibri"/>
                <a:ea typeface="Calibri"/>
                <a:cs typeface="Calibri"/>
              </a:rPr>
              <a:t>+0.51 pp</a:t>
            </a:r>
          </a:p>
        </p:txBody>
      </p:sp>
      <p:sp>
        <p:nvSpPr>
          <p:cNvPr id="8" name="vs. matched PLAM">
            <a:extLst xmlns:a="http://schemas.openxmlformats.org/drawingml/2006/main">
              <a:ext uri="{FF2B5EF4-FFF2-40B4-BE49-F238E27FC236}">
                <a16:creationId xmlns:a16="http://schemas.microsoft.com/office/drawing/2014/main" id="{FAA1FB3C-C3F4-4439-9E77-6D156E861745}"/>
              </a:ext>
            </a:extLst>
          </p:cNvPr>
          <p:cNvSpPr>
            <a:spLocks xmlns:a="http://schemas.openxmlformats.org/drawingml/2006/main" noGrp="1"/>
          </p:cNvSpPr>
          <p:nvPr/>
        </p:nvSpPr>
        <p:spPr>
          <a:xfrm xmlns:a="http://schemas.openxmlformats.org/drawingml/2006/main">
            <a:off x="9086850" y="3276600"/>
            <a:ext cx="24669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62686C"/>
                </a:solidFill>
                <a:latin typeface="Calibri"/>
                <a:ea typeface="Calibri"/>
                <a:cs typeface="Calibri"/>
              </a:defRPr>
            </a:defPPr>
          </a:lstStyle>
          <a:p xmlns:a="http://schemas.openxmlformats.org/drawingml/2006/main">
            <a:pPr algn="r">
              <a:defRPr sz="1500" b="0">
                <a:solidFill>
                  <a:srgbClr val="62686C"/>
                </a:solidFill>
                <a:latin typeface="Calibri"/>
                <a:ea typeface="Calibri"/>
                <a:cs typeface="Calibri"/>
              </a:defRPr>
            </a:pPr>
            <a:r>
              <a:rPr sz="1500" b="0">
                <a:solidFill>
                  <a:srgbClr val="62686C"/>
                </a:solidFill>
                <a:latin typeface="Calibri"/>
                <a:ea typeface="Calibri"/>
                <a:cs typeface="Calibri"/>
              </a:rPr>
              <a:t>vs. matched PLAM</a:t>
            </a:r>
          </a:p>
        </p:txBody>
      </p:sp>
      <p:sp>
        <p:nvSpPr>
          <p:cNvPr id="9" name="">
            <a:extLst xmlns:a="http://schemas.openxmlformats.org/drawingml/2006/main">
              <a:ext uri="{FF2B5EF4-FFF2-40B4-BE49-F238E27FC236}">
                <a16:creationId xmlns:a16="http://schemas.microsoft.com/office/drawing/2014/main" id="{12EEA040-601A-4279-BF62-50390B0F53B1}"/>
              </a:ext>
            </a:extLst>
          </p:cNvPr>
          <p:cNvSpPr>
            <a:spLocks xmlns:a="http://schemas.openxmlformats.org/drawingml/2006/main" noGrp="1"/>
          </p:cNvSpPr>
          <p:nvPr/>
        </p:nvSpPr>
        <p:spPr>
          <a:xfrm xmlns:a="http://schemas.openxmlformats.org/drawingml/2006/main">
            <a:off x="638175" y="3790950"/>
            <a:ext cx="10915650" cy="0"/>
          </a:xfrm>
          <a:prstGeom xmlns:a="http://schemas.openxmlformats.org/drawingml/2006/main" prst="line">
            <a:avLst/>
          </a:prstGeom>
          <a:noFill xmlns:a="http://schemas.openxmlformats.org/drawingml/2006/main"/>
          <a:ln xmlns:a="http://schemas.openxmlformats.org/drawingml/2006/main" w="13335">
            <a:solidFill>
              <a:srgbClr val="C9CDCF"/>
            </a:solidFill>
            <a:prstDash val="solid"/>
          </a:ln>
        </p:spPr>
      </p:sp>
      <p:sp>
        <p:nvSpPr>
          <p:cNvPr id="10" name="RACE">
            <a:extLst xmlns:a="http://schemas.openxmlformats.org/drawingml/2006/main">
              <a:ext uri="{FF2B5EF4-FFF2-40B4-BE49-F238E27FC236}">
                <a16:creationId xmlns:a16="http://schemas.microsoft.com/office/drawing/2014/main" id="{DD1AA0B1-2A0C-4B55-8EB4-59C771EF5850}"/>
              </a:ext>
            </a:extLst>
          </p:cNvPr>
          <p:cNvSpPr>
            <a:spLocks xmlns:a="http://schemas.openxmlformats.org/drawingml/2006/main" noGrp="1"/>
          </p:cNvSpPr>
          <p:nvPr/>
        </p:nvSpPr>
        <p:spPr>
          <a:xfrm xmlns:a="http://schemas.openxmlformats.org/drawingml/2006/main">
            <a:off x="638175" y="404812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925" b="1">
                <a:solidFill>
                  <a:srgbClr val="CA863D"/>
                </a:solidFill>
                <a:latin typeface="Calibri"/>
                <a:ea typeface="Calibri"/>
                <a:cs typeface="Calibri"/>
              </a:defRPr>
            </a:defPPr>
          </a:lstStyle>
          <a:p xmlns:a="http://schemas.openxmlformats.org/drawingml/2006/main">
            <a:pPr algn="l">
              <a:defRPr sz="2925" b="1">
                <a:solidFill>
                  <a:srgbClr val="CA863D"/>
                </a:solidFill>
                <a:latin typeface="Calibri"/>
                <a:ea typeface="Calibri"/>
                <a:cs typeface="Calibri"/>
              </a:defRPr>
            </a:pPr>
            <a:r>
              <a:rPr sz="2925" b="1">
                <a:solidFill>
                  <a:srgbClr val="CA863D"/>
                </a:solidFill>
                <a:latin typeface="Calibri"/>
                <a:ea typeface="Calibri"/>
                <a:cs typeface="Calibri"/>
              </a:rPr>
              <a:t>RACE</a:t>
            </a:r>
          </a:p>
        </p:txBody>
      </p:sp>
      <p:sp>
        <p:nvSpPr>
          <p:cNvPr id="11" name="Report–Anatomy Consistency and Evidence Fusion">
            <a:extLst xmlns:a="http://schemas.openxmlformats.org/drawingml/2006/main">
              <a:ext uri="{FF2B5EF4-FFF2-40B4-BE49-F238E27FC236}">
                <a16:creationId xmlns:a16="http://schemas.microsoft.com/office/drawing/2014/main" id="{88C88AE5-94F5-4DB4-978A-5A39CBDBC355}"/>
              </a:ext>
            </a:extLst>
          </p:cNvPr>
          <p:cNvSpPr>
            <a:spLocks xmlns:a="http://schemas.openxmlformats.org/drawingml/2006/main" noGrp="1"/>
          </p:cNvSpPr>
          <p:nvPr/>
        </p:nvSpPr>
        <p:spPr>
          <a:xfrm xmlns:a="http://schemas.openxmlformats.org/drawingml/2006/main">
            <a:off x="638175" y="4667250"/>
            <a:ext cx="10915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202124"/>
                </a:solidFill>
                <a:latin typeface="Calibri"/>
                <a:ea typeface="Calibri"/>
                <a:cs typeface="Calibri"/>
              </a:defRPr>
            </a:defPPr>
          </a:lstStyle>
          <a:p xmlns:a="http://schemas.openxmlformats.org/drawingml/2006/main">
            <a:pPr algn="l">
              <a:defRPr sz="2100" b="1">
                <a:solidFill>
                  <a:srgbClr val="202124"/>
                </a:solidFill>
                <a:latin typeface="Calibri"/>
                <a:ea typeface="Calibri"/>
                <a:cs typeface="Calibri"/>
              </a:defRPr>
            </a:pPr>
            <a:r>
              <a:rPr sz="2100" b="1">
                <a:solidFill>
                  <a:srgbClr val="202124"/>
                </a:solidFill>
                <a:latin typeface="Calibri"/>
                <a:ea typeface="Calibri"/>
                <a:cs typeface="Calibri"/>
              </a:rPr>
              <a:t>Report–Anatomy Consistency and Evidence Fusion</a:t>
            </a:r>
          </a:p>
        </p:txBody>
      </p:sp>
      <p:sp>
        <p:nvSpPr>
          <p:cNvPr id="12" name="Gate CNN skips with a report prior and visual evidence.">
            <a:extLst xmlns:a="http://schemas.openxmlformats.org/drawingml/2006/main">
              <a:ext uri="{FF2B5EF4-FFF2-40B4-BE49-F238E27FC236}">
                <a16:creationId xmlns:a16="http://schemas.microsoft.com/office/drawing/2014/main" id="{E03B07B8-278B-4F1D-93B2-2E5DB7B6026F}"/>
              </a:ext>
            </a:extLst>
          </p:cNvPr>
          <p:cNvSpPr>
            <a:spLocks xmlns:a="http://schemas.openxmlformats.org/drawingml/2006/main" noGrp="1"/>
          </p:cNvSpPr>
          <p:nvPr/>
        </p:nvSpPr>
        <p:spPr>
          <a:xfrm xmlns:a="http://schemas.openxmlformats.org/drawingml/2006/main">
            <a:off x="638175" y="5181600"/>
            <a:ext cx="8953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202124"/>
                </a:solidFill>
                <a:latin typeface="Calibri"/>
                <a:ea typeface="Calibri"/>
                <a:cs typeface="Calibri"/>
              </a:defRPr>
            </a:defPPr>
          </a:lstStyle>
          <a:p xmlns:a="http://schemas.openxmlformats.org/drawingml/2006/main">
            <a:pPr algn="l">
              <a:defRPr sz="2025" b="0">
                <a:solidFill>
                  <a:srgbClr val="202124"/>
                </a:solidFill>
                <a:latin typeface="Calibri"/>
                <a:ea typeface="Calibri"/>
                <a:cs typeface="Calibri"/>
              </a:defRPr>
            </a:pPr>
            <a:r>
              <a:rPr sz="2025" b="0">
                <a:solidFill>
                  <a:srgbClr val="202124"/>
                </a:solidFill>
                <a:latin typeface="Calibri"/>
                <a:ea typeface="Calibri"/>
                <a:cs typeface="Calibri"/>
              </a:rPr>
              <a:t>Gate CNN skips with a report prior and visual evidence.</a:t>
            </a:r>
          </a:p>
          <a:p xmlns:a="http://schemas.openxmlformats.org/drawingml/2006/main">
            <a:pPr algn="l">
              <a:defRPr sz="2025" b="0">
                <a:solidFill>
                  <a:srgbClr val="202124"/>
                </a:solidFill>
                <a:latin typeface="Calibri"/>
                <a:ea typeface="Calibri"/>
                <a:cs typeface="Calibri"/>
              </a:defRPr>
            </a:pPr>
            <a:r>
              <a:rPr sz="2025" b="0">
                <a:solidFill>
                  <a:srgbClr val="202124"/>
                </a:solidFill>
                <a:latin typeface="Calibri"/>
                <a:ea typeface="Calibri"/>
                <a:cs typeface="Calibri"/>
              </a:rPr>
              <a:t>Evaluate routing and auxiliary training as one complete module.</a:t>
            </a:r>
          </a:p>
        </p:txBody>
      </p:sp>
      <p:sp>
        <p:nvSpPr>
          <p:cNvPr id="13" name="+0.24 pp">
            <a:extLst xmlns:a="http://schemas.openxmlformats.org/drawingml/2006/main">
              <a:ext uri="{FF2B5EF4-FFF2-40B4-BE49-F238E27FC236}">
                <a16:creationId xmlns:a16="http://schemas.microsoft.com/office/drawing/2014/main" id="{670FD03E-78CA-412F-878C-C15A0FEDC5AE}"/>
              </a:ext>
            </a:extLst>
          </p:cNvPr>
          <p:cNvSpPr>
            <a:spLocks xmlns:a="http://schemas.openxmlformats.org/drawingml/2006/main" noGrp="1"/>
          </p:cNvSpPr>
          <p:nvPr/>
        </p:nvSpPr>
        <p:spPr>
          <a:xfrm xmlns:a="http://schemas.openxmlformats.org/drawingml/2006/main">
            <a:off x="9620250" y="5143500"/>
            <a:ext cx="19335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625" b="1">
                <a:solidFill>
                  <a:srgbClr val="CA863D"/>
                </a:solidFill>
                <a:latin typeface="Calibri"/>
                <a:ea typeface="Calibri"/>
                <a:cs typeface="Calibri"/>
              </a:defRPr>
            </a:defPPr>
          </a:lstStyle>
          <a:p xmlns:a="http://schemas.openxmlformats.org/drawingml/2006/main">
            <a:pPr algn="r">
              <a:defRPr sz="2625" b="1">
                <a:solidFill>
                  <a:srgbClr val="CA863D"/>
                </a:solidFill>
                <a:latin typeface="Calibri"/>
                <a:ea typeface="Calibri"/>
                <a:cs typeface="Calibri"/>
              </a:defRPr>
            </a:pPr>
            <a:r>
              <a:rPr sz="2625" b="1">
                <a:solidFill>
                  <a:srgbClr val="CA863D"/>
                </a:solidFill>
                <a:latin typeface="Calibri"/>
                <a:ea typeface="Calibri"/>
                <a:cs typeface="Calibri"/>
              </a:rPr>
              <a:t>+0.24 pp</a:t>
            </a:r>
          </a:p>
        </p:txBody>
      </p:sp>
      <p:sp>
        <p:nvSpPr>
          <p:cNvPr id="14" name="added to FSDR">
            <a:extLst xmlns:a="http://schemas.openxmlformats.org/drawingml/2006/main">
              <a:ext uri="{FF2B5EF4-FFF2-40B4-BE49-F238E27FC236}">
                <a16:creationId xmlns:a16="http://schemas.microsoft.com/office/drawing/2014/main" id="{297C183F-97FB-428B-8FC2-704F964D11B3}"/>
              </a:ext>
            </a:extLst>
          </p:cNvPr>
          <p:cNvSpPr>
            <a:spLocks xmlns:a="http://schemas.openxmlformats.org/drawingml/2006/main" noGrp="1"/>
          </p:cNvSpPr>
          <p:nvPr/>
        </p:nvSpPr>
        <p:spPr>
          <a:xfrm xmlns:a="http://schemas.openxmlformats.org/drawingml/2006/main">
            <a:off x="9086850" y="5810250"/>
            <a:ext cx="2466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62686C"/>
                </a:solidFill>
                <a:latin typeface="Calibri"/>
                <a:ea typeface="Calibri"/>
                <a:cs typeface="Calibri"/>
              </a:defRPr>
            </a:defPPr>
          </a:lstStyle>
          <a:p xmlns:a="http://schemas.openxmlformats.org/drawingml/2006/main">
            <a:pPr algn="r">
              <a:defRPr sz="1500" b="0">
                <a:solidFill>
                  <a:srgbClr val="62686C"/>
                </a:solidFill>
                <a:latin typeface="Calibri"/>
                <a:ea typeface="Calibri"/>
                <a:cs typeface="Calibri"/>
              </a:defRPr>
            </a:pPr>
            <a:r>
              <a:rPr sz="1500" b="0">
                <a:solidFill>
                  <a:srgbClr val="62686C"/>
                </a:solidFill>
                <a:latin typeface="Calibri"/>
                <a:ea typeface="Calibri"/>
                <a:cs typeface="Calibri"/>
              </a:rPr>
              <a:t>added to FSDR</a:t>
            </a:r>
          </a:p>
        </p:txBody>
      </p:sp>
    </p:spTree>
    <p:extLst>
      <p:ext uri="{BB962C8B-B14F-4D97-AF65-F5344CB8AC3E}">
        <p14:creationId xmlns:p14="http://schemas.microsoft.com/office/powerpoint/2010/main" val="317557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85" name="">
            <a:extLst xmlns:a="http://schemas.openxmlformats.org/drawingml/2006/main">
              <a:ext uri="{FF2B5EF4-FFF2-40B4-BE49-F238E27FC236}">
                <a16:creationId xmlns:a16="http://schemas.microsoft.com/office/drawing/2014/main" id="{DB821F6B-6E18-43EE-974B-7C9542DD39CC}"/>
              </a:ext>
            </a:extLst>
          </p:cNvPr>
          <p:cNvCxnSpPr>
            <a:stCxn xmlns:a="http://schemas.openxmlformats.org/drawingml/2006/main" id="83" idx="5"/>
            <a:endCxn xmlns:a="http://schemas.openxmlformats.org/drawingml/2006/main" id="68" idx="3"/>
          </p:cNvCxnSpPr>
          <p:nvPr/>
        </p:nvCxnSpPr>
        <p:spPr>
          <a:xfrm xmlns:a="http://schemas.openxmlformats.org/drawingml/2006/main" flipV="1">
            <a:off x="8448675" y="5410200"/>
            <a:ext cx="2213372" cy="496491"/>
          </a:xfrm>
          <a:prstGeom xmlns:a="http://schemas.openxmlformats.org/drawingml/2006/main" prst="bentConnector2">
            <a:avLst/>
          </a:prstGeom>
          <a:ln xmlns:a="http://schemas.openxmlformats.org/drawingml/2006/main" w="17145">
            <a:solidFill>
              <a:srgbClr val="78974E"/>
            </a:solidFill>
            <a:prstDash val="solid"/>
            <a:tailEnd type="triangle" w="sm" len="sm"/>
          </a:ln>
        </p:spPr>
      </p:cxnSp>
      <p:cxnSp>
        <p:nvCxnSpPr>
          <p:cNvPr id="84" name="">
            <a:extLst xmlns:a="http://schemas.openxmlformats.org/drawingml/2006/main">
              <a:ext uri="{FF2B5EF4-FFF2-40B4-BE49-F238E27FC236}">
                <a16:creationId xmlns:a16="http://schemas.microsoft.com/office/drawing/2014/main" id="{32B8250B-0A51-4898-8920-FB2306E7A9BD}"/>
              </a:ext>
            </a:extLst>
          </p:cNvPr>
          <p:cNvCxnSpPr>
            <a:stCxn xmlns:a="http://schemas.openxmlformats.org/drawingml/2006/main" id="66" idx="3"/>
            <a:endCxn xmlns:a="http://schemas.openxmlformats.org/drawingml/2006/main" id="83" idx="0"/>
          </p:cNvCxnSpPr>
          <p:nvPr/>
        </p:nvCxnSpPr>
        <p:spPr>
          <a:xfrm xmlns:a="http://schemas.openxmlformats.org/drawingml/2006/main">
            <a:off x="5142309" y="5410200"/>
            <a:ext cx="1476375" cy="342900"/>
          </a:xfrm>
          <a:prstGeom xmlns:a="http://schemas.openxmlformats.org/drawingml/2006/main" prst="straightConnector1">
            <a:avLst/>
          </a:prstGeom>
          <a:ln xmlns:a="http://schemas.openxmlformats.org/drawingml/2006/main" w="17145">
            <a:solidFill>
              <a:srgbClr val="8586B7"/>
            </a:solidFill>
            <a:prstDash val="solid"/>
            <a:tailEnd type="triangle" w="sm" len="sm"/>
          </a:ln>
        </p:spPr>
      </p:cxnSp>
      <p:cxnSp>
        <p:nvCxnSpPr>
          <p:cNvPr id="82" name="">
            <a:extLst xmlns:a="http://schemas.openxmlformats.org/drawingml/2006/main">
              <a:ext uri="{FF2B5EF4-FFF2-40B4-BE49-F238E27FC236}">
                <a16:creationId xmlns:a16="http://schemas.microsoft.com/office/drawing/2014/main" id="{3C6D70C7-8A7E-4800-9389-825662434DF9}"/>
              </a:ext>
            </a:extLst>
          </p:cNvPr>
          <p:cNvCxnSpPr>
            <a:stCxn xmlns:a="http://schemas.openxmlformats.org/drawingml/2006/main" id="68" idx="0"/>
            <a:endCxn xmlns:a="http://schemas.openxmlformats.org/drawingml/2006/main" id="49" idx="3"/>
          </p:cNvCxnSpPr>
          <p:nvPr/>
        </p:nvCxnSpPr>
        <p:spPr>
          <a:xfrm xmlns:a="http://schemas.openxmlformats.org/drawingml/2006/main" flipH="1" flipV="1">
            <a:off x="10662047" y="4543425"/>
            <a:ext cx="135731" cy="323850"/>
          </a:xfrm>
          <a:prstGeom xmlns:a="http://schemas.openxmlformats.org/drawingml/2006/main" prst="straightConnector1">
            <a:avLst/>
          </a:prstGeom>
          <a:ln xmlns:a="http://schemas.openxmlformats.org/drawingml/2006/main" w="17145">
            <a:solidFill>
              <a:srgbClr val="78974E"/>
            </a:solidFill>
            <a:prstDash val="solid"/>
            <a:tailEnd type="triangle" w="sm" len="sm"/>
          </a:ln>
        </p:spPr>
      </p:cxnSp>
      <p:cxnSp>
        <p:nvCxnSpPr>
          <p:cNvPr id="81" name="">
            <a:extLst xmlns:a="http://schemas.openxmlformats.org/drawingml/2006/main">
              <a:ext uri="{FF2B5EF4-FFF2-40B4-BE49-F238E27FC236}">
                <a16:creationId xmlns:a16="http://schemas.microsoft.com/office/drawing/2014/main" id="{DF214BD7-15F7-4D1E-BB88-36C2CF1261CC}"/>
              </a:ext>
            </a:extLst>
          </p:cNvPr>
          <p:cNvCxnSpPr>
            <a:stCxn xmlns:a="http://schemas.openxmlformats.org/drawingml/2006/main" id="47" idx="3"/>
            <a:endCxn xmlns:a="http://schemas.openxmlformats.org/drawingml/2006/main" id="66" idx="0"/>
          </p:cNvCxnSpPr>
          <p:nvPr/>
        </p:nvCxnSpPr>
        <p:spPr>
          <a:xfrm xmlns:a="http://schemas.openxmlformats.org/drawingml/2006/main">
            <a:off x="5142309" y="4543425"/>
            <a:ext cx="135731" cy="323850"/>
          </a:xfrm>
          <a:prstGeom xmlns:a="http://schemas.openxmlformats.org/drawingml/2006/main" prst="straightConnector1">
            <a:avLst/>
          </a:prstGeom>
          <a:ln xmlns:a="http://schemas.openxmlformats.org/drawingml/2006/main" w="17145">
            <a:solidFill>
              <a:srgbClr val="8586B7"/>
            </a:solidFill>
            <a:prstDash val="solid"/>
            <a:tailEnd type="triangle" w="sm" len="sm"/>
          </a:ln>
        </p:spPr>
      </p:cxnSp>
      <p:cxnSp>
        <p:nvCxnSpPr>
          <p:cNvPr id="80" name="">
            <a:extLst xmlns:a="http://schemas.openxmlformats.org/drawingml/2006/main">
              <a:ext uri="{FF2B5EF4-FFF2-40B4-BE49-F238E27FC236}">
                <a16:creationId xmlns:a16="http://schemas.microsoft.com/office/drawing/2014/main" id="{98747FCB-A35D-4208-B290-3B898118E23D}"/>
              </a:ext>
            </a:extLst>
          </p:cNvPr>
          <p:cNvCxnSpPr>
            <a:stCxn xmlns:a="http://schemas.openxmlformats.org/drawingml/2006/main" id="65" idx="0"/>
            <a:endCxn xmlns:a="http://schemas.openxmlformats.org/drawingml/2006/main" id="46" idx="3"/>
          </p:cNvCxnSpPr>
          <p:nvPr/>
        </p:nvCxnSpPr>
        <p:spPr>
          <a:xfrm xmlns:a="http://schemas.openxmlformats.org/drawingml/2006/main" flipH="1" flipV="1">
            <a:off x="3094434" y="4543425"/>
            <a:ext cx="135731" cy="323850"/>
          </a:xfrm>
          <a:prstGeom xmlns:a="http://schemas.openxmlformats.org/drawingml/2006/main" prst="straightConnector1">
            <a:avLst/>
          </a:prstGeom>
          <a:ln xmlns:a="http://schemas.openxmlformats.org/drawingml/2006/main" w="17145">
            <a:solidFill>
              <a:srgbClr val="4F82AF"/>
            </a:solidFill>
            <a:prstDash val="solid"/>
            <a:tailEnd type="triangle" w="sm" len="sm"/>
          </a:ln>
        </p:spPr>
      </p:cxnSp>
      <p:cxnSp>
        <p:nvCxnSpPr>
          <p:cNvPr id="79" name="">
            <a:extLst xmlns:a="http://schemas.openxmlformats.org/drawingml/2006/main">
              <a:ext uri="{FF2B5EF4-FFF2-40B4-BE49-F238E27FC236}">
                <a16:creationId xmlns:a16="http://schemas.microsoft.com/office/drawing/2014/main" id="{F800E4F1-1E53-473F-9BDA-19FF49C8C68B}"/>
              </a:ext>
            </a:extLst>
          </p:cNvPr>
          <p:cNvCxnSpPr>
            <a:stCxn xmlns:a="http://schemas.openxmlformats.org/drawingml/2006/main" id="45" idx="3"/>
            <a:endCxn xmlns:a="http://schemas.openxmlformats.org/drawingml/2006/main" id="64" idx="0"/>
          </p:cNvCxnSpPr>
          <p:nvPr/>
        </p:nvCxnSpPr>
        <p:spPr>
          <a:xfrm xmlns:a="http://schemas.openxmlformats.org/drawingml/2006/main">
            <a:off x="1170384" y="4543425"/>
            <a:ext cx="135731" cy="323850"/>
          </a:xfrm>
          <a:prstGeom xmlns:a="http://schemas.openxmlformats.org/drawingml/2006/main" prst="straightConnector1">
            <a:avLst/>
          </a:prstGeom>
          <a:ln xmlns:a="http://schemas.openxmlformats.org/drawingml/2006/main" w="17145">
            <a:solidFill>
              <a:srgbClr val="4F82AF"/>
            </a:solidFill>
            <a:prstDash val="solid"/>
            <a:tailEnd type="triangle" w="sm" len="sm"/>
          </a:ln>
        </p:spPr>
      </p:cxnSp>
      <p:cxnSp>
        <p:nvCxnSpPr>
          <p:cNvPr id="75" name="">
            <a:extLst xmlns:a="http://schemas.openxmlformats.org/drawingml/2006/main">
              <a:ext uri="{FF2B5EF4-FFF2-40B4-BE49-F238E27FC236}">
                <a16:creationId xmlns:a16="http://schemas.microsoft.com/office/drawing/2014/main" id="{4D066261-BEC4-4133-9997-07D795E9B0BB}"/>
              </a:ext>
            </a:extLst>
          </p:cNvPr>
          <p:cNvCxnSpPr>
            <a:stCxn xmlns:a="http://schemas.openxmlformats.org/drawingml/2006/main" id="65" idx="5"/>
            <a:endCxn xmlns:a="http://schemas.openxmlformats.org/drawingml/2006/main" id="74" idx="1"/>
          </p:cNvCxnSpPr>
          <p:nvPr/>
        </p:nvCxnSpPr>
        <p:spPr>
          <a:xfrm xmlns:a="http://schemas.openxmlformats.org/drawingml/2006/main">
            <a:off x="3762375" y="5070872"/>
            <a:ext cx="676275" cy="48816"/>
          </a:xfrm>
          <a:prstGeom xmlns:a="http://schemas.openxmlformats.org/drawingml/2006/main" prst="straightConnector1">
            <a:avLst/>
          </a:prstGeom>
          <a:ln xmlns:a="http://schemas.openxmlformats.org/drawingml/2006/main" w="17145">
            <a:solidFill>
              <a:srgbClr val="4F82AF"/>
            </a:solidFill>
            <a:prstDash val="solid"/>
            <a:tailEnd type="triangle" w="sm" len="sm"/>
          </a:ln>
        </p:spPr>
      </p:cxnSp>
      <p:cxnSp>
        <p:nvCxnSpPr>
          <p:cNvPr id="71" name="">
            <a:extLst xmlns:a="http://schemas.openxmlformats.org/drawingml/2006/main">
              <a:ext uri="{FF2B5EF4-FFF2-40B4-BE49-F238E27FC236}">
                <a16:creationId xmlns:a16="http://schemas.microsoft.com/office/drawing/2014/main" id="{AD49A8AD-0BFF-4C32-8564-24442F790B49}"/>
              </a:ext>
            </a:extLst>
          </p:cNvPr>
          <p:cNvCxnSpPr>
            <a:stCxn xmlns:a="http://schemas.openxmlformats.org/drawingml/2006/main" id="67" idx="5"/>
            <a:endCxn xmlns:a="http://schemas.openxmlformats.org/drawingml/2006/main" id="68" idx="2"/>
          </p:cNvCxnSpPr>
          <p:nvPr/>
        </p:nvCxnSpPr>
        <p:spPr>
          <a:xfrm xmlns:a="http://schemas.openxmlformats.org/drawingml/2006/main">
            <a:off x="8439150" y="5070872"/>
            <a:ext cx="1562100" cy="135731"/>
          </a:xfrm>
          <a:prstGeom xmlns:a="http://schemas.openxmlformats.org/drawingml/2006/main" prst="straightConnector1">
            <a:avLst/>
          </a:prstGeom>
          <a:ln xmlns:a="http://schemas.openxmlformats.org/drawingml/2006/main" w="17145">
            <a:solidFill>
              <a:srgbClr val="CA863D"/>
            </a:solidFill>
            <a:prstDash val="solid"/>
            <a:tailEnd type="triangle" w="sm" len="sm"/>
          </a:ln>
        </p:spPr>
      </p:cxnSp>
      <p:cxnSp>
        <p:nvCxnSpPr>
          <p:cNvPr id="70" name="">
            <a:extLst xmlns:a="http://schemas.openxmlformats.org/drawingml/2006/main">
              <a:ext uri="{FF2B5EF4-FFF2-40B4-BE49-F238E27FC236}">
                <a16:creationId xmlns:a16="http://schemas.microsoft.com/office/drawing/2014/main" id="{9EEB0ACA-9C53-4394-B0DE-290040A9F585}"/>
              </a:ext>
            </a:extLst>
          </p:cNvPr>
          <p:cNvCxnSpPr>
            <a:stCxn xmlns:a="http://schemas.openxmlformats.org/drawingml/2006/main" id="66" idx="5"/>
            <a:endCxn xmlns:a="http://schemas.openxmlformats.org/drawingml/2006/main" id="67" idx="2"/>
          </p:cNvCxnSpPr>
          <p:nvPr/>
        </p:nvCxnSpPr>
        <p:spPr>
          <a:xfrm xmlns:a="http://schemas.openxmlformats.org/drawingml/2006/main">
            <a:off x="5734050" y="5070872"/>
            <a:ext cx="1390650" cy="135731"/>
          </a:xfrm>
          <a:prstGeom xmlns:a="http://schemas.openxmlformats.org/drawingml/2006/main" prst="straightConnector1">
            <a:avLst/>
          </a:prstGeom>
          <a:ln xmlns:a="http://schemas.openxmlformats.org/drawingml/2006/main" w="17145">
            <a:solidFill>
              <a:srgbClr val="CA863D"/>
            </a:solidFill>
            <a:prstDash val="solid"/>
            <a:tailEnd type="triangle" w="sm" len="sm"/>
          </a:ln>
        </p:spPr>
      </p:cxnSp>
      <p:cxnSp>
        <p:nvCxnSpPr>
          <p:cNvPr id="69" name="">
            <a:extLst xmlns:a="http://schemas.openxmlformats.org/drawingml/2006/main">
              <a:ext uri="{FF2B5EF4-FFF2-40B4-BE49-F238E27FC236}">
                <a16:creationId xmlns:a16="http://schemas.microsoft.com/office/drawing/2014/main" id="{675F04D2-EB6D-4007-AAD0-BA497A1702E7}"/>
              </a:ext>
            </a:extLst>
          </p:cNvPr>
          <p:cNvCxnSpPr>
            <a:stCxn xmlns:a="http://schemas.openxmlformats.org/drawingml/2006/main" id="64" idx="5"/>
            <a:endCxn xmlns:a="http://schemas.openxmlformats.org/drawingml/2006/main" id="65" idx="2"/>
          </p:cNvCxnSpPr>
          <p:nvPr/>
        </p:nvCxnSpPr>
        <p:spPr>
          <a:xfrm xmlns:a="http://schemas.openxmlformats.org/drawingml/2006/main">
            <a:off x="1838325" y="5070872"/>
            <a:ext cx="723900" cy="135731"/>
          </a:xfrm>
          <a:prstGeom xmlns:a="http://schemas.openxmlformats.org/drawingml/2006/main" prst="straightConnector1">
            <a:avLst/>
          </a:prstGeom>
          <a:ln xmlns:a="http://schemas.openxmlformats.org/drawingml/2006/main" w="17145">
            <a:solidFill>
              <a:srgbClr val="4F82AF"/>
            </a:solidFill>
            <a:prstDash val="solid"/>
            <a:tailEnd type="triangle" w="sm" len="sm"/>
          </a:ln>
        </p:spPr>
      </p:cxnSp>
      <p:cxnSp>
        <p:nvCxnSpPr>
          <p:cNvPr id="63" name="">
            <a:extLst xmlns:a="http://schemas.openxmlformats.org/drawingml/2006/main">
              <a:ext uri="{FF2B5EF4-FFF2-40B4-BE49-F238E27FC236}">
                <a16:creationId xmlns:a16="http://schemas.microsoft.com/office/drawing/2014/main" id="{66FC07B3-5463-406C-993E-2DE08729D9CC}"/>
              </a:ext>
            </a:extLst>
          </p:cNvPr>
          <p:cNvCxnSpPr>
            <a:stCxn xmlns:a="http://schemas.openxmlformats.org/drawingml/2006/main" id="49" idx="0"/>
            <a:endCxn xmlns:a="http://schemas.openxmlformats.org/drawingml/2006/main" id="30" idx="3"/>
          </p:cNvCxnSpPr>
          <p:nvPr/>
        </p:nvCxnSpPr>
        <p:spPr>
          <a:xfrm xmlns:a="http://schemas.openxmlformats.org/drawingml/2006/main" flipH="1" flipV="1">
            <a:off x="10662047" y="3676650"/>
            <a:ext cx="135731" cy="323850"/>
          </a:xfrm>
          <a:prstGeom xmlns:a="http://schemas.openxmlformats.org/drawingml/2006/main" prst="straightConnector1">
            <a:avLst/>
          </a:prstGeom>
          <a:ln xmlns:a="http://schemas.openxmlformats.org/drawingml/2006/main" w="17145">
            <a:solidFill>
              <a:srgbClr val="78974E"/>
            </a:solidFill>
            <a:prstDash val="solid"/>
            <a:tailEnd type="triangle" w="sm" len="sm"/>
          </a:ln>
        </p:spPr>
      </p:cxnSp>
      <p:cxnSp>
        <p:nvCxnSpPr>
          <p:cNvPr id="62" name="">
            <a:extLst xmlns:a="http://schemas.openxmlformats.org/drawingml/2006/main">
              <a:ext uri="{FF2B5EF4-FFF2-40B4-BE49-F238E27FC236}">
                <a16:creationId xmlns:a16="http://schemas.microsoft.com/office/drawing/2014/main" id="{91A7C251-C916-44B7-A15A-568425B51BA2}"/>
              </a:ext>
            </a:extLst>
          </p:cNvPr>
          <p:cNvCxnSpPr>
            <a:stCxn xmlns:a="http://schemas.openxmlformats.org/drawingml/2006/main" id="28" idx="3"/>
            <a:endCxn xmlns:a="http://schemas.openxmlformats.org/drawingml/2006/main" id="47" idx="0"/>
          </p:cNvCxnSpPr>
          <p:nvPr/>
        </p:nvCxnSpPr>
        <p:spPr>
          <a:xfrm xmlns:a="http://schemas.openxmlformats.org/drawingml/2006/main">
            <a:off x="5142309" y="3676650"/>
            <a:ext cx="135731" cy="323850"/>
          </a:xfrm>
          <a:prstGeom xmlns:a="http://schemas.openxmlformats.org/drawingml/2006/main" prst="straightConnector1">
            <a:avLst/>
          </a:prstGeom>
          <a:ln xmlns:a="http://schemas.openxmlformats.org/drawingml/2006/main" w="17145">
            <a:solidFill>
              <a:srgbClr val="8586B7"/>
            </a:solidFill>
            <a:prstDash val="solid"/>
            <a:tailEnd type="triangle" w="sm" len="sm"/>
          </a:ln>
        </p:spPr>
      </p:cxnSp>
      <p:cxnSp>
        <p:nvCxnSpPr>
          <p:cNvPr id="61" name="">
            <a:extLst xmlns:a="http://schemas.openxmlformats.org/drawingml/2006/main">
              <a:ext uri="{FF2B5EF4-FFF2-40B4-BE49-F238E27FC236}">
                <a16:creationId xmlns:a16="http://schemas.microsoft.com/office/drawing/2014/main" id="{5C4CFA23-5AC4-4CB5-A053-A999C5462D9D}"/>
              </a:ext>
            </a:extLst>
          </p:cNvPr>
          <p:cNvCxnSpPr>
            <a:stCxn xmlns:a="http://schemas.openxmlformats.org/drawingml/2006/main" id="46" idx="0"/>
            <a:endCxn xmlns:a="http://schemas.openxmlformats.org/drawingml/2006/main" id="27" idx="3"/>
          </p:cNvCxnSpPr>
          <p:nvPr/>
        </p:nvCxnSpPr>
        <p:spPr>
          <a:xfrm xmlns:a="http://schemas.openxmlformats.org/drawingml/2006/main" flipH="1" flipV="1">
            <a:off x="3094434" y="3676650"/>
            <a:ext cx="135731" cy="323850"/>
          </a:xfrm>
          <a:prstGeom xmlns:a="http://schemas.openxmlformats.org/drawingml/2006/main" prst="straightConnector1">
            <a:avLst/>
          </a:prstGeom>
          <a:ln xmlns:a="http://schemas.openxmlformats.org/drawingml/2006/main" w="17145">
            <a:solidFill>
              <a:srgbClr val="4F82AF"/>
            </a:solidFill>
            <a:prstDash val="solid"/>
            <a:tailEnd type="triangle" w="sm" len="sm"/>
          </a:ln>
        </p:spPr>
      </p:cxnSp>
      <p:cxnSp>
        <p:nvCxnSpPr>
          <p:cNvPr id="60" name="">
            <a:extLst xmlns:a="http://schemas.openxmlformats.org/drawingml/2006/main">
              <a:ext uri="{FF2B5EF4-FFF2-40B4-BE49-F238E27FC236}">
                <a16:creationId xmlns:a16="http://schemas.microsoft.com/office/drawing/2014/main" id="{19E3C0DC-AA16-4ACC-A9A5-C81A1EDC5360}"/>
              </a:ext>
            </a:extLst>
          </p:cNvPr>
          <p:cNvCxnSpPr>
            <a:stCxn xmlns:a="http://schemas.openxmlformats.org/drawingml/2006/main" id="26" idx="3"/>
            <a:endCxn xmlns:a="http://schemas.openxmlformats.org/drawingml/2006/main" id="45" idx="0"/>
          </p:cNvCxnSpPr>
          <p:nvPr/>
        </p:nvCxnSpPr>
        <p:spPr>
          <a:xfrm xmlns:a="http://schemas.openxmlformats.org/drawingml/2006/main">
            <a:off x="1170384" y="3676650"/>
            <a:ext cx="135731" cy="323850"/>
          </a:xfrm>
          <a:prstGeom xmlns:a="http://schemas.openxmlformats.org/drawingml/2006/main" prst="straightConnector1">
            <a:avLst/>
          </a:prstGeom>
          <a:ln xmlns:a="http://schemas.openxmlformats.org/drawingml/2006/main" w="17145">
            <a:solidFill>
              <a:srgbClr val="4F82AF"/>
            </a:solidFill>
            <a:prstDash val="solid"/>
            <a:tailEnd type="triangle" w="sm" len="sm"/>
          </a:ln>
        </p:spPr>
      </p:cxnSp>
      <p:cxnSp>
        <p:nvCxnSpPr>
          <p:cNvPr id="56" name="">
            <a:extLst xmlns:a="http://schemas.openxmlformats.org/drawingml/2006/main">
              <a:ext uri="{FF2B5EF4-FFF2-40B4-BE49-F238E27FC236}">
                <a16:creationId xmlns:a16="http://schemas.microsoft.com/office/drawing/2014/main" id="{CD344262-E8A7-498D-A950-C364D5FF7798}"/>
              </a:ext>
            </a:extLst>
          </p:cNvPr>
          <p:cNvCxnSpPr>
            <a:stCxn xmlns:a="http://schemas.openxmlformats.org/drawingml/2006/main" id="46" idx="5"/>
            <a:endCxn xmlns:a="http://schemas.openxmlformats.org/drawingml/2006/main" id="55" idx="1"/>
          </p:cNvCxnSpPr>
          <p:nvPr/>
        </p:nvCxnSpPr>
        <p:spPr>
          <a:xfrm xmlns:a="http://schemas.openxmlformats.org/drawingml/2006/main">
            <a:off x="3762375" y="4204097"/>
            <a:ext cx="676275" cy="48816"/>
          </a:xfrm>
          <a:prstGeom xmlns:a="http://schemas.openxmlformats.org/drawingml/2006/main" prst="straightConnector1">
            <a:avLst/>
          </a:prstGeom>
          <a:ln xmlns:a="http://schemas.openxmlformats.org/drawingml/2006/main" w="17145">
            <a:solidFill>
              <a:srgbClr val="4F82AF"/>
            </a:solidFill>
            <a:prstDash val="solid"/>
            <a:tailEnd type="triangle" w="sm" len="sm"/>
          </a:ln>
        </p:spPr>
      </p:cxnSp>
      <p:cxnSp>
        <p:nvCxnSpPr>
          <p:cNvPr id="52" name="">
            <a:extLst xmlns:a="http://schemas.openxmlformats.org/drawingml/2006/main">
              <a:ext uri="{FF2B5EF4-FFF2-40B4-BE49-F238E27FC236}">
                <a16:creationId xmlns:a16="http://schemas.microsoft.com/office/drawing/2014/main" id="{127A930B-5E5F-4A11-8896-2F425B4A8B3B}"/>
              </a:ext>
            </a:extLst>
          </p:cNvPr>
          <p:cNvCxnSpPr>
            <a:stCxn xmlns:a="http://schemas.openxmlformats.org/drawingml/2006/main" id="48" idx="5"/>
            <a:endCxn xmlns:a="http://schemas.openxmlformats.org/drawingml/2006/main" id="49" idx="2"/>
          </p:cNvCxnSpPr>
          <p:nvPr/>
        </p:nvCxnSpPr>
        <p:spPr>
          <a:xfrm xmlns:a="http://schemas.openxmlformats.org/drawingml/2006/main">
            <a:off x="8439150" y="4204097"/>
            <a:ext cx="1562100" cy="135731"/>
          </a:xfrm>
          <a:prstGeom xmlns:a="http://schemas.openxmlformats.org/drawingml/2006/main" prst="straightConnector1">
            <a:avLst/>
          </a:prstGeom>
          <a:ln xmlns:a="http://schemas.openxmlformats.org/drawingml/2006/main" w="17145">
            <a:solidFill>
              <a:srgbClr val="CA863D"/>
            </a:solidFill>
            <a:prstDash val="solid"/>
            <a:tailEnd type="triangle" w="sm" len="sm"/>
          </a:ln>
        </p:spPr>
      </p:cxnSp>
      <p:cxnSp>
        <p:nvCxnSpPr>
          <p:cNvPr id="51" name="">
            <a:extLst xmlns:a="http://schemas.openxmlformats.org/drawingml/2006/main">
              <a:ext uri="{FF2B5EF4-FFF2-40B4-BE49-F238E27FC236}">
                <a16:creationId xmlns:a16="http://schemas.microsoft.com/office/drawing/2014/main" id="{0FBE292B-FACB-4B71-AEF5-7690DCD3AEB4}"/>
              </a:ext>
            </a:extLst>
          </p:cNvPr>
          <p:cNvCxnSpPr>
            <a:stCxn xmlns:a="http://schemas.openxmlformats.org/drawingml/2006/main" id="47" idx="5"/>
            <a:endCxn xmlns:a="http://schemas.openxmlformats.org/drawingml/2006/main" id="48" idx="2"/>
          </p:cNvCxnSpPr>
          <p:nvPr/>
        </p:nvCxnSpPr>
        <p:spPr>
          <a:xfrm xmlns:a="http://schemas.openxmlformats.org/drawingml/2006/main">
            <a:off x="5734050" y="4204097"/>
            <a:ext cx="1390650" cy="135731"/>
          </a:xfrm>
          <a:prstGeom xmlns:a="http://schemas.openxmlformats.org/drawingml/2006/main" prst="straightConnector1">
            <a:avLst/>
          </a:prstGeom>
          <a:ln xmlns:a="http://schemas.openxmlformats.org/drawingml/2006/main" w="17145">
            <a:solidFill>
              <a:srgbClr val="CA863D"/>
            </a:solidFill>
            <a:prstDash val="solid"/>
            <a:tailEnd type="triangle" w="sm" len="sm"/>
          </a:ln>
        </p:spPr>
      </p:cxnSp>
      <p:cxnSp>
        <p:nvCxnSpPr>
          <p:cNvPr id="50" name="">
            <a:extLst xmlns:a="http://schemas.openxmlformats.org/drawingml/2006/main">
              <a:ext uri="{FF2B5EF4-FFF2-40B4-BE49-F238E27FC236}">
                <a16:creationId xmlns:a16="http://schemas.microsoft.com/office/drawing/2014/main" id="{2C46FB4E-4D38-4DD6-9A0D-43D6552BBDBD}"/>
              </a:ext>
            </a:extLst>
          </p:cNvPr>
          <p:cNvCxnSpPr>
            <a:stCxn xmlns:a="http://schemas.openxmlformats.org/drawingml/2006/main" id="45" idx="5"/>
            <a:endCxn xmlns:a="http://schemas.openxmlformats.org/drawingml/2006/main" id="46" idx="2"/>
          </p:cNvCxnSpPr>
          <p:nvPr/>
        </p:nvCxnSpPr>
        <p:spPr>
          <a:xfrm xmlns:a="http://schemas.openxmlformats.org/drawingml/2006/main">
            <a:off x="1838325" y="4204097"/>
            <a:ext cx="723900" cy="135731"/>
          </a:xfrm>
          <a:prstGeom xmlns:a="http://schemas.openxmlformats.org/drawingml/2006/main" prst="straightConnector1">
            <a:avLst/>
          </a:prstGeom>
          <a:ln xmlns:a="http://schemas.openxmlformats.org/drawingml/2006/main" w="17145">
            <a:solidFill>
              <a:srgbClr val="4F82AF"/>
            </a:solidFill>
            <a:prstDash val="solid"/>
            <a:tailEnd type="triangle" w="sm" len="sm"/>
          </a:ln>
        </p:spPr>
      </p:cxnSp>
      <p:cxnSp>
        <p:nvCxnSpPr>
          <p:cNvPr id="44" name="">
            <a:extLst xmlns:a="http://schemas.openxmlformats.org/drawingml/2006/main">
              <a:ext uri="{FF2B5EF4-FFF2-40B4-BE49-F238E27FC236}">
                <a16:creationId xmlns:a16="http://schemas.microsoft.com/office/drawing/2014/main" id="{FD22929A-4A66-440E-B361-62C9C98A79D0}"/>
              </a:ext>
            </a:extLst>
          </p:cNvPr>
          <p:cNvCxnSpPr>
            <a:stCxn xmlns:a="http://schemas.openxmlformats.org/drawingml/2006/main" id="30" idx="0"/>
            <a:endCxn xmlns:a="http://schemas.openxmlformats.org/drawingml/2006/main" id="15" idx="3"/>
          </p:cNvCxnSpPr>
          <p:nvPr/>
        </p:nvCxnSpPr>
        <p:spPr>
          <a:xfrm xmlns:a="http://schemas.openxmlformats.org/drawingml/2006/main" flipH="1" flipV="1">
            <a:off x="10662047" y="2809875"/>
            <a:ext cx="135731" cy="323850"/>
          </a:xfrm>
          <a:prstGeom xmlns:a="http://schemas.openxmlformats.org/drawingml/2006/main" prst="straightConnector1">
            <a:avLst/>
          </a:prstGeom>
          <a:ln xmlns:a="http://schemas.openxmlformats.org/drawingml/2006/main" w="17145">
            <a:solidFill>
              <a:srgbClr val="78974E"/>
            </a:solidFill>
            <a:prstDash val="solid"/>
            <a:tailEnd type="triangle" w="sm" len="sm"/>
          </a:ln>
        </p:spPr>
      </p:cxnSp>
      <p:cxnSp>
        <p:nvCxnSpPr>
          <p:cNvPr id="43" name="">
            <a:extLst xmlns:a="http://schemas.openxmlformats.org/drawingml/2006/main">
              <a:ext uri="{FF2B5EF4-FFF2-40B4-BE49-F238E27FC236}">
                <a16:creationId xmlns:a16="http://schemas.microsoft.com/office/drawing/2014/main" id="{1F50326B-ACF1-4201-BFAC-4C1AD135D48D}"/>
              </a:ext>
            </a:extLst>
          </p:cNvPr>
          <p:cNvCxnSpPr>
            <a:stCxn xmlns:a="http://schemas.openxmlformats.org/drawingml/2006/main" id="13" idx="3"/>
            <a:endCxn xmlns:a="http://schemas.openxmlformats.org/drawingml/2006/main" id="28" idx="0"/>
          </p:cNvCxnSpPr>
          <p:nvPr/>
        </p:nvCxnSpPr>
        <p:spPr>
          <a:xfrm xmlns:a="http://schemas.openxmlformats.org/drawingml/2006/main">
            <a:off x="5142309" y="2809875"/>
            <a:ext cx="135731" cy="323850"/>
          </a:xfrm>
          <a:prstGeom xmlns:a="http://schemas.openxmlformats.org/drawingml/2006/main" prst="straightConnector1">
            <a:avLst/>
          </a:prstGeom>
          <a:ln xmlns:a="http://schemas.openxmlformats.org/drawingml/2006/main" w="17145">
            <a:solidFill>
              <a:srgbClr val="8586B7"/>
            </a:solidFill>
            <a:prstDash val="solid"/>
            <a:tailEnd type="triangle" w="sm" len="sm"/>
          </a:ln>
        </p:spPr>
      </p:cxnSp>
      <p:cxnSp>
        <p:nvCxnSpPr>
          <p:cNvPr id="42" name="">
            <a:extLst xmlns:a="http://schemas.openxmlformats.org/drawingml/2006/main">
              <a:ext uri="{FF2B5EF4-FFF2-40B4-BE49-F238E27FC236}">
                <a16:creationId xmlns:a16="http://schemas.microsoft.com/office/drawing/2014/main" id="{CBAEDD63-BA4A-4C2F-A0CD-1DA5F8D31E52}"/>
              </a:ext>
            </a:extLst>
          </p:cNvPr>
          <p:cNvCxnSpPr>
            <a:stCxn xmlns:a="http://schemas.openxmlformats.org/drawingml/2006/main" id="27" idx="0"/>
            <a:endCxn xmlns:a="http://schemas.openxmlformats.org/drawingml/2006/main" id="12" idx="3"/>
          </p:cNvCxnSpPr>
          <p:nvPr/>
        </p:nvCxnSpPr>
        <p:spPr>
          <a:xfrm xmlns:a="http://schemas.openxmlformats.org/drawingml/2006/main" flipH="1" flipV="1">
            <a:off x="3094434" y="2809875"/>
            <a:ext cx="135731" cy="323850"/>
          </a:xfrm>
          <a:prstGeom xmlns:a="http://schemas.openxmlformats.org/drawingml/2006/main" prst="straightConnector1">
            <a:avLst/>
          </a:prstGeom>
          <a:ln xmlns:a="http://schemas.openxmlformats.org/drawingml/2006/main" w="17145">
            <a:solidFill>
              <a:srgbClr val="4F82AF"/>
            </a:solidFill>
            <a:prstDash val="solid"/>
            <a:tailEnd type="triangle" w="sm" len="sm"/>
          </a:ln>
        </p:spPr>
      </p:cxnSp>
      <p:cxnSp>
        <p:nvCxnSpPr>
          <p:cNvPr id="41" name="">
            <a:extLst xmlns:a="http://schemas.openxmlformats.org/drawingml/2006/main">
              <a:ext uri="{FF2B5EF4-FFF2-40B4-BE49-F238E27FC236}">
                <a16:creationId xmlns:a16="http://schemas.microsoft.com/office/drawing/2014/main" id="{69918A2E-154B-4FF5-8043-E6DAE17D2795}"/>
              </a:ext>
            </a:extLst>
          </p:cNvPr>
          <p:cNvCxnSpPr>
            <a:stCxn xmlns:a="http://schemas.openxmlformats.org/drawingml/2006/main" id="11" idx="3"/>
            <a:endCxn xmlns:a="http://schemas.openxmlformats.org/drawingml/2006/main" id="26" idx="0"/>
          </p:cNvCxnSpPr>
          <p:nvPr/>
        </p:nvCxnSpPr>
        <p:spPr>
          <a:xfrm xmlns:a="http://schemas.openxmlformats.org/drawingml/2006/main">
            <a:off x="1170384" y="2809875"/>
            <a:ext cx="135731" cy="323850"/>
          </a:xfrm>
          <a:prstGeom xmlns:a="http://schemas.openxmlformats.org/drawingml/2006/main" prst="straightConnector1">
            <a:avLst/>
          </a:prstGeom>
          <a:ln xmlns:a="http://schemas.openxmlformats.org/drawingml/2006/main" w="17145">
            <a:solidFill>
              <a:srgbClr val="4F82AF"/>
            </a:solidFill>
            <a:prstDash val="solid"/>
            <a:tailEnd type="triangle" w="sm" len="sm"/>
          </a:ln>
        </p:spPr>
      </p:cxnSp>
      <p:cxnSp>
        <p:nvCxnSpPr>
          <p:cNvPr id="37" name="">
            <a:extLst xmlns:a="http://schemas.openxmlformats.org/drawingml/2006/main">
              <a:ext uri="{FF2B5EF4-FFF2-40B4-BE49-F238E27FC236}">
                <a16:creationId xmlns:a16="http://schemas.microsoft.com/office/drawing/2014/main" id="{414DF77A-BE4F-4EDC-8500-CF4ECC4139BA}"/>
              </a:ext>
            </a:extLst>
          </p:cNvPr>
          <p:cNvCxnSpPr>
            <a:stCxn xmlns:a="http://schemas.openxmlformats.org/drawingml/2006/main" id="27" idx="5"/>
            <a:endCxn xmlns:a="http://schemas.openxmlformats.org/drawingml/2006/main" id="36" idx="1"/>
          </p:cNvCxnSpPr>
          <p:nvPr/>
        </p:nvCxnSpPr>
        <p:spPr>
          <a:xfrm xmlns:a="http://schemas.openxmlformats.org/drawingml/2006/main">
            <a:off x="3762375" y="3337322"/>
            <a:ext cx="676275" cy="48816"/>
          </a:xfrm>
          <a:prstGeom xmlns:a="http://schemas.openxmlformats.org/drawingml/2006/main" prst="straightConnector1">
            <a:avLst/>
          </a:prstGeom>
          <a:ln xmlns:a="http://schemas.openxmlformats.org/drawingml/2006/main" w="17145">
            <a:solidFill>
              <a:srgbClr val="4F82AF"/>
            </a:solidFill>
            <a:prstDash val="solid"/>
            <a:tailEnd type="triangle" w="sm" len="sm"/>
          </a:ln>
        </p:spPr>
      </p:cxnSp>
      <p:cxnSp>
        <p:nvCxnSpPr>
          <p:cNvPr id="33" name="">
            <a:extLst xmlns:a="http://schemas.openxmlformats.org/drawingml/2006/main">
              <a:ext uri="{FF2B5EF4-FFF2-40B4-BE49-F238E27FC236}">
                <a16:creationId xmlns:a16="http://schemas.microsoft.com/office/drawing/2014/main" id="{F9FE7235-38C0-4A33-8D45-15134B848001}"/>
              </a:ext>
            </a:extLst>
          </p:cNvPr>
          <p:cNvCxnSpPr>
            <a:stCxn xmlns:a="http://schemas.openxmlformats.org/drawingml/2006/main" id="29" idx="5"/>
            <a:endCxn xmlns:a="http://schemas.openxmlformats.org/drawingml/2006/main" id="30" idx="2"/>
          </p:cNvCxnSpPr>
          <p:nvPr/>
        </p:nvCxnSpPr>
        <p:spPr>
          <a:xfrm xmlns:a="http://schemas.openxmlformats.org/drawingml/2006/main">
            <a:off x="8439150" y="3337322"/>
            <a:ext cx="1562100" cy="135731"/>
          </a:xfrm>
          <a:prstGeom xmlns:a="http://schemas.openxmlformats.org/drawingml/2006/main" prst="straightConnector1">
            <a:avLst/>
          </a:prstGeom>
          <a:ln xmlns:a="http://schemas.openxmlformats.org/drawingml/2006/main" w="17145">
            <a:solidFill>
              <a:srgbClr val="CA863D"/>
            </a:solidFill>
            <a:prstDash val="solid"/>
            <a:tailEnd type="triangle" w="sm" len="sm"/>
          </a:ln>
        </p:spPr>
      </p:cxnSp>
      <p:cxnSp>
        <p:nvCxnSpPr>
          <p:cNvPr id="32" name="">
            <a:extLst xmlns:a="http://schemas.openxmlformats.org/drawingml/2006/main">
              <a:ext uri="{FF2B5EF4-FFF2-40B4-BE49-F238E27FC236}">
                <a16:creationId xmlns:a16="http://schemas.microsoft.com/office/drawing/2014/main" id="{09BB91F4-04F5-46C6-83F6-18197EB738DB}"/>
              </a:ext>
            </a:extLst>
          </p:cNvPr>
          <p:cNvCxnSpPr>
            <a:stCxn xmlns:a="http://schemas.openxmlformats.org/drawingml/2006/main" id="28" idx="5"/>
            <a:endCxn xmlns:a="http://schemas.openxmlformats.org/drawingml/2006/main" id="29" idx="2"/>
          </p:cNvCxnSpPr>
          <p:nvPr/>
        </p:nvCxnSpPr>
        <p:spPr>
          <a:xfrm xmlns:a="http://schemas.openxmlformats.org/drawingml/2006/main">
            <a:off x="5734050" y="3337322"/>
            <a:ext cx="1390650" cy="135731"/>
          </a:xfrm>
          <a:prstGeom xmlns:a="http://schemas.openxmlformats.org/drawingml/2006/main" prst="straightConnector1">
            <a:avLst/>
          </a:prstGeom>
          <a:ln xmlns:a="http://schemas.openxmlformats.org/drawingml/2006/main" w="17145">
            <a:solidFill>
              <a:srgbClr val="CA863D"/>
            </a:solidFill>
            <a:prstDash val="solid"/>
            <a:tailEnd type="triangle" w="sm" len="sm"/>
          </a:ln>
        </p:spPr>
      </p:cxnSp>
      <p:cxnSp>
        <p:nvCxnSpPr>
          <p:cNvPr id="31" name="">
            <a:extLst xmlns:a="http://schemas.openxmlformats.org/drawingml/2006/main">
              <a:ext uri="{FF2B5EF4-FFF2-40B4-BE49-F238E27FC236}">
                <a16:creationId xmlns:a16="http://schemas.microsoft.com/office/drawing/2014/main" id="{E1D096CE-6B02-480F-9FEA-A9E1CA231FF9}"/>
              </a:ext>
            </a:extLst>
          </p:cNvPr>
          <p:cNvCxnSpPr>
            <a:stCxn xmlns:a="http://schemas.openxmlformats.org/drawingml/2006/main" id="26" idx="5"/>
            <a:endCxn xmlns:a="http://schemas.openxmlformats.org/drawingml/2006/main" id="27" idx="2"/>
          </p:cNvCxnSpPr>
          <p:nvPr/>
        </p:nvCxnSpPr>
        <p:spPr>
          <a:xfrm xmlns:a="http://schemas.openxmlformats.org/drawingml/2006/main">
            <a:off x="1838325" y="3337322"/>
            <a:ext cx="723900" cy="135731"/>
          </a:xfrm>
          <a:prstGeom xmlns:a="http://schemas.openxmlformats.org/drawingml/2006/main" prst="straightConnector1">
            <a:avLst/>
          </a:prstGeom>
          <a:ln xmlns:a="http://schemas.openxmlformats.org/drawingml/2006/main" w="17145">
            <a:solidFill>
              <a:srgbClr val="4F82AF"/>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9E333854-D4EA-4AC1-9E9E-674CFB7D4824}"/>
              </a:ext>
            </a:extLst>
          </p:cNvPr>
          <p:cNvCxnSpPr>
            <a:stCxn xmlns:a="http://schemas.openxmlformats.org/drawingml/2006/main" id="12" idx="5"/>
            <a:endCxn xmlns:a="http://schemas.openxmlformats.org/drawingml/2006/main" id="21" idx="1"/>
          </p:cNvCxnSpPr>
          <p:nvPr/>
        </p:nvCxnSpPr>
        <p:spPr>
          <a:xfrm xmlns:a="http://schemas.openxmlformats.org/drawingml/2006/main">
            <a:off x="3762375" y="2470547"/>
            <a:ext cx="676275" cy="48816"/>
          </a:xfrm>
          <a:prstGeom xmlns:a="http://schemas.openxmlformats.org/drawingml/2006/main" prst="straightConnector1">
            <a:avLst/>
          </a:prstGeom>
          <a:ln xmlns:a="http://schemas.openxmlformats.org/drawingml/2006/main" w="17145">
            <a:solidFill>
              <a:srgbClr val="4F82AF"/>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FF76729C-57A9-48E2-84C9-BEA8951CE0C7}"/>
              </a:ext>
            </a:extLst>
          </p:cNvPr>
          <p:cNvCxnSpPr>
            <a:stCxn xmlns:a="http://schemas.openxmlformats.org/drawingml/2006/main" id="14" idx="5"/>
            <a:endCxn xmlns:a="http://schemas.openxmlformats.org/drawingml/2006/main" id="15" idx="2"/>
          </p:cNvCxnSpPr>
          <p:nvPr/>
        </p:nvCxnSpPr>
        <p:spPr>
          <a:xfrm xmlns:a="http://schemas.openxmlformats.org/drawingml/2006/main">
            <a:off x="8439150" y="2470547"/>
            <a:ext cx="1562100" cy="135731"/>
          </a:xfrm>
          <a:prstGeom xmlns:a="http://schemas.openxmlformats.org/drawingml/2006/main" prst="straightConnector1">
            <a:avLst/>
          </a:prstGeom>
          <a:ln xmlns:a="http://schemas.openxmlformats.org/drawingml/2006/main" w="17145">
            <a:solidFill>
              <a:srgbClr val="CA863D"/>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DAF5EA5A-01E7-4241-9432-9D19E2352E6F}"/>
              </a:ext>
            </a:extLst>
          </p:cNvPr>
          <p:cNvCxnSpPr>
            <a:stCxn xmlns:a="http://schemas.openxmlformats.org/drawingml/2006/main" id="13" idx="5"/>
            <a:endCxn xmlns:a="http://schemas.openxmlformats.org/drawingml/2006/main" id="14" idx="2"/>
          </p:cNvCxnSpPr>
          <p:nvPr/>
        </p:nvCxnSpPr>
        <p:spPr>
          <a:xfrm xmlns:a="http://schemas.openxmlformats.org/drawingml/2006/main">
            <a:off x="5734050" y="2470547"/>
            <a:ext cx="1390650" cy="135731"/>
          </a:xfrm>
          <a:prstGeom xmlns:a="http://schemas.openxmlformats.org/drawingml/2006/main" prst="straightConnector1">
            <a:avLst/>
          </a:prstGeom>
          <a:ln xmlns:a="http://schemas.openxmlformats.org/drawingml/2006/main" w="17145">
            <a:solidFill>
              <a:srgbClr val="CA863D"/>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85A43315-8ECD-47C5-83C4-41C02C5D0E27}"/>
              </a:ext>
            </a:extLst>
          </p:cNvPr>
          <p:cNvCxnSpPr>
            <a:stCxn xmlns:a="http://schemas.openxmlformats.org/drawingml/2006/main" id="11" idx="5"/>
            <a:endCxn xmlns:a="http://schemas.openxmlformats.org/drawingml/2006/main" id="12" idx="2"/>
          </p:cNvCxnSpPr>
          <p:nvPr/>
        </p:nvCxnSpPr>
        <p:spPr>
          <a:xfrm xmlns:a="http://schemas.openxmlformats.org/drawingml/2006/main">
            <a:off x="1838325" y="2470547"/>
            <a:ext cx="723900" cy="135731"/>
          </a:xfrm>
          <a:prstGeom xmlns:a="http://schemas.openxmlformats.org/drawingml/2006/main" prst="straightConnector1">
            <a:avLst/>
          </a:prstGeom>
          <a:ln xmlns:a="http://schemas.openxmlformats.org/drawingml/2006/main" w="17145">
            <a:solidFill>
              <a:srgbClr val="4F82AF"/>
            </a:solidFill>
            <a:prstDash val="solid"/>
            <a:tailEnd type="triangle" w="sm" len="sm"/>
          </a:ln>
        </p:spPr>
      </p:cxnSp>
      <p:sp>
        <p:nvSpPr>
          <p:cNvPr id="86" name="FSDR and RACE within LViT">
            <a:extLst xmlns:a="http://schemas.openxmlformats.org/drawingml/2006/main">
              <a:ext uri="{FF2B5EF4-FFF2-40B4-BE49-F238E27FC236}">
                <a16:creationId xmlns:a16="http://schemas.microsoft.com/office/drawing/2014/main" id="{2C9A1196-89D6-4280-AB5F-3AC55F1AF8B6}"/>
              </a:ext>
            </a:extLst>
          </p:cNvPr>
          <p:cNvSpPr>
            <a:spLocks xmlns:a="http://schemas.openxmlformats.org/drawingml/2006/main" noGrp="1"/>
          </p:cNvSpPr>
          <p:nvPr/>
        </p:nvSpPr>
        <p:spPr>
          <a:xfrm xmlns:a="http://schemas.openxmlformats.org/drawingml/2006/main">
            <a:off x="638175" y="361950"/>
            <a:ext cx="10915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02124"/>
                </a:solidFill>
                <a:latin typeface="Cambria"/>
                <a:ea typeface="Cambria"/>
                <a:cs typeface="Cambria"/>
              </a:defRPr>
            </a:defPPr>
          </a:lstStyle>
          <a:p xmlns:a="http://schemas.openxmlformats.org/drawingml/2006/main">
            <a:pPr algn="l">
              <a:defRPr sz="3000" b="1">
                <a:solidFill>
                  <a:srgbClr val="202124"/>
                </a:solidFill>
                <a:latin typeface="Cambria"/>
                <a:ea typeface="Cambria"/>
                <a:cs typeface="Cambria"/>
              </a:defRPr>
            </a:pPr>
            <a:r>
              <a:rPr sz="3000" b="1">
                <a:solidFill>
                  <a:srgbClr val="202124"/>
                </a:solidFill>
                <a:latin typeface="Cambria"/>
                <a:ea typeface="Cambria"/>
                <a:cs typeface="Cambria"/>
              </a:rPr>
              <a:t>FSDR and RACE within LViT</a:t>
            </a:r>
          </a:p>
        </p:txBody>
      </p:sp>
      <p:sp>
        <p:nvSpPr>
          <p:cNvPr id="2" name="Same labels identify matching feature ports · T: frozen">
            <a:extLst xmlns:a="http://schemas.openxmlformats.org/drawingml/2006/main">
              <a:ext uri="{FF2B5EF4-FFF2-40B4-BE49-F238E27FC236}">
                <a16:creationId xmlns:a16="http://schemas.microsoft.com/office/drawing/2014/main" id="{C7E2ECA9-409A-4900-8FBB-DB262D76C8FF}"/>
              </a:ext>
            </a:extLst>
          </p:cNvPr>
          <p:cNvSpPr>
            <a:spLocks xmlns:a="http://schemas.openxmlformats.org/drawingml/2006/main" noGrp="1"/>
          </p:cNvSpPr>
          <p:nvPr/>
        </p:nvSpPr>
        <p:spPr>
          <a:xfrm xmlns:a="http://schemas.openxmlformats.org/drawingml/2006/main">
            <a:off x="638175" y="6477000"/>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929699"/>
                </a:solidFill>
                <a:latin typeface="Calibri"/>
                <a:ea typeface="Calibri"/>
                <a:cs typeface="Calibri"/>
              </a:defRPr>
            </a:defPPr>
          </a:lstStyle>
          <a:p xmlns:a="http://schemas.openxmlformats.org/drawingml/2006/main">
            <a:pPr algn="l">
              <a:defRPr sz="900" b="0">
                <a:solidFill>
                  <a:srgbClr val="929699"/>
                </a:solidFill>
                <a:latin typeface="Calibri"/>
                <a:ea typeface="Calibri"/>
                <a:cs typeface="Calibri"/>
              </a:defRPr>
            </a:pPr>
            <a:r>
              <a:rPr sz="900" b="0">
                <a:solidFill>
                  <a:srgbClr val="929699"/>
                </a:solidFill>
                <a:latin typeface="Calibri"/>
                <a:ea typeface="Calibri"/>
                <a:cs typeface="Calibri"/>
              </a:rPr>
              <a:t>Same labels identify matching feature ports · T: frozen CXR-BERT features · B: anatomical basis</a:t>
            </a:r>
          </a:p>
        </p:txBody>
      </p:sp>
      <p:sp>
        <p:nvSpPr>
          <p:cNvPr id="3" name="4">
            <a:extLst xmlns:a="http://schemas.openxmlformats.org/drawingml/2006/main">
              <a:ext uri="{FF2B5EF4-FFF2-40B4-BE49-F238E27FC236}">
                <a16:creationId xmlns:a16="http://schemas.microsoft.com/office/drawing/2014/main" id="{AD7E40C9-1385-4246-96EE-81410D3563CE}"/>
              </a:ext>
            </a:extLst>
          </p:cNvPr>
          <p:cNvSpPr>
            <a:spLocks xmlns:a="http://schemas.openxmlformats.org/drawingml/2006/main" noGrp="1"/>
          </p:cNvSpPr>
          <p:nvPr/>
        </p:nvSpPr>
        <p:spPr>
          <a:xfrm xmlns:a="http://schemas.openxmlformats.org/drawingml/2006/main">
            <a:off x="11144250" y="6477000"/>
            <a:ext cx="4095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929699"/>
                </a:solidFill>
                <a:latin typeface="Calibri"/>
                <a:ea typeface="Calibri"/>
                <a:cs typeface="Calibri"/>
              </a:defRPr>
            </a:defPPr>
          </a:lstStyle>
          <a:p xmlns:a="http://schemas.openxmlformats.org/drawingml/2006/main">
            <a:pPr algn="r">
              <a:defRPr sz="900" b="0">
                <a:solidFill>
                  <a:srgbClr val="929699"/>
                </a:solidFill>
                <a:latin typeface="Calibri"/>
                <a:ea typeface="Calibri"/>
                <a:cs typeface="Calibri"/>
              </a:defRPr>
            </a:pPr>
            <a:r>
              <a:rPr sz="900" b="0">
                <a:solidFill>
                  <a:srgbClr val="929699"/>
                </a:solidFill>
                <a:latin typeface="Calibri"/>
                <a:ea typeface="Calibri"/>
                <a:cs typeface="Calibri"/>
              </a:rPr>
              <a:t>4</a:t>
            </a:r>
          </a:p>
        </p:txBody>
      </p:sp>
      <p:sp>
        <p:nvSpPr>
          <p:cNvPr id="4" name="ViT branch">
            <a:extLst xmlns:a="http://schemas.openxmlformats.org/drawingml/2006/main">
              <a:ext uri="{FF2B5EF4-FFF2-40B4-BE49-F238E27FC236}">
                <a16:creationId xmlns:a16="http://schemas.microsoft.com/office/drawing/2014/main" id="{4471E750-8A0A-4B48-BF2B-257CE2644435}"/>
              </a:ext>
            </a:extLst>
          </p:cNvPr>
          <p:cNvSpPr>
            <a:spLocks xmlns:a="http://schemas.openxmlformats.org/drawingml/2006/main" noGrp="1"/>
          </p:cNvSpPr>
          <p:nvPr/>
        </p:nvSpPr>
        <p:spPr>
          <a:xfrm xmlns:a="http://schemas.openxmlformats.org/drawingml/2006/main">
            <a:off x="638175" y="1323975"/>
            <a:ext cx="3124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4F82AF"/>
                </a:solidFill>
                <a:latin typeface="Calibri"/>
                <a:ea typeface="Calibri"/>
                <a:cs typeface="Calibri"/>
              </a:defRPr>
            </a:defPPr>
          </a:lstStyle>
          <a:p xmlns:a="http://schemas.openxmlformats.org/drawingml/2006/main">
            <a:pPr algn="l">
              <a:defRPr sz="1875" b="1">
                <a:solidFill>
                  <a:srgbClr val="4F82AF"/>
                </a:solidFill>
                <a:latin typeface="Calibri"/>
                <a:ea typeface="Calibri"/>
                <a:cs typeface="Calibri"/>
              </a:defRPr>
            </a:pPr>
            <a:r>
              <a:rPr sz="1875" b="1">
                <a:solidFill>
                  <a:srgbClr val="4F82AF"/>
                </a:solidFill>
                <a:latin typeface="Calibri"/>
                <a:ea typeface="Calibri"/>
                <a:cs typeface="Calibri"/>
              </a:rPr>
              <a:t>ViT branch</a:t>
            </a:r>
          </a:p>
        </p:txBody>
      </p:sp>
      <p:sp>
        <p:nvSpPr>
          <p:cNvPr id="5" name="CNN encoder">
            <a:extLst xmlns:a="http://schemas.openxmlformats.org/drawingml/2006/main">
              <a:ext uri="{FF2B5EF4-FFF2-40B4-BE49-F238E27FC236}">
                <a16:creationId xmlns:a16="http://schemas.microsoft.com/office/drawing/2014/main" id="{77B64FB6-50F0-4288-BD81-EA34B1CF7D34}"/>
              </a:ext>
            </a:extLst>
          </p:cNvPr>
          <p:cNvSpPr>
            <a:spLocks xmlns:a="http://schemas.openxmlformats.org/drawingml/2006/main" noGrp="1"/>
          </p:cNvSpPr>
          <p:nvPr/>
        </p:nvSpPr>
        <p:spPr>
          <a:xfrm xmlns:a="http://schemas.openxmlformats.org/drawingml/2006/main">
            <a:off x="4619625" y="1323975"/>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8586B7"/>
                </a:solidFill>
                <a:latin typeface="Calibri"/>
                <a:ea typeface="Calibri"/>
                <a:cs typeface="Calibri"/>
              </a:defRPr>
            </a:defPPr>
          </a:lstStyle>
          <a:p xmlns:a="http://schemas.openxmlformats.org/drawingml/2006/main">
            <a:pPr algn="l">
              <a:defRPr sz="1875" b="1">
                <a:solidFill>
                  <a:srgbClr val="8586B7"/>
                </a:solidFill>
                <a:latin typeface="Calibri"/>
                <a:ea typeface="Calibri"/>
                <a:cs typeface="Calibri"/>
              </a:defRPr>
            </a:pPr>
            <a:r>
              <a:rPr sz="1875" b="1">
                <a:solidFill>
                  <a:srgbClr val="8586B7"/>
                </a:solidFill>
                <a:latin typeface="Calibri"/>
                <a:ea typeface="Calibri"/>
                <a:cs typeface="Calibri"/>
              </a:rPr>
              <a:t>CNN encoder</a:t>
            </a:r>
          </a:p>
        </p:txBody>
      </p:sp>
      <p:sp>
        <p:nvSpPr>
          <p:cNvPr id="6" name="Skip refinement">
            <a:extLst xmlns:a="http://schemas.openxmlformats.org/drawingml/2006/main">
              <a:ext uri="{FF2B5EF4-FFF2-40B4-BE49-F238E27FC236}">
                <a16:creationId xmlns:a16="http://schemas.microsoft.com/office/drawing/2014/main" id="{DEFF80FA-8229-4B2C-9BAB-365B12D011C6}"/>
              </a:ext>
            </a:extLst>
          </p:cNvPr>
          <p:cNvSpPr>
            <a:spLocks xmlns:a="http://schemas.openxmlformats.org/drawingml/2006/main" noGrp="1"/>
          </p:cNvSpPr>
          <p:nvPr/>
        </p:nvSpPr>
        <p:spPr>
          <a:xfrm xmlns:a="http://schemas.openxmlformats.org/drawingml/2006/main">
            <a:off x="7010400" y="1323975"/>
            <a:ext cx="2171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CA863D"/>
                </a:solidFill>
                <a:latin typeface="Calibri"/>
                <a:ea typeface="Calibri"/>
                <a:cs typeface="Calibri"/>
              </a:defRPr>
            </a:defPPr>
          </a:lstStyle>
          <a:p xmlns:a="http://schemas.openxmlformats.org/drawingml/2006/main">
            <a:pPr algn="l">
              <a:defRPr sz="1875" b="1">
                <a:solidFill>
                  <a:srgbClr val="CA863D"/>
                </a:solidFill>
                <a:latin typeface="Calibri"/>
                <a:ea typeface="Calibri"/>
                <a:cs typeface="Calibri"/>
              </a:defRPr>
            </a:pPr>
            <a:r>
              <a:rPr sz="1875" b="1">
                <a:solidFill>
                  <a:srgbClr val="CA863D"/>
                </a:solidFill>
                <a:latin typeface="Calibri"/>
                <a:ea typeface="Calibri"/>
                <a:cs typeface="Calibri"/>
              </a:rPr>
              <a:t>Skip refinement</a:t>
            </a:r>
          </a:p>
        </p:txBody>
      </p:sp>
      <p:sp>
        <p:nvSpPr>
          <p:cNvPr id="7" name="CNN decoder">
            <a:extLst xmlns:a="http://schemas.openxmlformats.org/drawingml/2006/main">
              <a:ext uri="{FF2B5EF4-FFF2-40B4-BE49-F238E27FC236}">
                <a16:creationId xmlns:a16="http://schemas.microsoft.com/office/drawing/2014/main" id="{81D42D5D-4270-4FD9-AB0C-CAA314B80352}"/>
              </a:ext>
            </a:extLst>
          </p:cNvPr>
          <p:cNvSpPr>
            <a:spLocks xmlns:a="http://schemas.openxmlformats.org/drawingml/2006/main" noGrp="1"/>
          </p:cNvSpPr>
          <p:nvPr/>
        </p:nvSpPr>
        <p:spPr>
          <a:xfrm xmlns:a="http://schemas.openxmlformats.org/drawingml/2006/main">
            <a:off x="9810750" y="1323975"/>
            <a:ext cx="1857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78974E"/>
                </a:solidFill>
                <a:latin typeface="Calibri"/>
                <a:ea typeface="Calibri"/>
                <a:cs typeface="Calibri"/>
              </a:defRPr>
            </a:defPPr>
          </a:lstStyle>
          <a:p xmlns:a="http://schemas.openxmlformats.org/drawingml/2006/main">
            <a:pPr algn="l">
              <a:defRPr sz="1875" b="1">
                <a:solidFill>
                  <a:srgbClr val="78974E"/>
                </a:solidFill>
                <a:latin typeface="Calibri"/>
                <a:ea typeface="Calibri"/>
                <a:cs typeface="Calibri"/>
              </a:defRPr>
            </a:pPr>
            <a:r>
              <a:rPr sz="1875" b="1">
                <a:solidFill>
                  <a:srgbClr val="78974E"/>
                </a:solidFill>
                <a:latin typeface="Calibri"/>
                <a:ea typeface="Calibri"/>
                <a:cs typeface="Calibri"/>
              </a:rPr>
              <a:t>CNN decoder</a:t>
            </a:r>
          </a:p>
        </p:txBody>
      </p:sp>
      <p:sp>
        <p:nvSpPr>
          <p:cNvPr id="8" name="Report → CXR-BERT → T">
            <a:extLst xmlns:a="http://schemas.openxmlformats.org/drawingml/2006/main">
              <a:ext uri="{FF2B5EF4-FFF2-40B4-BE49-F238E27FC236}">
                <a16:creationId xmlns:a16="http://schemas.microsoft.com/office/drawing/2014/main" id="{A15F12A2-2B2B-4E33-B257-6C66A4DFC6B8}"/>
              </a:ext>
            </a:extLst>
          </p:cNvPr>
          <p:cNvSpPr>
            <a:spLocks xmlns:a="http://schemas.openxmlformats.org/drawingml/2006/main" noGrp="1"/>
          </p:cNvSpPr>
          <p:nvPr/>
        </p:nvSpPr>
        <p:spPr>
          <a:xfrm xmlns:a="http://schemas.openxmlformats.org/drawingml/2006/main">
            <a:off x="638175" y="1714500"/>
            <a:ext cx="3524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B39938"/>
                </a:solidFill>
                <a:latin typeface="Calibri"/>
                <a:ea typeface="Calibri"/>
                <a:cs typeface="Calibri"/>
              </a:defRPr>
            </a:defPPr>
          </a:lstStyle>
          <a:p xmlns:a="http://schemas.openxmlformats.org/drawingml/2006/main">
            <a:pPr algn="l">
              <a:defRPr sz="1650" b="0">
                <a:solidFill>
                  <a:srgbClr val="B39938"/>
                </a:solidFill>
                <a:latin typeface="Calibri"/>
                <a:ea typeface="Calibri"/>
                <a:cs typeface="Calibri"/>
              </a:defRPr>
            </a:pPr>
            <a:r>
              <a:rPr sz="1650" b="0">
                <a:solidFill>
                  <a:srgbClr val="B39938"/>
                </a:solidFill>
                <a:latin typeface="Calibri"/>
                <a:ea typeface="Calibri"/>
                <a:cs typeface="Calibri"/>
              </a:rPr>
              <a:t>Report → CXR-BERT → T</a:t>
            </a:r>
          </a:p>
        </p:txBody>
      </p:sp>
      <p:sp>
        <p:nvSpPr>
          <p:cNvPr id="9" name="X-ray ↓">
            <a:extLst xmlns:a="http://schemas.openxmlformats.org/drawingml/2006/main">
              <a:ext uri="{FF2B5EF4-FFF2-40B4-BE49-F238E27FC236}">
                <a16:creationId xmlns:a16="http://schemas.microsoft.com/office/drawing/2014/main" id="{E997BB12-5E71-475F-9574-7B1CCBA9EB8F}"/>
              </a:ext>
            </a:extLst>
          </p:cNvPr>
          <p:cNvSpPr>
            <a:spLocks xmlns:a="http://schemas.openxmlformats.org/drawingml/2006/main" noGrp="1"/>
          </p:cNvSpPr>
          <p:nvPr/>
        </p:nvSpPr>
        <p:spPr>
          <a:xfrm xmlns:a="http://schemas.openxmlformats.org/drawingml/2006/main">
            <a:off x="4667250" y="1724025"/>
            <a:ext cx="1428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202124"/>
                </a:solidFill>
                <a:latin typeface="Calibri"/>
                <a:ea typeface="Calibri"/>
                <a:cs typeface="Calibri"/>
              </a:defRPr>
            </a:defPPr>
          </a:lstStyle>
          <a:p xmlns:a="http://schemas.openxmlformats.org/drawingml/2006/main">
            <a:pPr algn="l">
              <a:defRPr sz="1650" b="0">
                <a:solidFill>
                  <a:srgbClr val="202124"/>
                </a:solidFill>
                <a:latin typeface="Calibri"/>
                <a:ea typeface="Calibri"/>
                <a:cs typeface="Calibri"/>
              </a:defRPr>
            </a:pPr>
            <a:r>
              <a:rPr sz="1650" b="0">
                <a:solidFill>
                  <a:srgbClr val="202124"/>
                </a:solidFill>
                <a:latin typeface="Calibri"/>
                <a:ea typeface="Calibri"/>
                <a:cs typeface="Calibri"/>
              </a:rPr>
              <a:t>X-ray ↓</a:t>
            </a:r>
          </a:p>
        </p:txBody>
      </p:sp>
      <p:sp>
        <p:nvSpPr>
          <p:cNvPr id="10" name="↑ Mask">
            <a:extLst xmlns:a="http://schemas.openxmlformats.org/drawingml/2006/main">
              <a:ext uri="{FF2B5EF4-FFF2-40B4-BE49-F238E27FC236}">
                <a16:creationId xmlns:a16="http://schemas.microsoft.com/office/drawing/2014/main" id="{7E978ACC-277F-4220-A1FB-1AB26EA2EABA}"/>
              </a:ext>
            </a:extLst>
          </p:cNvPr>
          <p:cNvSpPr>
            <a:spLocks xmlns:a="http://schemas.openxmlformats.org/drawingml/2006/main" noGrp="1"/>
          </p:cNvSpPr>
          <p:nvPr/>
        </p:nvSpPr>
        <p:spPr>
          <a:xfrm xmlns:a="http://schemas.openxmlformats.org/drawingml/2006/main">
            <a:off x="10172700" y="17145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202124"/>
                </a:solidFill>
                <a:latin typeface="Calibri"/>
                <a:ea typeface="Calibri"/>
                <a:cs typeface="Calibri"/>
              </a:defRPr>
            </a:defPPr>
          </a:lstStyle>
          <a:p xmlns:a="http://schemas.openxmlformats.org/drawingml/2006/main">
            <a:pPr algn="l">
              <a:defRPr sz="1650" b="0">
                <a:solidFill>
                  <a:srgbClr val="202124"/>
                </a:solidFill>
                <a:latin typeface="Calibri"/>
                <a:ea typeface="Calibri"/>
                <a:cs typeface="Calibri"/>
              </a:defRPr>
            </a:pPr>
            <a:r>
              <a:rPr sz="1650" b="0">
                <a:solidFill>
                  <a:srgbClr val="202124"/>
                </a:solidFill>
                <a:latin typeface="Calibri"/>
                <a:ea typeface="Calibri"/>
                <a:cs typeface="Calibri"/>
              </a:rPr>
              <a:t>↑ Mask</a:t>
            </a:r>
          </a:p>
        </p:txBody>
      </p:sp>
      <p:sp>
        <p:nvSpPr>
          <p:cNvPr id="11" name="Down 1">
            <a:extLst xmlns:a="http://schemas.openxmlformats.org/drawingml/2006/main">
              <a:ext uri="{FF2B5EF4-FFF2-40B4-BE49-F238E27FC236}">
                <a16:creationId xmlns:a16="http://schemas.microsoft.com/office/drawing/2014/main" id="{B98422BF-BBB4-43F1-973A-9848CAC0C912}"/>
              </a:ext>
            </a:extLst>
          </p:cNvPr>
          <p:cNvSpPr>
            <a:spLocks xmlns:a="http://schemas.openxmlformats.org/drawingml/2006/main" noGrp="1"/>
          </p:cNvSpPr>
          <p:nvPr/>
        </p:nvSpPr>
        <p:spPr>
          <a:xfrm xmlns:a="http://schemas.openxmlformats.org/drawingml/2006/main">
            <a:off x="638175" y="2266950"/>
            <a:ext cx="1200150" cy="542925"/>
          </a:xfrm>
          <a:prstGeom xmlns:a="http://schemas.openxmlformats.org/drawingml/2006/main" prst="cube">
            <a:avLst/>
          </a:prstGeom>
          <a:solidFill xmlns:a="http://schemas.openxmlformats.org/drawingml/2006/main">
            <a:srgbClr val="D5E5F4"/>
          </a:solidFill>
          <a:ln xmlns:a="http://schemas.openxmlformats.org/drawingml/2006/main" w="12383">
            <a:solidFill>
              <a:srgbClr val="4F82AF"/>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Down 1</a:t>
            </a:r>
          </a:p>
        </p:txBody>
      </p:sp>
      <p:sp>
        <p:nvSpPr>
          <p:cNvPr id="12" name="Up 1">
            <a:extLst xmlns:a="http://schemas.openxmlformats.org/drawingml/2006/main">
              <a:ext uri="{FF2B5EF4-FFF2-40B4-BE49-F238E27FC236}">
                <a16:creationId xmlns:a16="http://schemas.microsoft.com/office/drawing/2014/main" id="{538E10C4-A57E-4A17-AC49-4E5585917937}"/>
              </a:ext>
            </a:extLst>
          </p:cNvPr>
          <p:cNvSpPr>
            <a:spLocks xmlns:a="http://schemas.openxmlformats.org/drawingml/2006/main" noGrp="1"/>
          </p:cNvSpPr>
          <p:nvPr/>
        </p:nvSpPr>
        <p:spPr>
          <a:xfrm xmlns:a="http://schemas.openxmlformats.org/drawingml/2006/main">
            <a:off x="2562225" y="2266950"/>
            <a:ext cx="1200150" cy="542925"/>
          </a:xfrm>
          <a:prstGeom xmlns:a="http://schemas.openxmlformats.org/drawingml/2006/main" prst="cube">
            <a:avLst/>
          </a:prstGeom>
          <a:solidFill xmlns:a="http://schemas.openxmlformats.org/drawingml/2006/main">
            <a:srgbClr val="D5E5F4"/>
          </a:solidFill>
          <a:ln xmlns:a="http://schemas.openxmlformats.org/drawingml/2006/main" w="12383">
            <a:solidFill>
              <a:srgbClr val="4F82AF"/>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Up 1</a:t>
            </a:r>
          </a:p>
        </p:txBody>
      </p:sp>
      <p:sp>
        <p:nvSpPr>
          <p:cNvPr id="13" name="C1">
            <a:extLst xmlns:a="http://schemas.openxmlformats.org/drawingml/2006/main">
              <a:ext uri="{FF2B5EF4-FFF2-40B4-BE49-F238E27FC236}">
                <a16:creationId xmlns:a16="http://schemas.microsoft.com/office/drawing/2014/main" id="{918257A9-478B-470C-BC48-B4B1AAD29DF0}"/>
              </a:ext>
            </a:extLst>
          </p:cNvPr>
          <p:cNvSpPr>
            <a:spLocks xmlns:a="http://schemas.openxmlformats.org/drawingml/2006/main" noGrp="1"/>
          </p:cNvSpPr>
          <p:nvPr/>
        </p:nvSpPr>
        <p:spPr>
          <a:xfrm xmlns:a="http://schemas.openxmlformats.org/drawingml/2006/main">
            <a:off x="4686300" y="2266950"/>
            <a:ext cx="1047750" cy="542925"/>
          </a:xfrm>
          <a:prstGeom xmlns:a="http://schemas.openxmlformats.org/drawingml/2006/main" prst="cube">
            <a:avLst/>
          </a:prstGeom>
          <a:solidFill xmlns:a="http://schemas.openxmlformats.org/drawingml/2006/main">
            <a:srgbClr val="DCDDF0"/>
          </a:solidFill>
          <a:ln xmlns:a="http://schemas.openxmlformats.org/drawingml/2006/main" w="12383">
            <a:solidFill>
              <a:srgbClr val="8586B7"/>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C1</a:t>
            </a:r>
          </a:p>
        </p:txBody>
      </p:sp>
      <p:sp>
        <p:nvSpPr>
          <p:cNvPr id="14" name="RACE 1">
            <a:extLst xmlns:a="http://schemas.openxmlformats.org/drawingml/2006/main">
              <a:ext uri="{FF2B5EF4-FFF2-40B4-BE49-F238E27FC236}">
                <a16:creationId xmlns:a16="http://schemas.microsoft.com/office/drawing/2014/main" id="{511706F7-5E8E-4A23-BF1E-100E8A2A6B90}"/>
              </a:ext>
            </a:extLst>
          </p:cNvPr>
          <p:cNvSpPr>
            <a:spLocks xmlns:a="http://schemas.openxmlformats.org/drawingml/2006/main" noGrp="1"/>
          </p:cNvSpPr>
          <p:nvPr/>
        </p:nvSpPr>
        <p:spPr>
          <a:xfrm xmlns:a="http://schemas.openxmlformats.org/drawingml/2006/main">
            <a:off x="7124700" y="2266950"/>
            <a:ext cx="1314450" cy="542925"/>
          </a:xfrm>
          <a:prstGeom xmlns:a="http://schemas.openxmlformats.org/drawingml/2006/main" prst="cube">
            <a:avLst/>
          </a:prstGeom>
          <a:solidFill xmlns:a="http://schemas.openxmlformats.org/drawingml/2006/main">
            <a:srgbClr val="F9DFC1"/>
          </a:solidFill>
          <a:ln xmlns:a="http://schemas.openxmlformats.org/drawingml/2006/main" w="12383">
            <a:solidFill>
              <a:srgbClr val="CA863D"/>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RACE 1</a:t>
            </a:r>
          </a:p>
        </p:txBody>
      </p:sp>
      <p:sp>
        <p:nvSpPr>
          <p:cNvPr id="15" name="FSDR 1">
            <a:extLst xmlns:a="http://schemas.openxmlformats.org/drawingml/2006/main">
              <a:ext uri="{FF2B5EF4-FFF2-40B4-BE49-F238E27FC236}">
                <a16:creationId xmlns:a16="http://schemas.microsoft.com/office/drawing/2014/main" id="{9ADBFC1A-5C28-4924-9394-FD52642DDBC6}"/>
              </a:ext>
            </a:extLst>
          </p:cNvPr>
          <p:cNvSpPr>
            <a:spLocks xmlns:a="http://schemas.openxmlformats.org/drawingml/2006/main" noGrp="1"/>
          </p:cNvSpPr>
          <p:nvPr/>
        </p:nvSpPr>
        <p:spPr>
          <a:xfrm xmlns:a="http://schemas.openxmlformats.org/drawingml/2006/main">
            <a:off x="10001250" y="2266950"/>
            <a:ext cx="1457325" cy="542925"/>
          </a:xfrm>
          <a:prstGeom xmlns:a="http://schemas.openxmlformats.org/drawingml/2006/main" prst="cube">
            <a:avLst/>
          </a:prstGeom>
          <a:solidFill xmlns:a="http://schemas.openxmlformats.org/drawingml/2006/main">
            <a:srgbClr val="DCEACC"/>
          </a:solidFill>
          <a:ln xmlns:a="http://schemas.openxmlformats.org/drawingml/2006/main" w="12383">
            <a:solidFill>
              <a:srgbClr val="78974E"/>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FSDR 1</a:t>
            </a:r>
          </a:p>
        </p:txBody>
      </p:sp>
      <p:sp>
        <p:nvSpPr>
          <p:cNvPr id="19" name="C1, T">
            <a:extLst xmlns:a="http://schemas.openxmlformats.org/drawingml/2006/main">
              <a:ext uri="{FF2B5EF4-FFF2-40B4-BE49-F238E27FC236}">
                <a16:creationId xmlns:a16="http://schemas.microsoft.com/office/drawing/2014/main" id="{94D8D52C-167C-40BC-9808-3B3D8F24C729}"/>
              </a:ext>
            </a:extLst>
          </p:cNvPr>
          <p:cNvSpPr>
            <a:spLocks xmlns:a="http://schemas.openxmlformats.org/drawingml/2006/main" noGrp="1"/>
          </p:cNvSpPr>
          <p:nvPr/>
        </p:nvSpPr>
        <p:spPr>
          <a:xfrm xmlns:a="http://schemas.openxmlformats.org/drawingml/2006/main">
            <a:off x="638175" y="2047875"/>
            <a:ext cx="1190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4F82AF"/>
                </a:solidFill>
                <a:latin typeface="Calibri"/>
                <a:ea typeface="Calibri"/>
                <a:cs typeface="Calibri"/>
              </a:defRPr>
            </a:defPPr>
          </a:lstStyle>
          <a:p xmlns:a="http://schemas.openxmlformats.org/drawingml/2006/main">
            <a:pPr algn="l">
              <a:defRPr sz="1275" b="0">
                <a:solidFill>
                  <a:srgbClr val="4F82AF"/>
                </a:solidFill>
                <a:latin typeface="Calibri"/>
                <a:ea typeface="Calibri"/>
                <a:cs typeface="Calibri"/>
              </a:defRPr>
            </a:pPr>
            <a:r>
              <a:rPr sz="1275" b="0">
                <a:solidFill>
                  <a:srgbClr val="4F82AF"/>
                </a:solidFill>
                <a:latin typeface="Calibri"/>
                <a:ea typeface="Calibri"/>
                <a:cs typeface="Calibri"/>
              </a:rPr>
              <a:t>C1, T</a:t>
            </a:r>
          </a:p>
        </p:txBody>
      </p:sp>
      <p:sp>
        <p:nvSpPr>
          <p:cNvPr id="20" name="V1">
            <a:extLst xmlns:a="http://schemas.openxmlformats.org/drawingml/2006/main">
              <a:ext uri="{FF2B5EF4-FFF2-40B4-BE49-F238E27FC236}">
                <a16:creationId xmlns:a16="http://schemas.microsoft.com/office/drawing/2014/main" id="{BCAB9460-1811-40E9-BFEA-128B2FB2883E}"/>
              </a:ext>
            </a:extLst>
          </p:cNvPr>
          <p:cNvSpPr>
            <a:spLocks xmlns:a="http://schemas.openxmlformats.org/drawingml/2006/main" noGrp="1"/>
          </p:cNvSpPr>
          <p:nvPr/>
        </p:nvSpPr>
        <p:spPr>
          <a:xfrm xmlns:a="http://schemas.openxmlformats.org/drawingml/2006/main">
            <a:off x="3905250" y="2428875"/>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4F82AF"/>
                </a:solidFill>
                <a:latin typeface="Calibri"/>
                <a:ea typeface="Calibri"/>
                <a:cs typeface="Calibri"/>
              </a:defRPr>
            </a:defPPr>
          </a:lstStyle>
          <a:p xmlns:a="http://schemas.openxmlformats.org/drawingml/2006/main">
            <a:pPr algn="l">
              <a:defRPr sz="1425" b="0">
                <a:solidFill>
                  <a:srgbClr val="4F82AF"/>
                </a:solidFill>
                <a:latin typeface="Calibri"/>
                <a:ea typeface="Calibri"/>
                <a:cs typeface="Calibri"/>
              </a:defRPr>
            </a:pPr>
            <a:r>
              <a:rPr sz="1425" b="0">
                <a:solidFill>
                  <a:srgbClr val="4F82AF"/>
                </a:solidFill>
                <a:latin typeface="Calibri"/>
                <a:ea typeface="Calibri"/>
                <a:cs typeface="Calibri"/>
              </a:rPr>
              <a:t>V1</a:t>
            </a:r>
          </a:p>
        </p:txBody>
      </p:sp>
      <p:sp>
        <p:nvSpPr>
          <p:cNvPr id="21" name="">
            <a:extLst xmlns:a="http://schemas.openxmlformats.org/drawingml/2006/main">
              <a:ext uri="{FF2B5EF4-FFF2-40B4-BE49-F238E27FC236}">
                <a16:creationId xmlns:a16="http://schemas.microsoft.com/office/drawing/2014/main" id="{259081FE-BCDF-4E6F-8045-740AB51934BE}"/>
              </a:ext>
            </a:extLst>
          </p:cNvPr>
          <p:cNvSpPr>
            <a:spLocks xmlns:a="http://schemas.openxmlformats.org/drawingml/2006/main" noGrp="1"/>
          </p:cNvSpPr>
          <p:nvPr/>
        </p:nvSpPr>
        <p:spPr>
          <a:xfrm xmlns:a="http://schemas.openxmlformats.org/drawingml/2006/main">
            <a:off x="4438650" y="25146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202124"/>
                </a:solidFill>
                <a:latin typeface="Calibri"/>
                <a:ea typeface="Calibri"/>
                <a:cs typeface="Calibri"/>
              </a:defRPr>
            </a:defPPr>
          </a:lstStyle>
          <a:p xmlns:a="http://schemas.openxmlformats.org/drawingml/2006/main">
            <a:r>
              <a:t/>
            </a:r>
          </a:p>
        </p:txBody>
      </p:sp>
      <p:sp>
        <p:nvSpPr>
          <p:cNvPr id="23" name="T, B">
            <a:extLst xmlns:a="http://schemas.openxmlformats.org/drawingml/2006/main">
              <a:ext uri="{FF2B5EF4-FFF2-40B4-BE49-F238E27FC236}">
                <a16:creationId xmlns:a16="http://schemas.microsoft.com/office/drawing/2014/main" id="{363868A8-DCF2-4CCA-9FEA-A0953F74A6C7}"/>
              </a:ext>
            </a:extLst>
          </p:cNvPr>
          <p:cNvSpPr>
            <a:spLocks xmlns:a="http://schemas.openxmlformats.org/drawingml/2006/main" noGrp="1"/>
          </p:cNvSpPr>
          <p:nvPr/>
        </p:nvSpPr>
        <p:spPr>
          <a:xfrm xmlns:a="http://schemas.openxmlformats.org/drawingml/2006/main">
            <a:off x="7391400" y="2047875"/>
            <a:ext cx="809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B39938"/>
                </a:solidFill>
                <a:latin typeface="Calibri"/>
                <a:ea typeface="Calibri"/>
                <a:cs typeface="Calibri"/>
              </a:defRPr>
            </a:defPPr>
          </a:lstStyle>
          <a:p xmlns:a="http://schemas.openxmlformats.org/drawingml/2006/main">
            <a:pPr algn="l">
              <a:defRPr sz="1275" b="0">
                <a:solidFill>
                  <a:srgbClr val="B39938"/>
                </a:solidFill>
                <a:latin typeface="Calibri"/>
                <a:ea typeface="Calibri"/>
                <a:cs typeface="Calibri"/>
              </a:defRPr>
            </a:pPr>
            <a:r>
              <a:rPr sz="1275" b="0">
                <a:solidFill>
                  <a:srgbClr val="B39938"/>
                </a:solidFill>
                <a:latin typeface="Calibri"/>
                <a:ea typeface="Calibri"/>
                <a:cs typeface="Calibri"/>
              </a:rPr>
              <a:t>T, B</a:t>
            </a:r>
          </a:p>
        </p:txBody>
      </p:sp>
      <p:sp>
        <p:nvSpPr>
          <p:cNvPr id="24" name="up1: V1, T">
            <a:extLst xmlns:a="http://schemas.openxmlformats.org/drawingml/2006/main">
              <a:ext uri="{FF2B5EF4-FFF2-40B4-BE49-F238E27FC236}">
                <a16:creationId xmlns:a16="http://schemas.microsoft.com/office/drawing/2014/main" id="{DD64EF18-3275-4800-B11F-CDB8815CAC0D}"/>
              </a:ext>
            </a:extLst>
          </p:cNvPr>
          <p:cNvSpPr>
            <a:spLocks xmlns:a="http://schemas.openxmlformats.org/drawingml/2006/main" noGrp="1"/>
          </p:cNvSpPr>
          <p:nvPr/>
        </p:nvSpPr>
        <p:spPr>
          <a:xfrm xmlns:a="http://schemas.openxmlformats.org/drawingml/2006/main">
            <a:off x="10048875" y="2047875"/>
            <a:ext cx="1476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4F82AF"/>
                </a:solidFill>
                <a:latin typeface="Calibri"/>
                <a:ea typeface="Calibri"/>
                <a:cs typeface="Calibri"/>
              </a:defRPr>
            </a:defPPr>
          </a:lstStyle>
          <a:p xmlns:a="http://schemas.openxmlformats.org/drawingml/2006/main">
            <a:pPr algn="l">
              <a:defRPr sz="1275" b="0">
                <a:solidFill>
                  <a:srgbClr val="4F82AF"/>
                </a:solidFill>
                <a:latin typeface="Calibri"/>
                <a:ea typeface="Calibri"/>
                <a:cs typeface="Calibri"/>
              </a:defRPr>
            </a:pPr>
            <a:r>
              <a:rPr sz="1275" b="0">
                <a:solidFill>
                  <a:srgbClr val="4F82AF"/>
                </a:solidFill>
                <a:latin typeface="Calibri"/>
                <a:ea typeface="Calibri"/>
                <a:cs typeface="Calibri"/>
              </a:rPr>
              <a:t>up1: V1, T</a:t>
            </a:r>
          </a:p>
        </p:txBody>
      </p:sp>
      <p:sp>
        <p:nvSpPr>
          <p:cNvPr id="25" name="C′1">
            <a:extLst xmlns:a="http://schemas.openxmlformats.org/drawingml/2006/main">
              <a:ext uri="{FF2B5EF4-FFF2-40B4-BE49-F238E27FC236}">
                <a16:creationId xmlns:a16="http://schemas.microsoft.com/office/drawing/2014/main" id="{10883A65-B865-4556-A5CE-3D911D34B4FC}"/>
              </a:ext>
            </a:extLst>
          </p:cNvPr>
          <p:cNvSpPr>
            <a:spLocks xmlns:a="http://schemas.openxmlformats.org/drawingml/2006/main" noGrp="1"/>
          </p:cNvSpPr>
          <p:nvPr/>
        </p:nvSpPr>
        <p:spPr>
          <a:xfrm xmlns:a="http://schemas.openxmlformats.org/drawingml/2006/main">
            <a:off x="8896350" y="2333625"/>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CA863D"/>
                </a:solidFill>
                <a:latin typeface="Calibri"/>
                <a:ea typeface="Calibri"/>
                <a:cs typeface="Calibri"/>
              </a:defRPr>
            </a:defPPr>
          </a:lstStyle>
          <a:p xmlns:a="http://schemas.openxmlformats.org/drawingml/2006/main">
            <a:pPr algn="l">
              <a:defRPr sz="1350" b="0">
                <a:solidFill>
                  <a:srgbClr val="CA863D"/>
                </a:solidFill>
                <a:latin typeface="Calibri"/>
                <a:ea typeface="Calibri"/>
                <a:cs typeface="Calibri"/>
              </a:defRPr>
            </a:pPr>
            <a:r>
              <a:rPr sz="1350" b="0">
                <a:solidFill>
                  <a:srgbClr val="CA863D"/>
                </a:solidFill>
                <a:latin typeface="Calibri"/>
                <a:ea typeface="Calibri"/>
                <a:cs typeface="Calibri"/>
              </a:rPr>
              <a:t>C′1</a:t>
            </a:r>
          </a:p>
        </p:txBody>
      </p:sp>
      <p:sp>
        <p:nvSpPr>
          <p:cNvPr id="26" name="Down 2">
            <a:extLst xmlns:a="http://schemas.openxmlformats.org/drawingml/2006/main">
              <a:ext uri="{FF2B5EF4-FFF2-40B4-BE49-F238E27FC236}">
                <a16:creationId xmlns:a16="http://schemas.microsoft.com/office/drawing/2014/main" id="{568F5C9B-49A7-4847-8B95-F1941B9C1629}"/>
              </a:ext>
            </a:extLst>
          </p:cNvPr>
          <p:cNvSpPr>
            <a:spLocks xmlns:a="http://schemas.openxmlformats.org/drawingml/2006/main" noGrp="1"/>
          </p:cNvSpPr>
          <p:nvPr/>
        </p:nvSpPr>
        <p:spPr>
          <a:xfrm xmlns:a="http://schemas.openxmlformats.org/drawingml/2006/main">
            <a:off x="638175" y="3133725"/>
            <a:ext cx="1200150" cy="542925"/>
          </a:xfrm>
          <a:prstGeom xmlns:a="http://schemas.openxmlformats.org/drawingml/2006/main" prst="cube">
            <a:avLst/>
          </a:prstGeom>
          <a:solidFill xmlns:a="http://schemas.openxmlformats.org/drawingml/2006/main">
            <a:srgbClr val="D5E5F4"/>
          </a:solidFill>
          <a:ln xmlns:a="http://schemas.openxmlformats.org/drawingml/2006/main" w="12383">
            <a:solidFill>
              <a:srgbClr val="4F82AF"/>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Down 2</a:t>
            </a:r>
          </a:p>
        </p:txBody>
      </p:sp>
      <p:sp>
        <p:nvSpPr>
          <p:cNvPr id="27" name="Up 2">
            <a:extLst xmlns:a="http://schemas.openxmlformats.org/drawingml/2006/main">
              <a:ext uri="{FF2B5EF4-FFF2-40B4-BE49-F238E27FC236}">
                <a16:creationId xmlns:a16="http://schemas.microsoft.com/office/drawing/2014/main" id="{F4AC7400-F5D9-472D-B669-DCD5625E8450}"/>
              </a:ext>
            </a:extLst>
          </p:cNvPr>
          <p:cNvSpPr>
            <a:spLocks xmlns:a="http://schemas.openxmlformats.org/drawingml/2006/main" noGrp="1"/>
          </p:cNvSpPr>
          <p:nvPr/>
        </p:nvSpPr>
        <p:spPr>
          <a:xfrm xmlns:a="http://schemas.openxmlformats.org/drawingml/2006/main">
            <a:off x="2562225" y="3133725"/>
            <a:ext cx="1200150" cy="542925"/>
          </a:xfrm>
          <a:prstGeom xmlns:a="http://schemas.openxmlformats.org/drawingml/2006/main" prst="cube">
            <a:avLst/>
          </a:prstGeom>
          <a:solidFill xmlns:a="http://schemas.openxmlformats.org/drawingml/2006/main">
            <a:srgbClr val="D5E5F4"/>
          </a:solidFill>
          <a:ln xmlns:a="http://schemas.openxmlformats.org/drawingml/2006/main" w="12383">
            <a:solidFill>
              <a:srgbClr val="4F82AF"/>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Up 2</a:t>
            </a:r>
          </a:p>
        </p:txBody>
      </p:sp>
      <p:sp>
        <p:nvSpPr>
          <p:cNvPr id="28" name="C2">
            <a:extLst xmlns:a="http://schemas.openxmlformats.org/drawingml/2006/main">
              <a:ext uri="{FF2B5EF4-FFF2-40B4-BE49-F238E27FC236}">
                <a16:creationId xmlns:a16="http://schemas.microsoft.com/office/drawing/2014/main" id="{93578A18-735A-42B3-A9CB-949BDB54D129}"/>
              </a:ext>
            </a:extLst>
          </p:cNvPr>
          <p:cNvSpPr>
            <a:spLocks xmlns:a="http://schemas.openxmlformats.org/drawingml/2006/main" noGrp="1"/>
          </p:cNvSpPr>
          <p:nvPr/>
        </p:nvSpPr>
        <p:spPr>
          <a:xfrm xmlns:a="http://schemas.openxmlformats.org/drawingml/2006/main">
            <a:off x="4686300" y="3133725"/>
            <a:ext cx="1047750" cy="542925"/>
          </a:xfrm>
          <a:prstGeom xmlns:a="http://schemas.openxmlformats.org/drawingml/2006/main" prst="cube">
            <a:avLst/>
          </a:prstGeom>
          <a:solidFill xmlns:a="http://schemas.openxmlformats.org/drawingml/2006/main">
            <a:srgbClr val="DCDDF0"/>
          </a:solidFill>
          <a:ln xmlns:a="http://schemas.openxmlformats.org/drawingml/2006/main" w="12383">
            <a:solidFill>
              <a:srgbClr val="8586B7"/>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C2</a:t>
            </a:r>
          </a:p>
        </p:txBody>
      </p:sp>
      <p:sp>
        <p:nvSpPr>
          <p:cNvPr id="29" name="RACE 2">
            <a:extLst xmlns:a="http://schemas.openxmlformats.org/drawingml/2006/main">
              <a:ext uri="{FF2B5EF4-FFF2-40B4-BE49-F238E27FC236}">
                <a16:creationId xmlns:a16="http://schemas.microsoft.com/office/drawing/2014/main" id="{6851051E-FA0E-4783-A0D5-87477D0688DB}"/>
              </a:ext>
            </a:extLst>
          </p:cNvPr>
          <p:cNvSpPr>
            <a:spLocks xmlns:a="http://schemas.openxmlformats.org/drawingml/2006/main" noGrp="1"/>
          </p:cNvSpPr>
          <p:nvPr/>
        </p:nvSpPr>
        <p:spPr>
          <a:xfrm xmlns:a="http://schemas.openxmlformats.org/drawingml/2006/main">
            <a:off x="7124700" y="3133725"/>
            <a:ext cx="1314450" cy="542925"/>
          </a:xfrm>
          <a:prstGeom xmlns:a="http://schemas.openxmlformats.org/drawingml/2006/main" prst="cube">
            <a:avLst/>
          </a:prstGeom>
          <a:solidFill xmlns:a="http://schemas.openxmlformats.org/drawingml/2006/main">
            <a:srgbClr val="F9DFC1"/>
          </a:solidFill>
          <a:ln xmlns:a="http://schemas.openxmlformats.org/drawingml/2006/main" w="12383">
            <a:solidFill>
              <a:srgbClr val="CA863D"/>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RACE 2</a:t>
            </a:r>
          </a:p>
        </p:txBody>
      </p:sp>
      <p:sp>
        <p:nvSpPr>
          <p:cNvPr id="30" name="FSDR 2">
            <a:extLst xmlns:a="http://schemas.openxmlformats.org/drawingml/2006/main">
              <a:ext uri="{FF2B5EF4-FFF2-40B4-BE49-F238E27FC236}">
                <a16:creationId xmlns:a16="http://schemas.microsoft.com/office/drawing/2014/main" id="{29D639D7-0234-400C-87CE-F6824809AAE1}"/>
              </a:ext>
            </a:extLst>
          </p:cNvPr>
          <p:cNvSpPr>
            <a:spLocks xmlns:a="http://schemas.openxmlformats.org/drawingml/2006/main" noGrp="1"/>
          </p:cNvSpPr>
          <p:nvPr/>
        </p:nvSpPr>
        <p:spPr>
          <a:xfrm xmlns:a="http://schemas.openxmlformats.org/drawingml/2006/main">
            <a:off x="10001250" y="3133725"/>
            <a:ext cx="1457325" cy="542925"/>
          </a:xfrm>
          <a:prstGeom xmlns:a="http://schemas.openxmlformats.org/drawingml/2006/main" prst="cube">
            <a:avLst/>
          </a:prstGeom>
          <a:solidFill xmlns:a="http://schemas.openxmlformats.org/drawingml/2006/main">
            <a:srgbClr val="DCEACC"/>
          </a:solidFill>
          <a:ln xmlns:a="http://schemas.openxmlformats.org/drawingml/2006/main" w="12383">
            <a:solidFill>
              <a:srgbClr val="78974E"/>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FSDR 2</a:t>
            </a:r>
          </a:p>
        </p:txBody>
      </p:sp>
      <p:sp>
        <p:nvSpPr>
          <p:cNvPr id="34" name="C2, T">
            <a:extLst xmlns:a="http://schemas.openxmlformats.org/drawingml/2006/main">
              <a:ext uri="{FF2B5EF4-FFF2-40B4-BE49-F238E27FC236}">
                <a16:creationId xmlns:a16="http://schemas.microsoft.com/office/drawing/2014/main" id="{80088A79-8CBA-46A9-BFA4-FEC767B03625}"/>
              </a:ext>
            </a:extLst>
          </p:cNvPr>
          <p:cNvSpPr>
            <a:spLocks xmlns:a="http://schemas.openxmlformats.org/drawingml/2006/main" noGrp="1"/>
          </p:cNvSpPr>
          <p:nvPr/>
        </p:nvSpPr>
        <p:spPr>
          <a:xfrm xmlns:a="http://schemas.openxmlformats.org/drawingml/2006/main">
            <a:off x="638175" y="2914650"/>
            <a:ext cx="1190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4F82AF"/>
                </a:solidFill>
                <a:latin typeface="Calibri"/>
                <a:ea typeface="Calibri"/>
                <a:cs typeface="Calibri"/>
              </a:defRPr>
            </a:defPPr>
          </a:lstStyle>
          <a:p xmlns:a="http://schemas.openxmlformats.org/drawingml/2006/main">
            <a:pPr algn="l">
              <a:defRPr sz="1275" b="0">
                <a:solidFill>
                  <a:srgbClr val="4F82AF"/>
                </a:solidFill>
                <a:latin typeface="Calibri"/>
                <a:ea typeface="Calibri"/>
                <a:cs typeface="Calibri"/>
              </a:defRPr>
            </a:pPr>
            <a:r>
              <a:rPr sz="1275" b="0">
                <a:solidFill>
                  <a:srgbClr val="4F82AF"/>
                </a:solidFill>
                <a:latin typeface="Calibri"/>
                <a:ea typeface="Calibri"/>
                <a:cs typeface="Calibri"/>
              </a:rPr>
              <a:t>C2, T</a:t>
            </a:r>
          </a:p>
        </p:txBody>
      </p:sp>
      <p:sp>
        <p:nvSpPr>
          <p:cNvPr id="35" name="V2">
            <a:extLst xmlns:a="http://schemas.openxmlformats.org/drawingml/2006/main">
              <a:ext uri="{FF2B5EF4-FFF2-40B4-BE49-F238E27FC236}">
                <a16:creationId xmlns:a16="http://schemas.microsoft.com/office/drawing/2014/main" id="{3B4569EA-0654-4BC5-99F4-8F35CBD4A91B}"/>
              </a:ext>
            </a:extLst>
          </p:cNvPr>
          <p:cNvSpPr>
            <a:spLocks xmlns:a="http://schemas.openxmlformats.org/drawingml/2006/main" noGrp="1"/>
          </p:cNvSpPr>
          <p:nvPr/>
        </p:nvSpPr>
        <p:spPr>
          <a:xfrm xmlns:a="http://schemas.openxmlformats.org/drawingml/2006/main">
            <a:off x="3905250" y="329565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4F82AF"/>
                </a:solidFill>
                <a:latin typeface="Calibri"/>
                <a:ea typeface="Calibri"/>
                <a:cs typeface="Calibri"/>
              </a:defRPr>
            </a:defPPr>
          </a:lstStyle>
          <a:p xmlns:a="http://schemas.openxmlformats.org/drawingml/2006/main">
            <a:pPr algn="l">
              <a:defRPr sz="1425" b="0">
                <a:solidFill>
                  <a:srgbClr val="4F82AF"/>
                </a:solidFill>
                <a:latin typeface="Calibri"/>
                <a:ea typeface="Calibri"/>
                <a:cs typeface="Calibri"/>
              </a:defRPr>
            </a:pPr>
            <a:r>
              <a:rPr sz="1425" b="0">
                <a:solidFill>
                  <a:srgbClr val="4F82AF"/>
                </a:solidFill>
                <a:latin typeface="Calibri"/>
                <a:ea typeface="Calibri"/>
                <a:cs typeface="Calibri"/>
              </a:rPr>
              <a:t>V2</a:t>
            </a:r>
          </a:p>
        </p:txBody>
      </p:sp>
      <p:sp>
        <p:nvSpPr>
          <p:cNvPr id="36" name="">
            <a:extLst xmlns:a="http://schemas.openxmlformats.org/drawingml/2006/main">
              <a:ext uri="{FF2B5EF4-FFF2-40B4-BE49-F238E27FC236}">
                <a16:creationId xmlns:a16="http://schemas.microsoft.com/office/drawing/2014/main" id="{8A49C797-5C46-492D-936B-7CB33D4D4D6C}"/>
              </a:ext>
            </a:extLst>
          </p:cNvPr>
          <p:cNvSpPr>
            <a:spLocks xmlns:a="http://schemas.openxmlformats.org/drawingml/2006/main" noGrp="1"/>
          </p:cNvSpPr>
          <p:nvPr/>
        </p:nvSpPr>
        <p:spPr>
          <a:xfrm xmlns:a="http://schemas.openxmlformats.org/drawingml/2006/main">
            <a:off x="4438650" y="338137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202124"/>
                </a:solidFill>
                <a:latin typeface="Calibri"/>
                <a:ea typeface="Calibri"/>
                <a:cs typeface="Calibri"/>
              </a:defRPr>
            </a:defPPr>
          </a:lstStyle>
          <a:p xmlns:a="http://schemas.openxmlformats.org/drawingml/2006/main">
            <a:r>
              <a:t/>
            </a:r>
          </a:p>
        </p:txBody>
      </p:sp>
      <p:sp>
        <p:nvSpPr>
          <p:cNvPr id="38" name="T, B">
            <a:extLst xmlns:a="http://schemas.openxmlformats.org/drawingml/2006/main">
              <a:ext uri="{FF2B5EF4-FFF2-40B4-BE49-F238E27FC236}">
                <a16:creationId xmlns:a16="http://schemas.microsoft.com/office/drawing/2014/main" id="{56824DC4-1B4D-47BC-922D-DE074C96FE2A}"/>
              </a:ext>
            </a:extLst>
          </p:cNvPr>
          <p:cNvSpPr>
            <a:spLocks xmlns:a="http://schemas.openxmlformats.org/drawingml/2006/main" noGrp="1"/>
          </p:cNvSpPr>
          <p:nvPr/>
        </p:nvSpPr>
        <p:spPr>
          <a:xfrm xmlns:a="http://schemas.openxmlformats.org/drawingml/2006/main">
            <a:off x="7391400" y="2914650"/>
            <a:ext cx="809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B39938"/>
                </a:solidFill>
                <a:latin typeface="Calibri"/>
                <a:ea typeface="Calibri"/>
                <a:cs typeface="Calibri"/>
              </a:defRPr>
            </a:defPPr>
          </a:lstStyle>
          <a:p xmlns:a="http://schemas.openxmlformats.org/drawingml/2006/main">
            <a:pPr algn="l">
              <a:defRPr sz="1275" b="0">
                <a:solidFill>
                  <a:srgbClr val="B39938"/>
                </a:solidFill>
                <a:latin typeface="Calibri"/>
                <a:ea typeface="Calibri"/>
                <a:cs typeface="Calibri"/>
              </a:defRPr>
            </a:pPr>
            <a:r>
              <a:rPr sz="1275" b="0">
                <a:solidFill>
                  <a:srgbClr val="B39938"/>
                </a:solidFill>
                <a:latin typeface="Calibri"/>
                <a:ea typeface="Calibri"/>
                <a:cs typeface="Calibri"/>
              </a:rPr>
              <a:t>T, B</a:t>
            </a:r>
          </a:p>
        </p:txBody>
      </p:sp>
      <p:sp>
        <p:nvSpPr>
          <p:cNvPr id="39" name="up2: V2, T">
            <a:extLst xmlns:a="http://schemas.openxmlformats.org/drawingml/2006/main">
              <a:ext uri="{FF2B5EF4-FFF2-40B4-BE49-F238E27FC236}">
                <a16:creationId xmlns:a16="http://schemas.microsoft.com/office/drawing/2014/main" id="{519995C5-045D-4C94-ABCB-595B58592B7D}"/>
              </a:ext>
            </a:extLst>
          </p:cNvPr>
          <p:cNvSpPr>
            <a:spLocks xmlns:a="http://schemas.openxmlformats.org/drawingml/2006/main" noGrp="1"/>
          </p:cNvSpPr>
          <p:nvPr/>
        </p:nvSpPr>
        <p:spPr>
          <a:xfrm xmlns:a="http://schemas.openxmlformats.org/drawingml/2006/main">
            <a:off x="10048875" y="2914650"/>
            <a:ext cx="1476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4F82AF"/>
                </a:solidFill>
                <a:latin typeface="Calibri"/>
                <a:ea typeface="Calibri"/>
                <a:cs typeface="Calibri"/>
              </a:defRPr>
            </a:defPPr>
          </a:lstStyle>
          <a:p xmlns:a="http://schemas.openxmlformats.org/drawingml/2006/main">
            <a:pPr algn="l">
              <a:defRPr sz="1275" b="0">
                <a:solidFill>
                  <a:srgbClr val="4F82AF"/>
                </a:solidFill>
                <a:latin typeface="Calibri"/>
                <a:ea typeface="Calibri"/>
                <a:cs typeface="Calibri"/>
              </a:defRPr>
            </a:pPr>
            <a:r>
              <a:rPr sz="1275" b="0">
                <a:solidFill>
                  <a:srgbClr val="4F82AF"/>
                </a:solidFill>
                <a:latin typeface="Calibri"/>
                <a:ea typeface="Calibri"/>
                <a:cs typeface="Calibri"/>
              </a:rPr>
              <a:t>up2: V2, T</a:t>
            </a:r>
          </a:p>
        </p:txBody>
      </p:sp>
      <p:sp>
        <p:nvSpPr>
          <p:cNvPr id="40" name="C′2">
            <a:extLst xmlns:a="http://schemas.openxmlformats.org/drawingml/2006/main">
              <a:ext uri="{FF2B5EF4-FFF2-40B4-BE49-F238E27FC236}">
                <a16:creationId xmlns:a16="http://schemas.microsoft.com/office/drawing/2014/main" id="{A7E92053-41BE-4539-8034-F1A0364FFEFA}"/>
              </a:ext>
            </a:extLst>
          </p:cNvPr>
          <p:cNvSpPr>
            <a:spLocks xmlns:a="http://schemas.openxmlformats.org/drawingml/2006/main" noGrp="1"/>
          </p:cNvSpPr>
          <p:nvPr/>
        </p:nvSpPr>
        <p:spPr>
          <a:xfrm xmlns:a="http://schemas.openxmlformats.org/drawingml/2006/main">
            <a:off x="8896350" y="320040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CA863D"/>
                </a:solidFill>
                <a:latin typeface="Calibri"/>
                <a:ea typeface="Calibri"/>
                <a:cs typeface="Calibri"/>
              </a:defRPr>
            </a:defPPr>
          </a:lstStyle>
          <a:p xmlns:a="http://schemas.openxmlformats.org/drawingml/2006/main">
            <a:pPr algn="l">
              <a:defRPr sz="1350" b="0">
                <a:solidFill>
                  <a:srgbClr val="CA863D"/>
                </a:solidFill>
                <a:latin typeface="Calibri"/>
                <a:ea typeface="Calibri"/>
                <a:cs typeface="Calibri"/>
              </a:defRPr>
            </a:pPr>
            <a:r>
              <a:rPr sz="1350" b="0">
                <a:solidFill>
                  <a:srgbClr val="CA863D"/>
                </a:solidFill>
                <a:latin typeface="Calibri"/>
                <a:ea typeface="Calibri"/>
                <a:cs typeface="Calibri"/>
              </a:rPr>
              <a:t>C′2</a:t>
            </a:r>
          </a:p>
        </p:txBody>
      </p:sp>
      <p:sp>
        <p:nvSpPr>
          <p:cNvPr id="45" name="Down 3">
            <a:extLst xmlns:a="http://schemas.openxmlformats.org/drawingml/2006/main">
              <a:ext uri="{FF2B5EF4-FFF2-40B4-BE49-F238E27FC236}">
                <a16:creationId xmlns:a16="http://schemas.microsoft.com/office/drawing/2014/main" id="{BC10914B-6CA6-4DD8-AFD7-E6A9D772E634}"/>
              </a:ext>
            </a:extLst>
          </p:cNvPr>
          <p:cNvSpPr>
            <a:spLocks xmlns:a="http://schemas.openxmlformats.org/drawingml/2006/main" noGrp="1"/>
          </p:cNvSpPr>
          <p:nvPr/>
        </p:nvSpPr>
        <p:spPr>
          <a:xfrm xmlns:a="http://schemas.openxmlformats.org/drawingml/2006/main">
            <a:off x="638175" y="4000500"/>
            <a:ext cx="1200150" cy="542925"/>
          </a:xfrm>
          <a:prstGeom xmlns:a="http://schemas.openxmlformats.org/drawingml/2006/main" prst="cube">
            <a:avLst/>
          </a:prstGeom>
          <a:solidFill xmlns:a="http://schemas.openxmlformats.org/drawingml/2006/main">
            <a:srgbClr val="D5E5F4"/>
          </a:solidFill>
          <a:ln xmlns:a="http://schemas.openxmlformats.org/drawingml/2006/main" w="12383">
            <a:solidFill>
              <a:srgbClr val="4F82AF"/>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Down 3</a:t>
            </a:r>
          </a:p>
        </p:txBody>
      </p:sp>
      <p:sp>
        <p:nvSpPr>
          <p:cNvPr id="46" name="Up 3">
            <a:extLst xmlns:a="http://schemas.openxmlformats.org/drawingml/2006/main">
              <a:ext uri="{FF2B5EF4-FFF2-40B4-BE49-F238E27FC236}">
                <a16:creationId xmlns:a16="http://schemas.microsoft.com/office/drawing/2014/main" id="{B3072893-B6C7-4496-91A5-5D6484519CCF}"/>
              </a:ext>
            </a:extLst>
          </p:cNvPr>
          <p:cNvSpPr>
            <a:spLocks xmlns:a="http://schemas.openxmlformats.org/drawingml/2006/main" noGrp="1"/>
          </p:cNvSpPr>
          <p:nvPr/>
        </p:nvSpPr>
        <p:spPr>
          <a:xfrm xmlns:a="http://schemas.openxmlformats.org/drawingml/2006/main">
            <a:off x="2562225" y="4000500"/>
            <a:ext cx="1200150" cy="542925"/>
          </a:xfrm>
          <a:prstGeom xmlns:a="http://schemas.openxmlformats.org/drawingml/2006/main" prst="cube">
            <a:avLst/>
          </a:prstGeom>
          <a:solidFill xmlns:a="http://schemas.openxmlformats.org/drawingml/2006/main">
            <a:srgbClr val="D5E5F4"/>
          </a:solidFill>
          <a:ln xmlns:a="http://schemas.openxmlformats.org/drawingml/2006/main" w="12383">
            <a:solidFill>
              <a:srgbClr val="4F82AF"/>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Up 3</a:t>
            </a:r>
          </a:p>
        </p:txBody>
      </p:sp>
      <p:sp>
        <p:nvSpPr>
          <p:cNvPr id="47" name="C3">
            <a:extLst xmlns:a="http://schemas.openxmlformats.org/drawingml/2006/main">
              <a:ext uri="{FF2B5EF4-FFF2-40B4-BE49-F238E27FC236}">
                <a16:creationId xmlns:a16="http://schemas.microsoft.com/office/drawing/2014/main" id="{31345824-FAD6-4D49-97CF-4089D5CC5C4B}"/>
              </a:ext>
            </a:extLst>
          </p:cNvPr>
          <p:cNvSpPr>
            <a:spLocks xmlns:a="http://schemas.openxmlformats.org/drawingml/2006/main" noGrp="1"/>
          </p:cNvSpPr>
          <p:nvPr/>
        </p:nvSpPr>
        <p:spPr>
          <a:xfrm xmlns:a="http://schemas.openxmlformats.org/drawingml/2006/main">
            <a:off x="4686300" y="4000500"/>
            <a:ext cx="1047750" cy="542925"/>
          </a:xfrm>
          <a:prstGeom xmlns:a="http://schemas.openxmlformats.org/drawingml/2006/main" prst="cube">
            <a:avLst/>
          </a:prstGeom>
          <a:solidFill xmlns:a="http://schemas.openxmlformats.org/drawingml/2006/main">
            <a:srgbClr val="DCDDF0"/>
          </a:solidFill>
          <a:ln xmlns:a="http://schemas.openxmlformats.org/drawingml/2006/main" w="12383">
            <a:solidFill>
              <a:srgbClr val="8586B7"/>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C3</a:t>
            </a:r>
          </a:p>
        </p:txBody>
      </p:sp>
      <p:sp>
        <p:nvSpPr>
          <p:cNvPr id="48" name="RACE 3">
            <a:extLst xmlns:a="http://schemas.openxmlformats.org/drawingml/2006/main">
              <a:ext uri="{FF2B5EF4-FFF2-40B4-BE49-F238E27FC236}">
                <a16:creationId xmlns:a16="http://schemas.microsoft.com/office/drawing/2014/main" id="{A940CCE1-CA3F-4F10-AAB4-38AEA0268425}"/>
              </a:ext>
            </a:extLst>
          </p:cNvPr>
          <p:cNvSpPr>
            <a:spLocks xmlns:a="http://schemas.openxmlformats.org/drawingml/2006/main" noGrp="1"/>
          </p:cNvSpPr>
          <p:nvPr/>
        </p:nvSpPr>
        <p:spPr>
          <a:xfrm xmlns:a="http://schemas.openxmlformats.org/drawingml/2006/main">
            <a:off x="7124700" y="4000500"/>
            <a:ext cx="1314450" cy="542925"/>
          </a:xfrm>
          <a:prstGeom xmlns:a="http://schemas.openxmlformats.org/drawingml/2006/main" prst="cube">
            <a:avLst/>
          </a:prstGeom>
          <a:solidFill xmlns:a="http://schemas.openxmlformats.org/drawingml/2006/main">
            <a:srgbClr val="F9DFC1"/>
          </a:solidFill>
          <a:ln xmlns:a="http://schemas.openxmlformats.org/drawingml/2006/main" w="12383">
            <a:solidFill>
              <a:srgbClr val="CA863D"/>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RACE 3</a:t>
            </a:r>
          </a:p>
        </p:txBody>
      </p:sp>
      <p:sp>
        <p:nvSpPr>
          <p:cNvPr id="49" name="FSDR 3">
            <a:extLst xmlns:a="http://schemas.openxmlformats.org/drawingml/2006/main">
              <a:ext uri="{FF2B5EF4-FFF2-40B4-BE49-F238E27FC236}">
                <a16:creationId xmlns:a16="http://schemas.microsoft.com/office/drawing/2014/main" id="{6364CACC-D7DE-490E-8B22-11116318124D}"/>
              </a:ext>
            </a:extLst>
          </p:cNvPr>
          <p:cNvSpPr>
            <a:spLocks xmlns:a="http://schemas.openxmlformats.org/drawingml/2006/main" noGrp="1"/>
          </p:cNvSpPr>
          <p:nvPr/>
        </p:nvSpPr>
        <p:spPr>
          <a:xfrm xmlns:a="http://schemas.openxmlformats.org/drawingml/2006/main">
            <a:off x="10001250" y="4000500"/>
            <a:ext cx="1457325" cy="542925"/>
          </a:xfrm>
          <a:prstGeom xmlns:a="http://schemas.openxmlformats.org/drawingml/2006/main" prst="cube">
            <a:avLst/>
          </a:prstGeom>
          <a:solidFill xmlns:a="http://schemas.openxmlformats.org/drawingml/2006/main">
            <a:srgbClr val="DCEACC"/>
          </a:solidFill>
          <a:ln xmlns:a="http://schemas.openxmlformats.org/drawingml/2006/main" w="12383">
            <a:solidFill>
              <a:srgbClr val="78974E"/>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FSDR 3</a:t>
            </a:r>
          </a:p>
        </p:txBody>
      </p:sp>
      <p:sp>
        <p:nvSpPr>
          <p:cNvPr id="53" name="C3, T">
            <a:extLst xmlns:a="http://schemas.openxmlformats.org/drawingml/2006/main">
              <a:ext uri="{FF2B5EF4-FFF2-40B4-BE49-F238E27FC236}">
                <a16:creationId xmlns:a16="http://schemas.microsoft.com/office/drawing/2014/main" id="{2160155E-3FDC-4BC8-8B1C-61511C5FA38C}"/>
              </a:ext>
            </a:extLst>
          </p:cNvPr>
          <p:cNvSpPr>
            <a:spLocks xmlns:a="http://schemas.openxmlformats.org/drawingml/2006/main" noGrp="1"/>
          </p:cNvSpPr>
          <p:nvPr/>
        </p:nvSpPr>
        <p:spPr>
          <a:xfrm xmlns:a="http://schemas.openxmlformats.org/drawingml/2006/main">
            <a:off x="638175" y="3781425"/>
            <a:ext cx="1190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4F82AF"/>
                </a:solidFill>
                <a:latin typeface="Calibri"/>
                <a:ea typeface="Calibri"/>
                <a:cs typeface="Calibri"/>
              </a:defRPr>
            </a:defPPr>
          </a:lstStyle>
          <a:p xmlns:a="http://schemas.openxmlformats.org/drawingml/2006/main">
            <a:pPr algn="l">
              <a:defRPr sz="1275" b="0">
                <a:solidFill>
                  <a:srgbClr val="4F82AF"/>
                </a:solidFill>
                <a:latin typeface="Calibri"/>
                <a:ea typeface="Calibri"/>
                <a:cs typeface="Calibri"/>
              </a:defRPr>
            </a:pPr>
            <a:r>
              <a:rPr sz="1275" b="0">
                <a:solidFill>
                  <a:srgbClr val="4F82AF"/>
                </a:solidFill>
                <a:latin typeface="Calibri"/>
                <a:ea typeface="Calibri"/>
                <a:cs typeface="Calibri"/>
              </a:rPr>
              <a:t>C3, T</a:t>
            </a:r>
          </a:p>
        </p:txBody>
      </p:sp>
      <p:sp>
        <p:nvSpPr>
          <p:cNvPr id="54" name="V3">
            <a:extLst xmlns:a="http://schemas.openxmlformats.org/drawingml/2006/main">
              <a:ext uri="{FF2B5EF4-FFF2-40B4-BE49-F238E27FC236}">
                <a16:creationId xmlns:a16="http://schemas.microsoft.com/office/drawing/2014/main" id="{4895D959-A841-4728-9051-09AA1887644F}"/>
              </a:ext>
            </a:extLst>
          </p:cNvPr>
          <p:cNvSpPr>
            <a:spLocks xmlns:a="http://schemas.openxmlformats.org/drawingml/2006/main" noGrp="1"/>
          </p:cNvSpPr>
          <p:nvPr/>
        </p:nvSpPr>
        <p:spPr>
          <a:xfrm xmlns:a="http://schemas.openxmlformats.org/drawingml/2006/main">
            <a:off x="3905250" y="4162425"/>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4F82AF"/>
                </a:solidFill>
                <a:latin typeface="Calibri"/>
                <a:ea typeface="Calibri"/>
                <a:cs typeface="Calibri"/>
              </a:defRPr>
            </a:defPPr>
          </a:lstStyle>
          <a:p xmlns:a="http://schemas.openxmlformats.org/drawingml/2006/main">
            <a:pPr algn="l">
              <a:defRPr sz="1425" b="0">
                <a:solidFill>
                  <a:srgbClr val="4F82AF"/>
                </a:solidFill>
                <a:latin typeface="Calibri"/>
                <a:ea typeface="Calibri"/>
                <a:cs typeface="Calibri"/>
              </a:defRPr>
            </a:pPr>
            <a:r>
              <a:rPr sz="1425" b="0">
                <a:solidFill>
                  <a:srgbClr val="4F82AF"/>
                </a:solidFill>
                <a:latin typeface="Calibri"/>
                <a:ea typeface="Calibri"/>
                <a:cs typeface="Calibri"/>
              </a:rPr>
              <a:t>V3</a:t>
            </a:r>
          </a:p>
        </p:txBody>
      </p:sp>
      <p:sp>
        <p:nvSpPr>
          <p:cNvPr id="55" name="">
            <a:extLst xmlns:a="http://schemas.openxmlformats.org/drawingml/2006/main">
              <a:ext uri="{FF2B5EF4-FFF2-40B4-BE49-F238E27FC236}">
                <a16:creationId xmlns:a16="http://schemas.microsoft.com/office/drawing/2014/main" id="{9D905678-B80E-4FC8-A9FD-0AB1A567849D}"/>
              </a:ext>
            </a:extLst>
          </p:cNvPr>
          <p:cNvSpPr>
            <a:spLocks xmlns:a="http://schemas.openxmlformats.org/drawingml/2006/main" noGrp="1"/>
          </p:cNvSpPr>
          <p:nvPr/>
        </p:nvSpPr>
        <p:spPr>
          <a:xfrm xmlns:a="http://schemas.openxmlformats.org/drawingml/2006/main">
            <a:off x="4438650" y="42481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202124"/>
                </a:solidFill>
                <a:latin typeface="Calibri"/>
                <a:ea typeface="Calibri"/>
                <a:cs typeface="Calibri"/>
              </a:defRPr>
            </a:defPPr>
          </a:lstStyle>
          <a:p xmlns:a="http://schemas.openxmlformats.org/drawingml/2006/main">
            <a:r>
              <a:t/>
            </a:r>
          </a:p>
        </p:txBody>
      </p:sp>
      <p:sp>
        <p:nvSpPr>
          <p:cNvPr id="57" name="T, B">
            <a:extLst xmlns:a="http://schemas.openxmlformats.org/drawingml/2006/main">
              <a:ext uri="{FF2B5EF4-FFF2-40B4-BE49-F238E27FC236}">
                <a16:creationId xmlns:a16="http://schemas.microsoft.com/office/drawing/2014/main" id="{9D145AE5-D045-4E5E-8EF5-A52AFD845CAC}"/>
              </a:ext>
            </a:extLst>
          </p:cNvPr>
          <p:cNvSpPr>
            <a:spLocks xmlns:a="http://schemas.openxmlformats.org/drawingml/2006/main" noGrp="1"/>
          </p:cNvSpPr>
          <p:nvPr/>
        </p:nvSpPr>
        <p:spPr>
          <a:xfrm xmlns:a="http://schemas.openxmlformats.org/drawingml/2006/main">
            <a:off x="7391400" y="3781425"/>
            <a:ext cx="809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B39938"/>
                </a:solidFill>
                <a:latin typeface="Calibri"/>
                <a:ea typeface="Calibri"/>
                <a:cs typeface="Calibri"/>
              </a:defRPr>
            </a:defPPr>
          </a:lstStyle>
          <a:p xmlns:a="http://schemas.openxmlformats.org/drawingml/2006/main">
            <a:pPr algn="l">
              <a:defRPr sz="1275" b="0">
                <a:solidFill>
                  <a:srgbClr val="B39938"/>
                </a:solidFill>
                <a:latin typeface="Calibri"/>
                <a:ea typeface="Calibri"/>
                <a:cs typeface="Calibri"/>
              </a:defRPr>
            </a:pPr>
            <a:r>
              <a:rPr sz="1275" b="0">
                <a:solidFill>
                  <a:srgbClr val="B39938"/>
                </a:solidFill>
                <a:latin typeface="Calibri"/>
                <a:ea typeface="Calibri"/>
                <a:cs typeface="Calibri"/>
              </a:rPr>
              <a:t>T, B</a:t>
            </a:r>
          </a:p>
        </p:txBody>
      </p:sp>
      <p:sp>
        <p:nvSpPr>
          <p:cNvPr id="58" name="up3: V3, T">
            <a:extLst xmlns:a="http://schemas.openxmlformats.org/drawingml/2006/main">
              <a:ext uri="{FF2B5EF4-FFF2-40B4-BE49-F238E27FC236}">
                <a16:creationId xmlns:a16="http://schemas.microsoft.com/office/drawing/2014/main" id="{6B877CEF-3619-413C-A295-AECFBE73AB93}"/>
              </a:ext>
            </a:extLst>
          </p:cNvPr>
          <p:cNvSpPr>
            <a:spLocks xmlns:a="http://schemas.openxmlformats.org/drawingml/2006/main" noGrp="1"/>
          </p:cNvSpPr>
          <p:nvPr/>
        </p:nvSpPr>
        <p:spPr>
          <a:xfrm xmlns:a="http://schemas.openxmlformats.org/drawingml/2006/main">
            <a:off x="10048875" y="3781425"/>
            <a:ext cx="1476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4F82AF"/>
                </a:solidFill>
                <a:latin typeface="Calibri"/>
                <a:ea typeface="Calibri"/>
                <a:cs typeface="Calibri"/>
              </a:defRPr>
            </a:defPPr>
          </a:lstStyle>
          <a:p xmlns:a="http://schemas.openxmlformats.org/drawingml/2006/main">
            <a:pPr algn="l">
              <a:defRPr sz="1275" b="0">
                <a:solidFill>
                  <a:srgbClr val="4F82AF"/>
                </a:solidFill>
                <a:latin typeface="Calibri"/>
                <a:ea typeface="Calibri"/>
                <a:cs typeface="Calibri"/>
              </a:defRPr>
            </a:pPr>
            <a:r>
              <a:rPr sz="1275" b="0">
                <a:solidFill>
                  <a:srgbClr val="4F82AF"/>
                </a:solidFill>
                <a:latin typeface="Calibri"/>
                <a:ea typeface="Calibri"/>
                <a:cs typeface="Calibri"/>
              </a:rPr>
              <a:t>up3: V3, T</a:t>
            </a:r>
          </a:p>
        </p:txBody>
      </p:sp>
      <p:sp>
        <p:nvSpPr>
          <p:cNvPr id="59" name="C′3">
            <a:extLst xmlns:a="http://schemas.openxmlformats.org/drawingml/2006/main">
              <a:ext uri="{FF2B5EF4-FFF2-40B4-BE49-F238E27FC236}">
                <a16:creationId xmlns:a16="http://schemas.microsoft.com/office/drawing/2014/main" id="{79D3861F-CC86-4266-B547-C387B88DDEDA}"/>
              </a:ext>
            </a:extLst>
          </p:cNvPr>
          <p:cNvSpPr>
            <a:spLocks xmlns:a="http://schemas.openxmlformats.org/drawingml/2006/main" noGrp="1"/>
          </p:cNvSpPr>
          <p:nvPr/>
        </p:nvSpPr>
        <p:spPr>
          <a:xfrm xmlns:a="http://schemas.openxmlformats.org/drawingml/2006/main">
            <a:off x="8896350" y="4067175"/>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CA863D"/>
                </a:solidFill>
                <a:latin typeface="Calibri"/>
                <a:ea typeface="Calibri"/>
                <a:cs typeface="Calibri"/>
              </a:defRPr>
            </a:defPPr>
          </a:lstStyle>
          <a:p xmlns:a="http://schemas.openxmlformats.org/drawingml/2006/main">
            <a:pPr algn="l">
              <a:defRPr sz="1350" b="0">
                <a:solidFill>
                  <a:srgbClr val="CA863D"/>
                </a:solidFill>
                <a:latin typeface="Calibri"/>
                <a:ea typeface="Calibri"/>
                <a:cs typeface="Calibri"/>
              </a:defRPr>
            </a:pPr>
            <a:r>
              <a:rPr sz="1350" b="0">
                <a:solidFill>
                  <a:srgbClr val="CA863D"/>
                </a:solidFill>
                <a:latin typeface="Calibri"/>
                <a:ea typeface="Calibri"/>
                <a:cs typeface="Calibri"/>
              </a:rPr>
              <a:t>C′3</a:t>
            </a:r>
          </a:p>
        </p:txBody>
      </p:sp>
      <p:sp>
        <p:nvSpPr>
          <p:cNvPr id="64" name="Down 4">
            <a:extLst xmlns:a="http://schemas.openxmlformats.org/drawingml/2006/main">
              <a:ext uri="{FF2B5EF4-FFF2-40B4-BE49-F238E27FC236}">
                <a16:creationId xmlns:a16="http://schemas.microsoft.com/office/drawing/2014/main" id="{547D2F99-AE47-4DE0-89E2-6F0C6BD0F106}"/>
              </a:ext>
            </a:extLst>
          </p:cNvPr>
          <p:cNvSpPr>
            <a:spLocks xmlns:a="http://schemas.openxmlformats.org/drawingml/2006/main" noGrp="1"/>
          </p:cNvSpPr>
          <p:nvPr/>
        </p:nvSpPr>
        <p:spPr>
          <a:xfrm xmlns:a="http://schemas.openxmlformats.org/drawingml/2006/main">
            <a:off x="638175" y="4867275"/>
            <a:ext cx="1200150" cy="542925"/>
          </a:xfrm>
          <a:prstGeom xmlns:a="http://schemas.openxmlformats.org/drawingml/2006/main" prst="cube">
            <a:avLst/>
          </a:prstGeom>
          <a:solidFill xmlns:a="http://schemas.openxmlformats.org/drawingml/2006/main">
            <a:srgbClr val="D5E5F4"/>
          </a:solidFill>
          <a:ln xmlns:a="http://schemas.openxmlformats.org/drawingml/2006/main" w="12383">
            <a:solidFill>
              <a:srgbClr val="4F82AF"/>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Down 4</a:t>
            </a:r>
          </a:p>
        </p:txBody>
      </p:sp>
      <p:sp>
        <p:nvSpPr>
          <p:cNvPr id="65" name="Up 4">
            <a:extLst xmlns:a="http://schemas.openxmlformats.org/drawingml/2006/main">
              <a:ext uri="{FF2B5EF4-FFF2-40B4-BE49-F238E27FC236}">
                <a16:creationId xmlns:a16="http://schemas.microsoft.com/office/drawing/2014/main" id="{555F02E0-028E-4F42-BC4F-949933758161}"/>
              </a:ext>
            </a:extLst>
          </p:cNvPr>
          <p:cNvSpPr>
            <a:spLocks xmlns:a="http://schemas.openxmlformats.org/drawingml/2006/main" noGrp="1"/>
          </p:cNvSpPr>
          <p:nvPr/>
        </p:nvSpPr>
        <p:spPr>
          <a:xfrm xmlns:a="http://schemas.openxmlformats.org/drawingml/2006/main">
            <a:off x="2562225" y="4867275"/>
            <a:ext cx="1200150" cy="542925"/>
          </a:xfrm>
          <a:prstGeom xmlns:a="http://schemas.openxmlformats.org/drawingml/2006/main" prst="cube">
            <a:avLst/>
          </a:prstGeom>
          <a:solidFill xmlns:a="http://schemas.openxmlformats.org/drawingml/2006/main">
            <a:srgbClr val="D5E5F4"/>
          </a:solidFill>
          <a:ln xmlns:a="http://schemas.openxmlformats.org/drawingml/2006/main" w="12383">
            <a:solidFill>
              <a:srgbClr val="4F82AF"/>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Up 4</a:t>
            </a:r>
          </a:p>
        </p:txBody>
      </p:sp>
      <p:sp>
        <p:nvSpPr>
          <p:cNvPr id="66" name="C4">
            <a:extLst xmlns:a="http://schemas.openxmlformats.org/drawingml/2006/main">
              <a:ext uri="{FF2B5EF4-FFF2-40B4-BE49-F238E27FC236}">
                <a16:creationId xmlns:a16="http://schemas.microsoft.com/office/drawing/2014/main" id="{F8859234-B119-4ABC-B6A7-149ACB8671C0}"/>
              </a:ext>
            </a:extLst>
          </p:cNvPr>
          <p:cNvSpPr>
            <a:spLocks xmlns:a="http://schemas.openxmlformats.org/drawingml/2006/main" noGrp="1"/>
          </p:cNvSpPr>
          <p:nvPr/>
        </p:nvSpPr>
        <p:spPr>
          <a:xfrm xmlns:a="http://schemas.openxmlformats.org/drawingml/2006/main">
            <a:off x="4686300" y="4867275"/>
            <a:ext cx="1047750" cy="542925"/>
          </a:xfrm>
          <a:prstGeom xmlns:a="http://schemas.openxmlformats.org/drawingml/2006/main" prst="cube">
            <a:avLst/>
          </a:prstGeom>
          <a:solidFill xmlns:a="http://schemas.openxmlformats.org/drawingml/2006/main">
            <a:srgbClr val="DCDDF0"/>
          </a:solidFill>
          <a:ln xmlns:a="http://schemas.openxmlformats.org/drawingml/2006/main" w="12383">
            <a:solidFill>
              <a:srgbClr val="8586B7"/>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C4</a:t>
            </a:r>
          </a:p>
        </p:txBody>
      </p:sp>
      <p:sp>
        <p:nvSpPr>
          <p:cNvPr id="67" name="RACE 4">
            <a:extLst xmlns:a="http://schemas.openxmlformats.org/drawingml/2006/main">
              <a:ext uri="{FF2B5EF4-FFF2-40B4-BE49-F238E27FC236}">
                <a16:creationId xmlns:a16="http://schemas.microsoft.com/office/drawing/2014/main" id="{AC27E525-A8B7-4109-B860-F698F545F04D}"/>
              </a:ext>
            </a:extLst>
          </p:cNvPr>
          <p:cNvSpPr>
            <a:spLocks xmlns:a="http://schemas.openxmlformats.org/drawingml/2006/main" noGrp="1"/>
          </p:cNvSpPr>
          <p:nvPr/>
        </p:nvSpPr>
        <p:spPr>
          <a:xfrm xmlns:a="http://schemas.openxmlformats.org/drawingml/2006/main">
            <a:off x="7124700" y="4867275"/>
            <a:ext cx="1314450" cy="542925"/>
          </a:xfrm>
          <a:prstGeom xmlns:a="http://schemas.openxmlformats.org/drawingml/2006/main" prst="cube">
            <a:avLst/>
          </a:prstGeom>
          <a:solidFill xmlns:a="http://schemas.openxmlformats.org/drawingml/2006/main">
            <a:srgbClr val="F9DFC1"/>
          </a:solidFill>
          <a:ln xmlns:a="http://schemas.openxmlformats.org/drawingml/2006/main" w="12383">
            <a:solidFill>
              <a:srgbClr val="CA863D"/>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RACE 4</a:t>
            </a:r>
          </a:p>
        </p:txBody>
      </p:sp>
      <p:sp>
        <p:nvSpPr>
          <p:cNvPr id="68" name="FSDR 4">
            <a:extLst xmlns:a="http://schemas.openxmlformats.org/drawingml/2006/main">
              <a:ext uri="{FF2B5EF4-FFF2-40B4-BE49-F238E27FC236}">
                <a16:creationId xmlns:a16="http://schemas.microsoft.com/office/drawing/2014/main" id="{B77E28B3-A9DC-48D8-8634-164971E73AC3}"/>
              </a:ext>
            </a:extLst>
          </p:cNvPr>
          <p:cNvSpPr>
            <a:spLocks xmlns:a="http://schemas.openxmlformats.org/drawingml/2006/main" noGrp="1"/>
          </p:cNvSpPr>
          <p:nvPr/>
        </p:nvSpPr>
        <p:spPr>
          <a:xfrm xmlns:a="http://schemas.openxmlformats.org/drawingml/2006/main">
            <a:off x="10001250" y="4867275"/>
            <a:ext cx="1457325" cy="542925"/>
          </a:xfrm>
          <a:prstGeom xmlns:a="http://schemas.openxmlformats.org/drawingml/2006/main" prst="cube">
            <a:avLst/>
          </a:prstGeom>
          <a:solidFill xmlns:a="http://schemas.openxmlformats.org/drawingml/2006/main">
            <a:srgbClr val="DCEACC"/>
          </a:solidFill>
          <a:ln xmlns:a="http://schemas.openxmlformats.org/drawingml/2006/main" w="12383">
            <a:solidFill>
              <a:srgbClr val="78974E"/>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FSDR 4</a:t>
            </a:r>
          </a:p>
        </p:txBody>
      </p:sp>
      <p:sp>
        <p:nvSpPr>
          <p:cNvPr id="72" name="C4, T">
            <a:extLst xmlns:a="http://schemas.openxmlformats.org/drawingml/2006/main">
              <a:ext uri="{FF2B5EF4-FFF2-40B4-BE49-F238E27FC236}">
                <a16:creationId xmlns:a16="http://schemas.microsoft.com/office/drawing/2014/main" id="{97508733-B009-45FD-B3EA-F4177E49AC8B}"/>
              </a:ext>
            </a:extLst>
          </p:cNvPr>
          <p:cNvSpPr>
            <a:spLocks xmlns:a="http://schemas.openxmlformats.org/drawingml/2006/main" noGrp="1"/>
          </p:cNvSpPr>
          <p:nvPr/>
        </p:nvSpPr>
        <p:spPr>
          <a:xfrm xmlns:a="http://schemas.openxmlformats.org/drawingml/2006/main">
            <a:off x="638175" y="4648200"/>
            <a:ext cx="1190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4F82AF"/>
                </a:solidFill>
                <a:latin typeface="Calibri"/>
                <a:ea typeface="Calibri"/>
                <a:cs typeface="Calibri"/>
              </a:defRPr>
            </a:defPPr>
          </a:lstStyle>
          <a:p xmlns:a="http://schemas.openxmlformats.org/drawingml/2006/main">
            <a:pPr algn="l">
              <a:defRPr sz="1275" b="0">
                <a:solidFill>
                  <a:srgbClr val="4F82AF"/>
                </a:solidFill>
                <a:latin typeface="Calibri"/>
                <a:ea typeface="Calibri"/>
                <a:cs typeface="Calibri"/>
              </a:defRPr>
            </a:pPr>
            <a:r>
              <a:rPr sz="1275" b="0">
                <a:solidFill>
                  <a:srgbClr val="4F82AF"/>
                </a:solidFill>
                <a:latin typeface="Calibri"/>
                <a:ea typeface="Calibri"/>
                <a:cs typeface="Calibri"/>
              </a:rPr>
              <a:t>C4, T</a:t>
            </a:r>
          </a:p>
        </p:txBody>
      </p:sp>
      <p:sp>
        <p:nvSpPr>
          <p:cNvPr id="73" name="V4">
            <a:extLst xmlns:a="http://schemas.openxmlformats.org/drawingml/2006/main">
              <a:ext uri="{FF2B5EF4-FFF2-40B4-BE49-F238E27FC236}">
                <a16:creationId xmlns:a16="http://schemas.microsoft.com/office/drawing/2014/main" id="{F965A923-9E69-4FAE-A4CD-7BADDB4BBA5B}"/>
              </a:ext>
            </a:extLst>
          </p:cNvPr>
          <p:cNvSpPr>
            <a:spLocks xmlns:a="http://schemas.openxmlformats.org/drawingml/2006/main" noGrp="1"/>
          </p:cNvSpPr>
          <p:nvPr/>
        </p:nvSpPr>
        <p:spPr>
          <a:xfrm xmlns:a="http://schemas.openxmlformats.org/drawingml/2006/main">
            <a:off x="3905250" y="5029200"/>
            <a:ext cx="51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4F82AF"/>
                </a:solidFill>
                <a:latin typeface="Calibri"/>
                <a:ea typeface="Calibri"/>
                <a:cs typeface="Calibri"/>
              </a:defRPr>
            </a:defPPr>
          </a:lstStyle>
          <a:p xmlns:a="http://schemas.openxmlformats.org/drawingml/2006/main">
            <a:pPr algn="l">
              <a:defRPr sz="1425" b="0">
                <a:solidFill>
                  <a:srgbClr val="4F82AF"/>
                </a:solidFill>
                <a:latin typeface="Calibri"/>
                <a:ea typeface="Calibri"/>
                <a:cs typeface="Calibri"/>
              </a:defRPr>
            </a:pPr>
            <a:r>
              <a:rPr sz="1425" b="0">
                <a:solidFill>
                  <a:srgbClr val="4F82AF"/>
                </a:solidFill>
                <a:latin typeface="Calibri"/>
                <a:ea typeface="Calibri"/>
                <a:cs typeface="Calibri"/>
              </a:rPr>
              <a:t>V4</a:t>
            </a:r>
          </a:p>
        </p:txBody>
      </p:sp>
      <p:sp>
        <p:nvSpPr>
          <p:cNvPr id="74" name="">
            <a:extLst xmlns:a="http://schemas.openxmlformats.org/drawingml/2006/main">
              <a:ext uri="{FF2B5EF4-FFF2-40B4-BE49-F238E27FC236}">
                <a16:creationId xmlns:a16="http://schemas.microsoft.com/office/drawing/2014/main" id="{2F4BD3AA-B655-4429-8788-D4089BD8D551}"/>
              </a:ext>
            </a:extLst>
          </p:cNvPr>
          <p:cNvSpPr>
            <a:spLocks xmlns:a="http://schemas.openxmlformats.org/drawingml/2006/main" noGrp="1"/>
          </p:cNvSpPr>
          <p:nvPr/>
        </p:nvSpPr>
        <p:spPr>
          <a:xfrm xmlns:a="http://schemas.openxmlformats.org/drawingml/2006/main">
            <a:off x="4438650" y="51149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202124"/>
                </a:solidFill>
                <a:latin typeface="Calibri"/>
                <a:ea typeface="Calibri"/>
                <a:cs typeface="Calibri"/>
              </a:defRPr>
            </a:defPPr>
          </a:lstStyle>
          <a:p xmlns:a="http://schemas.openxmlformats.org/drawingml/2006/main">
            <a:r>
              <a:t/>
            </a:r>
          </a:p>
        </p:txBody>
      </p:sp>
      <p:sp>
        <p:nvSpPr>
          <p:cNvPr id="76" name="T, B">
            <a:extLst xmlns:a="http://schemas.openxmlformats.org/drawingml/2006/main">
              <a:ext uri="{FF2B5EF4-FFF2-40B4-BE49-F238E27FC236}">
                <a16:creationId xmlns:a16="http://schemas.microsoft.com/office/drawing/2014/main" id="{A88B65D3-744A-4913-8FB9-E31A75F0E3E5}"/>
              </a:ext>
            </a:extLst>
          </p:cNvPr>
          <p:cNvSpPr>
            <a:spLocks xmlns:a="http://schemas.openxmlformats.org/drawingml/2006/main" noGrp="1"/>
          </p:cNvSpPr>
          <p:nvPr/>
        </p:nvSpPr>
        <p:spPr>
          <a:xfrm xmlns:a="http://schemas.openxmlformats.org/drawingml/2006/main">
            <a:off x="7391400" y="4648200"/>
            <a:ext cx="809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B39938"/>
                </a:solidFill>
                <a:latin typeface="Calibri"/>
                <a:ea typeface="Calibri"/>
                <a:cs typeface="Calibri"/>
              </a:defRPr>
            </a:defPPr>
          </a:lstStyle>
          <a:p xmlns:a="http://schemas.openxmlformats.org/drawingml/2006/main">
            <a:pPr algn="l">
              <a:defRPr sz="1275" b="0">
                <a:solidFill>
                  <a:srgbClr val="B39938"/>
                </a:solidFill>
                <a:latin typeface="Calibri"/>
                <a:ea typeface="Calibri"/>
                <a:cs typeface="Calibri"/>
              </a:defRPr>
            </a:pPr>
            <a:r>
              <a:rPr sz="1275" b="0">
                <a:solidFill>
                  <a:srgbClr val="B39938"/>
                </a:solidFill>
                <a:latin typeface="Calibri"/>
                <a:ea typeface="Calibri"/>
                <a:cs typeface="Calibri"/>
              </a:rPr>
              <a:t>T, B</a:t>
            </a:r>
          </a:p>
        </p:txBody>
      </p:sp>
      <p:sp>
        <p:nvSpPr>
          <p:cNvPr id="77" name="up4: V4, T">
            <a:extLst xmlns:a="http://schemas.openxmlformats.org/drawingml/2006/main">
              <a:ext uri="{FF2B5EF4-FFF2-40B4-BE49-F238E27FC236}">
                <a16:creationId xmlns:a16="http://schemas.microsoft.com/office/drawing/2014/main" id="{48AFFA56-A0D2-441C-9AD9-D1CE3425F1A5}"/>
              </a:ext>
            </a:extLst>
          </p:cNvPr>
          <p:cNvSpPr>
            <a:spLocks xmlns:a="http://schemas.openxmlformats.org/drawingml/2006/main" noGrp="1"/>
          </p:cNvSpPr>
          <p:nvPr/>
        </p:nvSpPr>
        <p:spPr>
          <a:xfrm xmlns:a="http://schemas.openxmlformats.org/drawingml/2006/main">
            <a:off x="10048875" y="4648200"/>
            <a:ext cx="1476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4F82AF"/>
                </a:solidFill>
                <a:latin typeface="Calibri"/>
                <a:ea typeface="Calibri"/>
                <a:cs typeface="Calibri"/>
              </a:defRPr>
            </a:defPPr>
          </a:lstStyle>
          <a:p xmlns:a="http://schemas.openxmlformats.org/drawingml/2006/main">
            <a:pPr algn="l">
              <a:defRPr sz="1275" b="0">
                <a:solidFill>
                  <a:srgbClr val="4F82AF"/>
                </a:solidFill>
                <a:latin typeface="Calibri"/>
                <a:ea typeface="Calibri"/>
                <a:cs typeface="Calibri"/>
              </a:defRPr>
            </a:pPr>
            <a:r>
              <a:rPr sz="1275" b="0">
                <a:solidFill>
                  <a:srgbClr val="4F82AF"/>
                </a:solidFill>
                <a:latin typeface="Calibri"/>
                <a:ea typeface="Calibri"/>
                <a:cs typeface="Calibri"/>
              </a:rPr>
              <a:t>up4: V4, T</a:t>
            </a:r>
          </a:p>
        </p:txBody>
      </p:sp>
      <p:sp>
        <p:nvSpPr>
          <p:cNvPr id="78" name="C′4">
            <a:extLst xmlns:a="http://schemas.openxmlformats.org/drawingml/2006/main">
              <a:ext uri="{FF2B5EF4-FFF2-40B4-BE49-F238E27FC236}">
                <a16:creationId xmlns:a16="http://schemas.microsoft.com/office/drawing/2014/main" id="{11017CE6-6036-4DE6-9E0C-25B54D51AB13}"/>
              </a:ext>
            </a:extLst>
          </p:cNvPr>
          <p:cNvSpPr>
            <a:spLocks xmlns:a="http://schemas.openxmlformats.org/drawingml/2006/main" noGrp="1"/>
          </p:cNvSpPr>
          <p:nvPr/>
        </p:nvSpPr>
        <p:spPr>
          <a:xfrm xmlns:a="http://schemas.openxmlformats.org/drawingml/2006/main">
            <a:off x="8896350" y="49339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CA863D"/>
                </a:solidFill>
                <a:latin typeface="Calibri"/>
                <a:ea typeface="Calibri"/>
                <a:cs typeface="Calibri"/>
              </a:defRPr>
            </a:defPPr>
          </a:lstStyle>
          <a:p xmlns:a="http://schemas.openxmlformats.org/drawingml/2006/main">
            <a:pPr algn="l">
              <a:defRPr sz="1350" b="0">
                <a:solidFill>
                  <a:srgbClr val="CA863D"/>
                </a:solidFill>
                <a:latin typeface="Calibri"/>
                <a:ea typeface="Calibri"/>
                <a:cs typeface="Calibri"/>
              </a:defRPr>
            </a:pPr>
            <a:r>
              <a:rPr sz="1350" b="0">
                <a:solidFill>
                  <a:srgbClr val="CA863D"/>
                </a:solidFill>
                <a:latin typeface="Calibri"/>
                <a:ea typeface="Calibri"/>
                <a:cs typeface="Calibri"/>
              </a:rPr>
              <a:t>C′4</a:t>
            </a:r>
          </a:p>
        </p:txBody>
      </p:sp>
      <p:sp>
        <p:nvSpPr>
          <p:cNvPr id="83" name="C5 · Bottleneck">
            <a:extLst xmlns:a="http://schemas.openxmlformats.org/drawingml/2006/main">
              <a:ext uri="{FF2B5EF4-FFF2-40B4-BE49-F238E27FC236}">
                <a16:creationId xmlns:a16="http://schemas.microsoft.com/office/drawing/2014/main" id="{5CA2B1CB-C930-4375-8EB5-28CA18CE3352}"/>
              </a:ext>
            </a:extLst>
          </p:cNvPr>
          <p:cNvSpPr>
            <a:spLocks xmlns:a="http://schemas.openxmlformats.org/drawingml/2006/main" noGrp="1"/>
          </p:cNvSpPr>
          <p:nvPr/>
        </p:nvSpPr>
        <p:spPr>
          <a:xfrm xmlns:a="http://schemas.openxmlformats.org/drawingml/2006/main">
            <a:off x="4686300" y="5753100"/>
            <a:ext cx="3762375" cy="409575"/>
          </a:xfrm>
          <a:prstGeom xmlns:a="http://schemas.openxmlformats.org/drawingml/2006/main" prst="cube">
            <a:avLst/>
          </a:prstGeom>
          <a:solidFill xmlns:a="http://schemas.openxmlformats.org/drawingml/2006/main">
            <a:srgbClr val="DCDDF0"/>
          </a:solidFill>
          <a:ln xmlns:a="http://schemas.openxmlformats.org/drawingml/2006/main" w="12383">
            <a:solidFill>
              <a:srgbClr val="8586B7"/>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C5 · Bottleneck</a:t>
            </a:r>
          </a:p>
        </p:txBody>
      </p:sp>
    </p:spTree>
    <p:extLst>
      <p:ext uri="{BB962C8B-B14F-4D97-AF65-F5344CB8AC3E}">
        <p14:creationId xmlns:p14="http://schemas.microsoft.com/office/powerpoint/2010/main" val="29533397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8" name="">
            <a:extLst xmlns:a="http://schemas.openxmlformats.org/drawingml/2006/main">
              <a:ext uri="{FF2B5EF4-FFF2-40B4-BE49-F238E27FC236}">
                <a16:creationId xmlns:a16="http://schemas.microsoft.com/office/drawing/2014/main" id="{A796592A-A9BB-40EC-827A-D755BC747250}"/>
              </a:ext>
            </a:extLst>
          </p:cNvPr>
          <p:cNvCxnSpPr>
            <a:stCxn xmlns:a="http://schemas.openxmlformats.org/drawingml/2006/main" id="27" idx="3"/>
            <a:endCxn xmlns:a="http://schemas.openxmlformats.org/drawingml/2006/main" id="28" idx="2"/>
          </p:cNvCxnSpPr>
          <p:nvPr/>
        </p:nvCxnSpPr>
        <p:spPr>
          <a:xfrm xmlns:a="http://schemas.openxmlformats.org/drawingml/2006/main">
            <a:off x="9896475" y="5272088"/>
            <a:ext cx="485775" cy="70247"/>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37" name="">
            <a:extLst xmlns:a="http://schemas.openxmlformats.org/drawingml/2006/main">
              <a:ext uri="{FF2B5EF4-FFF2-40B4-BE49-F238E27FC236}">
                <a16:creationId xmlns:a16="http://schemas.microsoft.com/office/drawing/2014/main" id="{3AA03954-F87B-4260-877E-BF9F1DD99276}"/>
              </a:ext>
            </a:extLst>
          </p:cNvPr>
          <p:cNvCxnSpPr>
            <a:stCxn xmlns:a="http://schemas.openxmlformats.org/drawingml/2006/main" id="26" idx="5"/>
            <a:endCxn xmlns:a="http://schemas.openxmlformats.org/drawingml/2006/main" id="27" idx="1"/>
          </p:cNvCxnSpPr>
          <p:nvPr/>
        </p:nvCxnSpPr>
        <p:spPr>
          <a:xfrm xmlns:a="http://schemas.openxmlformats.org/drawingml/2006/main" flipV="1">
            <a:off x="7753350" y="5272088"/>
            <a:ext cx="885825" cy="441722"/>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36" name="">
            <a:extLst xmlns:a="http://schemas.openxmlformats.org/drawingml/2006/main">
              <a:ext uri="{FF2B5EF4-FFF2-40B4-BE49-F238E27FC236}">
                <a16:creationId xmlns:a16="http://schemas.microsoft.com/office/drawing/2014/main" id="{0FEBAB6D-EB45-4CA8-992E-3525BA1A7369}"/>
              </a:ext>
            </a:extLst>
          </p:cNvPr>
          <p:cNvCxnSpPr>
            <a:stCxn xmlns:a="http://schemas.openxmlformats.org/drawingml/2006/main" id="25" idx="5"/>
            <a:endCxn xmlns:a="http://schemas.openxmlformats.org/drawingml/2006/main" id="27" idx="1"/>
          </p:cNvCxnSpPr>
          <p:nvPr/>
        </p:nvCxnSpPr>
        <p:spPr>
          <a:xfrm xmlns:a="http://schemas.openxmlformats.org/drawingml/2006/main">
            <a:off x="7753350" y="4799409"/>
            <a:ext cx="885825" cy="472678"/>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35" name="">
            <a:extLst xmlns:a="http://schemas.openxmlformats.org/drawingml/2006/main">
              <a:ext uri="{FF2B5EF4-FFF2-40B4-BE49-F238E27FC236}">
                <a16:creationId xmlns:a16="http://schemas.microsoft.com/office/drawing/2014/main" id="{B5273019-60ED-4531-827D-F5F1877A9345}"/>
              </a:ext>
            </a:extLst>
          </p:cNvPr>
          <p:cNvCxnSpPr>
            <a:stCxn xmlns:a="http://schemas.openxmlformats.org/drawingml/2006/main" id="24" idx="3"/>
            <a:endCxn xmlns:a="http://schemas.openxmlformats.org/drawingml/2006/main" id="26" idx="2"/>
          </p:cNvCxnSpPr>
          <p:nvPr/>
        </p:nvCxnSpPr>
        <p:spPr>
          <a:xfrm xmlns:a="http://schemas.openxmlformats.org/drawingml/2006/main">
            <a:off x="5857875" y="5172075"/>
            <a:ext cx="895350" cy="667941"/>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34" name="">
            <a:extLst xmlns:a="http://schemas.openxmlformats.org/drawingml/2006/main">
              <a:ext uri="{FF2B5EF4-FFF2-40B4-BE49-F238E27FC236}">
                <a16:creationId xmlns:a16="http://schemas.microsoft.com/office/drawing/2014/main" id="{619B1B22-CDE6-4817-9775-B003C4EB052E}"/>
              </a:ext>
            </a:extLst>
          </p:cNvPr>
          <p:cNvCxnSpPr>
            <a:stCxn xmlns:a="http://schemas.openxmlformats.org/drawingml/2006/main" id="24" idx="3"/>
            <a:endCxn xmlns:a="http://schemas.openxmlformats.org/drawingml/2006/main" id="25" idx="2"/>
          </p:cNvCxnSpPr>
          <p:nvPr/>
        </p:nvCxnSpPr>
        <p:spPr>
          <a:xfrm xmlns:a="http://schemas.openxmlformats.org/drawingml/2006/main" flipV="1">
            <a:off x="5857875" y="4925616"/>
            <a:ext cx="895350" cy="246459"/>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33" name="">
            <a:extLst xmlns:a="http://schemas.openxmlformats.org/drawingml/2006/main">
              <a:ext uri="{FF2B5EF4-FFF2-40B4-BE49-F238E27FC236}">
                <a16:creationId xmlns:a16="http://schemas.microsoft.com/office/drawing/2014/main" id="{D5755194-277C-4D3C-A56B-E2CDC02FA611}"/>
              </a:ext>
            </a:extLst>
          </p:cNvPr>
          <p:cNvCxnSpPr>
            <a:stCxn xmlns:a="http://schemas.openxmlformats.org/drawingml/2006/main" id="29" idx="3"/>
            <a:endCxn xmlns:a="http://schemas.openxmlformats.org/drawingml/2006/main" id="24" idx="1"/>
          </p:cNvCxnSpPr>
          <p:nvPr/>
        </p:nvCxnSpPr>
        <p:spPr>
          <a:xfrm xmlns:a="http://schemas.openxmlformats.org/drawingml/2006/main">
            <a:off x="3286125" y="4452938"/>
            <a:ext cx="704850" cy="719138"/>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32" name="">
            <a:extLst xmlns:a="http://schemas.openxmlformats.org/drawingml/2006/main">
              <a:ext uri="{FF2B5EF4-FFF2-40B4-BE49-F238E27FC236}">
                <a16:creationId xmlns:a16="http://schemas.microsoft.com/office/drawing/2014/main" id="{CBB87F0C-B959-499D-B043-CD778271C968}"/>
              </a:ext>
            </a:extLst>
          </p:cNvPr>
          <p:cNvCxnSpPr>
            <a:stCxn xmlns:a="http://schemas.openxmlformats.org/drawingml/2006/main" id="23" idx="5"/>
            <a:endCxn xmlns:a="http://schemas.openxmlformats.org/drawingml/2006/main" id="24" idx="1"/>
          </p:cNvCxnSpPr>
          <p:nvPr/>
        </p:nvCxnSpPr>
        <p:spPr>
          <a:xfrm xmlns:a="http://schemas.openxmlformats.org/drawingml/2006/main" flipV="1">
            <a:off x="3314700" y="5172075"/>
            <a:ext cx="676275" cy="517922"/>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31" name="">
            <a:extLst xmlns:a="http://schemas.openxmlformats.org/drawingml/2006/main">
              <a:ext uri="{FF2B5EF4-FFF2-40B4-BE49-F238E27FC236}">
                <a16:creationId xmlns:a16="http://schemas.microsoft.com/office/drawing/2014/main" id="{13403631-1848-49FB-9462-A0CF7245530D}"/>
              </a:ext>
            </a:extLst>
          </p:cNvPr>
          <p:cNvCxnSpPr>
            <a:stCxn xmlns:a="http://schemas.openxmlformats.org/drawingml/2006/main" id="22" idx="5"/>
            <a:endCxn xmlns:a="http://schemas.openxmlformats.org/drawingml/2006/main" id="24" idx="1"/>
          </p:cNvCxnSpPr>
          <p:nvPr/>
        </p:nvCxnSpPr>
        <p:spPr>
          <a:xfrm xmlns:a="http://schemas.openxmlformats.org/drawingml/2006/main" flipV="1">
            <a:off x="1495425" y="5172075"/>
            <a:ext cx="2495550" cy="279797"/>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30" name="">
            <a:extLst xmlns:a="http://schemas.openxmlformats.org/drawingml/2006/main">
              <a:ext uri="{FF2B5EF4-FFF2-40B4-BE49-F238E27FC236}">
                <a16:creationId xmlns:a16="http://schemas.microsoft.com/office/drawing/2014/main" id="{17654AA5-F88F-4ACF-A1D8-8E853265DDF8}"/>
              </a:ext>
            </a:extLst>
          </p:cNvPr>
          <p:cNvCxnSpPr>
            <a:stCxn xmlns:a="http://schemas.openxmlformats.org/drawingml/2006/main" id="21" idx="5"/>
            <a:endCxn xmlns:a="http://schemas.openxmlformats.org/drawingml/2006/main" id="24" idx="1"/>
          </p:cNvCxnSpPr>
          <p:nvPr/>
        </p:nvCxnSpPr>
        <p:spPr>
          <a:xfrm xmlns:a="http://schemas.openxmlformats.org/drawingml/2006/main">
            <a:off x="1495425" y="4775597"/>
            <a:ext cx="2495550" cy="396478"/>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44FE8614-B629-43D6-8608-C473F48B05B7}"/>
              </a:ext>
            </a:extLst>
          </p:cNvPr>
          <p:cNvCxnSpPr>
            <a:stCxn xmlns:a="http://schemas.openxmlformats.org/drawingml/2006/main" id="10" idx="3"/>
            <a:endCxn xmlns:a="http://schemas.openxmlformats.org/drawingml/2006/main" id="11" idx="2"/>
          </p:cNvCxnSpPr>
          <p:nvPr/>
        </p:nvCxnSpPr>
        <p:spPr>
          <a:xfrm xmlns:a="http://schemas.openxmlformats.org/drawingml/2006/main">
            <a:off x="9296400" y="2714625"/>
            <a:ext cx="704850" cy="71438"/>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CBA6414A-FB6D-4E08-90AB-9B35BCB93C74}"/>
              </a:ext>
            </a:extLst>
          </p:cNvPr>
          <p:cNvCxnSpPr>
            <a:stCxn xmlns:a="http://schemas.openxmlformats.org/drawingml/2006/main" id="9" idx="5"/>
            <a:endCxn xmlns:a="http://schemas.openxmlformats.org/drawingml/2006/main" id="10" idx="1"/>
          </p:cNvCxnSpPr>
          <p:nvPr/>
        </p:nvCxnSpPr>
        <p:spPr>
          <a:xfrm xmlns:a="http://schemas.openxmlformats.org/drawingml/2006/main" flipV="1">
            <a:off x="7058025" y="2714625"/>
            <a:ext cx="762000" cy="607219"/>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60B6CF59-2BB2-41C7-8C50-926D2E8B9B95}"/>
              </a:ext>
            </a:extLst>
          </p:cNvPr>
          <p:cNvCxnSpPr>
            <a:stCxn xmlns:a="http://schemas.openxmlformats.org/drawingml/2006/main" id="8" idx="3"/>
            <a:endCxn xmlns:a="http://schemas.openxmlformats.org/drawingml/2006/main" id="10" idx="1"/>
          </p:cNvCxnSpPr>
          <p:nvPr/>
        </p:nvCxnSpPr>
        <p:spPr>
          <a:xfrm xmlns:a="http://schemas.openxmlformats.org/drawingml/2006/main">
            <a:off x="5457825" y="2714625"/>
            <a:ext cx="2362200" cy="0"/>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D48A3951-91CF-4E9D-B875-E37B250CEAAF}"/>
              </a:ext>
            </a:extLst>
          </p:cNvPr>
          <p:cNvCxnSpPr>
            <a:stCxn xmlns:a="http://schemas.openxmlformats.org/drawingml/2006/main" id="7" idx="6"/>
            <a:endCxn xmlns:a="http://schemas.openxmlformats.org/drawingml/2006/main" id="8" idx="1"/>
          </p:cNvCxnSpPr>
          <p:nvPr/>
        </p:nvCxnSpPr>
        <p:spPr>
          <a:xfrm xmlns:a="http://schemas.openxmlformats.org/drawingml/2006/main">
            <a:off x="2838450" y="2686050"/>
            <a:ext cx="904875" cy="28575"/>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E4260D14-48A9-4A53-817D-159E206649FA}"/>
              </a:ext>
            </a:extLst>
          </p:cNvPr>
          <p:cNvCxnSpPr>
            <a:stCxn xmlns:a="http://schemas.openxmlformats.org/drawingml/2006/main" id="6" idx="5"/>
            <a:endCxn xmlns:a="http://schemas.openxmlformats.org/drawingml/2006/main" id="7" idx="2"/>
          </p:cNvCxnSpPr>
          <p:nvPr/>
        </p:nvCxnSpPr>
        <p:spPr>
          <a:xfrm xmlns:a="http://schemas.openxmlformats.org/drawingml/2006/main" flipV="1">
            <a:off x="1495425" y="2686050"/>
            <a:ext cx="828675" cy="404813"/>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FA0610F6-71B2-49BB-8500-A87A342451AC}"/>
              </a:ext>
            </a:extLst>
          </p:cNvPr>
          <p:cNvCxnSpPr>
            <a:stCxn xmlns:a="http://schemas.openxmlformats.org/drawingml/2006/main" id="5" idx="5"/>
            <a:endCxn xmlns:a="http://schemas.openxmlformats.org/drawingml/2006/main" id="7" idx="2"/>
          </p:cNvCxnSpPr>
          <p:nvPr/>
        </p:nvCxnSpPr>
        <p:spPr>
          <a:xfrm xmlns:a="http://schemas.openxmlformats.org/drawingml/2006/main">
            <a:off x="1495425" y="2271713"/>
            <a:ext cx="828675" cy="414338"/>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sp>
        <p:nvSpPr>
          <p:cNvPr id="40" name="PLAM and FSDR fusion paths">
            <a:extLst xmlns:a="http://schemas.openxmlformats.org/drawingml/2006/main">
              <a:ext uri="{FF2B5EF4-FFF2-40B4-BE49-F238E27FC236}">
                <a16:creationId xmlns:a16="http://schemas.microsoft.com/office/drawing/2014/main" id="{3CB59A6C-19CC-45DF-9FE0-E058DAF7961C}"/>
              </a:ext>
            </a:extLst>
          </p:cNvPr>
          <p:cNvSpPr>
            <a:spLocks xmlns:a="http://schemas.openxmlformats.org/drawingml/2006/main" noGrp="1"/>
          </p:cNvSpPr>
          <p:nvPr/>
        </p:nvSpPr>
        <p:spPr>
          <a:xfrm xmlns:a="http://schemas.openxmlformats.org/drawingml/2006/main">
            <a:off x="638175" y="361950"/>
            <a:ext cx="10915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02124"/>
                </a:solidFill>
                <a:latin typeface="Cambria"/>
                <a:ea typeface="Cambria"/>
                <a:cs typeface="Cambria"/>
              </a:defRPr>
            </a:defPPr>
          </a:lstStyle>
          <a:p xmlns:a="http://schemas.openxmlformats.org/drawingml/2006/main">
            <a:pPr algn="l">
              <a:defRPr sz="3000" b="1">
                <a:solidFill>
                  <a:srgbClr val="202124"/>
                </a:solidFill>
                <a:latin typeface="Cambria"/>
                <a:ea typeface="Cambria"/>
                <a:cs typeface="Cambria"/>
              </a:defRPr>
            </a:pPr>
            <a:r>
              <a:rPr sz="3000" b="1">
                <a:solidFill>
                  <a:srgbClr val="202124"/>
                </a:solidFill>
                <a:latin typeface="Cambria"/>
                <a:ea typeface="Cambria"/>
                <a:cs typeface="Cambria"/>
              </a:rPr>
              <a:t>PLAM and FSDR fusion paths</a:t>
            </a:r>
          </a:p>
        </p:txBody>
      </p:sp>
      <p:sp>
        <p:nvSpPr>
          <p:cNvPr id="2" name="C*: C with FSDR alone; C′ after RACE in the combined mo">
            <a:extLst xmlns:a="http://schemas.openxmlformats.org/drawingml/2006/main">
              <a:ext uri="{FF2B5EF4-FFF2-40B4-BE49-F238E27FC236}">
                <a16:creationId xmlns:a16="http://schemas.microsoft.com/office/drawing/2014/main" id="{0A4B5CAC-E430-466E-B8EE-6F058D4D21FE}"/>
              </a:ext>
            </a:extLst>
          </p:cNvPr>
          <p:cNvSpPr>
            <a:spLocks xmlns:a="http://schemas.openxmlformats.org/drawingml/2006/main" noGrp="1"/>
          </p:cNvSpPr>
          <p:nvPr/>
        </p:nvSpPr>
        <p:spPr>
          <a:xfrm xmlns:a="http://schemas.openxmlformats.org/drawingml/2006/main">
            <a:off x="638175" y="6477000"/>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929699"/>
                </a:solidFill>
                <a:latin typeface="Calibri"/>
                <a:ea typeface="Calibri"/>
                <a:cs typeface="Calibri"/>
              </a:defRPr>
            </a:defPPr>
          </a:lstStyle>
          <a:p xmlns:a="http://schemas.openxmlformats.org/drawingml/2006/main">
            <a:pPr algn="l">
              <a:defRPr sz="900" b="0">
                <a:solidFill>
                  <a:srgbClr val="929699"/>
                </a:solidFill>
                <a:latin typeface="Calibri"/>
                <a:ea typeface="Calibri"/>
                <a:cs typeface="Calibri"/>
              </a:defRPr>
            </a:pPr>
            <a:r>
              <a:rPr sz="900" b="0">
                <a:solidFill>
                  <a:srgbClr val="929699"/>
                </a:solidFill>
                <a:latin typeface="Calibri"/>
                <a:ea typeface="Calibri"/>
                <a:cs typeface="Calibri"/>
              </a:rPr>
              <a:t>C*: C with FSDR alone; C′ after RACE in the combined model · D: upsampled decoder feature</a:t>
            </a:r>
          </a:p>
        </p:txBody>
      </p:sp>
      <p:sp>
        <p:nvSpPr>
          <p:cNvPr id="3" name="5">
            <a:extLst xmlns:a="http://schemas.openxmlformats.org/drawingml/2006/main">
              <a:ext uri="{FF2B5EF4-FFF2-40B4-BE49-F238E27FC236}">
                <a16:creationId xmlns:a16="http://schemas.microsoft.com/office/drawing/2014/main" id="{C837FAE9-76D9-4E05-9374-3A284E38DCCD}"/>
              </a:ext>
            </a:extLst>
          </p:cNvPr>
          <p:cNvSpPr>
            <a:spLocks xmlns:a="http://schemas.openxmlformats.org/drawingml/2006/main" noGrp="1"/>
          </p:cNvSpPr>
          <p:nvPr/>
        </p:nvSpPr>
        <p:spPr>
          <a:xfrm xmlns:a="http://schemas.openxmlformats.org/drawingml/2006/main">
            <a:off x="11144250" y="6477000"/>
            <a:ext cx="4095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929699"/>
                </a:solidFill>
                <a:latin typeface="Calibri"/>
                <a:ea typeface="Calibri"/>
                <a:cs typeface="Calibri"/>
              </a:defRPr>
            </a:defPPr>
          </a:lstStyle>
          <a:p xmlns:a="http://schemas.openxmlformats.org/drawingml/2006/main">
            <a:pPr algn="r">
              <a:defRPr sz="900" b="0">
                <a:solidFill>
                  <a:srgbClr val="929699"/>
                </a:solidFill>
                <a:latin typeface="Calibri"/>
                <a:ea typeface="Calibri"/>
                <a:cs typeface="Calibri"/>
              </a:defRPr>
            </a:pPr>
            <a:r>
              <a:rPr sz="900" b="0">
                <a:solidFill>
                  <a:srgbClr val="929699"/>
                </a:solidFill>
                <a:latin typeface="Calibri"/>
                <a:ea typeface="Calibri"/>
                <a:cs typeface="Calibri"/>
              </a:rPr>
              <a:t>5</a:t>
            </a:r>
          </a:p>
        </p:txBody>
      </p:sp>
      <p:sp>
        <p:nvSpPr>
          <p:cNvPr id="4" name="PLAM">
            <a:extLst xmlns:a="http://schemas.openxmlformats.org/drawingml/2006/main">
              <a:ext uri="{FF2B5EF4-FFF2-40B4-BE49-F238E27FC236}">
                <a16:creationId xmlns:a16="http://schemas.microsoft.com/office/drawing/2014/main" id="{BD84ADD9-F89B-4A05-ADDB-C4FB7763BB8C}"/>
              </a:ext>
            </a:extLst>
          </p:cNvPr>
          <p:cNvSpPr>
            <a:spLocks xmlns:a="http://schemas.openxmlformats.org/drawingml/2006/main" noGrp="1"/>
          </p:cNvSpPr>
          <p:nvPr/>
        </p:nvSpPr>
        <p:spPr>
          <a:xfrm xmlns:a="http://schemas.openxmlformats.org/drawingml/2006/main">
            <a:off x="638175" y="1400175"/>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202124"/>
                </a:solidFill>
                <a:latin typeface="Calibri"/>
                <a:ea typeface="Calibri"/>
                <a:cs typeface="Calibri"/>
              </a:defRPr>
            </a:defPPr>
          </a:lstStyle>
          <a:p xmlns:a="http://schemas.openxmlformats.org/drawingml/2006/main">
            <a:pPr algn="l">
              <a:defRPr sz="2100" b="1">
                <a:solidFill>
                  <a:srgbClr val="202124"/>
                </a:solidFill>
                <a:latin typeface="Calibri"/>
                <a:ea typeface="Calibri"/>
                <a:cs typeface="Calibri"/>
              </a:defRPr>
            </a:pPr>
            <a:r>
              <a:rPr sz="2100" b="1">
                <a:solidFill>
                  <a:srgbClr val="202124"/>
                </a:solidFill>
                <a:latin typeface="Calibri"/>
                <a:ea typeface="Calibri"/>
                <a:cs typeface="Calibri"/>
              </a:rPr>
              <a:t>PLAM</a:t>
            </a:r>
          </a:p>
        </p:txBody>
      </p:sp>
      <p:sp>
        <p:nvSpPr>
          <p:cNvPr id="5" name="C">
            <a:extLst xmlns:a="http://schemas.openxmlformats.org/drawingml/2006/main">
              <a:ext uri="{FF2B5EF4-FFF2-40B4-BE49-F238E27FC236}">
                <a16:creationId xmlns:a16="http://schemas.microsoft.com/office/drawing/2014/main" id="{A2647011-0DB8-4D6A-AA23-803CEAFEB072}"/>
              </a:ext>
            </a:extLst>
          </p:cNvPr>
          <p:cNvSpPr>
            <a:spLocks xmlns:a="http://schemas.openxmlformats.org/drawingml/2006/main" noGrp="1"/>
          </p:cNvSpPr>
          <p:nvPr/>
        </p:nvSpPr>
        <p:spPr>
          <a:xfrm xmlns:a="http://schemas.openxmlformats.org/drawingml/2006/main">
            <a:off x="638175" y="2057400"/>
            <a:ext cx="857250" cy="571500"/>
          </a:xfrm>
          <a:prstGeom xmlns:a="http://schemas.openxmlformats.org/drawingml/2006/main" prst="cube">
            <a:avLst/>
          </a:prstGeom>
          <a:solidFill xmlns:a="http://schemas.openxmlformats.org/drawingml/2006/main">
            <a:srgbClr val="DCDDF0"/>
          </a:solidFill>
          <a:ln xmlns:a="http://schemas.openxmlformats.org/drawingml/2006/main" w="12383">
            <a:solidFill>
              <a:srgbClr val="8586B7"/>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C</a:t>
            </a:r>
          </a:p>
        </p:txBody>
      </p:sp>
      <p:sp>
        <p:nvSpPr>
          <p:cNvPr id="6" name="V">
            <a:extLst xmlns:a="http://schemas.openxmlformats.org/drawingml/2006/main">
              <a:ext uri="{FF2B5EF4-FFF2-40B4-BE49-F238E27FC236}">
                <a16:creationId xmlns:a16="http://schemas.microsoft.com/office/drawing/2014/main" id="{DA65F94F-142B-41DF-A161-2CC07DBBE1D9}"/>
              </a:ext>
            </a:extLst>
          </p:cNvPr>
          <p:cNvSpPr>
            <a:spLocks xmlns:a="http://schemas.openxmlformats.org/drawingml/2006/main" noGrp="1"/>
          </p:cNvSpPr>
          <p:nvPr/>
        </p:nvSpPr>
        <p:spPr>
          <a:xfrm xmlns:a="http://schemas.openxmlformats.org/drawingml/2006/main">
            <a:off x="638175" y="2876550"/>
            <a:ext cx="857250" cy="571500"/>
          </a:xfrm>
          <a:prstGeom xmlns:a="http://schemas.openxmlformats.org/drawingml/2006/main" prst="cube">
            <a:avLst/>
          </a:prstGeom>
          <a:solidFill xmlns:a="http://schemas.openxmlformats.org/drawingml/2006/main">
            <a:srgbClr val="D5E5F4"/>
          </a:solidFill>
          <a:ln xmlns:a="http://schemas.openxmlformats.org/drawingml/2006/main" w="12383">
            <a:solidFill>
              <a:srgbClr val="4F82AF"/>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V</a:t>
            </a:r>
          </a:p>
        </p:txBody>
      </p:sp>
      <p:sp>
        <p:nvSpPr>
          <p:cNvPr id="7" name="+">
            <a:extLst xmlns:a="http://schemas.openxmlformats.org/drawingml/2006/main">
              <a:ext uri="{FF2B5EF4-FFF2-40B4-BE49-F238E27FC236}">
                <a16:creationId xmlns:a16="http://schemas.microsoft.com/office/drawing/2014/main" id="{64924BBB-110A-4829-9495-C8A0996D9003}"/>
              </a:ext>
            </a:extLst>
          </p:cNvPr>
          <p:cNvSpPr>
            <a:spLocks xmlns:a="http://schemas.openxmlformats.org/drawingml/2006/main" noGrp="1"/>
          </p:cNvSpPr>
          <p:nvPr/>
        </p:nvSpPr>
        <p:spPr>
          <a:xfrm xmlns:a="http://schemas.openxmlformats.org/drawingml/2006/main">
            <a:off x="2324100" y="2428875"/>
            <a:ext cx="514350" cy="514350"/>
          </a:xfrm>
          <a:prstGeom xmlns:a="http://schemas.openxmlformats.org/drawingml/2006/main" prst="ellipse">
            <a:avLst/>
          </a:prstGeom>
          <a:solidFill xmlns:a="http://schemas.openxmlformats.org/drawingml/2006/main">
            <a:srgbClr val="F2F2F2"/>
          </a:solidFill>
          <a:ln xmlns:a="http://schemas.openxmlformats.org/drawingml/2006/main" w="12383">
            <a:solidFill>
              <a:srgbClr val="9DA2A6"/>
            </a:solidFill>
          </a:ln>
        </p:spPr>
        <p:txBody>
          <a:bodyPr xmlns:a="http://schemas.openxmlformats.org/drawingml/2006/main" wrap="square" lIns="66675" tIns="28575" rIns="66675" bIns="28575" anchor="ctr">
            <a:noAutofit/>
          </a:bodyPr>
          <a:lstStyle xmlns:a="http://schemas.openxmlformats.org/drawingml/2006/main">
            <a:defPPr algn="ctr">
              <a:defRPr sz="2400">
                <a:solidFill>
                  <a:srgbClr val="202124"/>
                </a:solidFill>
                <a:latin typeface="Calibri"/>
                <a:ea typeface="Calibri"/>
                <a:cs typeface="Calibri"/>
              </a:defRPr>
            </a:defPPr>
          </a:lstStyle>
          <a:p xmlns:a="http://schemas.openxmlformats.org/drawingml/2006/main">
            <a:pPr algn="ctr">
              <a:defRPr sz="2400">
                <a:solidFill>
                  <a:srgbClr val="202124"/>
                </a:solidFill>
                <a:latin typeface="Calibri"/>
                <a:ea typeface="Calibri"/>
                <a:cs typeface="Calibri"/>
              </a:defRPr>
            </a:pPr>
            <a:r>
              <a:rPr sz="2400">
                <a:solidFill>
                  <a:srgbClr val="202124"/>
                </a:solidFill>
                <a:latin typeface="Calibri"/>
                <a:ea typeface="Calibri"/>
                <a:cs typeface="Calibri"/>
              </a:rPr>
              <a:t>+</a:t>
            </a:r>
          </a:p>
        </p:txBody>
      </p:sp>
      <p:sp>
        <p:nvSpPr>
          <p:cNvPr id="8" name="PLAM">
            <a:extLst xmlns:a="http://schemas.openxmlformats.org/drawingml/2006/main">
              <a:ext uri="{FF2B5EF4-FFF2-40B4-BE49-F238E27FC236}">
                <a16:creationId xmlns:a16="http://schemas.microsoft.com/office/drawing/2014/main" id="{D2CCA480-6063-45C2-830C-F64387F9071C}"/>
              </a:ext>
            </a:extLst>
          </p:cNvPr>
          <p:cNvSpPr>
            <a:spLocks xmlns:a="http://schemas.openxmlformats.org/drawingml/2006/main" noGrp="1"/>
          </p:cNvSpPr>
          <p:nvPr/>
        </p:nvSpPr>
        <p:spPr>
          <a:xfrm xmlns:a="http://schemas.openxmlformats.org/drawingml/2006/main">
            <a:off x="3743325" y="2428875"/>
            <a:ext cx="1714500" cy="571500"/>
          </a:xfrm>
          <a:prstGeom xmlns:a="http://schemas.openxmlformats.org/drawingml/2006/main" prst="roundRect">
            <a:avLst>
              <a:gd name="adj" fmla="val 13333"/>
            </a:avLst>
          </a:prstGeom>
          <a:solidFill xmlns:a="http://schemas.openxmlformats.org/drawingml/2006/main">
            <a:srgbClr val="DCEACC"/>
          </a:solidFill>
          <a:ln xmlns:a="http://schemas.openxmlformats.org/drawingml/2006/main" w="12383">
            <a:solidFill>
              <a:srgbClr val="78974E"/>
            </a:solidFill>
          </a:ln>
        </p:spPr>
        <p:txBody>
          <a:bodyPr xmlns:a="http://schemas.openxmlformats.org/drawingml/2006/main" wrap="square" lIns="66675" tIns="28575" rIns="66675" bIns="28575" anchor="ctr">
            <a:noAutofit/>
          </a:bodyPr>
          <a:lstStyle xmlns:a="http://schemas.openxmlformats.org/drawingml/2006/main">
            <a:defPPr algn="ctr">
              <a:defRPr sz="1950">
                <a:solidFill>
                  <a:srgbClr val="202124"/>
                </a:solidFill>
                <a:latin typeface="Calibri"/>
                <a:ea typeface="Calibri"/>
                <a:cs typeface="Calibri"/>
              </a:defRPr>
            </a:defPPr>
          </a:lstStyle>
          <a:p xmlns:a="http://schemas.openxmlformats.org/drawingml/2006/main">
            <a:pPr algn="ctr">
              <a:defRPr sz="1950">
                <a:solidFill>
                  <a:srgbClr val="202124"/>
                </a:solidFill>
                <a:latin typeface="Calibri"/>
                <a:ea typeface="Calibri"/>
                <a:cs typeface="Calibri"/>
              </a:defRPr>
            </a:pPr>
            <a:r>
              <a:rPr sz="1950">
                <a:solidFill>
                  <a:srgbClr val="202124"/>
                </a:solidFill>
                <a:latin typeface="Calibri"/>
                <a:ea typeface="Calibri"/>
                <a:cs typeface="Calibri"/>
              </a:rPr>
              <a:t>PLAM</a:t>
            </a:r>
          </a:p>
        </p:txBody>
      </p:sp>
      <p:sp>
        <p:nvSpPr>
          <p:cNvPr id="9" name="D">
            <a:extLst xmlns:a="http://schemas.openxmlformats.org/drawingml/2006/main">
              <a:ext uri="{FF2B5EF4-FFF2-40B4-BE49-F238E27FC236}">
                <a16:creationId xmlns:a16="http://schemas.microsoft.com/office/drawing/2014/main" id="{B13ACF9F-393D-44BD-AD78-DF6437671CA3}"/>
              </a:ext>
            </a:extLst>
          </p:cNvPr>
          <p:cNvSpPr>
            <a:spLocks xmlns:a="http://schemas.openxmlformats.org/drawingml/2006/main" noGrp="1"/>
          </p:cNvSpPr>
          <p:nvPr/>
        </p:nvSpPr>
        <p:spPr>
          <a:xfrm xmlns:a="http://schemas.openxmlformats.org/drawingml/2006/main">
            <a:off x="6010275" y="3114675"/>
            <a:ext cx="1047750" cy="552450"/>
          </a:xfrm>
          <a:prstGeom xmlns:a="http://schemas.openxmlformats.org/drawingml/2006/main" prst="cube">
            <a:avLst/>
          </a:prstGeom>
          <a:solidFill xmlns:a="http://schemas.openxmlformats.org/drawingml/2006/main">
            <a:srgbClr val="DCDDF0"/>
          </a:solidFill>
          <a:ln xmlns:a="http://schemas.openxmlformats.org/drawingml/2006/main" w="12383">
            <a:solidFill>
              <a:srgbClr val="8586B7"/>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D</a:t>
            </a:r>
          </a:p>
        </p:txBody>
      </p:sp>
      <p:sp>
        <p:nvSpPr>
          <p:cNvPr id="10" name="Concat">
            <a:extLst xmlns:a="http://schemas.openxmlformats.org/drawingml/2006/main">
              <a:ext uri="{FF2B5EF4-FFF2-40B4-BE49-F238E27FC236}">
                <a16:creationId xmlns:a16="http://schemas.microsoft.com/office/drawing/2014/main" id="{E2693F72-C5C0-4544-A687-A7CDFA9A5127}"/>
              </a:ext>
            </a:extLst>
          </p:cNvPr>
          <p:cNvSpPr>
            <a:spLocks xmlns:a="http://schemas.openxmlformats.org/drawingml/2006/main" noGrp="1"/>
          </p:cNvSpPr>
          <p:nvPr/>
        </p:nvSpPr>
        <p:spPr>
          <a:xfrm xmlns:a="http://schemas.openxmlformats.org/drawingml/2006/main">
            <a:off x="7820025" y="2428875"/>
            <a:ext cx="1476375" cy="571500"/>
          </a:xfrm>
          <a:prstGeom xmlns:a="http://schemas.openxmlformats.org/drawingml/2006/main" prst="roundRect">
            <a:avLst>
              <a:gd name="adj" fmla="val 13333"/>
            </a:avLst>
          </a:prstGeom>
          <a:solidFill xmlns:a="http://schemas.openxmlformats.org/drawingml/2006/main">
            <a:srgbClr val="F2F2F2"/>
          </a:solidFill>
          <a:ln xmlns:a="http://schemas.openxmlformats.org/drawingml/2006/main" w="12383">
            <a:solidFill>
              <a:srgbClr val="9DA2A6"/>
            </a:solidFill>
          </a:ln>
        </p:spPr>
        <p:txBody>
          <a:bodyPr xmlns:a="http://schemas.openxmlformats.org/drawingml/2006/main" wrap="square" lIns="66675" tIns="28575" rIns="66675" bIns="28575" anchor="ctr">
            <a:noAutofit/>
          </a:bodyPr>
          <a:lstStyle xmlns:a="http://schemas.openxmlformats.org/drawingml/2006/main">
            <a:defPPr algn="ctr">
              <a:defRPr sz="1800">
                <a:solidFill>
                  <a:srgbClr val="202124"/>
                </a:solidFill>
                <a:latin typeface="Calibri"/>
                <a:ea typeface="Calibri"/>
                <a:cs typeface="Calibri"/>
              </a:defRPr>
            </a:defPPr>
          </a:lstStyle>
          <a:p xmlns:a="http://schemas.openxmlformats.org/drawingml/2006/main">
            <a:pPr algn="ctr">
              <a:defRPr sz="1800">
                <a:solidFill>
                  <a:srgbClr val="202124"/>
                </a:solidFill>
                <a:latin typeface="Calibri"/>
                <a:ea typeface="Calibri"/>
                <a:cs typeface="Calibri"/>
              </a:defRPr>
            </a:pPr>
            <a:r>
              <a:rPr sz="1800">
                <a:solidFill>
                  <a:srgbClr val="202124"/>
                </a:solidFill>
                <a:latin typeface="Calibri"/>
                <a:ea typeface="Calibri"/>
                <a:cs typeface="Calibri"/>
              </a:rPr>
              <a:t>Concat</a:t>
            </a:r>
          </a:p>
        </p:txBody>
      </p:sp>
      <p:sp>
        <p:nvSpPr>
          <p:cNvPr id="11" name="3×3 ×2">
            <a:extLst xmlns:a="http://schemas.openxmlformats.org/drawingml/2006/main">
              <a:ext uri="{FF2B5EF4-FFF2-40B4-BE49-F238E27FC236}">
                <a16:creationId xmlns:a16="http://schemas.microsoft.com/office/drawing/2014/main" id="{F692A492-2CAB-4B9F-89AF-2E2ED110326B}"/>
              </a:ext>
            </a:extLst>
          </p:cNvPr>
          <p:cNvSpPr>
            <a:spLocks xmlns:a="http://schemas.openxmlformats.org/drawingml/2006/main" noGrp="1"/>
          </p:cNvSpPr>
          <p:nvPr/>
        </p:nvSpPr>
        <p:spPr>
          <a:xfrm xmlns:a="http://schemas.openxmlformats.org/drawingml/2006/main">
            <a:off x="10001250" y="2428875"/>
            <a:ext cx="1428750" cy="571500"/>
          </a:xfrm>
          <a:prstGeom xmlns:a="http://schemas.openxmlformats.org/drawingml/2006/main" prst="cube">
            <a:avLst/>
          </a:prstGeom>
          <a:solidFill xmlns:a="http://schemas.openxmlformats.org/drawingml/2006/main">
            <a:srgbClr val="DCDDF0"/>
          </a:solidFill>
          <a:ln xmlns:a="http://schemas.openxmlformats.org/drawingml/2006/main" w="12383">
            <a:solidFill>
              <a:srgbClr val="8586B7"/>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3×3 ×2</a:t>
            </a:r>
          </a:p>
        </p:txBody>
      </p:sp>
      <p:sp>
        <p:nvSpPr>
          <p:cNvPr id="18" name="CNN and ViT are added before pixel weighting.">
            <a:extLst xmlns:a="http://schemas.openxmlformats.org/drawingml/2006/main">
              <a:ext uri="{FF2B5EF4-FFF2-40B4-BE49-F238E27FC236}">
                <a16:creationId xmlns:a16="http://schemas.microsoft.com/office/drawing/2014/main" id="{E7B0764E-0A86-4ADE-8A07-270C493447ED}"/>
              </a:ext>
            </a:extLst>
          </p:cNvPr>
          <p:cNvSpPr>
            <a:spLocks xmlns:a="http://schemas.openxmlformats.org/drawingml/2006/main" noGrp="1"/>
          </p:cNvSpPr>
          <p:nvPr/>
        </p:nvSpPr>
        <p:spPr>
          <a:xfrm xmlns:a="http://schemas.openxmlformats.org/drawingml/2006/main">
            <a:off x="3743325" y="1714500"/>
            <a:ext cx="762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202124"/>
                </a:solidFill>
                <a:latin typeface="Calibri"/>
                <a:ea typeface="Calibri"/>
                <a:cs typeface="Calibri"/>
              </a:defRPr>
            </a:defPPr>
          </a:lstStyle>
          <a:p xmlns:a="http://schemas.openxmlformats.org/drawingml/2006/main">
            <a:pPr algn="l">
              <a:defRPr sz="1875" b="0">
                <a:solidFill>
                  <a:srgbClr val="202124"/>
                </a:solidFill>
                <a:latin typeface="Calibri"/>
                <a:ea typeface="Calibri"/>
                <a:cs typeface="Calibri"/>
              </a:defRPr>
            </a:pPr>
            <a:r>
              <a:rPr sz="1875" b="0">
                <a:solidFill>
                  <a:srgbClr val="202124"/>
                </a:solidFill>
                <a:latin typeface="Calibri"/>
                <a:ea typeface="Calibri"/>
                <a:cs typeface="Calibri"/>
              </a:rPr>
              <a:t>CNN and ViT are added before pixel weighting.</a:t>
            </a:r>
          </a:p>
        </p:txBody>
      </p:sp>
      <p:sp>
        <p:nvSpPr>
          <p:cNvPr id="19" name="">
            <a:extLst xmlns:a="http://schemas.openxmlformats.org/drawingml/2006/main">
              <a:ext uri="{FF2B5EF4-FFF2-40B4-BE49-F238E27FC236}">
                <a16:creationId xmlns:a16="http://schemas.microsoft.com/office/drawing/2014/main" id="{D989AC7E-60DD-4144-90EE-419B4E2C2C9F}"/>
              </a:ext>
            </a:extLst>
          </p:cNvPr>
          <p:cNvSpPr>
            <a:spLocks xmlns:a="http://schemas.openxmlformats.org/drawingml/2006/main" noGrp="1"/>
          </p:cNvSpPr>
          <p:nvPr/>
        </p:nvSpPr>
        <p:spPr>
          <a:xfrm xmlns:a="http://schemas.openxmlformats.org/drawingml/2006/main">
            <a:off x="638175" y="3857625"/>
            <a:ext cx="10915650" cy="0"/>
          </a:xfrm>
          <a:prstGeom xmlns:a="http://schemas.openxmlformats.org/drawingml/2006/main" prst="line">
            <a:avLst/>
          </a:prstGeom>
          <a:noFill xmlns:a="http://schemas.openxmlformats.org/drawingml/2006/main"/>
          <a:ln xmlns:a="http://schemas.openxmlformats.org/drawingml/2006/main" w="13335">
            <a:solidFill>
              <a:srgbClr val="C9CDCF"/>
            </a:solidFill>
            <a:prstDash val="solid"/>
          </a:ln>
        </p:spPr>
      </p:sp>
      <p:sp>
        <p:nvSpPr>
          <p:cNvPr id="20" name="FSDR">
            <a:extLst xmlns:a="http://schemas.openxmlformats.org/drawingml/2006/main">
              <a:ext uri="{FF2B5EF4-FFF2-40B4-BE49-F238E27FC236}">
                <a16:creationId xmlns:a16="http://schemas.microsoft.com/office/drawing/2014/main" id="{6E05462C-18AB-444A-B24E-411F2B3D60E2}"/>
              </a:ext>
            </a:extLst>
          </p:cNvPr>
          <p:cNvSpPr>
            <a:spLocks xmlns:a="http://schemas.openxmlformats.org/drawingml/2006/main" noGrp="1"/>
          </p:cNvSpPr>
          <p:nvPr/>
        </p:nvSpPr>
        <p:spPr>
          <a:xfrm xmlns:a="http://schemas.openxmlformats.org/drawingml/2006/main">
            <a:off x="638175" y="407670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78974E"/>
                </a:solidFill>
                <a:latin typeface="Calibri"/>
                <a:ea typeface="Calibri"/>
                <a:cs typeface="Calibri"/>
              </a:defRPr>
            </a:defPPr>
          </a:lstStyle>
          <a:p xmlns:a="http://schemas.openxmlformats.org/drawingml/2006/main">
            <a:pPr algn="l">
              <a:defRPr sz="2100" b="1">
                <a:solidFill>
                  <a:srgbClr val="78974E"/>
                </a:solidFill>
                <a:latin typeface="Calibri"/>
                <a:ea typeface="Calibri"/>
                <a:cs typeface="Calibri"/>
              </a:defRPr>
            </a:pPr>
            <a:r>
              <a:rPr sz="2100" b="1">
                <a:solidFill>
                  <a:srgbClr val="78974E"/>
                </a:solidFill>
                <a:latin typeface="Calibri"/>
                <a:ea typeface="Calibri"/>
                <a:cs typeface="Calibri"/>
              </a:rPr>
              <a:t>FSDR</a:t>
            </a:r>
          </a:p>
        </p:txBody>
      </p:sp>
      <p:sp>
        <p:nvSpPr>
          <p:cNvPr id="21" name="C*">
            <a:extLst xmlns:a="http://schemas.openxmlformats.org/drawingml/2006/main">
              <a:ext uri="{FF2B5EF4-FFF2-40B4-BE49-F238E27FC236}">
                <a16:creationId xmlns:a16="http://schemas.microsoft.com/office/drawing/2014/main" id="{CC8168C6-FD81-4B5D-95B1-484B5A7E2C6F}"/>
              </a:ext>
            </a:extLst>
          </p:cNvPr>
          <p:cNvSpPr>
            <a:spLocks xmlns:a="http://schemas.openxmlformats.org/drawingml/2006/main" noGrp="1"/>
          </p:cNvSpPr>
          <p:nvPr/>
        </p:nvSpPr>
        <p:spPr>
          <a:xfrm xmlns:a="http://schemas.openxmlformats.org/drawingml/2006/main">
            <a:off x="638175" y="4600575"/>
            <a:ext cx="857250" cy="466725"/>
          </a:xfrm>
          <a:prstGeom xmlns:a="http://schemas.openxmlformats.org/drawingml/2006/main" prst="cube">
            <a:avLst/>
          </a:prstGeom>
          <a:solidFill xmlns:a="http://schemas.openxmlformats.org/drawingml/2006/main">
            <a:srgbClr val="DCDDF0"/>
          </a:solidFill>
          <a:ln xmlns:a="http://schemas.openxmlformats.org/drawingml/2006/main" w="12383">
            <a:solidFill>
              <a:srgbClr val="8586B7"/>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C*</a:t>
            </a:r>
          </a:p>
        </p:txBody>
      </p:sp>
      <p:sp>
        <p:nvSpPr>
          <p:cNvPr id="22" name="V">
            <a:extLst xmlns:a="http://schemas.openxmlformats.org/drawingml/2006/main">
              <a:ext uri="{FF2B5EF4-FFF2-40B4-BE49-F238E27FC236}">
                <a16:creationId xmlns:a16="http://schemas.microsoft.com/office/drawing/2014/main" id="{7E059E91-3665-4805-BA49-AC0517E90D0C}"/>
              </a:ext>
            </a:extLst>
          </p:cNvPr>
          <p:cNvSpPr>
            <a:spLocks xmlns:a="http://schemas.openxmlformats.org/drawingml/2006/main" noGrp="1"/>
          </p:cNvSpPr>
          <p:nvPr/>
        </p:nvSpPr>
        <p:spPr>
          <a:xfrm xmlns:a="http://schemas.openxmlformats.org/drawingml/2006/main">
            <a:off x="638175" y="5276850"/>
            <a:ext cx="857250" cy="466725"/>
          </a:xfrm>
          <a:prstGeom xmlns:a="http://schemas.openxmlformats.org/drawingml/2006/main" prst="cube">
            <a:avLst/>
          </a:prstGeom>
          <a:solidFill xmlns:a="http://schemas.openxmlformats.org/drawingml/2006/main">
            <a:srgbClr val="D5E5F4"/>
          </a:solidFill>
          <a:ln xmlns:a="http://schemas.openxmlformats.org/drawingml/2006/main" w="12383">
            <a:solidFill>
              <a:srgbClr val="4F82AF"/>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V</a:t>
            </a:r>
          </a:p>
        </p:txBody>
      </p:sp>
      <p:sp>
        <p:nvSpPr>
          <p:cNvPr id="23" name="D">
            <a:extLst xmlns:a="http://schemas.openxmlformats.org/drawingml/2006/main">
              <a:ext uri="{FF2B5EF4-FFF2-40B4-BE49-F238E27FC236}">
                <a16:creationId xmlns:a16="http://schemas.microsoft.com/office/drawing/2014/main" id="{0C0309D8-CA70-41E6-8155-F2169344FEA0}"/>
              </a:ext>
            </a:extLst>
          </p:cNvPr>
          <p:cNvSpPr>
            <a:spLocks xmlns:a="http://schemas.openxmlformats.org/drawingml/2006/main" noGrp="1"/>
          </p:cNvSpPr>
          <p:nvPr/>
        </p:nvSpPr>
        <p:spPr>
          <a:xfrm xmlns:a="http://schemas.openxmlformats.org/drawingml/2006/main">
            <a:off x="2400300" y="5514975"/>
            <a:ext cx="914400" cy="466725"/>
          </a:xfrm>
          <a:prstGeom xmlns:a="http://schemas.openxmlformats.org/drawingml/2006/main" prst="cube">
            <a:avLst/>
          </a:prstGeom>
          <a:solidFill xmlns:a="http://schemas.openxmlformats.org/drawingml/2006/main">
            <a:srgbClr val="DCDDF0"/>
          </a:solidFill>
          <a:ln xmlns:a="http://schemas.openxmlformats.org/drawingml/2006/main" w="12383">
            <a:solidFill>
              <a:srgbClr val="8586B7"/>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D</a:t>
            </a:r>
          </a:p>
        </p:txBody>
      </p:sp>
      <p:sp>
        <p:nvSpPr>
          <p:cNvPr id="24" name="FSDR">
            <a:extLst xmlns:a="http://schemas.openxmlformats.org/drawingml/2006/main">
              <a:ext uri="{FF2B5EF4-FFF2-40B4-BE49-F238E27FC236}">
                <a16:creationId xmlns:a16="http://schemas.microsoft.com/office/drawing/2014/main" id="{FC7A0E27-BC12-451A-9E1E-16F9857D1EDB}"/>
              </a:ext>
            </a:extLst>
          </p:cNvPr>
          <p:cNvSpPr>
            <a:spLocks xmlns:a="http://schemas.openxmlformats.org/drawingml/2006/main" noGrp="1"/>
          </p:cNvSpPr>
          <p:nvPr/>
        </p:nvSpPr>
        <p:spPr>
          <a:xfrm xmlns:a="http://schemas.openxmlformats.org/drawingml/2006/main">
            <a:off x="3990975" y="4743450"/>
            <a:ext cx="1866900" cy="857250"/>
          </a:xfrm>
          <a:prstGeom xmlns:a="http://schemas.openxmlformats.org/drawingml/2006/main" prst="roundRect">
            <a:avLst>
              <a:gd name="adj" fmla="val 8889"/>
            </a:avLst>
          </a:prstGeom>
          <a:solidFill xmlns:a="http://schemas.openxmlformats.org/drawingml/2006/main">
            <a:srgbClr val="DCEACC"/>
          </a:solidFill>
          <a:ln xmlns:a="http://schemas.openxmlformats.org/drawingml/2006/main" w="12383">
            <a:solidFill>
              <a:srgbClr val="78974E"/>
            </a:solidFill>
          </a:ln>
        </p:spPr>
        <p:txBody>
          <a:bodyPr xmlns:a="http://schemas.openxmlformats.org/drawingml/2006/main" wrap="square" lIns="66675" tIns="28575" rIns="66675" bIns="28575" anchor="ctr">
            <a:noAutofit/>
          </a:bodyPr>
          <a:lstStyle xmlns:a="http://schemas.openxmlformats.org/drawingml/2006/main">
            <a:defPPr algn="ctr">
              <a:defRPr sz="2250">
                <a:solidFill>
                  <a:srgbClr val="202124"/>
                </a:solidFill>
                <a:latin typeface="Calibri"/>
                <a:ea typeface="Calibri"/>
                <a:cs typeface="Calibri"/>
              </a:defRPr>
            </a:defPPr>
          </a:lstStyle>
          <a:p xmlns:a="http://schemas.openxmlformats.org/drawingml/2006/main">
            <a:pPr algn="ctr">
              <a:defRPr sz="2250">
                <a:solidFill>
                  <a:srgbClr val="202124"/>
                </a:solidFill>
                <a:latin typeface="Calibri"/>
                <a:ea typeface="Calibri"/>
                <a:cs typeface="Calibri"/>
              </a:defRPr>
            </a:pPr>
            <a:r>
              <a:rPr sz="2250">
                <a:solidFill>
                  <a:srgbClr val="202124"/>
                </a:solidFill>
                <a:latin typeface="Calibri"/>
                <a:ea typeface="Calibri"/>
                <a:cs typeface="Calibri"/>
              </a:rPr>
              <a:t>FSDR</a:t>
            </a:r>
          </a:p>
        </p:txBody>
      </p:sp>
      <p:sp>
        <p:nvSpPr>
          <p:cNvPr id="25" name="Y">
            <a:extLst xmlns:a="http://schemas.openxmlformats.org/drawingml/2006/main">
              <a:ext uri="{FF2B5EF4-FFF2-40B4-BE49-F238E27FC236}">
                <a16:creationId xmlns:a16="http://schemas.microsoft.com/office/drawing/2014/main" id="{C929451E-2274-47B8-AA1C-61F9873FD266}"/>
              </a:ext>
            </a:extLst>
          </p:cNvPr>
          <p:cNvSpPr>
            <a:spLocks xmlns:a="http://schemas.openxmlformats.org/drawingml/2006/main" noGrp="1"/>
          </p:cNvSpPr>
          <p:nvPr/>
        </p:nvSpPr>
        <p:spPr>
          <a:xfrm xmlns:a="http://schemas.openxmlformats.org/drawingml/2006/main">
            <a:off x="6753225" y="4610100"/>
            <a:ext cx="1000125" cy="504825"/>
          </a:xfrm>
          <a:prstGeom xmlns:a="http://schemas.openxmlformats.org/drawingml/2006/main" prst="cube">
            <a:avLst/>
          </a:prstGeom>
          <a:solidFill xmlns:a="http://schemas.openxmlformats.org/drawingml/2006/main">
            <a:srgbClr val="DCEACC"/>
          </a:solidFill>
          <a:ln xmlns:a="http://schemas.openxmlformats.org/drawingml/2006/main" w="12383">
            <a:solidFill>
              <a:srgbClr val="78974E"/>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Y</a:t>
            </a:r>
          </a:p>
        </p:txBody>
      </p:sp>
      <p:sp>
        <p:nvSpPr>
          <p:cNvPr id="26" name="D′">
            <a:extLst xmlns:a="http://schemas.openxmlformats.org/drawingml/2006/main">
              <a:ext uri="{FF2B5EF4-FFF2-40B4-BE49-F238E27FC236}">
                <a16:creationId xmlns:a16="http://schemas.microsoft.com/office/drawing/2014/main" id="{B8BE5E98-E78A-4A42-9123-7F423C29220E}"/>
              </a:ext>
            </a:extLst>
          </p:cNvPr>
          <p:cNvSpPr>
            <a:spLocks xmlns:a="http://schemas.openxmlformats.org/drawingml/2006/main" noGrp="1"/>
          </p:cNvSpPr>
          <p:nvPr/>
        </p:nvSpPr>
        <p:spPr>
          <a:xfrm xmlns:a="http://schemas.openxmlformats.org/drawingml/2006/main">
            <a:off x="6753225" y="5524500"/>
            <a:ext cx="1000125" cy="504825"/>
          </a:xfrm>
          <a:prstGeom xmlns:a="http://schemas.openxmlformats.org/drawingml/2006/main" prst="cube">
            <a:avLst/>
          </a:prstGeom>
          <a:solidFill xmlns:a="http://schemas.openxmlformats.org/drawingml/2006/main">
            <a:srgbClr val="DCDDF0"/>
          </a:solidFill>
          <a:ln xmlns:a="http://schemas.openxmlformats.org/drawingml/2006/main" w="12383">
            <a:solidFill>
              <a:srgbClr val="8586B7"/>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D′</a:t>
            </a:r>
          </a:p>
        </p:txBody>
      </p:sp>
      <p:sp>
        <p:nvSpPr>
          <p:cNvPr id="27" name="Concat">
            <a:extLst xmlns:a="http://schemas.openxmlformats.org/drawingml/2006/main">
              <a:ext uri="{FF2B5EF4-FFF2-40B4-BE49-F238E27FC236}">
                <a16:creationId xmlns:a16="http://schemas.microsoft.com/office/drawing/2014/main" id="{426E93F6-250B-4D09-8762-DDE859F11FC7}"/>
              </a:ext>
            </a:extLst>
          </p:cNvPr>
          <p:cNvSpPr>
            <a:spLocks xmlns:a="http://schemas.openxmlformats.org/drawingml/2006/main" noGrp="1"/>
          </p:cNvSpPr>
          <p:nvPr/>
        </p:nvSpPr>
        <p:spPr>
          <a:xfrm xmlns:a="http://schemas.openxmlformats.org/drawingml/2006/main">
            <a:off x="8639175" y="4991100"/>
            <a:ext cx="1257300" cy="561975"/>
          </a:xfrm>
          <a:prstGeom xmlns:a="http://schemas.openxmlformats.org/drawingml/2006/main" prst="roundRect">
            <a:avLst>
              <a:gd name="adj" fmla="val 13559"/>
            </a:avLst>
          </a:prstGeom>
          <a:solidFill xmlns:a="http://schemas.openxmlformats.org/drawingml/2006/main">
            <a:srgbClr val="F2F2F2"/>
          </a:solidFill>
          <a:ln xmlns:a="http://schemas.openxmlformats.org/drawingml/2006/main" w="12383">
            <a:solidFill>
              <a:srgbClr val="9DA2A6"/>
            </a:solidFill>
          </a:ln>
        </p:spPr>
        <p:txBody>
          <a:bodyPr xmlns:a="http://schemas.openxmlformats.org/drawingml/2006/main" wrap="square" lIns="66675" tIns="28575" rIns="66675" bIns="28575" anchor="ctr">
            <a:noAutofit/>
          </a:bodyPr>
          <a:lstStyle xmlns:a="http://schemas.openxmlformats.org/drawingml/2006/main">
            <a:defPPr algn="ctr">
              <a:defRPr sz="1800">
                <a:solidFill>
                  <a:srgbClr val="202124"/>
                </a:solidFill>
                <a:latin typeface="Calibri"/>
                <a:ea typeface="Calibri"/>
                <a:cs typeface="Calibri"/>
              </a:defRPr>
            </a:defPPr>
          </a:lstStyle>
          <a:p xmlns:a="http://schemas.openxmlformats.org/drawingml/2006/main">
            <a:pPr algn="ctr">
              <a:defRPr sz="1800">
                <a:solidFill>
                  <a:srgbClr val="202124"/>
                </a:solidFill>
                <a:latin typeface="Calibri"/>
                <a:ea typeface="Calibri"/>
                <a:cs typeface="Calibri"/>
              </a:defRPr>
            </a:pPr>
            <a:r>
              <a:rPr sz="1800">
                <a:solidFill>
                  <a:srgbClr val="202124"/>
                </a:solidFill>
                <a:latin typeface="Calibri"/>
                <a:ea typeface="Calibri"/>
                <a:cs typeface="Calibri"/>
              </a:rPr>
              <a:t>Concat</a:t>
            </a:r>
          </a:p>
        </p:txBody>
      </p:sp>
      <p:sp>
        <p:nvSpPr>
          <p:cNvPr id="28" name="3×3 ×2">
            <a:extLst xmlns:a="http://schemas.openxmlformats.org/drawingml/2006/main">
              <a:ext uri="{FF2B5EF4-FFF2-40B4-BE49-F238E27FC236}">
                <a16:creationId xmlns:a16="http://schemas.microsoft.com/office/drawing/2014/main" id="{0C44668B-8144-41EC-B22D-C73A1D7482B9}"/>
              </a:ext>
            </a:extLst>
          </p:cNvPr>
          <p:cNvSpPr>
            <a:spLocks xmlns:a="http://schemas.openxmlformats.org/drawingml/2006/main" noGrp="1"/>
          </p:cNvSpPr>
          <p:nvPr/>
        </p:nvSpPr>
        <p:spPr>
          <a:xfrm xmlns:a="http://schemas.openxmlformats.org/drawingml/2006/main">
            <a:off x="10382250" y="4991100"/>
            <a:ext cx="1171575" cy="561975"/>
          </a:xfrm>
          <a:prstGeom xmlns:a="http://schemas.openxmlformats.org/drawingml/2006/main" prst="cube">
            <a:avLst/>
          </a:prstGeom>
          <a:solidFill xmlns:a="http://schemas.openxmlformats.org/drawingml/2006/main">
            <a:srgbClr val="DCDDF0"/>
          </a:solidFill>
          <a:ln xmlns:a="http://schemas.openxmlformats.org/drawingml/2006/main" w="12383">
            <a:solidFill>
              <a:srgbClr val="8586B7"/>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3×3 ×2</a:t>
            </a:r>
          </a:p>
        </p:txBody>
      </p:sp>
      <p:sp>
        <p:nvSpPr>
          <p:cNvPr id="29" name="T">
            <a:extLst xmlns:a="http://schemas.openxmlformats.org/drawingml/2006/main">
              <a:ext uri="{FF2B5EF4-FFF2-40B4-BE49-F238E27FC236}">
                <a16:creationId xmlns:a16="http://schemas.microsoft.com/office/drawing/2014/main" id="{E8675186-98C2-4DEF-BB9D-22B7BEF26EC1}"/>
              </a:ext>
            </a:extLst>
          </p:cNvPr>
          <p:cNvSpPr>
            <a:spLocks xmlns:a="http://schemas.openxmlformats.org/drawingml/2006/main" noGrp="1"/>
          </p:cNvSpPr>
          <p:nvPr/>
        </p:nvSpPr>
        <p:spPr>
          <a:xfrm xmlns:a="http://schemas.openxmlformats.org/drawingml/2006/main">
            <a:off x="2705100" y="4267200"/>
            <a:ext cx="581025" cy="371475"/>
          </a:xfrm>
          <a:prstGeom xmlns:a="http://schemas.openxmlformats.org/drawingml/2006/main" prst="roundRect">
            <a:avLst>
              <a:gd name="adj" fmla="val 20513"/>
            </a:avLst>
          </a:prstGeom>
          <a:solidFill xmlns:a="http://schemas.openxmlformats.org/drawingml/2006/main">
            <a:srgbClr val="F7E7AC"/>
          </a:solidFill>
          <a:ln xmlns:a="http://schemas.openxmlformats.org/drawingml/2006/main" w="12383">
            <a:solidFill>
              <a:srgbClr val="B39938"/>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T</a:t>
            </a:r>
          </a:p>
        </p:txBody>
      </p:sp>
      <p:sp>
        <p:nvSpPr>
          <p:cNvPr id="39" name="Distinct sources remain available for refinement.">
            <a:extLst xmlns:a="http://schemas.openxmlformats.org/drawingml/2006/main">
              <a:ext uri="{FF2B5EF4-FFF2-40B4-BE49-F238E27FC236}">
                <a16:creationId xmlns:a16="http://schemas.microsoft.com/office/drawing/2014/main" id="{BD09BEF5-DCBA-4B8C-BB47-B206DD750DBB}"/>
              </a:ext>
            </a:extLst>
          </p:cNvPr>
          <p:cNvSpPr>
            <a:spLocks xmlns:a="http://schemas.openxmlformats.org/drawingml/2006/main" noGrp="1"/>
          </p:cNvSpPr>
          <p:nvPr/>
        </p:nvSpPr>
        <p:spPr>
          <a:xfrm xmlns:a="http://schemas.openxmlformats.org/drawingml/2006/main">
            <a:off x="3990975" y="4095750"/>
            <a:ext cx="7562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202124"/>
                </a:solidFill>
                <a:latin typeface="Calibri"/>
                <a:ea typeface="Calibri"/>
                <a:cs typeface="Calibri"/>
              </a:defRPr>
            </a:defPPr>
          </a:lstStyle>
          <a:p xmlns:a="http://schemas.openxmlformats.org/drawingml/2006/main">
            <a:pPr algn="l">
              <a:defRPr sz="1875" b="0">
                <a:solidFill>
                  <a:srgbClr val="202124"/>
                </a:solidFill>
                <a:latin typeface="Calibri"/>
                <a:ea typeface="Calibri"/>
                <a:cs typeface="Calibri"/>
              </a:defRPr>
            </a:pPr>
            <a:r>
              <a:rPr sz="1875" b="0">
                <a:solidFill>
                  <a:srgbClr val="202124"/>
                </a:solidFill>
                <a:latin typeface="Calibri"/>
                <a:ea typeface="Calibri"/>
                <a:cs typeface="Calibri"/>
              </a:rPr>
              <a:t>Distinct sources remain available for refinement.</a:t>
            </a:r>
          </a:p>
        </p:txBody>
      </p:sp>
    </p:spTree>
    <p:extLst>
      <p:ext uri="{BB962C8B-B14F-4D97-AF65-F5344CB8AC3E}">
        <p14:creationId xmlns:p14="http://schemas.microsoft.com/office/powerpoint/2010/main" val="149812676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40" name="">
            <a:extLst xmlns:a="http://schemas.openxmlformats.org/drawingml/2006/main">
              <a:ext uri="{FF2B5EF4-FFF2-40B4-BE49-F238E27FC236}">
                <a16:creationId xmlns:a16="http://schemas.microsoft.com/office/drawing/2014/main" id="{9EF6F95F-D47C-458F-B4FE-639D8AF4D702}"/>
              </a:ext>
            </a:extLst>
          </p:cNvPr>
          <p:cNvCxnSpPr>
            <a:stCxn xmlns:a="http://schemas.openxmlformats.org/drawingml/2006/main" id="13" idx="6"/>
            <a:endCxn xmlns:a="http://schemas.openxmlformats.org/drawingml/2006/main" id="14" idx="2"/>
          </p:cNvCxnSpPr>
          <p:nvPr/>
        </p:nvCxnSpPr>
        <p:spPr>
          <a:xfrm xmlns:a="http://schemas.openxmlformats.org/drawingml/2006/main">
            <a:off x="11049000" y="3467100"/>
            <a:ext cx="285750" cy="64294"/>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39" name="">
            <a:extLst xmlns:a="http://schemas.openxmlformats.org/drawingml/2006/main">
              <a:ext uri="{FF2B5EF4-FFF2-40B4-BE49-F238E27FC236}">
                <a16:creationId xmlns:a16="http://schemas.microsoft.com/office/drawing/2014/main" id="{E7E502F4-3276-413B-B1E2-FCB4287E1A96}"/>
              </a:ext>
            </a:extLst>
          </p:cNvPr>
          <p:cNvCxnSpPr>
            <a:stCxn xmlns:a="http://schemas.openxmlformats.org/drawingml/2006/main" id="12" idx="3"/>
            <a:endCxn xmlns:a="http://schemas.openxmlformats.org/drawingml/2006/main" id="13" idx="4"/>
          </p:cNvCxnSpPr>
          <p:nvPr/>
        </p:nvCxnSpPr>
        <p:spPr>
          <a:xfrm xmlns:a="http://schemas.openxmlformats.org/drawingml/2006/main" flipV="1">
            <a:off x="9658350" y="3724275"/>
            <a:ext cx="1133475" cy="695325"/>
          </a:xfrm>
          <a:prstGeom xmlns:a="http://schemas.openxmlformats.org/drawingml/2006/main" prst="bentConnector2">
            <a:avLst/>
          </a:prstGeom>
          <a:ln xmlns:a="http://schemas.openxmlformats.org/drawingml/2006/main" w="17145">
            <a:solidFill>
              <a:srgbClr val="CA863D"/>
            </a:solidFill>
            <a:prstDash val="solid"/>
            <a:tailEnd type="triangle" w="sm" len="sm"/>
          </a:ln>
        </p:spPr>
      </p:cxnSp>
      <p:cxnSp>
        <p:nvCxnSpPr>
          <p:cNvPr id="38" name="">
            <a:extLst xmlns:a="http://schemas.openxmlformats.org/drawingml/2006/main">
              <a:ext uri="{FF2B5EF4-FFF2-40B4-BE49-F238E27FC236}">
                <a16:creationId xmlns:a16="http://schemas.microsoft.com/office/drawing/2014/main" id="{E7A2D994-AE2C-49A7-A06E-BDFD15192975}"/>
              </a:ext>
            </a:extLst>
          </p:cNvPr>
          <p:cNvCxnSpPr>
            <a:stCxn xmlns:a="http://schemas.openxmlformats.org/drawingml/2006/main" id="10" idx="3"/>
            <a:endCxn xmlns:a="http://schemas.openxmlformats.org/drawingml/2006/main" id="13" idx="0"/>
          </p:cNvCxnSpPr>
          <p:nvPr/>
        </p:nvCxnSpPr>
        <p:spPr>
          <a:xfrm xmlns:a="http://schemas.openxmlformats.org/drawingml/2006/main">
            <a:off x="10229850" y="2657475"/>
            <a:ext cx="561975" cy="552450"/>
          </a:xfrm>
          <a:prstGeom xmlns:a="http://schemas.openxmlformats.org/drawingml/2006/main" prst="bentConnector2">
            <a:avLst/>
          </a:prstGeom>
          <a:ln xmlns:a="http://schemas.openxmlformats.org/drawingml/2006/main" w="17145">
            <a:solidFill>
              <a:srgbClr val="78974E"/>
            </a:solidFill>
            <a:prstDash val="solid"/>
            <a:tailEnd type="triangle" w="sm" len="sm"/>
          </a:ln>
        </p:spPr>
      </p:cxnSp>
      <p:cxnSp>
        <p:nvCxnSpPr>
          <p:cNvPr id="33" name="">
            <a:extLst xmlns:a="http://schemas.openxmlformats.org/drawingml/2006/main">
              <a:ext uri="{FF2B5EF4-FFF2-40B4-BE49-F238E27FC236}">
                <a16:creationId xmlns:a16="http://schemas.microsoft.com/office/drawing/2014/main" id="{3A382E09-FE69-4CCC-A3C5-347BE96D1B61}"/>
              </a:ext>
            </a:extLst>
          </p:cNvPr>
          <p:cNvCxnSpPr>
            <a:stCxn xmlns:a="http://schemas.openxmlformats.org/drawingml/2006/main" id="9" idx="2"/>
            <a:endCxn xmlns:a="http://schemas.openxmlformats.org/drawingml/2006/main" id="12" idx="0"/>
          </p:cNvCxnSpPr>
          <p:nvPr/>
        </p:nvCxnSpPr>
        <p:spPr>
          <a:xfrm xmlns:a="http://schemas.openxmlformats.org/drawingml/2006/main">
            <a:off x="7548563" y="2981325"/>
            <a:ext cx="1319213" cy="1114425"/>
          </a:xfrm>
          <a:prstGeom xmlns:a="http://schemas.openxmlformats.org/drawingml/2006/main" prst="bentConnector4">
            <a:avLst>
              <a:gd name="adj1" fmla="val 0"/>
              <a:gd name="adj2" fmla="val 20513"/>
            </a:avLst>
          </a:prstGeom>
          <a:ln xmlns:a="http://schemas.openxmlformats.org/drawingml/2006/main" w="17145">
            <a:solidFill>
              <a:srgbClr val="78974E"/>
            </a:solidFill>
            <a:prstDash val="solid"/>
            <a:tailEnd type="triangle" w="sm" len="sm"/>
          </a:ln>
        </p:spPr>
      </p:cxnSp>
      <p:cxnSp>
        <p:nvCxnSpPr>
          <p:cNvPr id="32" name="">
            <a:extLst xmlns:a="http://schemas.openxmlformats.org/drawingml/2006/main">
              <a:ext uri="{FF2B5EF4-FFF2-40B4-BE49-F238E27FC236}">
                <a16:creationId xmlns:a16="http://schemas.microsoft.com/office/drawing/2014/main" id="{F89A3AB4-7EEB-4629-AC6F-F4E4FF4683CC}"/>
              </a:ext>
            </a:extLst>
          </p:cNvPr>
          <p:cNvCxnSpPr>
            <a:stCxn xmlns:a="http://schemas.openxmlformats.org/drawingml/2006/main" id="11" idx="3"/>
            <a:endCxn xmlns:a="http://schemas.openxmlformats.org/drawingml/2006/main" id="12" idx="1"/>
          </p:cNvCxnSpPr>
          <p:nvPr/>
        </p:nvCxnSpPr>
        <p:spPr>
          <a:xfrm xmlns:a="http://schemas.openxmlformats.org/drawingml/2006/main">
            <a:off x="6600825" y="4419600"/>
            <a:ext cx="1476375" cy="0"/>
          </a:xfrm>
          <a:prstGeom xmlns:a="http://schemas.openxmlformats.org/drawingml/2006/main" prst="straightConnector1">
            <a:avLst/>
          </a:prstGeom>
          <a:ln xmlns:a="http://schemas.openxmlformats.org/drawingml/2006/main" w="17145">
            <a:solidFill>
              <a:srgbClr val="CA863D"/>
            </a:solidFill>
            <a:prstDash val="solid"/>
            <a:tailEnd type="triangle" w="sm" len="sm"/>
          </a:ln>
        </p:spPr>
      </p:cxnSp>
      <p:cxnSp>
        <p:nvCxnSpPr>
          <p:cNvPr id="31" name="">
            <a:extLst xmlns:a="http://schemas.openxmlformats.org/drawingml/2006/main">
              <a:ext uri="{FF2B5EF4-FFF2-40B4-BE49-F238E27FC236}">
                <a16:creationId xmlns:a16="http://schemas.microsoft.com/office/drawing/2014/main" id="{C37375A3-352A-44D5-AC78-3AF3584E07A1}"/>
              </a:ext>
            </a:extLst>
          </p:cNvPr>
          <p:cNvCxnSpPr>
            <a:stCxn xmlns:a="http://schemas.openxmlformats.org/drawingml/2006/main" id="7" idx="5"/>
            <a:endCxn xmlns:a="http://schemas.openxmlformats.org/drawingml/2006/main" id="11" idx="1"/>
          </p:cNvCxnSpPr>
          <p:nvPr/>
        </p:nvCxnSpPr>
        <p:spPr>
          <a:xfrm xmlns:a="http://schemas.openxmlformats.org/drawingml/2006/main">
            <a:off x="4295775" y="4341019"/>
            <a:ext cx="581025" cy="78581"/>
          </a:xfrm>
          <a:prstGeom xmlns:a="http://schemas.openxmlformats.org/drawingml/2006/main" prst="straightConnector1">
            <a:avLst/>
          </a:prstGeom>
          <a:ln xmlns:a="http://schemas.openxmlformats.org/drawingml/2006/main" w="17145">
            <a:solidFill>
              <a:srgbClr val="CA863D"/>
            </a:solidFill>
            <a:prstDash val="solid"/>
            <a:tailEnd type="triangle" w="sm" len="sm"/>
          </a:ln>
        </p:spPr>
      </p:cxnSp>
      <p:cxnSp>
        <p:nvCxnSpPr>
          <p:cNvPr id="28" name="">
            <a:extLst xmlns:a="http://schemas.openxmlformats.org/drawingml/2006/main">
              <a:ext uri="{FF2B5EF4-FFF2-40B4-BE49-F238E27FC236}">
                <a16:creationId xmlns:a16="http://schemas.microsoft.com/office/drawing/2014/main" id="{0EDCD364-208E-4A78-9121-793F5447EEB8}"/>
              </a:ext>
            </a:extLst>
          </p:cNvPr>
          <p:cNvCxnSpPr>
            <a:stCxn xmlns:a="http://schemas.openxmlformats.org/drawingml/2006/main" id="15" idx="2"/>
            <a:endCxn xmlns:a="http://schemas.openxmlformats.org/drawingml/2006/main" id="9" idx="0"/>
          </p:cNvCxnSpPr>
          <p:nvPr/>
        </p:nvCxnSpPr>
        <p:spPr>
          <a:xfrm xmlns:a="http://schemas.openxmlformats.org/drawingml/2006/main">
            <a:off x="7324725" y="1866900"/>
            <a:ext cx="223838" cy="466725"/>
          </a:xfrm>
          <a:prstGeom xmlns:a="http://schemas.openxmlformats.org/drawingml/2006/main" prst="straightConnector1">
            <a:avLst/>
          </a:prstGeom>
          <a:ln xmlns:a="http://schemas.openxmlformats.org/drawingml/2006/main" w="17145">
            <a:solidFill>
              <a:srgbClr val="4F82AF"/>
            </a:solidFill>
            <a:prstDash val="dash"/>
            <a:tailEnd type="triangle" w="sm" len="sm"/>
          </a:ln>
        </p:spPr>
      </p:cxnSp>
      <p:cxnSp>
        <p:nvCxnSpPr>
          <p:cNvPr id="27" name="">
            <a:extLst xmlns:a="http://schemas.openxmlformats.org/drawingml/2006/main">
              <a:ext uri="{FF2B5EF4-FFF2-40B4-BE49-F238E27FC236}">
                <a16:creationId xmlns:a16="http://schemas.microsoft.com/office/drawing/2014/main" id="{F681275F-375F-4225-8A3D-B2FED70378C8}"/>
              </a:ext>
            </a:extLst>
          </p:cNvPr>
          <p:cNvCxnSpPr>
            <a:stCxn xmlns:a="http://schemas.openxmlformats.org/drawingml/2006/main" id="15" idx="2"/>
            <a:endCxn xmlns:a="http://schemas.openxmlformats.org/drawingml/2006/main" id="8" idx="0"/>
          </p:cNvCxnSpPr>
          <p:nvPr/>
        </p:nvCxnSpPr>
        <p:spPr>
          <a:xfrm xmlns:a="http://schemas.openxmlformats.org/drawingml/2006/main" flipH="1">
            <a:off x="5543550" y="1866900"/>
            <a:ext cx="1781175" cy="466725"/>
          </a:xfrm>
          <a:prstGeom xmlns:a="http://schemas.openxmlformats.org/drawingml/2006/main" prst="bentConnector4">
            <a:avLst>
              <a:gd name="adj1" fmla="val 0"/>
              <a:gd name="adj2" fmla="val 50000"/>
            </a:avLst>
          </a:prstGeom>
          <a:ln xmlns:a="http://schemas.openxmlformats.org/drawingml/2006/main" w="17145">
            <a:solidFill>
              <a:srgbClr val="4F82AF"/>
            </a:solidFill>
            <a:prstDash val="dash"/>
            <a:tailEnd type="triangle" w="sm" len="sm"/>
          </a:ln>
        </p:spPr>
      </p:cxnSp>
      <p:cxnSp>
        <p:nvCxnSpPr>
          <p:cNvPr id="20" name="">
            <a:extLst xmlns:a="http://schemas.openxmlformats.org/drawingml/2006/main">
              <a:ext uri="{FF2B5EF4-FFF2-40B4-BE49-F238E27FC236}">
                <a16:creationId xmlns:a16="http://schemas.microsoft.com/office/drawing/2014/main" id="{0441734B-6E7A-4B9E-96F9-D83456816872}"/>
              </a:ext>
            </a:extLst>
          </p:cNvPr>
          <p:cNvCxnSpPr>
            <a:stCxn xmlns:a="http://schemas.openxmlformats.org/drawingml/2006/main" id="9" idx="3"/>
            <a:endCxn xmlns:a="http://schemas.openxmlformats.org/drawingml/2006/main" id="10" idx="1"/>
          </p:cNvCxnSpPr>
          <p:nvPr/>
        </p:nvCxnSpPr>
        <p:spPr>
          <a:xfrm xmlns:a="http://schemas.openxmlformats.org/drawingml/2006/main">
            <a:off x="8420100" y="2657475"/>
            <a:ext cx="485775" cy="0"/>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97C055D1-5DB9-4FB8-9E6C-133ECCF01288}"/>
              </a:ext>
            </a:extLst>
          </p:cNvPr>
          <p:cNvCxnSpPr>
            <a:stCxn xmlns:a="http://schemas.openxmlformats.org/drawingml/2006/main" id="6" idx="5"/>
            <a:endCxn xmlns:a="http://schemas.openxmlformats.org/drawingml/2006/main" id="8" idx="1"/>
          </p:cNvCxnSpPr>
          <p:nvPr/>
        </p:nvCxnSpPr>
        <p:spPr>
          <a:xfrm xmlns:a="http://schemas.openxmlformats.org/drawingml/2006/main">
            <a:off x="4295775" y="2588419"/>
            <a:ext cx="581025" cy="69056"/>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0FC61858-3564-495F-B1CB-4592782982B3}"/>
              </a:ext>
            </a:extLst>
          </p:cNvPr>
          <p:cNvCxnSpPr>
            <a:stCxn xmlns:a="http://schemas.openxmlformats.org/drawingml/2006/main" id="5" idx="3"/>
            <a:endCxn xmlns:a="http://schemas.openxmlformats.org/drawingml/2006/main" id="7" idx="2"/>
          </p:cNvCxnSpPr>
          <p:nvPr/>
        </p:nvCxnSpPr>
        <p:spPr>
          <a:xfrm xmlns:a="http://schemas.openxmlformats.org/drawingml/2006/main">
            <a:off x="2886075" y="3419475"/>
            <a:ext cx="504825" cy="1059656"/>
          </a:xfrm>
          <a:prstGeom xmlns:a="http://schemas.openxmlformats.org/drawingml/2006/main" prst="bentConnector3">
            <a:avLst>
              <a:gd name="adj1" fmla="val 50000"/>
            </a:avLst>
          </a:prstGeom>
          <a:ln xmlns:a="http://schemas.openxmlformats.org/drawingml/2006/main" w="17145">
            <a:solidFill>
              <a:srgbClr val="CA863D"/>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4449E54A-568B-4A90-B725-3B0A1FCFDD7E}"/>
              </a:ext>
            </a:extLst>
          </p:cNvPr>
          <p:cNvCxnSpPr>
            <a:stCxn xmlns:a="http://schemas.openxmlformats.org/drawingml/2006/main" id="5" idx="3"/>
            <a:endCxn xmlns:a="http://schemas.openxmlformats.org/drawingml/2006/main" id="6" idx="2"/>
          </p:cNvCxnSpPr>
          <p:nvPr/>
        </p:nvCxnSpPr>
        <p:spPr>
          <a:xfrm xmlns:a="http://schemas.openxmlformats.org/drawingml/2006/main" flipV="1">
            <a:off x="2886075" y="2726531"/>
            <a:ext cx="504825" cy="692944"/>
          </a:xfrm>
          <a:prstGeom xmlns:a="http://schemas.openxmlformats.org/drawingml/2006/main" prst="bentConnector3">
            <a:avLst>
              <a:gd name="adj1" fmla="val 50000"/>
            </a:avLst>
          </a:prstGeom>
          <a:ln xmlns:a="http://schemas.openxmlformats.org/drawingml/2006/main" w="17145">
            <a:solidFill>
              <a:srgbClr val="4F82AF"/>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F7B74E54-AD5E-438E-ABCD-E59831D0220A}"/>
              </a:ext>
            </a:extLst>
          </p:cNvPr>
          <p:cNvCxnSpPr>
            <a:stCxn xmlns:a="http://schemas.openxmlformats.org/drawingml/2006/main" id="4" idx="5"/>
            <a:endCxn xmlns:a="http://schemas.openxmlformats.org/drawingml/2006/main" id="5" idx="1"/>
          </p:cNvCxnSpPr>
          <p:nvPr/>
        </p:nvCxnSpPr>
        <p:spPr>
          <a:xfrm xmlns:a="http://schemas.openxmlformats.org/drawingml/2006/main">
            <a:off x="1419225" y="3350419"/>
            <a:ext cx="447675" cy="69056"/>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sp>
        <p:nvSpPr>
          <p:cNvPr id="47" name="FSDR: semantic support guides detail">
            <a:extLst xmlns:a="http://schemas.openxmlformats.org/drawingml/2006/main">
              <a:ext uri="{FF2B5EF4-FFF2-40B4-BE49-F238E27FC236}">
                <a16:creationId xmlns:a16="http://schemas.microsoft.com/office/drawing/2014/main" id="{2027CB4F-7573-4595-9BE7-17F02C509C2B}"/>
              </a:ext>
            </a:extLst>
          </p:cNvPr>
          <p:cNvSpPr>
            <a:spLocks xmlns:a="http://schemas.openxmlformats.org/drawingml/2006/main" noGrp="1"/>
          </p:cNvSpPr>
          <p:nvPr/>
        </p:nvSpPr>
        <p:spPr>
          <a:xfrm xmlns:a="http://schemas.openxmlformats.org/drawingml/2006/main">
            <a:off x="638175" y="361950"/>
            <a:ext cx="10915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02124"/>
                </a:solidFill>
                <a:latin typeface="Cambria"/>
                <a:ea typeface="Cambria"/>
                <a:cs typeface="Cambria"/>
              </a:defRPr>
            </a:defPPr>
          </a:lstStyle>
          <a:p xmlns:a="http://schemas.openxmlformats.org/drawingml/2006/main">
            <a:pPr algn="l">
              <a:defRPr sz="3000" b="1">
                <a:solidFill>
                  <a:srgbClr val="202124"/>
                </a:solidFill>
                <a:latin typeface="Cambria"/>
                <a:ea typeface="Cambria"/>
                <a:cs typeface="Cambria"/>
              </a:defRPr>
            </a:pPr>
            <a:r>
              <a:rPr sz="3000" b="1">
                <a:solidFill>
                  <a:srgbClr val="202124"/>
                </a:solidFill>
                <a:latin typeface="Cambria"/>
                <a:ea typeface="Cambria"/>
                <a:cs typeface="Cambria"/>
              </a:rPr>
              <a:t>FSDR: semantic support guides detail</a:t>
            </a:r>
          </a:p>
        </p:txBody>
      </p:sp>
      <p:sp>
        <p:nvSpPr>
          <p:cNvPr id="2" name="One scale shown · adaptive filtering at up4/up3 is deta">
            <a:extLst xmlns:a="http://schemas.openxmlformats.org/drawingml/2006/main">
              <a:ext uri="{FF2B5EF4-FFF2-40B4-BE49-F238E27FC236}">
                <a16:creationId xmlns:a16="http://schemas.microsoft.com/office/drawing/2014/main" id="{E7BCD62B-01F0-4F55-A52C-1338A65BC71B}"/>
              </a:ext>
            </a:extLst>
          </p:cNvPr>
          <p:cNvSpPr>
            <a:spLocks xmlns:a="http://schemas.openxmlformats.org/drawingml/2006/main" noGrp="1"/>
          </p:cNvSpPr>
          <p:nvPr/>
        </p:nvSpPr>
        <p:spPr>
          <a:xfrm xmlns:a="http://schemas.openxmlformats.org/drawingml/2006/main">
            <a:off x="638175" y="6477000"/>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929699"/>
                </a:solidFill>
                <a:latin typeface="Calibri"/>
                <a:ea typeface="Calibri"/>
                <a:cs typeface="Calibri"/>
              </a:defRPr>
            </a:defPPr>
          </a:lstStyle>
          <a:p xmlns:a="http://schemas.openxmlformats.org/drawingml/2006/main">
            <a:pPr algn="l">
              <a:defRPr sz="900" b="0">
                <a:solidFill>
                  <a:srgbClr val="929699"/>
                </a:solidFill>
                <a:latin typeface="Calibri"/>
                <a:ea typeface="Calibri"/>
                <a:cs typeface="Calibri"/>
              </a:defRPr>
            </a:pPr>
            <a:r>
              <a:rPr sz="900" b="0">
                <a:solidFill>
                  <a:srgbClr val="929699"/>
                </a:solidFill>
                <a:latin typeface="Calibri"/>
                <a:ea typeface="Calibri"/>
                <a:cs typeface="Calibri"/>
              </a:rPr>
              <a:t>One scale shown · adaptive filtering at up4/up3 is detailed in the backup slides</a:t>
            </a:r>
          </a:p>
        </p:txBody>
      </p:sp>
      <p:sp>
        <p:nvSpPr>
          <p:cNvPr id="3" name="6">
            <a:extLst xmlns:a="http://schemas.openxmlformats.org/drawingml/2006/main">
              <a:ext uri="{FF2B5EF4-FFF2-40B4-BE49-F238E27FC236}">
                <a16:creationId xmlns:a16="http://schemas.microsoft.com/office/drawing/2014/main" id="{EE97D9EF-B98E-4EEC-AE74-B5950876E8A2}"/>
              </a:ext>
            </a:extLst>
          </p:cNvPr>
          <p:cNvSpPr>
            <a:spLocks xmlns:a="http://schemas.openxmlformats.org/drawingml/2006/main" noGrp="1"/>
          </p:cNvSpPr>
          <p:nvPr/>
        </p:nvSpPr>
        <p:spPr>
          <a:xfrm xmlns:a="http://schemas.openxmlformats.org/drawingml/2006/main">
            <a:off x="11144250" y="6477000"/>
            <a:ext cx="4095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929699"/>
                </a:solidFill>
                <a:latin typeface="Calibri"/>
                <a:ea typeface="Calibri"/>
                <a:cs typeface="Calibri"/>
              </a:defRPr>
            </a:defPPr>
          </a:lstStyle>
          <a:p xmlns:a="http://schemas.openxmlformats.org/drawingml/2006/main">
            <a:pPr algn="r">
              <a:defRPr sz="900" b="0">
                <a:solidFill>
                  <a:srgbClr val="929699"/>
                </a:solidFill>
                <a:latin typeface="Calibri"/>
                <a:ea typeface="Calibri"/>
                <a:cs typeface="Calibri"/>
              </a:defRPr>
            </a:pPr>
            <a:r>
              <a:rPr sz="900" b="0">
                <a:solidFill>
                  <a:srgbClr val="929699"/>
                </a:solidFill>
                <a:latin typeface="Calibri"/>
                <a:ea typeface="Calibri"/>
                <a:cs typeface="Calibri"/>
              </a:rPr>
              <a:t>6</a:t>
            </a:r>
          </a:p>
        </p:txBody>
      </p:sp>
      <p:sp>
        <p:nvSpPr>
          <p:cNvPr id="4" name="C*">
            <a:extLst xmlns:a="http://schemas.openxmlformats.org/drawingml/2006/main">
              <a:ext uri="{FF2B5EF4-FFF2-40B4-BE49-F238E27FC236}">
                <a16:creationId xmlns:a16="http://schemas.microsoft.com/office/drawing/2014/main" id="{CDE2C4DE-1A55-47C8-A19D-A0A7C0FD8E62}"/>
              </a:ext>
            </a:extLst>
          </p:cNvPr>
          <p:cNvSpPr>
            <a:spLocks xmlns:a="http://schemas.openxmlformats.org/drawingml/2006/main" noGrp="1"/>
          </p:cNvSpPr>
          <p:nvPr/>
        </p:nvSpPr>
        <p:spPr>
          <a:xfrm xmlns:a="http://schemas.openxmlformats.org/drawingml/2006/main">
            <a:off x="638175" y="3143250"/>
            <a:ext cx="781050" cy="552450"/>
          </a:xfrm>
          <a:prstGeom xmlns:a="http://schemas.openxmlformats.org/drawingml/2006/main" prst="cube">
            <a:avLst/>
          </a:prstGeom>
          <a:solidFill xmlns:a="http://schemas.openxmlformats.org/drawingml/2006/main">
            <a:srgbClr val="DCDDF0"/>
          </a:solidFill>
          <a:ln xmlns:a="http://schemas.openxmlformats.org/drawingml/2006/main" w="12383">
            <a:solidFill>
              <a:srgbClr val="8586B7"/>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C*</a:t>
            </a:r>
          </a:p>
        </p:txBody>
      </p:sp>
      <p:sp>
        <p:nvSpPr>
          <p:cNvPr id="5" name="Haar">
            <a:extLst xmlns:a="http://schemas.openxmlformats.org/drawingml/2006/main">
              <a:ext uri="{FF2B5EF4-FFF2-40B4-BE49-F238E27FC236}">
                <a16:creationId xmlns:a16="http://schemas.microsoft.com/office/drawing/2014/main" id="{75278573-B0F7-4781-8535-663DE4ACEBD9}"/>
              </a:ext>
            </a:extLst>
          </p:cNvPr>
          <p:cNvSpPr>
            <a:spLocks xmlns:a="http://schemas.openxmlformats.org/drawingml/2006/main" noGrp="1"/>
          </p:cNvSpPr>
          <p:nvPr/>
        </p:nvSpPr>
        <p:spPr>
          <a:xfrm xmlns:a="http://schemas.openxmlformats.org/drawingml/2006/main">
            <a:off x="1866900" y="3143250"/>
            <a:ext cx="1019175" cy="552450"/>
          </a:xfrm>
          <a:prstGeom xmlns:a="http://schemas.openxmlformats.org/drawingml/2006/main" prst="roundRect">
            <a:avLst>
              <a:gd name="adj" fmla="val 13793"/>
            </a:avLst>
          </a:prstGeom>
          <a:solidFill xmlns:a="http://schemas.openxmlformats.org/drawingml/2006/main">
            <a:srgbClr val="F2F2F2"/>
          </a:solidFill>
          <a:ln xmlns:a="http://schemas.openxmlformats.org/drawingml/2006/main" w="12383">
            <a:solidFill>
              <a:srgbClr val="93999D"/>
            </a:solidFill>
          </a:ln>
        </p:spPr>
        <p:txBody>
          <a:bodyPr xmlns:a="http://schemas.openxmlformats.org/drawingml/2006/main" wrap="square" lIns="66675" tIns="28575" rIns="66675" bIns="28575" anchor="ctr">
            <a:noAutofit/>
          </a:bodyPr>
          <a:lstStyle xmlns:a="http://schemas.openxmlformats.org/drawingml/2006/main">
            <a:defPPr algn="ctr">
              <a:defRPr sz="1800">
                <a:solidFill>
                  <a:srgbClr val="202124"/>
                </a:solidFill>
                <a:latin typeface="Calibri"/>
                <a:ea typeface="Calibri"/>
                <a:cs typeface="Calibri"/>
              </a:defRPr>
            </a:defPPr>
          </a:lstStyle>
          <a:p xmlns:a="http://schemas.openxmlformats.org/drawingml/2006/main">
            <a:pPr algn="ctr">
              <a:defRPr sz="1800">
                <a:solidFill>
                  <a:srgbClr val="202124"/>
                </a:solidFill>
                <a:latin typeface="Calibri"/>
                <a:ea typeface="Calibri"/>
                <a:cs typeface="Calibri"/>
              </a:defRPr>
            </a:pPr>
            <a:r>
              <a:rPr sz="1800">
                <a:solidFill>
                  <a:srgbClr val="202124"/>
                </a:solidFill>
                <a:latin typeface="Calibri"/>
                <a:ea typeface="Calibri"/>
                <a:cs typeface="Calibri"/>
              </a:rPr>
              <a:t>Haar</a:t>
            </a:r>
          </a:p>
        </p:txBody>
      </p:sp>
      <p:sp>
        <p:nvSpPr>
          <p:cNvPr id="6" name="Low">
            <a:extLst xmlns:a="http://schemas.openxmlformats.org/drawingml/2006/main">
              <a:ext uri="{FF2B5EF4-FFF2-40B4-BE49-F238E27FC236}">
                <a16:creationId xmlns:a16="http://schemas.microsoft.com/office/drawing/2014/main" id="{73EF856C-BC82-4B03-BDCF-491852054E81}"/>
              </a:ext>
            </a:extLst>
          </p:cNvPr>
          <p:cNvSpPr>
            <a:spLocks xmlns:a="http://schemas.openxmlformats.org/drawingml/2006/main" noGrp="1"/>
          </p:cNvSpPr>
          <p:nvPr/>
        </p:nvSpPr>
        <p:spPr>
          <a:xfrm xmlns:a="http://schemas.openxmlformats.org/drawingml/2006/main">
            <a:off x="3390900" y="2381250"/>
            <a:ext cx="904875" cy="552450"/>
          </a:xfrm>
          <a:prstGeom xmlns:a="http://schemas.openxmlformats.org/drawingml/2006/main" prst="cube">
            <a:avLst/>
          </a:prstGeom>
          <a:solidFill xmlns:a="http://schemas.openxmlformats.org/drawingml/2006/main">
            <a:srgbClr val="DCDDF0"/>
          </a:solidFill>
          <a:ln xmlns:a="http://schemas.openxmlformats.org/drawingml/2006/main" w="12383">
            <a:solidFill>
              <a:srgbClr val="8586B7"/>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Low</a:t>
            </a:r>
          </a:p>
        </p:txBody>
      </p:sp>
      <p:sp>
        <p:nvSpPr>
          <p:cNvPr id="7" name="High">
            <a:extLst xmlns:a="http://schemas.openxmlformats.org/drawingml/2006/main">
              <a:ext uri="{FF2B5EF4-FFF2-40B4-BE49-F238E27FC236}">
                <a16:creationId xmlns:a16="http://schemas.microsoft.com/office/drawing/2014/main" id="{3DBC96E0-C17A-401A-85EA-962663F42B2E}"/>
              </a:ext>
            </a:extLst>
          </p:cNvPr>
          <p:cNvSpPr>
            <a:spLocks xmlns:a="http://schemas.openxmlformats.org/drawingml/2006/main" noGrp="1"/>
          </p:cNvSpPr>
          <p:nvPr/>
        </p:nvSpPr>
        <p:spPr>
          <a:xfrm xmlns:a="http://schemas.openxmlformats.org/drawingml/2006/main">
            <a:off x="3390900" y="4133850"/>
            <a:ext cx="904875" cy="552450"/>
          </a:xfrm>
          <a:prstGeom xmlns:a="http://schemas.openxmlformats.org/drawingml/2006/main" prst="cube">
            <a:avLst/>
          </a:prstGeom>
          <a:solidFill xmlns:a="http://schemas.openxmlformats.org/drawingml/2006/main">
            <a:srgbClr val="DCDDF0"/>
          </a:solidFill>
          <a:ln xmlns:a="http://schemas.openxmlformats.org/drawingml/2006/main" w="12383">
            <a:solidFill>
              <a:srgbClr val="8586B7"/>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High</a:t>
            </a:r>
          </a:p>
        </p:txBody>
      </p:sp>
      <p:sp>
        <p:nvSpPr>
          <p:cNvPr id="8" name="Channel&#10;gate">
            <a:extLst xmlns:a="http://schemas.openxmlformats.org/drawingml/2006/main">
              <a:ext uri="{FF2B5EF4-FFF2-40B4-BE49-F238E27FC236}">
                <a16:creationId xmlns:a16="http://schemas.microsoft.com/office/drawing/2014/main" id="{44E8D823-9B5A-4C3C-8367-1DC62A7E9725}"/>
              </a:ext>
            </a:extLst>
          </p:cNvPr>
          <p:cNvSpPr>
            <a:spLocks xmlns:a="http://schemas.openxmlformats.org/drawingml/2006/main" noGrp="1"/>
          </p:cNvSpPr>
          <p:nvPr/>
        </p:nvSpPr>
        <p:spPr>
          <a:xfrm xmlns:a="http://schemas.openxmlformats.org/drawingml/2006/main">
            <a:off x="4876800" y="2333625"/>
            <a:ext cx="1333500" cy="647700"/>
          </a:xfrm>
          <a:prstGeom xmlns:a="http://schemas.openxmlformats.org/drawingml/2006/main" prst="roundRect">
            <a:avLst>
              <a:gd name="adj" fmla="val 11765"/>
            </a:avLst>
          </a:prstGeom>
          <a:solidFill xmlns:a="http://schemas.openxmlformats.org/drawingml/2006/main">
            <a:srgbClr val="DCEACC"/>
          </a:solidFill>
          <a:ln xmlns:a="http://schemas.openxmlformats.org/drawingml/2006/main" w="12383">
            <a:solidFill>
              <a:srgbClr val="78974E"/>
            </a:solidFill>
          </a:ln>
        </p:spPr>
        <p:txBody>
          <a:bodyPr xmlns:a="http://schemas.openxmlformats.org/drawingml/2006/main" wrap="square" lIns="66675" tIns="28575" rIns="66675" bIns="28575" anchor="ctr">
            <a:noAutofit/>
          </a:bodyPr>
          <a:lstStyle xmlns:a="http://schemas.openxmlformats.org/drawingml/2006/main">
            <a:defPPr algn="ctr">
              <a:defRPr sz="1725">
                <a:solidFill>
                  <a:srgbClr val="202124"/>
                </a:solidFill>
                <a:latin typeface="Calibri"/>
                <a:ea typeface="Calibri"/>
                <a:cs typeface="Calibri"/>
              </a:defRPr>
            </a:defPPr>
          </a:lstStyle>
          <a:p xmlns:a="http://schemas.openxmlformats.org/drawingml/2006/main">
            <a:pPr algn="ctr">
              <a:defRPr sz="1725">
                <a:solidFill>
                  <a:srgbClr val="202124"/>
                </a:solidFill>
                <a:latin typeface="Calibri"/>
                <a:ea typeface="Calibri"/>
                <a:cs typeface="Calibri"/>
              </a:defRPr>
            </a:pPr>
            <a:r>
              <a:rPr sz="1725">
                <a:solidFill>
                  <a:srgbClr val="202124"/>
                </a:solidFill>
                <a:latin typeface="Calibri"/>
                <a:ea typeface="Calibri"/>
                <a:cs typeface="Calibri"/>
              </a:rPr>
              <a:t>Channel</a:t>
            </a:r>
          </a:p>
          <a:p xmlns:a="http://schemas.openxmlformats.org/drawingml/2006/main">
            <a:pPr algn="ctr">
              <a:defRPr sz="1725">
                <a:solidFill>
                  <a:srgbClr val="202124"/>
                </a:solidFill>
                <a:latin typeface="Calibri"/>
                <a:ea typeface="Calibri"/>
                <a:cs typeface="Calibri"/>
              </a:defRPr>
            </a:pPr>
            <a:r>
              <a:rPr sz="1725">
                <a:solidFill>
                  <a:srgbClr val="202124"/>
                </a:solidFill>
                <a:latin typeface="Calibri"/>
                <a:ea typeface="Calibri"/>
                <a:cs typeface="Calibri"/>
              </a:rPr>
              <a:t>gate</a:t>
            </a:r>
          </a:p>
        </p:txBody>
      </p:sp>
      <p:sp>
        <p:nvSpPr>
          <p:cNvPr id="9" name="Text FiLM&#10;Region support">
            <a:extLst xmlns:a="http://schemas.openxmlformats.org/drawingml/2006/main">
              <a:ext uri="{FF2B5EF4-FFF2-40B4-BE49-F238E27FC236}">
                <a16:creationId xmlns:a16="http://schemas.microsoft.com/office/drawing/2014/main" id="{F7F85281-12F8-4CD3-8F3A-9DE42635D570}"/>
              </a:ext>
            </a:extLst>
          </p:cNvPr>
          <p:cNvSpPr>
            <a:spLocks xmlns:a="http://schemas.openxmlformats.org/drawingml/2006/main" noGrp="1"/>
          </p:cNvSpPr>
          <p:nvPr/>
        </p:nvSpPr>
        <p:spPr>
          <a:xfrm xmlns:a="http://schemas.openxmlformats.org/drawingml/2006/main">
            <a:off x="6677025" y="2333625"/>
            <a:ext cx="1743075" cy="647700"/>
          </a:xfrm>
          <a:prstGeom xmlns:a="http://schemas.openxmlformats.org/drawingml/2006/main" prst="roundRect">
            <a:avLst>
              <a:gd name="adj" fmla="val 11765"/>
            </a:avLst>
          </a:prstGeom>
          <a:solidFill xmlns:a="http://schemas.openxmlformats.org/drawingml/2006/main">
            <a:srgbClr val="DCEACC"/>
          </a:solidFill>
          <a:ln xmlns:a="http://schemas.openxmlformats.org/drawingml/2006/main" w="12383">
            <a:solidFill>
              <a:srgbClr val="78974E"/>
            </a:solidFill>
          </a:ln>
        </p:spPr>
        <p:txBody>
          <a:bodyPr xmlns:a="http://schemas.openxmlformats.org/drawingml/2006/main" wrap="square" lIns="66675" tIns="28575" rIns="66675" bIns="28575" anchor="ctr">
            <a:noAutofit/>
          </a:bodyPr>
          <a:lstStyle xmlns:a="http://schemas.openxmlformats.org/drawingml/2006/main">
            <a:defPPr algn="ctr">
              <a:defRPr sz="1725">
                <a:solidFill>
                  <a:srgbClr val="202124"/>
                </a:solidFill>
                <a:latin typeface="Calibri"/>
                <a:ea typeface="Calibri"/>
                <a:cs typeface="Calibri"/>
              </a:defRPr>
            </a:defPPr>
          </a:lstStyle>
          <a:p xmlns:a="http://schemas.openxmlformats.org/drawingml/2006/main">
            <a:pPr algn="ctr">
              <a:defRPr sz="1725">
                <a:solidFill>
                  <a:srgbClr val="202124"/>
                </a:solidFill>
                <a:latin typeface="Calibri"/>
                <a:ea typeface="Calibri"/>
                <a:cs typeface="Calibri"/>
              </a:defRPr>
            </a:pPr>
            <a:r>
              <a:rPr sz="1725">
                <a:solidFill>
                  <a:srgbClr val="202124"/>
                </a:solidFill>
                <a:latin typeface="Calibri"/>
                <a:ea typeface="Calibri"/>
                <a:cs typeface="Calibri"/>
              </a:rPr>
              <a:t>Text FiLM</a:t>
            </a:r>
          </a:p>
          <a:p xmlns:a="http://schemas.openxmlformats.org/drawingml/2006/main">
            <a:pPr algn="ctr">
              <a:defRPr sz="1725">
                <a:solidFill>
                  <a:srgbClr val="202124"/>
                </a:solidFill>
                <a:latin typeface="Calibri"/>
                <a:ea typeface="Calibri"/>
                <a:cs typeface="Calibri"/>
              </a:defRPr>
            </a:pPr>
            <a:r>
              <a:rPr sz="1725">
                <a:solidFill>
                  <a:srgbClr val="202124"/>
                </a:solidFill>
                <a:latin typeface="Calibri"/>
                <a:ea typeface="Calibri"/>
                <a:cs typeface="Calibri"/>
              </a:rPr>
              <a:t>Region support</a:t>
            </a:r>
          </a:p>
        </p:txBody>
      </p:sp>
      <p:sp>
        <p:nvSpPr>
          <p:cNvPr id="10" name="Semantic&#10;fusion">
            <a:extLst xmlns:a="http://schemas.openxmlformats.org/drawingml/2006/main">
              <a:ext uri="{FF2B5EF4-FFF2-40B4-BE49-F238E27FC236}">
                <a16:creationId xmlns:a16="http://schemas.microsoft.com/office/drawing/2014/main" id="{4EEE4849-9BAD-4AF8-8CAC-F1A9470C80C5}"/>
              </a:ext>
            </a:extLst>
          </p:cNvPr>
          <p:cNvSpPr>
            <a:spLocks xmlns:a="http://schemas.openxmlformats.org/drawingml/2006/main" noGrp="1"/>
          </p:cNvSpPr>
          <p:nvPr/>
        </p:nvSpPr>
        <p:spPr>
          <a:xfrm xmlns:a="http://schemas.openxmlformats.org/drawingml/2006/main">
            <a:off x="8905875" y="2333625"/>
            <a:ext cx="1323975" cy="647700"/>
          </a:xfrm>
          <a:prstGeom xmlns:a="http://schemas.openxmlformats.org/drawingml/2006/main" prst="roundRect">
            <a:avLst>
              <a:gd name="adj" fmla="val 11765"/>
            </a:avLst>
          </a:prstGeom>
          <a:solidFill xmlns:a="http://schemas.openxmlformats.org/drawingml/2006/main">
            <a:srgbClr val="DCEACC"/>
          </a:solidFill>
          <a:ln xmlns:a="http://schemas.openxmlformats.org/drawingml/2006/main" w="12383">
            <a:solidFill>
              <a:srgbClr val="78974E"/>
            </a:solidFill>
          </a:ln>
        </p:spPr>
        <p:txBody>
          <a:bodyPr xmlns:a="http://schemas.openxmlformats.org/drawingml/2006/main" wrap="square" lIns="66675" tIns="28575" rIns="66675" bIns="28575" anchor="ctr">
            <a:noAutofit/>
          </a:bodyPr>
          <a:lstStyle xmlns:a="http://schemas.openxmlformats.org/drawingml/2006/main">
            <a:defPPr algn="ctr">
              <a:defRPr sz="1725">
                <a:solidFill>
                  <a:srgbClr val="202124"/>
                </a:solidFill>
                <a:latin typeface="Calibri"/>
                <a:ea typeface="Calibri"/>
                <a:cs typeface="Calibri"/>
              </a:defRPr>
            </a:defPPr>
          </a:lstStyle>
          <a:p xmlns:a="http://schemas.openxmlformats.org/drawingml/2006/main">
            <a:pPr algn="ctr">
              <a:defRPr sz="1725">
                <a:solidFill>
                  <a:srgbClr val="202124"/>
                </a:solidFill>
                <a:latin typeface="Calibri"/>
                <a:ea typeface="Calibri"/>
                <a:cs typeface="Calibri"/>
              </a:defRPr>
            </a:pPr>
            <a:r>
              <a:rPr sz="1725">
                <a:solidFill>
                  <a:srgbClr val="202124"/>
                </a:solidFill>
                <a:latin typeface="Calibri"/>
                <a:ea typeface="Calibri"/>
                <a:cs typeface="Calibri"/>
              </a:rPr>
              <a:t>Semantic</a:t>
            </a:r>
          </a:p>
          <a:p xmlns:a="http://schemas.openxmlformats.org/drawingml/2006/main">
            <a:pPr algn="ctr">
              <a:defRPr sz="1725">
                <a:solidFill>
                  <a:srgbClr val="202124"/>
                </a:solidFill>
                <a:latin typeface="Calibri"/>
                <a:ea typeface="Calibri"/>
                <a:cs typeface="Calibri"/>
              </a:defRPr>
            </a:pPr>
            <a:r>
              <a:rPr sz="1725">
                <a:solidFill>
                  <a:srgbClr val="202124"/>
                </a:solidFill>
                <a:latin typeface="Calibri"/>
                <a:ea typeface="Calibri"/>
                <a:cs typeface="Calibri"/>
              </a:rPr>
              <a:t>fusion</a:t>
            </a:r>
          </a:p>
        </p:txBody>
      </p:sp>
      <p:sp>
        <p:nvSpPr>
          <p:cNvPr id="11" name="Local + dilated&#10;Conv">
            <a:extLst xmlns:a="http://schemas.openxmlformats.org/drawingml/2006/main">
              <a:ext uri="{FF2B5EF4-FFF2-40B4-BE49-F238E27FC236}">
                <a16:creationId xmlns:a16="http://schemas.microsoft.com/office/drawing/2014/main" id="{F35B5C90-005D-47A5-9406-A4E20BA45862}"/>
              </a:ext>
            </a:extLst>
          </p:cNvPr>
          <p:cNvSpPr>
            <a:spLocks xmlns:a="http://schemas.openxmlformats.org/drawingml/2006/main" noGrp="1"/>
          </p:cNvSpPr>
          <p:nvPr/>
        </p:nvSpPr>
        <p:spPr>
          <a:xfrm xmlns:a="http://schemas.openxmlformats.org/drawingml/2006/main">
            <a:off x="4876800" y="4095750"/>
            <a:ext cx="1724025" cy="647700"/>
          </a:xfrm>
          <a:prstGeom xmlns:a="http://schemas.openxmlformats.org/drawingml/2006/main" prst="roundRect">
            <a:avLst>
              <a:gd name="adj" fmla="val 11765"/>
            </a:avLst>
          </a:prstGeom>
          <a:solidFill xmlns:a="http://schemas.openxmlformats.org/drawingml/2006/main">
            <a:srgbClr val="F9DFC1"/>
          </a:solidFill>
          <a:ln xmlns:a="http://schemas.openxmlformats.org/drawingml/2006/main" w="12383">
            <a:solidFill>
              <a:srgbClr val="CA863D"/>
            </a:solidFill>
          </a:ln>
        </p:spPr>
        <p:txBody>
          <a:bodyPr xmlns:a="http://schemas.openxmlformats.org/drawingml/2006/main" wrap="square" lIns="66675" tIns="28575" rIns="66675" bIns="28575" anchor="ctr">
            <a:noAutofit/>
          </a:bodyPr>
          <a:lstStyle xmlns:a="http://schemas.openxmlformats.org/drawingml/2006/main">
            <a:defPPr algn="ctr">
              <a:defRPr sz="1725">
                <a:solidFill>
                  <a:srgbClr val="202124"/>
                </a:solidFill>
                <a:latin typeface="Calibri"/>
                <a:ea typeface="Calibri"/>
                <a:cs typeface="Calibri"/>
              </a:defRPr>
            </a:defPPr>
          </a:lstStyle>
          <a:p xmlns:a="http://schemas.openxmlformats.org/drawingml/2006/main">
            <a:pPr algn="ctr">
              <a:defRPr sz="1725">
                <a:solidFill>
                  <a:srgbClr val="202124"/>
                </a:solidFill>
                <a:latin typeface="Calibri"/>
                <a:ea typeface="Calibri"/>
                <a:cs typeface="Calibri"/>
              </a:defRPr>
            </a:pPr>
            <a:r>
              <a:rPr sz="1725">
                <a:solidFill>
                  <a:srgbClr val="202124"/>
                </a:solidFill>
                <a:latin typeface="Calibri"/>
                <a:ea typeface="Calibri"/>
                <a:cs typeface="Calibri"/>
              </a:rPr>
              <a:t>Local + dilated</a:t>
            </a:r>
          </a:p>
          <a:p xmlns:a="http://schemas.openxmlformats.org/drawingml/2006/main">
            <a:pPr algn="ctr">
              <a:defRPr sz="1725">
                <a:solidFill>
                  <a:srgbClr val="202124"/>
                </a:solidFill>
                <a:latin typeface="Calibri"/>
                <a:ea typeface="Calibri"/>
                <a:cs typeface="Calibri"/>
              </a:defRPr>
            </a:pPr>
            <a:r>
              <a:rPr sz="1725">
                <a:solidFill>
                  <a:srgbClr val="202124"/>
                </a:solidFill>
                <a:latin typeface="Calibri"/>
                <a:ea typeface="Calibri"/>
                <a:cs typeface="Calibri"/>
              </a:rPr>
              <a:t>Conv</a:t>
            </a:r>
          </a:p>
        </p:txBody>
      </p:sp>
      <p:sp>
        <p:nvSpPr>
          <p:cNvPr id="12" name="Detail&#10;fusion">
            <a:extLst xmlns:a="http://schemas.openxmlformats.org/drawingml/2006/main">
              <a:ext uri="{FF2B5EF4-FFF2-40B4-BE49-F238E27FC236}">
                <a16:creationId xmlns:a16="http://schemas.microsoft.com/office/drawing/2014/main" id="{5BE0355B-4AA1-4BCB-92F8-E625F58FC102}"/>
              </a:ext>
            </a:extLst>
          </p:cNvPr>
          <p:cNvSpPr>
            <a:spLocks xmlns:a="http://schemas.openxmlformats.org/drawingml/2006/main" noGrp="1"/>
          </p:cNvSpPr>
          <p:nvPr/>
        </p:nvSpPr>
        <p:spPr>
          <a:xfrm xmlns:a="http://schemas.openxmlformats.org/drawingml/2006/main">
            <a:off x="8077200" y="4095750"/>
            <a:ext cx="1581150" cy="647700"/>
          </a:xfrm>
          <a:prstGeom xmlns:a="http://schemas.openxmlformats.org/drawingml/2006/main" prst="roundRect">
            <a:avLst>
              <a:gd name="adj" fmla="val 11765"/>
            </a:avLst>
          </a:prstGeom>
          <a:solidFill xmlns:a="http://schemas.openxmlformats.org/drawingml/2006/main">
            <a:srgbClr val="F9DFC1"/>
          </a:solidFill>
          <a:ln xmlns:a="http://schemas.openxmlformats.org/drawingml/2006/main" w="12383">
            <a:solidFill>
              <a:srgbClr val="CA863D"/>
            </a:solidFill>
          </a:ln>
        </p:spPr>
        <p:txBody>
          <a:bodyPr xmlns:a="http://schemas.openxmlformats.org/drawingml/2006/main" wrap="square" lIns="66675" tIns="28575" rIns="66675" bIns="28575" anchor="ctr">
            <a:noAutofit/>
          </a:bodyPr>
          <a:lstStyle xmlns:a="http://schemas.openxmlformats.org/drawingml/2006/main">
            <a:defPPr algn="ctr">
              <a:defRPr sz="1800">
                <a:solidFill>
                  <a:srgbClr val="202124"/>
                </a:solidFill>
                <a:latin typeface="Calibri"/>
                <a:ea typeface="Calibri"/>
                <a:cs typeface="Calibri"/>
              </a:defRPr>
            </a:defPPr>
          </a:lstStyle>
          <a:p xmlns:a="http://schemas.openxmlformats.org/drawingml/2006/main">
            <a:pPr algn="ctr">
              <a:defRPr sz="1800">
                <a:solidFill>
                  <a:srgbClr val="202124"/>
                </a:solidFill>
                <a:latin typeface="Calibri"/>
                <a:ea typeface="Calibri"/>
                <a:cs typeface="Calibri"/>
              </a:defRPr>
            </a:pPr>
            <a:r>
              <a:rPr sz="1800">
                <a:solidFill>
                  <a:srgbClr val="202124"/>
                </a:solidFill>
                <a:latin typeface="Calibri"/>
                <a:ea typeface="Calibri"/>
                <a:cs typeface="Calibri"/>
              </a:rPr>
              <a:t>Detail</a:t>
            </a:r>
          </a:p>
          <a:p xmlns:a="http://schemas.openxmlformats.org/drawingml/2006/main">
            <a:pPr algn="ctr">
              <a:defRPr sz="1800">
                <a:solidFill>
                  <a:srgbClr val="202124"/>
                </a:solidFill>
                <a:latin typeface="Calibri"/>
                <a:ea typeface="Calibri"/>
                <a:cs typeface="Calibri"/>
              </a:defRPr>
            </a:pPr>
            <a:r>
              <a:rPr sz="1800">
                <a:solidFill>
                  <a:srgbClr val="202124"/>
                </a:solidFill>
                <a:latin typeface="Calibri"/>
                <a:ea typeface="Calibri"/>
                <a:cs typeface="Calibri"/>
              </a:rPr>
              <a:t>fusion</a:t>
            </a:r>
          </a:p>
        </p:txBody>
      </p:sp>
      <p:sp>
        <p:nvSpPr>
          <p:cNvPr id="13" name="+">
            <a:extLst xmlns:a="http://schemas.openxmlformats.org/drawingml/2006/main">
              <a:ext uri="{FF2B5EF4-FFF2-40B4-BE49-F238E27FC236}">
                <a16:creationId xmlns:a16="http://schemas.microsoft.com/office/drawing/2014/main" id="{7A16A609-44DA-4A84-BCD2-E446C2C4419B}"/>
              </a:ext>
            </a:extLst>
          </p:cNvPr>
          <p:cNvSpPr>
            <a:spLocks xmlns:a="http://schemas.openxmlformats.org/drawingml/2006/main" noGrp="1"/>
          </p:cNvSpPr>
          <p:nvPr/>
        </p:nvSpPr>
        <p:spPr>
          <a:xfrm xmlns:a="http://schemas.openxmlformats.org/drawingml/2006/main">
            <a:off x="10534650" y="3209925"/>
            <a:ext cx="514350" cy="514350"/>
          </a:xfrm>
          <a:prstGeom xmlns:a="http://schemas.openxmlformats.org/drawingml/2006/main" prst="ellipse">
            <a:avLst/>
          </a:prstGeom>
          <a:solidFill xmlns:a="http://schemas.openxmlformats.org/drawingml/2006/main">
            <a:srgbClr val="DCEACC"/>
          </a:solidFill>
          <a:ln xmlns:a="http://schemas.openxmlformats.org/drawingml/2006/main" w="12383">
            <a:solidFill>
              <a:srgbClr val="78974E"/>
            </a:solidFill>
          </a:ln>
        </p:spPr>
        <p:txBody>
          <a:bodyPr xmlns:a="http://schemas.openxmlformats.org/drawingml/2006/main" wrap="square" lIns="66675" tIns="28575" rIns="66675" bIns="28575" anchor="ctr">
            <a:noAutofit/>
          </a:bodyPr>
          <a:lstStyle xmlns:a="http://schemas.openxmlformats.org/drawingml/2006/main">
            <a:defPPr algn="ctr">
              <a:defRPr sz="2400">
                <a:solidFill>
                  <a:srgbClr val="202124"/>
                </a:solidFill>
                <a:latin typeface="Calibri"/>
                <a:ea typeface="Calibri"/>
                <a:cs typeface="Calibri"/>
              </a:defRPr>
            </a:defPPr>
          </a:lstStyle>
          <a:p xmlns:a="http://schemas.openxmlformats.org/drawingml/2006/main">
            <a:pPr algn="ctr">
              <a:defRPr sz="2400">
                <a:solidFill>
                  <a:srgbClr val="202124"/>
                </a:solidFill>
                <a:latin typeface="Calibri"/>
                <a:ea typeface="Calibri"/>
                <a:cs typeface="Calibri"/>
              </a:defRPr>
            </a:pPr>
            <a:r>
              <a:rPr sz="2400">
                <a:solidFill>
                  <a:srgbClr val="202124"/>
                </a:solidFill>
                <a:latin typeface="Calibri"/>
                <a:ea typeface="Calibri"/>
                <a:cs typeface="Calibri"/>
              </a:rPr>
              <a:t>+</a:t>
            </a:r>
          </a:p>
        </p:txBody>
      </p:sp>
      <p:sp>
        <p:nvSpPr>
          <p:cNvPr id="14" name="Y">
            <a:extLst xmlns:a="http://schemas.openxmlformats.org/drawingml/2006/main">
              <a:ext uri="{FF2B5EF4-FFF2-40B4-BE49-F238E27FC236}">
                <a16:creationId xmlns:a16="http://schemas.microsoft.com/office/drawing/2014/main" id="{157EE124-80B7-4746-9CAE-FF36FA30021D}"/>
              </a:ext>
            </a:extLst>
          </p:cNvPr>
          <p:cNvSpPr>
            <a:spLocks xmlns:a="http://schemas.openxmlformats.org/drawingml/2006/main" noGrp="1"/>
          </p:cNvSpPr>
          <p:nvPr/>
        </p:nvSpPr>
        <p:spPr>
          <a:xfrm xmlns:a="http://schemas.openxmlformats.org/drawingml/2006/main">
            <a:off x="11334750" y="3209925"/>
            <a:ext cx="571500" cy="514350"/>
          </a:xfrm>
          <a:prstGeom xmlns:a="http://schemas.openxmlformats.org/drawingml/2006/main" prst="cube">
            <a:avLst/>
          </a:prstGeom>
          <a:solidFill xmlns:a="http://schemas.openxmlformats.org/drawingml/2006/main">
            <a:srgbClr val="DCEACC"/>
          </a:solidFill>
          <a:ln xmlns:a="http://schemas.openxmlformats.org/drawingml/2006/main" w="12383">
            <a:solidFill>
              <a:srgbClr val="78974E"/>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Y</a:t>
            </a:r>
          </a:p>
        </p:txBody>
      </p:sp>
      <p:sp>
        <p:nvSpPr>
          <p:cNvPr id="15" name="Vlow, D′low, T">
            <a:extLst xmlns:a="http://schemas.openxmlformats.org/drawingml/2006/main">
              <a:ext uri="{FF2B5EF4-FFF2-40B4-BE49-F238E27FC236}">
                <a16:creationId xmlns:a16="http://schemas.microsoft.com/office/drawing/2014/main" id="{BDED1785-E999-4DAA-AD3A-EB4EA128492F}"/>
              </a:ext>
            </a:extLst>
          </p:cNvPr>
          <p:cNvSpPr>
            <a:spLocks xmlns:a="http://schemas.openxmlformats.org/drawingml/2006/main" noGrp="1"/>
          </p:cNvSpPr>
          <p:nvPr/>
        </p:nvSpPr>
        <p:spPr>
          <a:xfrm xmlns:a="http://schemas.openxmlformats.org/drawingml/2006/main">
            <a:off x="5753100" y="1438275"/>
            <a:ext cx="3143250" cy="428625"/>
          </a:xfrm>
          <a:prstGeom xmlns:a="http://schemas.openxmlformats.org/drawingml/2006/main" prst="roundRect">
            <a:avLst>
              <a:gd name="adj" fmla="val 17778"/>
            </a:avLst>
          </a:prstGeom>
          <a:solidFill xmlns:a="http://schemas.openxmlformats.org/drawingml/2006/main">
            <a:srgbClr val="D5E5F4"/>
          </a:solidFill>
          <a:ln xmlns:a="http://schemas.openxmlformats.org/drawingml/2006/main" w="12383">
            <a:solidFill>
              <a:srgbClr val="4F82AF"/>
            </a:solidFill>
          </a:ln>
        </p:spPr>
        <p:txBody>
          <a:bodyPr xmlns:a="http://schemas.openxmlformats.org/drawingml/2006/main" wrap="square" lIns="66675" tIns="28575" rIns="66675" bIns="28575" anchor="ctr">
            <a:noAutofit/>
          </a:bodyPr>
          <a:lstStyle xmlns:a="http://schemas.openxmlformats.org/drawingml/2006/main">
            <a:defPPr algn="ctr">
              <a:defRPr sz="1800">
                <a:solidFill>
                  <a:srgbClr val="202124"/>
                </a:solidFill>
                <a:latin typeface="Calibri"/>
                <a:ea typeface="Calibri"/>
                <a:cs typeface="Calibri"/>
              </a:defRPr>
            </a:defPPr>
          </a:lstStyle>
          <a:p xmlns:a="http://schemas.openxmlformats.org/drawingml/2006/main">
            <a:pPr algn="ctr">
              <a:defRPr sz="1800">
                <a:solidFill>
                  <a:srgbClr val="202124"/>
                </a:solidFill>
                <a:latin typeface="Calibri"/>
                <a:ea typeface="Calibri"/>
                <a:cs typeface="Calibri"/>
              </a:defRPr>
            </a:pPr>
            <a:r>
              <a:rPr sz="1800">
                <a:solidFill>
                  <a:srgbClr val="202124"/>
                </a:solidFill>
                <a:latin typeface="Calibri"/>
                <a:ea typeface="Calibri"/>
                <a:cs typeface="Calibri"/>
              </a:rPr>
              <a:t>Vlow, D′low, T</a:t>
            </a:r>
          </a:p>
        </p:txBody>
      </p:sp>
      <p:sp>
        <p:nvSpPr>
          <p:cNvPr id="21" name="">
            <a:extLst xmlns:a="http://schemas.openxmlformats.org/drawingml/2006/main">
              <a:ext uri="{FF2B5EF4-FFF2-40B4-BE49-F238E27FC236}">
                <a16:creationId xmlns:a16="http://schemas.microsoft.com/office/drawing/2014/main" id="{CBED9B63-7134-487F-B96A-9298A90E2473}"/>
              </a:ext>
            </a:extLst>
          </p:cNvPr>
          <p:cNvSpPr>
            <a:spLocks xmlns:a="http://schemas.openxmlformats.org/drawingml/2006/main" noGrp="1"/>
          </p:cNvSpPr>
          <p:nvPr/>
        </p:nvSpPr>
        <p:spPr>
          <a:xfrm xmlns:a="http://schemas.openxmlformats.org/drawingml/2006/main">
            <a:off x="3829050" y="2038350"/>
            <a:ext cx="0" cy="342900"/>
          </a:xfrm>
          <a:prstGeom xmlns:a="http://schemas.openxmlformats.org/drawingml/2006/main" prst="line">
            <a:avLst/>
          </a:prstGeom>
          <a:noFill xmlns:a="http://schemas.openxmlformats.org/drawingml/2006/main"/>
          <a:ln xmlns:a="http://schemas.openxmlformats.org/drawingml/2006/main" w="13335">
            <a:solidFill>
              <a:srgbClr val="78974E"/>
            </a:solidFill>
            <a:prstDash val="solid"/>
          </a:ln>
        </p:spPr>
      </p:sp>
      <p:sp>
        <p:nvSpPr>
          <p:cNvPr id="22" name="">
            <a:extLst xmlns:a="http://schemas.openxmlformats.org/drawingml/2006/main">
              <a:ext uri="{FF2B5EF4-FFF2-40B4-BE49-F238E27FC236}">
                <a16:creationId xmlns:a16="http://schemas.microsoft.com/office/drawing/2014/main" id="{716478B9-5588-467F-8E46-A958574AD411}"/>
              </a:ext>
            </a:extLst>
          </p:cNvPr>
          <p:cNvSpPr>
            <a:spLocks xmlns:a="http://schemas.openxmlformats.org/drawingml/2006/main" noGrp="1"/>
          </p:cNvSpPr>
          <p:nvPr/>
        </p:nvSpPr>
        <p:spPr>
          <a:xfrm xmlns:a="http://schemas.openxmlformats.org/drawingml/2006/main">
            <a:off x="3829050" y="2038350"/>
            <a:ext cx="3714750" cy="0"/>
          </a:xfrm>
          <a:prstGeom xmlns:a="http://schemas.openxmlformats.org/drawingml/2006/main" prst="line">
            <a:avLst/>
          </a:prstGeom>
          <a:noFill xmlns:a="http://schemas.openxmlformats.org/drawingml/2006/main"/>
          <a:ln xmlns:a="http://schemas.openxmlformats.org/drawingml/2006/main" w="13335">
            <a:solidFill>
              <a:srgbClr val="78974E"/>
            </a:solidFill>
            <a:prstDash val="solid"/>
          </a:ln>
        </p:spPr>
      </p:sp>
      <p:cxnSp>
        <p:nvCxnSpPr>
          <p:cNvPr id="23" name="">
            <a:extLst xmlns:a="http://schemas.openxmlformats.org/drawingml/2006/main">
              <a:ext uri="{FF2B5EF4-FFF2-40B4-BE49-F238E27FC236}">
                <a16:creationId xmlns:a16="http://schemas.microsoft.com/office/drawing/2014/main" id="{5EF43EF2-5076-4B42-81AA-1F606F121C67}"/>
              </a:ext>
            </a:extLst>
          </p:cNvPr>
          <p:cNvCxnSpPr/>
          <p:nvPr/>
        </p:nvCxnSpPr>
        <p:spPr>
          <a:xfrm xmlns:a="http://schemas.openxmlformats.org/drawingml/2006/main">
            <a:off x="7543800" y="2038350"/>
            <a:ext cx="0" cy="295275"/>
          </a:xfrm>
          <a:prstGeom xmlns:a="http://schemas.openxmlformats.org/drawingml/2006/main" prst="straightConnector1">
            <a:avLst/>
          </a:prstGeom>
          <a:ln xmlns:a="http://schemas.openxmlformats.org/drawingml/2006/main" w="17145">
            <a:solidFill>
              <a:srgbClr val="78974E"/>
            </a:solidFill>
            <a:tailEnd type="triangle" w="sm" len="sm"/>
          </a:ln>
        </p:spPr>
      </p:cxnSp>
      <p:sp>
        <p:nvSpPr>
          <p:cNvPr id="24" name="">
            <a:extLst xmlns:a="http://schemas.openxmlformats.org/drawingml/2006/main">
              <a:ext uri="{FF2B5EF4-FFF2-40B4-BE49-F238E27FC236}">
                <a16:creationId xmlns:a16="http://schemas.microsoft.com/office/drawing/2014/main" id="{5E16CB00-790F-48BF-8982-185EBDD0EFF2}"/>
              </a:ext>
            </a:extLst>
          </p:cNvPr>
          <p:cNvSpPr>
            <a:spLocks xmlns:a="http://schemas.openxmlformats.org/drawingml/2006/main" noGrp="1"/>
          </p:cNvSpPr>
          <p:nvPr/>
        </p:nvSpPr>
        <p:spPr>
          <a:xfrm xmlns:a="http://schemas.openxmlformats.org/drawingml/2006/main">
            <a:off x="5543550" y="2981325"/>
            <a:ext cx="0" cy="314325"/>
          </a:xfrm>
          <a:prstGeom xmlns:a="http://schemas.openxmlformats.org/drawingml/2006/main" prst="line">
            <a:avLst/>
          </a:prstGeom>
          <a:noFill xmlns:a="http://schemas.openxmlformats.org/drawingml/2006/main"/>
          <a:ln xmlns:a="http://schemas.openxmlformats.org/drawingml/2006/main" w="13335">
            <a:solidFill>
              <a:srgbClr val="78974E"/>
            </a:solidFill>
            <a:prstDash val="solid"/>
          </a:ln>
        </p:spPr>
      </p:sp>
      <p:sp>
        <p:nvSpPr>
          <p:cNvPr id="25" name="">
            <a:extLst xmlns:a="http://schemas.openxmlformats.org/drawingml/2006/main">
              <a:ext uri="{FF2B5EF4-FFF2-40B4-BE49-F238E27FC236}">
                <a16:creationId xmlns:a16="http://schemas.microsoft.com/office/drawing/2014/main" id="{C51530B8-A18B-4515-872B-F2BFD38C1FE8}"/>
              </a:ext>
            </a:extLst>
          </p:cNvPr>
          <p:cNvSpPr>
            <a:spLocks xmlns:a="http://schemas.openxmlformats.org/drawingml/2006/main" noGrp="1"/>
          </p:cNvSpPr>
          <p:nvPr/>
        </p:nvSpPr>
        <p:spPr>
          <a:xfrm xmlns:a="http://schemas.openxmlformats.org/drawingml/2006/main">
            <a:off x="5543550" y="3295650"/>
            <a:ext cx="4019550" cy="0"/>
          </a:xfrm>
          <a:prstGeom xmlns:a="http://schemas.openxmlformats.org/drawingml/2006/main" prst="line">
            <a:avLst/>
          </a:prstGeom>
          <a:noFill xmlns:a="http://schemas.openxmlformats.org/drawingml/2006/main"/>
          <a:ln xmlns:a="http://schemas.openxmlformats.org/drawingml/2006/main" w="13335">
            <a:solidFill>
              <a:srgbClr val="78974E"/>
            </a:solidFill>
            <a:prstDash val="solid"/>
          </a:ln>
        </p:spPr>
      </p:sp>
      <p:cxnSp>
        <p:nvCxnSpPr>
          <p:cNvPr id="26" name="">
            <a:extLst xmlns:a="http://schemas.openxmlformats.org/drawingml/2006/main">
              <a:ext uri="{FF2B5EF4-FFF2-40B4-BE49-F238E27FC236}">
                <a16:creationId xmlns:a16="http://schemas.microsoft.com/office/drawing/2014/main" id="{C8FFFAE6-6ADA-4EA1-97A7-6A8E9AB5FDB7}"/>
              </a:ext>
            </a:extLst>
          </p:cNvPr>
          <p:cNvCxnSpPr/>
          <p:nvPr/>
        </p:nvCxnSpPr>
        <p:spPr>
          <a:xfrm xmlns:a="http://schemas.openxmlformats.org/drawingml/2006/main">
            <a:off x="9563100" y="2981325"/>
            <a:ext cx="0" cy="314325"/>
          </a:xfrm>
          <a:prstGeom xmlns:a="http://schemas.openxmlformats.org/drawingml/2006/main" prst="straightConnector1">
            <a:avLst/>
          </a:prstGeom>
          <a:ln xmlns:a="http://schemas.openxmlformats.org/drawingml/2006/main" w="17145">
            <a:solidFill>
              <a:srgbClr val="78974E"/>
            </a:solidFill>
            <a:headEnd type="triangle" w="sm" len="sm"/>
          </a:ln>
        </p:spPr>
      </p:cxnSp>
      <p:sp>
        <p:nvSpPr>
          <p:cNvPr id="29" name="Vlow">
            <a:extLst xmlns:a="http://schemas.openxmlformats.org/drawingml/2006/main">
              <a:ext uri="{FF2B5EF4-FFF2-40B4-BE49-F238E27FC236}">
                <a16:creationId xmlns:a16="http://schemas.microsoft.com/office/drawing/2014/main" id="{8A97BECF-76CA-401E-96EF-2009BCB210AC}"/>
              </a:ext>
            </a:extLst>
          </p:cNvPr>
          <p:cNvSpPr>
            <a:spLocks xmlns:a="http://schemas.openxmlformats.org/drawingml/2006/main" noGrp="1"/>
          </p:cNvSpPr>
          <p:nvPr/>
        </p:nvSpPr>
        <p:spPr>
          <a:xfrm xmlns:a="http://schemas.openxmlformats.org/drawingml/2006/main">
            <a:off x="9267825" y="1781175"/>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4F82AF"/>
                </a:solidFill>
                <a:latin typeface="Calibri"/>
                <a:ea typeface="Calibri"/>
                <a:cs typeface="Calibri"/>
              </a:defRPr>
            </a:defPPr>
          </a:lstStyle>
          <a:p xmlns:a="http://schemas.openxmlformats.org/drawingml/2006/main">
            <a:pPr algn="l">
              <a:defRPr sz="1575" b="0">
                <a:solidFill>
                  <a:srgbClr val="4F82AF"/>
                </a:solidFill>
                <a:latin typeface="Calibri"/>
                <a:ea typeface="Calibri"/>
                <a:cs typeface="Calibri"/>
              </a:defRPr>
            </a:pPr>
            <a:r>
              <a:rPr sz="1575" b="0">
                <a:solidFill>
                  <a:srgbClr val="4F82AF"/>
                </a:solidFill>
                <a:latin typeface="Calibri"/>
                <a:ea typeface="Calibri"/>
                <a:cs typeface="Calibri"/>
              </a:rPr>
              <a:t>Vlow</a:t>
            </a:r>
          </a:p>
        </p:txBody>
      </p:sp>
      <p:cxnSp>
        <p:nvCxnSpPr>
          <p:cNvPr id="30" name="">
            <a:extLst xmlns:a="http://schemas.openxmlformats.org/drawingml/2006/main">
              <a:ext uri="{FF2B5EF4-FFF2-40B4-BE49-F238E27FC236}">
                <a16:creationId xmlns:a16="http://schemas.microsoft.com/office/drawing/2014/main" id="{24489040-1D31-4C07-B11A-77AAB5F52865}"/>
              </a:ext>
            </a:extLst>
          </p:cNvPr>
          <p:cNvCxnSpPr/>
          <p:nvPr/>
        </p:nvCxnSpPr>
        <p:spPr>
          <a:xfrm xmlns:a="http://schemas.openxmlformats.org/drawingml/2006/main">
            <a:off x="9563100" y="2066925"/>
            <a:ext cx="0" cy="266700"/>
          </a:xfrm>
          <a:prstGeom xmlns:a="http://schemas.openxmlformats.org/drawingml/2006/main" prst="straightConnector1">
            <a:avLst/>
          </a:prstGeom>
          <a:ln xmlns:a="http://schemas.openxmlformats.org/drawingml/2006/main" w="17145">
            <a:solidFill>
              <a:srgbClr val="4F82AF"/>
            </a:solidFill>
            <a:tailEnd type="triangle" w="sm" len="sm"/>
          </a:ln>
        </p:spPr>
      </p:cxnSp>
      <p:sp>
        <p:nvSpPr>
          <p:cNvPr id="34" name="S">
            <a:extLst xmlns:a="http://schemas.openxmlformats.org/drawingml/2006/main">
              <a:ext uri="{FF2B5EF4-FFF2-40B4-BE49-F238E27FC236}">
                <a16:creationId xmlns:a16="http://schemas.microsoft.com/office/drawing/2014/main" id="{E260E40E-F609-4C78-AC56-0729C3FF5415}"/>
              </a:ext>
            </a:extLst>
          </p:cNvPr>
          <p:cNvSpPr>
            <a:spLocks xmlns:a="http://schemas.openxmlformats.org/drawingml/2006/main" noGrp="1"/>
          </p:cNvSpPr>
          <p:nvPr/>
        </p:nvSpPr>
        <p:spPr>
          <a:xfrm xmlns:a="http://schemas.openxmlformats.org/drawingml/2006/main">
            <a:off x="7448550" y="3400425"/>
            <a:ext cx="400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78974E"/>
                </a:solidFill>
                <a:latin typeface="Calibri"/>
                <a:ea typeface="Calibri"/>
                <a:cs typeface="Calibri"/>
              </a:defRPr>
            </a:defPPr>
          </a:lstStyle>
          <a:p xmlns:a="http://schemas.openxmlformats.org/drawingml/2006/main">
            <a:pPr algn="l">
              <a:defRPr sz="1650" b="1">
                <a:solidFill>
                  <a:srgbClr val="78974E"/>
                </a:solidFill>
                <a:latin typeface="Calibri"/>
                <a:ea typeface="Calibri"/>
                <a:cs typeface="Calibri"/>
              </a:defRPr>
            </a:pPr>
            <a:r>
              <a:rPr sz="1650" b="1">
                <a:solidFill>
                  <a:srgbClr val="78974E"/>
                </a:solidFill>
                <a:latin typeface="Calibri"/>
                <a:ea typeface="Calibri"/>
                <a:cs typeface="Calibri"/>
              </a:rPr>
              <a:t>S</a:t>
            </a:r>
          </a:p>
        </p:txBody>
      </p:sp>
      <p:sp>
        <p:nvSpPr>
          <p:cNvPr id="35" name="">
            <a:extLst xmlns:a="http://schemas.openxmlformats.org/drawingml/2006/main">
              <a:ext uri="{FF2B5EF4-FFF2-40B4-BE49-F238E27FC236}">
                <a16:creationId xmlns:a16="http://schemas.microsoft.com/office/drawing/2014/main" id="{76281A6B-25DF-48F6-95D2-019B021F75EC}"/>
              </a:ext>
            </a:extLst>
          </p:cNvPr>
          <p:cNvSpPr>
            <a:spLocks xmlns:a="http://schemas.openxmlformats.org/drawingml/2006/main" noGrp="1"/>
          </p:cNvSpPr>
          <p:nvPr/>
        </p:nvSpPr>
        <p:spPr>
          <a:xfrm xmlns:a="http://schemas.openxmlformats.org/drawingml/2006/main">
            <a:off x="3829050" y="4686300"/>
            <a:ext cx="0" cy="238125"/>
          </a:xfrm>
          <a:prstGeom xmlns:a="http://schemas.openxmlformats.org/drawingml/2006/main" prst="line">
            <a:avLst/>
          </a:prstGeom>
          <a:noFill xmlns:a="http://schemas.openxmlformats.org/drawingml/2006/main"/>
          <a:ln xmlns:a="http://schemas.openxmlformats.org/drawingml/2006/main" w="13335">
            <a:solidFill>
              <a:srgbClr val="CA863D"/>
            </a:solidFill>
            <a:prstDash val="solid"/>
          </a:ln>
        </p:spPr>
      </p:sp>
      <p:sp>
        <p:nvSpPr>
          <p:cNvPr id="36" name="">
            <a:extLst xmlns:a="http://schemas.openxmlformats.org/drawingml/2006/main">
              <a:ext uri="{FF2B5EF4-FFF2-40B4-BE49-F238E27FC236}">
                <a16:creationId xmlns:a16="http://schemas.microsoft.com/office/drawing/2014/main" id="{CB0A84DA-6F4B-440B-A49D-68963DCDB3FE}"/>
              </a:ext>
            </a:extLst>
          </p:cNvPr>
          <p:cNvSpPr>
            <a:spLocks xmlns:a="http://schemas.openxmlformats.org/drawingml/2006/main" noGrp="1"/>
          </p:cNvSpPr>
          <p:nvPr/>
        </p:nvSpPr>
        <p:spPr>
          <a:xfrm xmlns:a="http://schemas.openxmlformats.org/drawingml/2006/main">
            <a:off x="3829050" y="4924425"/>
            <a:ext cx="5038725" cy="0"/>
          </a:xfrm>
          <a:prstGeom xmlns:a="http://schemas.openxmlformats.org/drawingml/2006/main" prst="line">
            <a:avLst/>
          </a:prstGeom>
          <a:noFill xmlns:a="http://schemas.openxmlformats.org/drawingml/2006/main"/>
          <a:ln xmlns:a="http://schemas.openxmlformats.org/drawingml/2006/main" w="13335">
            <a:solidFill>
              <a:srgbClr val="CA863D"/>
            </a:solidFill>
            <a:prstDash val="solid"/>
          </a:ln>
        </p:spPr>
      </p:sp>
      <p:cxnSp>
        <p:nvCxnSpPr>
          <p:cNvPr id="37" name="">
            <a:extLst xmlns:a="http://schemas.openxmlformats.org/drawingml/2006/main">
              <a:ext uri="{FF2B5EF4-FFF2-40B4-BE49-F238E27FC236}">
                <a16:creationId xmlns:a16="http://schemas.microsoft.com/office/drawing/2014/main" id="{DB7AAC7A-68E6-4417-BD90-BB6262E6D2BC}"/>
              </a:ext>
            </a:extLst>
          </p:cNvPr>
          <p:cNvCxnSpPr/>
          <p:nvPr/>
        </p:nvCxnSpPr>
        <p:spPr>
          <a:xfrm xmlns:a="http://schemas.openxmlformats.org/drawingml/2006/main">
            <a:off x="8867775" y="4743450"/>
            <a:ext cx="0" cy="180975"/>
          </a:xfrm>
          <a:prstGeom xmlns:a="http://schemas.openxmlformats.org/drawingml/2006/main" prst="straightConnector1">
            <a:avLst/>
          </a:prstGeom>
          <a:ln xmlns:a="http://schemas.openxmlformats.org/drawingml/2006/main" w="17145">
            <a:solidFill>
              <a:srgbClr val="CA863D"/>
            </a:solidFill>
            <a:headEnd type="triangle" w="sm" len="sm"/>
          </a:ln>
        </p:spPr>
      </p:cxnSp>
      <p:sp>
        <p:nvSpPr>
          <p:cNvPr id="41" name="">
            <a:extLst xmlns:a="http://schemas.openxmlformats.org/drawingml/2006/main">
              <a:ext uri="{FF2B5EF4-FFF2-40B4-BE49-F238E27FC236}">
                <a16:creationId xmlns:a16="http://schemas.microsoft.com/office/drawing/2014/main" id="{9A700C6D-3F47-4AF8-A123-2D091E83F3A1}"/>
              </a:ext>
            </a:extLst>
          </p:cNvPr>
          <p:cNvSpPr>
            <a:spLocks xmlns:a="http://schemas.openxmlformats.org/drawingml/2006/main" noGrp="1"/>
          </p:cNvSpPr>
          <p:nvPr/>
        </p:nvSpPr>
        <p:spPr>
          <a:xfrm xmlns:a="http://schemas.openxmlformats.org/drawingml/2006/main">
            <a:off x="1019175" y="3705225"/>
            <a:ext cx="0" cy="1428750"/>
          </a:xfrm>
          <a:prstGeom xmlns:a="http://schemas.openxmlformats.org/drawingml/2006/main" prst="line">
            <a:avLst/>
          </a:prstGeom>
          <a:noFill xmlns:a="http://schemas.openxmlformats.org/drawingml/2006/main"/>
          <a:ln xmlns:a="http://schemas.openxmlformats.org/drawingml/2006/main" w="13335">
            <a:solidFill>
              <a:srgbClr val="8586B7"/>
            </a:solidFill>
            <a:prstDash val="solid"/>
          </a:ln>
        </p:spPr>
      </p:sp>
      <p:sp>
        <p:nvSpPr>
          <p:cNvPr id="42" name="">
            <a:extLst xmlns:a="http://schemas.openxmlformats.org/drawingml/2006/main">
              <a:ext uri="{FF2B5EF4-FFF2-40B4-BE49-F238E27FC236}">
                <a16:creationId xmlns:a16="http://schemas.microsoft.com/office/drawing/2014/main" id="{267BA4E1-6612-4F7C-A5A8-11D627395F92}"/>
              </a:ext>
            </a:extLst>
          </p:cNvPr>
          <p:cNvSpPr>
            <a:spLocks xmlns:a="http://schemas.openxmlformats.org/drawingml/2006/main" noGrp="1"/>
          </p:cNvSpPr>
          <p:nvPr/>
        </p:nvSpPr>
        <p:spPr>
          <a:xfrm xmlns:a="http://schemas.openxmlformats.org/drawingml/2006/main">
            <a:off x="1019175" y="5133975"/>
            <a:ext cx="9772650" cy="0"/>
          </a:xfrm>
          <a:prstGeom xmlns:a="http://schemas.openxmlformats.org/drawingml/2006/main" prst="line">
            <a:avLst/>
          </a:prstGeom>
          <a:noFill xmlns:a="http://schemas.openxmlformats.org/drawingml/2006/main"/>
          <a:ln xmlns:a="http://schemas.openxmlformats.org/drawingml/2006/main" w="13335">
            <a:solidFill>
              <a:srgbClr val="8586B7"/>
            </a:solidFill>
            <a:prstDash val="solid"/>
          </a:ln>
        </p:spPr>
      </p:sp>
      <p:cxnSp>
        <p:nvCxnSpPr>
          <p:cNvPr id="43" name="">
            <a:extLst xmlns:a="http://schemas.openxmlformats.org/drawingml/2006/main">
              <a:ext uri="{FF2B5EF4-FFF2-40B4-BE49-F238E27FC236}">
                <a16:creationId xmlns:a16="http://schemas.microsoft.com/office/drawing/2014/main" id="{7244119E-AFE3-4AD5-9DA0-8664C03BAB97}"/>
              </a:ext>
            </a:extLst>
          </p:cNvPr>
          <p:cNvCxnSpPr/>
          <p:nvPr/>
        </p:nvCxnSpPr>
        <p:spPr>
          <a:xfrm xmlns:a="http://schemas.openxmlformats.org/drawingml/2006/main">
            <a:off x="10791825" y="3724275"/>
            <a:ext cx="0" cy="1409700"/>
          </a:xfrm>
          <a:prstGeom xmlns:a="http://schemas.openxmlformats.org/drawingml/2006/main" prst="straightConnector1">
            <a:avLst/>
          </a:prstGeom>
          <a:ln xmlns:a="http://schemas.openxmlformats.org/drawingml/2006/main" w="17145">
            <a:solidFill>
              <a:srgbClr val="8586B7"/>
            </a:solidFill>
            <a:headEnd type="triangle" w="sm" len="sm"/>
          </a:ln>
        </p:spPr>
      </p:cxnSp>
      <p:sp>
        <p:nvSpPr>
          <p:cNvPr id="44" name="Identity">
            <a:extLst xmlns:a="http://schemas.openxmlformats.org/drawingml/2006/main">
              <a:ext uri="{FF2B5EF4-FFF2-40B4-BE49-F238E27FC236}">
                <a16:creationId xmlns:a16="http://schemas.microsoft.com/office/drawing/2014/main" id="{E25A5B5A-BD72-49F3-B85C-A71B19695E42}"/>
              </a:ext>
            </a:extLst>
          </p:cNvPr>
          <p:cNvSpPr>
            <a:spLocks xmlns:a="http://schemas.openxmlformats.org/drawingml/2006/main" noGrp="1"/>
          </p:cNvSpPr>
          <p:nvPr/>
        </p:nvSpPr>
        <p:spPr>
          <a:xfrm xmlns:a="http://schemas.openxmlformats.org/drawingml/2006/main">
            <a:off x="3409950" y="4867275"/>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8586B7"/>
                </a:solidFill>
                <a:latin typeface="Calibri"/>
                <a:ea typeface="Calibri"/>
                <a:cs typeface="Calibri"/>
              </a:defRPr>
            </a:defPPr>
          </a:lstStyle>
          <a:p xmlns:a="http://schemas.openxmlformats.org/drawingml/2006/main">
            <a:pPr algn="l">
              <a:defRPr sz="1500" b="0">
                <a:solidFill>
                  <a:srgbClr val="8586B7"/>
                </a:solidFill>
                <a:latin typeface="Calibri"/>
                <a:ea typeface="Calibri"/>
                <a:cs typeface="Calibri"/>
              </a:defRPr>
            </a:pPr>
            <a:r>
              <a:rPr sz="1500" b="0">
                <a:solidFill>
                  <a:srgbClr val="8586B7"/>
                </a:solidFill>
                <a:latin typeface="Calibri"/>
                <a:ea typeface="Calibri"/>
                <a:cs typeface="Calibri"/>
              </a:rPr>
              <a:t>Identity</a:t>
            </a:r>
          </a:p>
        </p:txBody>
      </p:sp>
      <p:sp>
        <p:nvSpPr>
          <p:cNvPr id="45" name="Y = C* + Rsem + αd Rdetail + Radapt">
            <a:extLst xmlns:a="http://schemas.openxmlformats.org/drawingml/2006/main">
              <a:ext uri="{FF2B5EF4-FFF2-40B4-BE49-F238E27FC236}">
                <a16:creationId xmlns:a16="http://schemas.microsoft.com/office/drawing/2014/main" id="{E2335925-372C-477C-B359-2B4FF71AB9AD}"/>
              </a:ext>
            </a:extLst>
          </p:cNvPr>
          <p:cNvSpPr>
            <a:spLocks xmlns:a="http://schemas.openxmlformats.org/drawingml/2006/main" noGrp="1"/>
          </p:cNvSpPr>
          <p:nvPr/>
        </p:nvSpPr>
        <p:spPr>
          <a:xfrm xmlns:a="http://schemas.openxmlformats.org/drawingml/2006/main">
            <a:off x="638175" y="5562600"/>
            <a:ext cx="904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202124"/>
                </a:solidFill>
                <a:latin typeface="Calibri"/>
                <a:ea typeface="Calibri"/>
                <a:cs typeface="Calibri"/>
              </a:defRPr>
            </a:defPPr>
          </a:lstStyle>
          <a:p xmlns:a="http://schemas.openxmlformats.org/drawingml/2006/main">
            <a:pPr algn="l">
              <a:defRPr sz="2325" b="1">
                <a:solidFill>
                  <a:srgbClr val="202124"/>
                </a:solidFill>
                <a:latin typeface="Calibri"/>
                <a:ea typeface="Calibri"/>
                <a:cs typeface="Calibri"/>
              </a:defRPr>
            </a:pPr>
            <a:r>
              <a:rPr sz="2325" b="1">
                <a:solidFill>
                  <a:srgbClr val="202124"/>
                </a:solidFill>
                <a:latin typeface="Calibri"/>
                <a:ea typeface="Calibri"/>
                <a:cs typeface="Calibri"/>
              </a:rPr>
              <a:t>Y = C* + Rsem + αd Rdetail + Radapt</a:t>
            </a:r>
          </a:p>
        </p:txBody>
      </p:sp>
      <p:sp>
        <p:nvSpPr>
          <p:cNvPr id="46" name="Rsem: channel, region and ViT residuals · Radapt and D′">
            <a:extLst xmlns:a="http://schemas.openxmlformats.org/drawingml/2006/main">
              <a:ext uri="{FF2B5EF4-FFF2-40B4-BE49-F238E27FC236}">
                <a16:creationId xmlns:a16="http://schemas.microsoft.com/office/drawing/2014/main" id="{DC4AA265-FBB6-4950-9689-05E00449BB8E}"/>
              </a:ext>
            </a:extLst>
          </p:cNvPr>
          <p:cNvSpPr>
            <a:spLocks xmlns:a="http://schemas.openxmlformats.org/drawingml/2006/main" noGrp="1"/>
          </p:cNvSpPr>
          <p:nvPr/>
        </p:nvSpPr>
        <p:spPr>
          <a:xfrm xmlns:a="http://schemas.openxmlformats.org/drawingml/2006/main">
            <a:off x="638175" y="6048375"/>
            <a:ext cx="10915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62686C"/>
                </a:solidFill>
                <a:latin typeface="Calibri"/>
                <a:ea typeface="Calibri"/>
                <a:cs typeface="Calibri"/>
              </a:defRPr>
            </a:defPPr>
          </a:lstStyle>
          <a:p xmlns:a="http://schemas.openxmlformats.org/drawingml/2006/main">
            <a:pPr algn="l">
              <a:defRPr sz="1575" b="0">
                <a:solidFill>
                  <a:srgbClr val="62686C"/>
                </a:solidFill>
                <a:latin typeface="Calibri"/>
                <a:ea typeface="Calibri"/>
                <a:cs typeface="Calibri"/>
              </a:defRPr>
            </a:pPr>
            <a:r>
              <a:rPr sz="1575" b="0">
                <a:solidFill>
                  <a:srgbClr val="62686C"/>
                </a:solidFill>
                <a:latin typeface="Calibri"/>
                <a:ea typeface="Calibri"/>
                <a:cs typeface="Calibri"/>
              </a:rPr>
              <a:t>Rsem: channel, region and ViT residuals · Radapt and D′: adaptive branch → backup</a:t>
            </a:r>
          </a:p>
        </p:txBody>
      </p:sp>
    </p:spTree>
    <p:extLst>
      <p:ext uri="{BB962C8B-B14F-4D97-AF65-F5344CB8AC3E}">
        <p14:creationId xmlns:p14="http://schemas.microsoft.com/office/powerpoint/2010/main" val="694801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3" name="">
            <a:extLst xmlns:a="http://schemas.openxmlformats.org/drawingml/2006/main">
              <a:ext uri="{FF2B5EF4-FFF2-40B4-BE49-F238E27FC236}">
                <a16:creationId xmlns:a16="http://schemas.microsoft.com/office/drawing/2014/main" id="{0963A4E2-B3E0-496B-8001-FD5BBB5C3C66}"/>
              </a:ext>
            </a:extLst>
          </p:cNvPr>
          <p:cNvCxnSpPr>
            <a:stCxn xmlns:a="http://schemas.openxmlformats.org/drawingml/2006/main" id="17" idx="0"/>
            <a:endCxn xmlns:a="http://schemas.openxmlformats.org/drawingml/2006/main" id="20" idx="1"/>
          </p:cNvCxnSpPr>
          <p:nvPr/>
        </p:nvCxnSpPr>
        <p:spPr>
          <a:xfrm xmlns:a="http://schemas.openxmlformats.org/drawingml/2006/main" flipV="1">
            <a:off x="2914650" y="3143250"/>
            <a:ext cx="6419850" cy="809625"/>
          </a:xfrm>
          <a:prstGeom xmlns:a="http://schemas.openxmlformats.org/drawingml/2006/main" prst="bentConnector4">
            <a:avLst/>
          </a:prstGeom>
          <a:ln xmlns:a="http://schemas.openxmlformats.org/drawingml/2006/main" w="17145">
            <a:solidFill>
              <a:srgbClr val="4F82AF"/>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5A09D46F-A19B-48D3-8E73-29576D1119ED}"/>
              </a:ext>
            </a:extLst>
          </p:cNvPr>
          <p:cNvCxnSpPr>
            <a:stCxn xmlns:a="http://schemas.openxmlformats.org/drawingml/2006/main" id="9" idx="3"/>
            <a:endCxn xmlns:a="http://schemas.openxmlformats.org/drawingml/2006/main" id="20" idx="0"/>
          </p:cNvCxnSpPr>
          <p:nvPr/>
        </p:nvCxnSpPr>
        <p:spPr>
          <a:xfrm xmlns:a="http://schemas.openxmlformats.org/drawingml/2006/main">
            <a:off x="8629650" y="2405063"/>
            <a:ext cx="1738313" cy="738188"/>
          </a:xfrm>
          <a:prstGeom xmlns:a="http://schemas.openxmlformats.org/drawingml/2006/main" prst="bentConnector2">
            <a:avLst/>
          </a:prstGeom>
          <a:ln xmlns:a="http://schemas.openxmlformats.org/drawingml/2006/main" w="17145">
            <a:solidFill>
              <a:srgbClr val="CA863D"/>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30DD6EC9-C737-4123-AF80-FCBA8D02F949}"/>
              </a:ext>
            </a:extLst>
          </p:cNvPr>
          <p:cNvCxnSpPr>
            <a:stCxn xmlns:a="http://schemas.openxmlformats.org/drawingml/2006/main" id="19" idx="3"/>
            <a:endCxn xmlns:a="http://schemas.openxmlformats.org/drawingml/2006/main" id="20" idx="2"/>
          </p:cNvCxnSpPr>
          <p:nvPr/>
        </p:nvCxnSpPr>
        <p:spPr>
          <a:xfrm xmlns:a="http://schemas.openxmlformats.org/drawingml/2006/main" flipV="1">
            <a:off x="8305800" y="3924300"/>
            <a:ext cx="2062163" cy="333375"/>
          </a:xfrm>
          <a:prstGeom xmlns:a="http://schemas.openxmlformats.org/drawingml/2006/main" prst="bentConnector4">
            <a:avLst/>
          </a:prstGeom>
          <a:ln xmlns:a="http://schemas.openxmlformats.org/drawingml/2006/main" w="17145">
            <a:solidFill>
              <a:srgbClr val="CA863D"/>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B691EF01-EBB6-4E47-92F4-9E43EAE6E4BE}"/>
              </a:ext>
            </a:extLst>
          </p:cNvPr>
          <p:cNvCxnSpPr>
            <a:stCxn xmlns:a="http://schemas.openxmlformats.org/drawingml/2006/main" id="18" idx="3"/>
            <a:endCxn xmlns:a="http://schemas.openxmlformats.org/drawingml/2006/main" id="19" idx="1"/>
          </p:cNvCxnSpPr>
          <p:nvPr/>
        </p:nvCxnSpPr>
        <p:spPr>
          <a:xfrm xmlns:a="http://schemas.openxmlformats.org/drawingml/2006/main">
            <a:off x="5876925" y="4238625"/>
            <a:ext cx="476250" cy="0"/>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98C35C96-B5BF-4510-BED6-19647F31B9A5}"/>
              </a:ext>
            </a:extLst>
          </p:cNvPr>
          <p:cNvCxnSpPr>
            <a:stCxn xmlns:a="http://schemas.openxmlformats.org/drawingml/2006/main" id="17" idx="3"/>
            <a:endCxn xmlns:a="http://schemas.openxmlformats.org/drawingml/2006/main" id="18" idx="1"/>
          </p:cNvCxnSpPr>
          <p:nvPr/>
        </p:nvCxnSpPr>
        <p:spPr>
          <a:xfrm xmlns:a="http://schemas.openxmlformats.org/drawingml/2006/main" flipV="1">
            <a:off x="3819525" y="4238625"/>
            <a:ext cx="504825" cy="80963"/>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E4279ECD-1914-460A-80A6-4E2534C6F469}"/>
              </a:ext>
            </a:extLst>
          </p:cNvPr>
          <p:cNvCxnSpPr>
            <a:stCxn xmlns:a="http://schemas.openxmlformats.org/drawingml/2006/main" id="16" idx="5"/>
            <a:endCxn xmlns:a="http://schemas.openxmlformats.org/drawingml/2006/main" id="17" idx="1"/>
          </p:cNvCxnSpPr>
          <p:nvPr/>
        </p:nvCxnSpPr>
        <p:spPr>
          <a:xfrm xmlns:a="http://schemas.openxmlformats.org/drawingml/2006/main">
            <a:off x="1476375" y="4287441"/>
            <a:ext cx="533400" cy="32147"/>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47BBE3EA-453B-40B3-BD60-39324A884C79}"/>
              </a:ext>
            </a:extLst>
          </p:cNvPr>
          <p:cNvCxnSpPr>
            <a:stCxn xmlns:a="http://schemas.openxmlformats.org/drawingml/2006/main" id="8" idx="3"/>
            <a:endCxn xmlns:a="http://schemas.openxmlformats.org/drawingml/2006/main" id="9" idx="0"/>
          </p:cNvCxnSpPr>
          <p:nvPr/>
        </p:nvCxnSpPr>
        <p:spPr>
          <a:xfrm xmlns:a="http://schemas.openxmlformats.org/drawingml/2006/main">
            <a:off x="6677025" y="1714500"/>
            <a:ext cx="1214438" cy="409575"/>
          </a:xfrm>
          <a:prstGeom xmlns:a="http://schemas.openxmlformats.org/drawingml/2006/main" prst="bentConnector2">
            <a:avLst/>
          </a:prstGeom>
          <a:ln xmlns:a="http://schemas.openxmlformats.org/drawingml/2006/main" w="17145">
            <a:solidFill>
              <a:srgbClr val="B39938"/>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EEBB3AF4-4735-40E1-9446-E6BBB1D13BBC}"/>
              </a:ext>
            </a:extLst>
          </p:cNvPr>
          <p:cNvCxnSpPr>
            <a:stCxn xmlns:a="http://schemas.openxmlformats.org/drawingml/2006/main" id="7" idx="6"/>
            <a:endCxn xmlns:a="http://schemas.openxmlformats.org/drawingml/2006/main" id="9" idx="1"/>
          </p:cNvCxnSpPr>
          <p:nvPr/>
        </p:nvCxnSpPr>
        <p:spPr>
          <a:xfrm xmlns:a="http://schemas.openxmlformats.org/drawingml/2006/main" flipV="1">
            <a:off x="4629150" y="2405063"/>
            <a:ext cx="2524125" cy="33338"/>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9CA665A2-800E-4EF0-A447-F2AFEB7862E8}"/>
              </a:ext>
            </a:extLst>
          </p:cNvPr>
          <p:cNvCxnSpPr>
            <a:stCxn xmlns:a="http://schemas.openxmlformats.org/drawingml/2006/main" id="6" idx="3"/>
            <a:endCxn xmlns:a="http://schemas.openxmlformats.org/drawingml/2006/main" id="7" idx="2"/>
          </p:cNvCxnSpPr>
          <p:nvPr/>
        </p:nvCxnSpPr>
        <p:spPr>
          <a:xfrm xmlns:a="http://schemas.openxmlformats.org/drawingml/2006/main">
            <a:off x="3600450" y="2405063"/>
            <a:ext cx="495300" cy="33338"/>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E6D51F75-E905-49F8-8A32-4E0EC9FA9CA5}"/>
              </a:ext>
            </a:extLst>
          </p:cNvPr>
          <p:cNvCxnSpPr>
            <a:stCxn xmlns:a="http://schemas.openxmlformats.org/drawingml/2006/main" id="5" idx="5"/>
            <a:endCxn xmlns:a="http://schemas.openxmlformats.org/drawingml/2006/main" id="6" idx="1"/>
          </p:cNvCxnSpPr>
          <p:nvPr/>
        </p:nvCxnSpPr>
        <p:spPr>
          <a:xfrm xmlns:a="http://schemas.openxmlformats.org/drawingml/2006/main">
            <a:off x="1476375" y="2334816"/>
            <a:ext cx="533400" cy="70247"/>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sp>
        <p:nvSpPr>
          <p:cNvPr id="37" name="RACE: prior, evidence and agreement">
            <a:extLst xmlns:a="http://schemas.openxmlformats.org/drawingml/2006/main">
              <a:ext uri="{FF2B5EF4-FFF2-40B4-BE49-F238E27FC236}">
                <a16:creationId xmlns:a16="http://schemas.microsoft.com/office/drawing/2014/main" id="{A300629A-7153-4D1C-B887-7C37FAEAACE7}"/>
              </a:ext>
            </a:extLst>
          </p:cNvPr>
          <p:cNvSpPr>
            <a:spLocks xmlns:a="http://schemas.openxmlformats.org/drawingml/2006/main" noGrp="1"/>
          </p:cNvSpPr>
          <p:nvPr/>
        </p:nvSpPr>
        <p:spPr>
          <a:xfrm xmlns:a="http://schemas.openxmlformats.org/drawingml/2006/main">
            <a:off x="638175" y="361950"/>
            <a:ext cx="10915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02124"/>
                </a:solidFill>
                <a:latin typeface="Cambria"/>
                <a:ea typeface="Cambria"/>
                <a:cs typeface="Cambria"/>
              </a:defRPr>
            </a:defPPr>
          </a:lstStyle>
          <a:p xmlns:a="http://schemas.openxmlformats.org/drawingml/2006/main">
            <a:pPr algn="l">
              <a:defRPr sz="3000" b="1">
                <a:solidFill>
                  <a:srgbClr val="202124"/>
                </a:solidFill>
                <a:latin typeface="Cambria"/>
                <a:ea typeface="Cambria"/>
                <a:cs typeface="Cambria"/>
              </a:defRPr>
            </a:pPr>
            <a:r>
              <a:rPr sz="3000" b="1">
                <a:solidFill>
                  <a:srgbClr val="202124"/>
                </a:solidFill>
                <a:latin typeface="Cambria"/>
                <a:ea typeface="Cambria"/>
                <a:cs typeface="Cambria"/>
              </a:rPr>
              <a:t>RACE: prior, evidence and agreement</a:t>
            </a:r>
          </a:p>
        </p:txBody>
      </p:sp>
      <p:sp>
        <p:nvSpPr>
          <p:cNvPr id="2" name="C1–C4 skips · bounded residual update · auxiliary objec">
            <a:extLst xmlns:a="http://schemas.openxmlformats.org/drawingml/2006/main">
              <a:ext uri="{FF2B5EF4-FFF2-40B4-BE49-F238E27FC236}">
                <a16:creationId xmlns:a16="http://schemas.microsoft.com/office/drawing/2014/main" id="{A3113599-96AA-4E6E-BD5C-8CCCB57E29F6}"/>
              </a:ext>
            </a:extLst>
          </p:cNvPr>
          <p:cNvSpPr>
            <a:spLocks xmlns:a="http://schemas.openxmlformats.org/drawingml/2006/main" noGrp="1"/>
          </p:cNvSpPr>
          <p:nvPr/>
        </p:nvSpPr>
        <p:spPr>
          <a:xfrm xmlns:a="http://schemas.openxmlformats.org/drawingml/2006/main">
            <a:off x="638175" y="6477000"/>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929699"/>
                </a:solidFill>
                <a:latin typeface="Calibri"/>
                <a:ea typeface="Calibri"/>
                <a:cs typeface="Calibri"/>
              </a:defRPr>
            </a:defPPr>
          </a:lstStyle>
          <a:p xmlns:a="http://schemas.openxmlformats.org/drawingml/2006/main">
            <a:pPr algn="l">
              <a:defRPr sz="900" b="0">
                <a:solidFill>
                  <a:srgbClr val="929699"/>
                </a:solidFill>
                <a:latin typeface="Calibri"/>
                <a:ea typeface="Calibri"/>
                <a:cs typeface="Calibri"/>
              </a:defRPr>
            </a:pPr>
            <a:r>
              <a:rPr sz="900" b="0">
                <a:solidFill>
                  <a:srgbClr val="929699"/>
                </a:solidFill>
                <a:latin typeface="Calibri"/>
                <a:ea typeface="Calibri"/>
                <a:cs typeface="Calibri"/>
              </a:rPr>
              <a:t>C1–C4 skips · bounded residual update · auxiliary objectives are used during training</a:t>
            </a:r>
          </a:p>
        </p:txBody>
      </p:sp>
      <p:sp>
        <p:nvSpPr>
          <p:cNvPr id="3" name="7">
            <a:extLst xmlns:a="http://schemas.openxmlformats.org/drawingml/2006/main">
              <a:ext uri="{FF2B5EF4-FFF2-40B4-BE49-F238E27FC236}">
                <a16:creationId xmlns:a16="http://schemas.microsoft.com/office/drawing/2014/main" id="{AC2A1E5F-CFFD-4775-8945-ADEFC0352C06}"/>
              </a:ext>
            </a:extLst>
          </p:cNvPr>
          <p:cNvSpPr>
            <a:spLocks xmlns:a="http://schemas.openxmlformats.org/drawingml/2006/main" noGrp="1"/>
          </p:cNvSpPr>
          <p:nvPr/>
        </p:nvSpPr>
        <p:spPr>
          <a:xfrm xmlns:a="http://schemas.openxmlformats.org/drawingml/2006/main">
            <a:off x="11144250" y="6477000"/>
            <a:ext cx="4095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929699"/>
                </a:solidFill>
                <a:latin typeface="Calibri"/>
                <a:ea typeface="Calibri"/>
                <a:cs typeface="Calibri"/>
              </a:defRPr>
            </a:defPPr>
          </a:lstStyle>
          <a:p xmlns:a="http://schemas.openxmlformats.org/drawingml/2006/main">
            <a:pPr algn="r">
              <a:defRPr sz="900" b="0">
                <a:solidFill>
                  <a:srgbClr val="929699"/>
                </a:solidFill>
                <a:latin typeface="Calibri"/>
                <a:ea typeface="Calibri"/>
                <a:cs typeface="Calibri"/>
              </a:defRPr>
            </a:pPr>
            <a:r>
              <a:rPr sz="900" b="0">
                <a:solidFill>
                  <a:srgbClr val="929699"/>
                </a:solidFill>
                <a:latin typeface="Calibri"/>
                <a:ea typeface="Calibri"/>
                <a:cs typeface="Calibri"/>
              </a:rPr>
              <a:t>7</a:t>
            </a:r>
          </a:p>
        </p:txBody>
      </p:sp>
      <p:sp>
        <p:nvSpPr>
          <p:cNvPr id="4" name="Report prior">
            <a:extLst xmlns:a="http://schemas.openxmlformats.org/drawingml/2006/main">
              <a:ext uri="{FF2B5EF4-FFF2-40B4-BE49-F238E27FC236}">
                <a16:creationId xmlns:a16="http://schemas.microsoft.com/office/drawing/2014/main" id="{264DECD4-E655-4534-9454-3E5010106EF2}"/>
              </a:ext>
            </a:extLst>
          </p:cNvPr>
          <p:cNvSpPr>
            <a:spLocks xmlns:a="http://schemas.openxmlformats.org/drawingml/2006/main" noGrp="1"/>
          </p:cNvSpPr>
          <p:nvPr/>
        </p:nvSpPr>
        <p:spPr>
          <a:xfrm xmlns:a="http://schemas.openxmlformats.org/drawingml/2006/main">
            <a:off x="638175" y="13811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B39938"/>
                </a:solidFill>
                <a:latin typeface="Calibri"/>
                <a:ea typeface="Calibri"/>
                <a:cs typeface="Calibri"/>
              </a:defRPr>
            </a:defPPr>
          </a:lstStyle>
          <a:p xmlns:a="http://schemas.openxmlformats.org/drawingml/2006/main">
            <a:pPr algn="l">
              <a:defRPr sz="2100" b="1">
                <a:solidFill>
                  <a:srgbClr val="B39938"/>
                </a:solidFill>
                <a:latin typeface="Calibri"/>
                <a:ea typeface="Calibri"/>
                <a:cs typeface="Calibri"/>
              </a:defRPr>
            </a:pPr>
            <a:r>
              <a:rPr sz="2100" b="1">
                <a:solidFill>
                  <a:srgbClr val="B39938"/>
                </a:solidFill>
                <a:latin typeface="Calibri"/>
                <a:ea typeface="Calibri"/>
                <a:cs typeface="Calibri"/>
              </a:rPr>
              <a:t>Report prior</a:t>
            </a:r>
          </a:p>
        </p:txBody>
      </p:sp>
      <p:sp>
        <p:nvSpPr>
          <p:cNvPr id="5" name="T">
            <a:extLst xmlns:a="http://schemas.openxmlformats.org/drawingml/2006/main">
              <a:ext uri="{FF2B5EF4-FFF2-40B4-BE49-F238E27FC236}">
                <a16:creationId xmlns:a16="http://schemas.microsoft.com/office/drawing/2014/main" id="{6E26FA17-93E2-4514-9C77-6ED16B98315E}"/>
              </a:ext>
            </a:extLst>
          </p:cNvPr>
          <p:cNvSpPr>
            <a:spLocks xmlns:a="http://schemas.openxmlformats.org/drawingml/2006/main" noGrp="1"/>
          </p:cNvSpPr>
          <p:nvPr/>
        </p:nvSpPr>
        <p:spPr>
          <a:xfrm xmlns:a="http://schemas.openxmlformats.org/drawingml/2006/main">
            <a:off x="638175" y="2124075"/>
            <a:ext cx="838200" cy="561975"/>
          </a:xfrm>
          <a:prstGeom xmlns:a="http://schemas.openxmlformats.org/drawingml/2006/main" prst="cube">
            <a:avLst/>
          </a:prstGeom>
          <a:solidFill xmlns:a="http://schemas.openxmlformats.org/drawingml/2006/main">
            <a:srgbClr val="F7E7AC"/>
          </a:solidFill>
          <a:ln xmlns:a="http://schemas.openxmlformats.org/drawingml/2006/main" w="12383">
            <a:solidFill>
              <a:srgbClr val="B39938"/>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T</a:t>
            </a:r>
          </a:p>
        </p:txBody>
      </p:sp>
      <p:sp>
        <p:nvSpPr>
          <p:cNvPr id="6" name="Masked mean&#10;Slot MLP">
            <a:extLst xmlns:a="http://schemas.openxmlformats.org/drawingml/2006/main">
              <a:ext uri="{FF2B5EF4-FFF2-40B4-BE49-F238E27FC236}">
                <a16:creationId xmlns:a16="http://schemas.microsoft.com/office/drawing/2014/main" id="{4E3F5498-5BB6-48A5-A98C-4C4A452D948F}"/>
              </a:ext>
            </a:extLst>
          </p:cNvPr>
          <p:cNvSpPr>
            <a:spLocks xmlns:a="http://schemas.openxmlformats.org/drawingml/2006/main" noGrp="1"/>
          </p:cNvSpPr>
          <p:nvPr/>
        </p:nvSpPr>
        <p:spPr>
          <a:xfrm xmlns:a="http://schemas.openxmlformats.org/drawingml/2006/main">
            <a:off x="2009775" y="2047875"/>
            <a:ext cx="1590675" cy="714375"/>
          </a:xfrm>
          <a:prstGeom xmlns:a="http://schemas.openxmlformats.org/drawingml/2006/main" prst="roundRect">
            <a:avLst>
              <a:gd name="adj" fmla="val 10667"/>
            </a:avLst>
          </a:prstGeom>
          <a:solidFill xmlns:a="http://schemas.openxmlformats.org/drawingml/2006/main">
            <a:srgbClr val="F7E7AC"/>
          </a:solidFill>
          <a:ln xmlns:a="http://schemas.openxmlformats.org/drawingml/2006/main" w="12383">
            <a:solidFill>
              <a:srgbClr val="B39938"/>
            </a:solidFill>
          </a:ln>
        </p:spPr>
        <p:txBody>
          <a:bodyPr xmlns:a="http://schemas.openxmlformats.org/drawingml/2006/main" wrap="square" lIns="66675" tIns="28575" rIns="66675" bIns="28575" anchor="ctr">
            <a:noAutofit/>
          </a:bodyPr>
          <a:lstStyle xmlns:a="http://schemas.openxmlformats.org/drawingml/2006/main">
            <a:defPPr algn="ctr">
              <a:defRPr sz="1800">
                <a:solidFill>
                  <a:srgbClr val="202124"/>
                </a:solidFill>
                <a:latin typeface="Calibri"/>
                <a:ea typeface="Calibri"/>
                <a:cs typeface="Calibri"/>
              </a:defRPr>
            </a:defPPr>
          </a:lstStyle>
          <a:p xmlns:a="http://schemas.openxmlformats.org/drawingml/2006/main">
            <a:pPr algn="ctr">
              <a:defRPr sz="1800">
                <a:solidFill>
                  <a:srgbClr val="202124"/>
                </a:solidFill>
                <a:latin typeface="Calibri"/>
                <a:ea typeface="Calibri"/>
                <a:cs typeface="Calibri"/>
              </a:defRPr>
            </a:pPr>
            <a:r>
              <a:rPr sz="1800">
                <a:solidFill>
                  <a:srgbClr val="202124"/>
                </a:solidFill>
                <a:latin typeface="Calibri"/>
                <a:ea typeface="Calibri"/>
                <a:cs typeface="Calibri"/>
              </a:rPr>
              <a:t>Masked mean</a:t>
            </a:r>
          </a:p>
          <a:p xmlns:a="http://schemas.openxmlformats.org/drawingml/2006/main">
            <a:pPr algn="ctr">
              <a:defRPr sz="1800">
                <a:solidFill>
                  <a:srgbClr val="202124"/>
                </a:solidFill>
                <a:latin typeface="Calibri"/>
                <a:ea typeface="Calibri"/>
                <a:cs typeface="Calibri"/>
              </a:defRPr>
            </a:pPr>
            <a:r>
              <a:rPr sz="1800">
                <a:solidFill>
                  <a:srgbClr val="202124"/>
                </a:solidFill>
                <a:latin typeface="Calibri"/>
                <a:ea typeface="Calibri"/>
                <a:cs typeface="Calibri"/>
              </a:rPr>
              <a:t>Slot MLP</a:t>
            </a:r>
          </a:p>
        </p:txBody>
      </p:sp>
      <p:sp>
        <p:nvSpPr>
          <p:cNvPr id="7" name="z">
            <a:extLst xmlns:a="http://schemas.openxmlformats.org/drawingml/2006/main">
              <a:ext uri="{FF2B5EF4-FFF2-40B4-BE49-F238E27FC236}">
                <a16:creationId xmlns:a16="http://schemas.microsoft.com/office/drawing/2014/main" id="{22E09C5E-CC2A-4998-8DE7-FF6C233A005D}"/>
              </a:ext>
            </a:extLst>
          </p:cNvPr>
          <p:cNvSpPr>
            <a:spLocks xmlns:a="http://schemas.openxmlformats.org/drawingml/2006/main" noGrp="1"/>
          </p:cNvSpPr>
          <p:nvPr/>
        </p:nvSpPr>
        <p:spPr>
          <a:xfrm xmlns:a="http://schemas.openxmlformats.org/drawingml/2006/main">
            <a:off x="4095750" y="2200275"/>
            <a:ext cx="533400" cy="476250"/>
          </a:xfrm>
          <a:prstGeom xmlns:a="http://schemas.openxmlformats.org/drawingml/2006/main" prst="ellipse">
            <a:avLst/>
          </a:prstGeom>
          <a:solidFill xmlns:a="http://schemas.openxmlformats.org/drawingml/2006/main">
            <a:srgbClr val="F7E7AC"/>
          </a:solidFill>
          <a:ln xmlns:a="http://schemas.openxmlformats.org/drawingml/2006/main" w="12383">
            <a:solidFill>
              <a:srgbClr val="B39938"/>
            </a:solidFill>
          </a:ln>
        </p:spPr>
        <p:txBody>
          <a:bodyPr xmlns:a="http://schemas.openxmlformats.org/drawingml/2006/main" wrap="square" lIns="66675" tIns="28575" rIns="66675" bIns="28575" anchor="ctr">
            <a:noAutofit/>
          </a:bodyPr>
          <a:lstStyle xmlns:a="http://schemas.openxmlformats.org/drawingml/2006/main">
            <a:defPPr algn="ctr">
              <a:defRPr sz="2025">
                <a:solidFill>
                  <a:srgbClr val="202124"/>
                </a:solidFill>
                <a:latin typeface="Calibri"/>
                <a:ea typeface="Calibri"/>
                <a:cs typeface="Calibri"/>
              </a:defRPr>
            </a:defPPr>
          </a:lstStyle>
          <a:p xmlns:a="http://schemas.openxmlformats.org/drawingml/2006/main">
            <a:pPr algn="ctr">
              <a:defRPr sz="2025">
                <a:solidFill>
                  <a:srgbClr val="202124"/>
                </a:solidFill>
                <a:latin typeface="Calibri"/>
                <a:ea typeface="Calibri"/>
                <a:cs typeface="Calibri"/>
              </a:defRPr>
            </a:pPr>
            <a:r>
              <a:rPr sz="2025">
                <a:solidFill>
                  <a:srgbClr val="202124"/>
                </a:solidFill>
                <a:latin typeface="Calibri"/>
                <a:ea typeface="Calibri"/>
                <a:cs typeface="Calibri"/>
              </a:rPr>
              <a:t>z</a:t>
            </a:r>
          </a:p>
        </p:txBody>
      </p:sp>
      <p:sp>
        <p:nvSpPr>
          <p:cNvPr id="8" name="B · 6 zones">
            <a:extLst xmlns:a="http://schemas.openxmlformats.org/drawingml/2006/main">
              <a:ext uri="{FF2B5EF4-FFF2-40B4-BE49-F238E27FC236}">
                <a16:creationId xmlns:a16="http://schemas.microsoft.com/office/drawing/2014/main" id="{DF42B962-F7E4-40BB-97DF-B600F7CC3400}"/>
              </a:ext>
            </a:extLst>
          </p:cNvPr>
          <p:cNvSpPr>
            <a:spLocks xmlns:a="http://schemas.openxmlformats.org/drawingml/2006/main" noGrp="1"/>
          </p:cNvSpPr>
          <p:nvPr/>
        </p:nvSpPr>
        <p:spPr>
          <a:xfrm xmlns:a="http://schemas.openxmlformats.org/drawingml/2006/main">
            <a:off x="5105400" y="1504950"/>
            <a:ext cx="1571625" cy="419100"/>
          </a:xfrm>
          <a:prstGeom xmlns:a="http://schemas.openxmlformats.org/drawingml/2006/main" prst="roundRect">
            <a:avLst>
              <a:gd name="adj" fmla="val 18182"/>
            </a:avLst>
          </a:prstGeom>
          <a:solidFill xmlns:a="http://schemas.openxmlformats.org/drawingml/2006/main">
            <a:srgbClr val="F2F2F2"/>
          </a:solidFill>
          <a:ln xmlns:a="http://schemas.openxmlformats.org/drawingml/2006/main" w="12383">
            <a:solidFill>
              <a:srgbClr val="A3A8AC"/>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B · 6 zones</a:t>
            </a:r>
          </a:p>
        </p:txBody>
      </p:sp>
      <p:sp>
        <p:nvSpPr>
          <p:cNvPr id="9" name="Prior P">
            <a:extLst xmlns:a="http://schemas.openxmlformats.org/drawingml/2006/main">
              <a:ext uri="{FF2B5EF4-FFF2-40B4-BE49-F238E27FC236}">
                <a16:creationId xmlns:a16="http://schemas.microsoft.com/office/drawing/2014/main" id="{33EB824A-5242-4890-A55F-C855BD1AB623}"/>
              </a:ext>
            </a:extLst>
          </p:cNvPr>
          <p:cNvSpPr>
            <a:spLocks xmlns:a="http://schemas.openxmlformats.org/drawingml/2006/main" noGrp="1"/>
          </p:cNvSpPr>
          <p:nvPr/>
        </p:nvSpPr>
        <p:spPr>
          <a:xfrm xmlns:a="http://schemas.openxmlformats.org/drawingml/2006/main">
            <a:off x="7153275" y="2124075"/>
            <a:ext cx="1476375" cy="561975"/>
          </a:xfrm>
          <a:prstGeom xmlns:a="http://schemas.openxmlformats.org/drawingml/2006/main" prst="roundRect">
            <a:avLst>
              <a:gd name="adj" fmla="val 13559"/>
            </a:avLst>
          </a:prstGeom>
          <a:solidFill xmlns:a="http://schemas.openxmlformats.org/drawingml/2006/main">
            <a:srgbClr val="F9DFC1"/>
          </a:solidFill>
          <a:ln xmlns:a="http://schemas.openxmlformats.org/drawingml/2006/main" w="12383">
            <a:solidFill>
              <a:srgbClr val="CA863D"/>
            </a:solidFill>
          </a:ln>
        </p:spPr>
        <p:txBody>
          <a:bodyPr xmlns:a="http://schemas.openxmlformats.org/drawingml/2006/main" wrap="square" lIns="66675" tIns="28575" rIns="66675" bIns="28575" anchor="ctr">
            <a:noAutofit/>
          </a:bodyPr>
          <a:lstStyle xmlns:a="http://schemas.openxmlformats.org/drawingml/2006/main">
            <a:defPPr algn="ctr">
              <a:defRPr sz="1950">
                <a:solidFill>
                  <a:srgbClr val="202124"/>
                </a:solidFill>
                <a:latin typeface="Calibri"/>
                <a:ea typeface="Calibri"/>
                <a:cs typeface="Calibri"/>
              </a:defRPr>
            </a:defPPr>
          </a:lstStyle>
          <a:p xmlns:a="http://schemas.openxmlformats.org/drawingml/2006/main">
            <a:pPr algn="ctr">
              <a:defRPr sz="1950">
                <a:solidFill>
                  <a:srgbClr val="202124"/>
                </a:solidFill>
                <a:latin typeface="Calibri"/>
                <a:ea typeface="Calibri"/>
                <a:cs typeface="Calibri"/>
              </a:defRPr>
            </a:pPr>
            <a:r>
              <a:rPr sz="1950">
                <a:solidFill>
                  <a:srgbClr val="202124"/>
                </a:solidFill>
                <a:latin typeface="Calibri"/>
                <a:ea typeface="Calibri"/>
                <a:cs typeface="Calibri"/>
              </a:rPr>
              <a:t>Prior P</a:t>
            </a:r>
          </a:p>
        </p:txBody>
      </p:sp>
      <p:sp>
        <p:nvSpPr>
          <p:cNvPr id="14" name="σ">
            <a:extLst xmlns:a="http://schemas.openxmlformats.org/drawingml/2006/main">
              <a:ext uri="{FF2B5EF4-FFF2-40B4-BE49-F238E27FC236}">
                <a16:creationId xmlns:a16="http://schemas.microsoft.com/office/drawing/2014/main" id="{B4E9A7D5-D5A3-4B44-A5FB-AC408B757B96}"/>
              </a:ext>
            </a:extLst>
          </p:cNvPr>
          <p:cNvSpPr>
            <a:spLocks xmlns:a="http://schemas.openxmlformats.org/drawingml/2006/main" noGrp="1"/>
          </p:cNvSpPr>
          <p:nvPr/>
        </p:nvSpPr>
        <p:spPr>
          <a:xfrm xmlns:a="http://schemas.openxmlformats.org/drawingml/2006/main">
            <a:off x="3705225" y="1990725"/>
            <a:ext cx="28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202124"/>
                </a:solidFill>
                <a:latin typeface="Calibri"/>
                <a:ea typeface="Calibri"/>
                <a:cs typeface="Calibri"/>
              </a:defRPr>
            </a:defPPr>
          </a:lstStyle>
          <a:p xmlns:a="http://schemas.openxmlformats.org/drawingml/2006/main">
            <a:pPr algn="l">
              <a:defRPr sz="1650" b="0">
                <a:solidFill>
                  <a:srgbClr val="202124"/>
                </a:solidFill>
                <a:latin typeface="Calibri"/>
                <a:ea typeface="Calibri"/>
                <a:cs typeface="Calibri"/>
              </a:defRPr>
            </a:pPr>
            <a:r>
              <a:rPr sz="1650" b="0">
                <a:solidFill>
                  <a:srgbClr val="202124"/>
                </a:solidFill>
                <a:latin typeface="Calibri"/>
                <a:ea typeface="Calibri"/>
                <a:cs typeface="Calibri"/>
              </a:rPr>
              <a:t>σ</a:t>
            </a:r>
          </a:p>
        </p:txBody>
      </p:sp>
      <p:sp>
        <p:nvSpPr>
          <p:cNvPr id="15" name="Visual evidence">
            <a:extLst xmlns:a="http://schemas.openxmlformats.org/drawingml/2006/main">
              <a:ext uri="{FF2B5EF4-FFF2-40B4-BE49-F238E27FC236}">
                <a16:creationId xmlns:a16="http://schemas.microsoft.com/office/drawing/2014/main" id="{D1488788-F661-4BAD-8343-945A7960577D}"/>
              </a:ext>
            </a:extLst>
          </p:cNvPr>
          <p:cNvSpPr>
            <a:spLocks xmlns:a="http://schemas.openxmlformats.org/drawingml/2006/main" noGrp="1"/>
          </p:cNvSpPr>
          <p:nvPr/>
        </p:nvSpPr>
        <p:spPr>
          <a:xfrm xmlns:a="http://schemas.openxmlformats.org/drawingml/2006/main">
            <a:off x="638175" y="3228975"/>
            <a:ext cx="323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4F82AF"/>
                </a:solidFill>
                <a:latin typeface="Calibri"/>
                <a:ea typeface="Calibri"/>
                <a:cs typeface="Calibri"/>
              </a:defRPr>
            </a:defPPr>
          </a:lstStyle>
          <a:p xmlns:a="http://schemas.openxmlformats.org/drawingml/2006/main">
            <a:pPr algn="l">
              <a:defRPr sz="2100" b="1">
                <a:solidFill>
                  <a:srgbClr val="4F82AF"/>
                </a:solidFill>
                <a:latin typeface="Calibri"/>
                <a:ea typeface="Calibri"/>
                <a:cs typeface="Calibri"/>
              </a:defRPr>
            </a:pPr>
            <a:r>
              <a:rPr sz="2100" b="1">
                <a:solidFill>
                  <a:srgbClr val="4F82AF"/>
                </a:solidFill>
                <a:latin typeface="Calibri"/>
                <a:ea typeface="Calibri"/>
                <a:cs typeface="Calibri"/>
              </a:rPr>
              <a:t>Visual evidence</a:t>
            </a:r>
          </a:p>
        </p:txBody>
      </p:sp>
      <p:sp>
        <p:nvSpPr>
          <p:cNvPr id="16" name="C">
            <a:extLst xmlns:a="http://schemas.openxmlformats.org/drawingml/2006/main">
              <a:ext uri="{FF2B5EF4-FFF2-40B4-BE49-F238E27FC236}">
                <a16:creationId xmlns:a16="http://schemas.microsoft.com/office/drawing/2014/main" id="{B3996FDA-1D48-4477-B0EE-9BB27330FD2C}"/>
              </a:ext>
            </a:extLst>
          </p:cNvPr>
          <p:cNvSpPr>
            <a:spLocks xmlns:a="http://schemas.openxmlformats.org/drawingml/2006/main" noGrp="1"/>
          </p:cNvSpPr>
          <p:nvPr/>
        </p:nvSpPr>
        <p:spPr>
          <a:xfrm xmlns:a="http://schemas.openxmlformats.org/drawingml/2006/main">
            <a:off x="638175" y="4076700"/>
            <a:ext cx="838200" cy="561975"/>
          </a:xfrm>
          <a:prstGeom xmlns:a="http://schemas.openxmlformats.org/drawingml/2006/main" prst="cube">
            <a:avLst/>
          </a:prstGeom>
          <a:solidFill xmlns:a="http://schemas.openxmlformats.org/drawingml/2006/main">
            <a:srgbClr val="DCDDF0"/>
          </a:solidFill>
          <a:ln xmlns:a="http://schemas.openxmlformats.org/drawingml/2006/main" w="12383">
            <a:solidFill>
              <a:srgbClr val="8586B7"/>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C</a:t>
            </a:r>
          </a:p>
        </p:txBody>
      </p:sp>
      <p:sp>
        <p:nvSpPr>
          <p:cNvPr id="17" name="Conv ×2 → σ&#10;Evidence E">
            <a:extLst xmlns:a="http://schemas.openxmlformats.org/drawingml/2006/main">
              <a:ext uri="{FF2B5EF4-FFF2-40B4-BE49-F238E27FC236}">
                <a16:creationId xmlns:a16="http://schemas.microsoft.com/office/drawing/2014/main" id="{B9166F61-B625-45CD-9454-7239C1F1E4F8}"/>
              </a:ext>
            </a:extLst>
          </p:cNvPr>
          <p:cNvSpPr>
            <a:spLocks xmlns:a="http://schemas.openxmlformats.org/drawingml/2006/main" noGrp="1"/>
          </p:cNvSpPr>
          <p:nvPr/>
        </p:nvSpPr>
        <p:spPr>
          <a:xfrm xmlns:a="http://schemas.openxmlformats.org/drawingml/2006/main">
            <a:off x="2009775" y="3952875"/>
            <a:ext cx="1809750" cy="733425"/>
          </a:xfrm>
          <a:prstGeom xmlns:a="http://schemas.openxmlformats.org/drawingml/2006/main" prst="roundRect">
            <a:avLst>
              <a:gd name="adj" fmla="val 10390"/>
            </a:avLst>
          </a:prstGeom>
          <a:solidFill xmlns:a="http://schemas.openxmlformats.org/drawingml/2006/main">
            <a:srgbClr val="D5E5F4"/>
          </a:solidFill>
          <a:ln xmlns:a="http://schemas.openxmlformats.org/drawingml/2006/main" w="12383">
            <a:solidFill>
              <a:srgbClr val="4F82AF"/>
            </a:solidFill>
          </a:ln>
        </p:spPr>
        <p:txBody>
          <a:bodyPr xmlns:a="http://schemas.openxmlformats.org/drawingml/2006/main" wrap="square" lIns="66675" tIns="28575" rIns="66675" bIns="28575" anchor="ctr">
            <a:noAutofit/>
          </a:bodyPr>
          <a:lstStyle xmlns:a="http://schemas.openxmlformats.org/drawingml/2006/main">
            <a:defPPr algn="ctr">
              <a:defRPr sz="1800">
                <a:solidFill>
                  <a:srgbClr val="202124"/>
                </a:solidFill>
                <a:latin typeface="Calibri"/>
                <a:ea typeface="Calibri"/>
                <a:cs typeface="Calibri"/>
              </a:defRPr>
            </a:defPPr>
          </a:lstStyle>
          <a:p xmlns:a="http://schemas.openxmlformats.org/drawingml/2006/main">
            <a:pPr algn="ctr">
              <a:defRPr sz="1800">
                <a:solidFill>
                  <a:srgbClr val="202124"/>
                </a:solidFill>
                <a:latin typeface="Calibri"/>
                <a:ea typeface="Calibri"/>
                <a:cs typeface="Calibri"/>
              </a:defRPr>
            </a:pPr>
            <a:r>
              <a:rPr sz="1800">
                <a:solidFill>
                  <a:srgbClr val="202124"/>
                </a:solidFill>
                <a:latin typeface="Calibri"/>
                <a:ea typeface="Calibri"/>
                <a:cs typeface="Calibri"/>
              </a:rPr>
              <a:t>Conv ×2 → σ</a:t>
            </a:r>
          </a:p>
          <a:p xmlns:a="http://schemas.openxmlformats.org/drawingml/2006/main">
            <a:pPr algn="ctr">
              <a:defRPr sz="1800">
                <a:solidFill>
                  <a:srgbClr val="202124"/>
                </a:solidFill>
                <a:latin typeface="Calibri"/>
                <a:ea typeface="Calibri"/>
                <a:cs typeface="Calibri"/>
              </a:defRPr>
            </a:pPr>
            <a:r>
              <a:rPr sz="1800">
                <a:solidFill>
                  <a:srgbClr val="202124"/>
                </a:solidFill>
                <a:latin typeface="Calibri"/>
                <a:ea typeface="Calibri"/>
                <a:cs typeface="Calibri"/>
              </a:rPr>
              <a:t>Evidence E</a:t>
            </a:r>
          </a:p>
        </p:txBody>
      </p:sp>
      <p:sp>
        <p:nvSpPr>
          <p:cNvPr id="18" name="Zone pool">
            <a:extLst xmlns:a="http://schemas.openxmlformats.org/drawingml/2006/main">
              <a:ext uri="{FF2B5EF4-FFF2-40B4-BE49-F238E27FC236}">
                <a16:creationId xmlns:a16="http://schemas.microsoft.com/office/drawing/2014/main" id="{538DB150-570A-4B8C-AACA-8721B18C8124}"/>
              </a:ext>
            </a:extLst>
          </p:cNvPr>
          <p:cNvSpPr>
            <a:spLocks xmlns:a="http://schemas.openxmlformats.org/drawingml/2006/main" noGrp="1"/>
          </p:cNvSpPr>
          <p:nvPr/>
        </p:nvSpPr>
        <p:spPr>
          <a:xfrm xmlns:a="http://schemas.openxmlformats.org/drawingml/2006/main">
            <a:off x="4324350" y="3952875"/>
            <a:ext cx="1552575" cy="571500"/>
          </a:xfrm>
          <a:prstGeom xmlns:a="http://schemas.openxmlformats.org/drawingml/2006/main" prst="roundRect">
            <a:avLst>
              <a:gd name="adj" fmla="val 13333"/>
            </a:avLst>
          </a:prstGeom>
          <a:solidFill xmlns:a="http://schemas.openxmlformats.org/drawingml/2006/main">
            <a:srgbClr val="D5E5F4"/>
          </a:solidFill>
          <a:ln xmlns:a="http://schemas.openxmlformats.org/drawingml/2006/main" w="12383">
            <a:solidFill>
              <a:srgbClr val="4F82AF"/>
            </a:solidFill>
          </a:ln>
        </p:spPr>
        <p:txBody>
          <a:bodyPr xmlns:a="http://schemas.openxmlformats.org/drawingml/2006/main" wrap="square" lIns="66675" tIns="28575" rIns="66675" bIns="28575" anchor="ctr">
            <a:noAutofit/>
          </a:bodyPr>
          <a:lstStyle xmlns:a="http://schemas.openxmlformats.org/drawingml/2006/main">
            <a:defPPr algn="ctr">
              <a:defRPr sz="1800">
                <a:solidFill>
                  <a:srgbClr val="202124"/>
                </a:solidFill>
                <a:latin typeface="Calibri"/>
                <a:ea typeface="Calibri"/>
                <a:cs typeface="Calibri"/>
              </a:defRPr>
            </a:defPPr>
          </a:lstStyle>
          <a:p xmlns:a="http://schemas.openxmlformats.org/drawingml/2006/main">
            <a:pPr algn="ctr">
              <a:defRPr sz="1800">
                <a:solidFill>
                  <a:srgbClr val="202124"/>
                </a:solidFill>
                <a:latin typeface="Calibri"/>
                <a:ea typeface="Calibri"/>
                <a:cs typeface="Calibri"/>
              </a:defRPr>
            </a:pPr>
            <a:r>
              <a:rPr sz="1800">
                <a:solidFill>
                  <a:srgbClr val="202124"/>
                </a:solidFill>
                <a:latin typeface="Calibri"/>
                <a:ea typeface="Calibri"/>
                <a:cs typeface="Calibri"/>
              </a:rPr>
              <a:t>Zone pool</a:t>
            </a:r>
          </a:p>
        </p:txBody>
      </p:sp>
      <p:sp>
        <p:nvSpPr>
          <p:cNvPr id="19" name="Agreement A">
            <a:extLst xmlns:a="http://schemas.openxmlformats.org/drawingml/2006/main">
              <a:ext uri="{FF2B5EF4-FFF2-40B4-BE49-F238E27FC236}">
                <a16:creationId xmlns:a16="http://schemas.microsoft.com/office/drawing/2014/main" id="{85071C5D-8612-4E62-99E2-20DBA914CC55}"/>
              </a:ext>
            </a:extLst>
          </p:cNvPr>
          <p:cNvSpPr>
            <a:spLocks xmlns:a="http://schemas.openxmlformats.org/drawingml/2006/main" noGrp="1"/>
          </p:cNvSpPr>
          <p:nvPr/>
        </p:nvSpPr>
        <p:spPr>
          <a:xfrm xmlns:a="http://schemas.openxmlformats.org/drawingml/2006/main">
            <a:off x="6353175" y="3952875"/>
            <a:ext cx="1952625" cy="571500"/>
          </a:xfrm>
          <a:prstGeom xmlns:a="http://schemas.openxmlformats.org/drawingml/2006/main" prst="roundRect">
            <a:avLst>
              <a:gd name="adj" fmla="val 13333"/>
            </a:avLst>
          </a:prstGeom>
          <a:solidFill xmlns:a="http://schemas.openxmlformats.org/drawingml/2006/main">
            <a:srgbClr val="F9DFC1"/>
          </a:solidFill>
          <a:ln xmlns:a="http://schemas.openxmlformats.org/drawingml/2006/main" w="12383">
            <a:solidFill>
              <a:srgbClr val="CA863D"/>
            </a:solidFill>
          </a:ln>
        </p:spPr>
        <p:txBody>
          <a:bodyPr xmlns:a="http://schemas.openxmlformats.org/drawingml/2006/main" wrap="square" lIns="66675" tIns="28575" rIns="66675" bIns="28575" anchor="ctr">
            <a:noAutofit/>
          </a:bodyPr>
          <a:lstStyle xmlns:a="http://schemas.openxmlformats.org/drawingml/2006/main">
            <a:defPPr algn="ctr">
              <a:defRPr sz="1800">
                <a:solidFill>
                  <a:srgbClr val="202124"/>
                </a:solidFill>
                <a:latin typeface="Calibri"/>
                <a:ea typeface="Calibri"/>
                <a:cs typeface="Calibri"/>
              </a:defRPr>
            </a:defPPr>
          </a:lstStyle>
          <a:p xmlns:a="http://schemas.openxmlformats.org/drawingml/2006/main">
            <a:pPr algn="ctr">
              <a:defRPr sz="1800">
                <a:solidFill>
                  <a:srgbClr val="202124"/>
                </a:solidFill>
                <a:latin typeface="Calibri"/>
                <a:ea typeface="Calibri"/>
                <a:cs typeface="Calibri"/>
              </a:defRPr>
            </a:pPr>
            <a:r>
              <a:rPr sz="1800">
                <a:solidFill>
                  <a:srgbClr val="202124"/>
                </a:solidFill>
                <a:latin typeface="Calibri"/>
                <a:ea typeface="Calibri"/>
                <a:cs typeface="Calibri"/>
              </a:rPr>
              <a:t>Agreement A</a:t>
            </a:r>
          </a:p>
        </p:txBody>
      </p:sp>
      <p:sp>
        <p:nvSpPr>
          <p:cNvPr id="20" name="P × E × A&#10;Gate G">
            <a:extLst xmlns:a="http://schemas.openxmlformats.org/drawingml/2006/main">
              <a:ext uri="{FF2B5EF4-FFF2-40B4-BE49-F238E27FC236}">
                <a16:creationId xmlns:a16="http://schemas.microsoft.com/office/drawing/2014/main" id="{C15A8BDA-D64A-42C8-B50B-A52EC3C203FF}"/>
              </a:ext>
            </a:extLst>
          </p:cNvPr>
          <p:cNvSpPr>
            <a:spLocks xmlns:a="http://schemas.openxmlformats.org/drawingml/2006/main" noGrp="1"/>
          </p:cNvSpPr>
          <p:nvPr/>
        </p:nvSpPr>
        <p:spPr>
          <a:xfrm xmlns:a="http://schemas.openxmlformats.org/drawingml/2006/main">
            <a:off x="9334500" y="3143250"/>
            <a:ext cx="2066925" cy="781050"/>
          </a:xfrm>
          <a:prstGeom xmlns:a="http://schemas.openxmlformats.org/drawingml/2006/main" prst="roundRect">
            <a:avLst>
              <a:gd name="adj" fmla="val 9756"/>
            </a:avLst>
          </a:prstGeom>
          <a:solidFill xmlns:a="http://schemas.openxmlformats.org/drawingml/2006/main">
            <a:srgbClr val="F9DFC1"/>
          </a:solidFill>
          <a:ln xmlns:a="http://schemas.openxmlformats.org/drawingml/2006/main" w="12383">
            <a:solidFill>
              <a:srgbClr val="CA863D"/>
            </a:solidFill>
          </a:ln>
        </p:spPr>
        <p:txBody>
          <a:bodyPr xmlns:a="http://schemas.openxmlformats.org/drawingml/2006/main" wrap="square" lIns="66675" tIns="28575" rIns="66675" bIns="28575" anchor="ctr">
            <a:noAutofit/>
          </a:bodyPr>
          <a:lstStyle xmlns:a="http://schemas.openxmlformats.org/drawingml/2006/main">
            <a:defPPr algn="ctr">
              <a:defRPr sz="2025">
                <a:solidFill>
                  <a:srgbClr val="202124"/>
                </a:solidFill>
                <a:latin typeface="Calibri"/>
                <a:ea typeface="Calibri"/>
                <a:cs typeface="Calibri"/>
              </a:defRPr>
            </a:defPPr>
          </a:lstStyle>
          <a:p xmlns:a="http://schemas.openxmlformats.org/drawingml/2006/main">
            <a:pPr algn="ctr">
              <a:defRPr sz="2025">
                <a:solidFill>
                  <a:srgbClr val="202124"/>
                </a:solidFill>
                <a:latin typeface="Calibri"/>
                <a:ea typeface="Calibri"/>
                <a:cs typeface="Calibri"/>
              </a:defRPr>
            </a:pPr>
            <a:r>
              <a:rPr sz="2025">
                <a:solidFill>
                  <a:srgbClr val="202124"/>
                </a:solidFill>
                <a:latin typeface="Calibri"/>
                <a:ea typeface="Calibri"/>
                <a:cs typeface="Calibri"/>
              </a:rPr>
              <a:t>P × E × A</a:t>
            </a:r>
          </a:p>
          <a:p xmlns:a="http://schemas.openxmlformats.org/drawingml/2006/main">
            <a:pPr algn="ctr">
              <a:defRPr sz="2025">
                <a:solidFill>
                  <a:srgbClr val="202124"/>
                </a:solidFill>
                <a:latin typeface="Calibri"/>
                <a:ea typeface="Calibri"/>
                <a:cs typeface="Calibri"/>
              </a:defRPr>
            </a:pPr>
            <a:r>
              <a:rPr sz="2025">
                <a:solidFill>
                  <a:srgbClr val="202124"/>
                </a:solidFill>
                <a:latin typeface="Calibri"/>
                <a:ea typeface="Calibri"/>
                <a:cs typeface="Calibri"/>
              </a:rPr>
              <a:t>Gate G</a:t>
            </a:r>
          </a:p>
        </p:txBody>
      </p:sp>
      <p:sp>
        <p:nvSpPr>
          <p:cNvPr id="26" name="B">
            <a:extLst xmlns:a="http://schemas.openxmlformats.org/drawingml/2006/main">
              <a:ext uri="{FF2B5EF4-FFF2-40B4-BE49-F238E27FC236}">
                <a16:creationId xmlns:a16="http://schemas.microsoft.com/office/drawing/2014/main" id="{F24E111C-34B7-4942-AC9B-D8D69938B30A}"/>
              </a:ext>
            </a:extLst>
          </p:cNvPr>
          <p:cNvSpPr>
            <a:spLocks xmlns:a="http://schemas.openxmlformats.org/drawingml/2006/main" noGrp="1"/>
          </p:cNvSpPr>
          <p:nvPr/>
        </p:nvSpPr>
        <p:spPr>
          <a:xfrm xmlns:a="http://schemas.openxmlformats.org/drawingml/2006/main">
            <a:off x="4857750" y="35337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202124"/>
                </a:solidFill>
                <a:latin typeface="Calibri"/>
                <a:ea typeface="Calibri"/>
                <a:cs typeface="Calibri"/>
              </a:defRPr>
            </a:defPPr>
          </a:lstStyle>
          <a:p xmlns:a="http://schemas.openxmlformats.org/drawingml/2006/main">
            <a:pPr algn="l">
              <a:defRPr sz="1575" b="0">
                <a:solidFill>
                  <a:srgbClr val="202124"/>
                </a:solidFill>
                <a:latin typeface="Calibri"/>
                <a:ea typeface="Calibri"/>
                <a:cs typeface="Calibri"/>
              </a:defRPr>
            </a:pPr>
            <a:r>
              <a:rPr sz="1575" b="0">
                <a:solidFill>
                  <a:srgbClr val="202124"/>
                </a:solidFill>
                <a:latin typeface="Calibri"/>
                <a:ea typeface="Calibri"/>
                <a:cs typeface="Calibri"/>
              </a:rPr>
              <a:t>B</a:t>
            </a:r>
          </a:p>
        </p:txBody>
      </p:sp>
      <p:cxnSp>
        <p:nvCxnSpPr>
          <p:cNvPr id="27" name="">
            <a:extLst xmlns:a="http://schemas.openxmlformats.org/drawingml/2006/main">
              <a:ext uri="{FF2B5EF4-FFF2-40B4-BE49-F238E27FC236}">
                <a16:creationId xmlns:a16="http://schemas.microsoft.com/office/drawing/2014/main" id="{5CB0A967-B29A-4AC0-8700-B39DEADB8000}"/>
              </a:ext>
            </a:extLst>
          </p:cNvPr>
          <p:cNvCxnSpPr/>
          <p:nvPr/>
        </p:nvCxnSpPr>
        <p:spPr>
          <a:xfrm xmlns:a="http://schemas.openxmlformats.org/drawingml/2006/main">
            <a:off x="5010150" y="3800475"/>
            <a:ext cx="0" cy="152400"/>
          </a:xfrm>
          <a:prstGeom xmlns:a="http://schemas.openxmlformats.org/drawingml/2006/main" prst="straightConnector1">
            <a:avLst/>
          </a:prstGeom>
          <a:ln xmlns:a="http://schemas.openxmlformats.org/drawingml/2006/main" w="17145">
            <a:solidFill>
              <a:srgbClr val="4F82AF"/>
            </a:solidFill>
            <a:tailEnd type="triangle" w="sm" len="sm"/>
          </a:ln>
        </p:spPr>
      </p:cxnSp>
      <p:sp>
        <p:nvSpPr>
          <p:cNvPr id="28" name="z">
            <a:extLst xmlns:a="http://schemas.openxmlformats.org/drawingml/2006/main">
              <a:ext uri="{FF2B5EF4-FFF2-40B4-BE49-F238E27FC236}">
                <a16:creationId xmlns:a16="http://schemas.microsoft.com/office/drawing/2014/main" id="{B42BCAD7-2C9E-4EEB-8421-E80A0D9AACBD}"/>
              </a:ext>
            </a:extLst>
          </p:cNvPr>
          <p:cNvSpPr>
            <a:spLocks xmlns:a="http://schemas.openxmlformats.org/drawingml/2006/main" noGrp="1"/>
          </p:cNvSpPr>
          <p:nvPr/>
        </p:nvSpPr>
        <p:spPr>
          <a:xfrm xmlns:a="http://schemas.openxmlformats.org/drawingml/2006/main">
            <a:off x="7077075" y="35337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202124"/>
                </a:solidFill>
                <a:latin typeface="Calibri"/>
                <a:ea typeface="Calibri"/>
                <a:cs typeface="Calibri"/>
              </a:defRPr>
            </a:defPPr>
          </a:lstStyle>
          <a:p xmlns:a="http://schemas.openxmlformats.org/drawingml/2006/main">
            <a:pPr algn="l">
              <a:defRPr sz="1575" b="0">
                <a:solidFill>
                  <a:srgbClr val="202124"/>
                </a:solidFill>
                <a:latin typeface="Calibri"/>
                <a:ea typeface="Calibri"/>
                <a:cs typeface="Calibri"/>
              </a:defRPr>
            </a:pPr>
            <a:r>
              <a:rPr sz="1575" b="0">
                <a:solidFill>
                  <a:srgbClr val="202124"/>
                </a:solidFill>
                <a:latin typeface="Calibri"/>
                <a:ea typeface="Calibri"/>
                <a:cs typeface="Calibri"/>
              </a:rPr>
              <a:t>z</a:t>
            </a:r>
          </a:p>
        </p:txBody>
      </p:sp>
      <p:cxnSp>
        <p:nvCxnSpPr>
          <p:cNvPr id="29" name="">
            <a:extLst xmlns:a="http://schemas.openxmlformats.org/drawingml/2006/main">
              <a:ext uri="{FF2B5EF4-FFF2-40B4-BE49-F238E27FC236}">
                <a16:creationId xmlns:a16="http://schemas.microsoft.com/office/drawing/2014/main" id="{E742D2A3-0426-497E-ABDD-384047BCB085}"/>
              </a:ext>
            </a:extLst>
          </p:cNvPr>
          <p:cNvCxnSpPr/>
          <p:nvPr/>
        </p:nvCxnSpPr>
        <p:spPr>
          <a:xfrm xmlns:a="http://schemas.openxmlformats.org/drawingml/2006/main">
            <a:off x="7248525" y="3800475"/>
            <a:ext cx="0" cy="152400"/>
          </a:xfrm>
          <a:prstGeom xmlns:a="http://schemas.openxmlformats.org/drawingml/2006/main" prst="straightConnector1">
            <a:avLst/>
          </a:prstGeom>
          <a:ln xmlns:a="http://schemas.openxmlformats.org/drawingml/2006/main" w="17145">
            <a:solidFill>
              <a:srgbClr val="CA863D"/>
            </a:solidFill>
            <a:tailEnd type="triangle" w="sm" len="sm"/>
          </a:ln>
        </p:spPr>
      </p:cxnSp>
      <p:sp>
        <p:nvSpPr>
          <p:cNvPr id="30" name="q">
            <a:extLst xmlns:a="http://schemas.openxmlformats.org/drawingml/2006/main">
              <a:ext uri="{FF2B5EF4-FFF2-40B4-BE49-F238E27FC236}">
                <a16:creationId xmlns:a16="http://schemas.microsoft.com/office/drawing/2014/main" id="{33249A5B-1C24-4BC3-92C7-161C3E3C89F7}"/>
              </a:ext>
            </a:extLst>
          </p:cNvPr>
          <p:cNvSpPr>
            <a:spLocks xmlns:a="http://schemas.openxmlformats.org/drawingml/2006/main" noGrp="1"/>
          </p:cNvSpPr>
          <p:nvPr/>
        </p:nvSpPr>
        <p:spPr>
          <a:xfrm xmlns:a="http://schemas.openxmlformats.org/drawingml/2006/main">
            <a:off x="6010275" y="4057650"/>
            <a:ext cx="285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202124"/>
                </a:solidFill>
                <a:latin typeface="Calibri"/>
                <a:ea typeface="Calibri"/>
                <a:cs typeface="Calibri"/>
              </a:defRPr>
            </a:defPPr>
          </a:lstStyle>
          <a:p xmlns:a="http://schemas.openxmlformats.org/drawingml/2006/main">
            <a:pPr algn="l">
              <a:defRPr sz="1575" b="0">
                <a:solidFill>
                  <a:srgbClr val="202124"/>
                </a:solidFill>
                <a:latin typeface="Calibri"/>
                <a:ea typeface="Calibri"/>
                <a:cs typeface="Calibri"/>
              </a:defRPr>
            </a:pPr>
            <a:r>
              <a:rPr sz="1575" b="0">
                <a:solidFill>
                  <a:srgbClr val="202124"/>
                </a:solidFill>
                <a:latin typeface="Calibri"/>
                <a:ea typeface="Calibri"/>
                <a:cs typeface="Calibri"/>
              </a:rPr>
              <a:t>q</a:t>
            </a:r>
          </a:p>
        </p:txBody>
      </p:sp>
      <p:sp>
        <p:nvSpPr>
          <p:cNvPr id="31" name="A">
            <a:extLst xmlns:a="http://schemas.openxmlformats.org/drawingml/2006/main">
              <a:ext uri="{FF2B5EF4-FFF2-40B4-BE49-F238E27FC236}">
                <a16:creationId xmlns:a16="http://schemas.microsoft.com/office/drawing/2014/main" id="{8FFC38BB-2F1B-4F9A-96D7-EDF32116C2A2}"/>
              </a:ext>
            </a:extLst>
          </p:cNvPr>
          <p:cNvSpPr>
            <a:spLocks xmlns:a="http://schemas.openxmlformats.org/drawingml/2006/main" noGrp="1"/>
          </p:cNvSpPr>
          <p:nvPr/>
        </p:nvSpPr>
        <p:spPr>
          <a:xfrm xmlns:a="http://schemas.openxmlformats.org/drawingml/2006/main">
            <a:off x="8705850" y="3905250"/>
            <a:ext cx="285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202124"/>
                </a:solidFill>
                <a:latin typeface="Calibri"/>
                <a:ea typeface="Calibri"/>
                <a:cs typeface="Calibri"/>
              </a:defRPr>
            </a:defPPr>
          </a:lstStyle>
          <a:p xmlns:a="http://schemas.openxmlformats.org/drawingml/2006/main">
            <a:pPr algn="l">
              <a:defRPr sz="1575" b="0">
                <a:solidFill>
                  <a:srgbClr val="202124"/>
                </a:solidFill>
                <a:latin typeface="Calibri"/>
                <a:ea typeface="Calibri"/>
                <a:cs typeface="Calibri"/>
              </a:defRPr>
            </a:pPr>
            <a:r>
              <a:rPr sz="1575" b="0">
                <a:solidFill>
                  <a:srgbClr val="202124"/>
                </a:solidFill>
                <a:latin typeface="Calibri"/>
                <a:ea typeface="Calibri"/>
                <a:cs typeface="Calibri"/>
              </a:rPr>
              <a:t>A</a:t>
            </a:r>
          </a:p>
        </p:txBody>
      </p:sp>
      <p:sp>
        <p:nvSpPr>
          <p:cNvPr id="32" name="E">
            <a:extLst xmlns:a="http://schemas.openxmlformats.org/drawingml/2006/main">
              <a:ext uri="{FF2B5EF4-FFF2-40B4-BE49-F238E27FC236}">
                <a16:creationId xmlns:a16="http://schemas.microsoft.com/office/drawing/2014/main" id="{11B8A962-0E55-4CF2-9274-0976E98616F4}"/>
              </a:ext>
            </a:extLst>
          </p:cNvPr>
          <p:cNvSpPr>
            <a:spLocks xmlns:a="http://schemas.openxmlformats.org/drawingml/2006/main" noGrp="1"/>
          </p:cNvSpPr>
          <p:nvPr/>
        </p:nvSpPr>
        <p:spPr>
          <a:xfrm xmlns:a="http://schemas.openxmlformats.org/drawingml/2006/main">
            <a:off x="8096250" y="3257550"/>
            <a:ext cx="285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202124"/>
                </a:solidFill>
                <a:latin typeface="Calibri"/>
                <a:ea typeface="Calibri"/>
                <a:cs typeface="Calibri"/>
              </a:defRPr>
            </a:defPPr>
          </a:lstStyle>
          <a:p xmlns:a="http://schemas.openxmlformats.org/drawingml/2006/main">
            <a:pPr algn="l">
              <a:defRPr sz="1575" b="0">
                <a:solidFill>
                  <a:srgbClr val="202124"/>
                </a:solidFill>
                <a:latin typeface="Calibri"/>
                <a:ea typeface="Calibri"/>
                <a:cs typeface="Calibri"/>
              </a:defRPr>
            </a:pPr>
            <a:r>
              <a:rPr sz="1575" b="0">
                <a:solidFill>
                  <a:srgbClr val="202124"/>
                </a:solidFill>
                <a:latin typeface="Calibri"/>
                <a:ea typeface="Calibri"/>
                <a:cs typeface="Calibri"/>
              </a:rPr>
              <a:t>E</a:t>
            </a:r>
          </a:p>
        </p:txBody>
      </p:sp>
      <p:sp>
        <p:nvSpPr>
          <p:cNvPr id="34" name="">
            <a:extLst xmlns:a="http://schemas.openxmlformats.org/drawingml/2006/main">
              <a:ext uri="{FF2B5EF4-FFF2-40B4-BE49-F238E27FC236}">
                <a16:creationId xmlns:a16="http://schemas.microsoft.com/office/drawing/2014/main" id="{42204678-7CF5-4153-A3DC-42CD3E07E775}"/>
              </a:ext>
            </a:extLst>
          </p:cNvPr>
          <p:cNvSpPr>
            <a:spLocks xmlns:a="http://schemas.openxmlformats.org/drawingml/2006/main" noGrp="1"/>
          </p:cNvSpPr>
          <p:nvPr/>
        </p:nvSpPr>
        <p:spPr>
          <a:xfrm xmlns:a="http://schemas.openxmlformats.org/drawingml/2006/main">
            <a:off x="638175" y="5057775"/>
            <a:ext cx="10915650" cy="0"/>
          </a:xfrm>
          <a:prstGeom xmlns:a="http://schemas.openxmlformats.org/drawingml/2006/main" prst="line">
            <a:avLst/>
          </a:prstGeom>
          <a:noFill xmlns:a="http://schemas.openxmlformats.org/drawingml/2006/main"/>
          <a:ln xmlns:a="http://schemas.openxmlformats.org/drawingml/2006/main" w="13335">
            <a:solidFill>
              <a:srgbClr val="C9CDCF"/>
            </a:solidFill>
            <a:prstDash val="solid"/>
          </a:ln>
        </p:spPr>
      </p:sp>
      <p:sp>
        <p:nvSpPr>
          <p:cNvPr id="35" name="C′ = C + s G ⊙ R(C)">
            <a:extLst xmlns:a="http://schemas.openxmlformats.org/drawingml/2006/main">
              <a:ext uri="{FF2B5EF4-FFF2-40B4-BE49-F238E27FC236}">
                <a16:creationId xmlns:a16="http://schemas.microsoft.com/office/drawing/2014/main" id="{875E2947-1A62-4940-99F7-1046353F1E93}"/>
              </a:ext>
            </a:extLst>
          </p:cNvPr>
          <p:cNvSpPr>
            <a:spLocks xmlns:a="http://schemas.openxmlformats.org/drawingml/2006/main" noGrp="1"/>
          </p:cNvSpPr>
          <p:nvPr/>
        </p:nvSpPr>
        <p:spPr>
          <a:xfrm xmlns:a="http://schemas.openxmlformats.org/drawingml/2006/main">
            <a:off x="638175" y="5295900"/>
            <a:ext cx="581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202124"/>
                </a:solidFill>
                <a:latin typeface="Calibri"/>
                <a:ea typeface="Calibri"/>
                <a:cs typeface="Calibri"/>
              </a:defRPr>
            </a:defPPr>
          </a:lstStyle>
          <a:p xmlns:a="http://schemas.openxmlformats.org/drawingml/2006/main">
            <a:pPr algn="l">
              <a:defRPr sz="2775" b="1">
                <a:solidFill>
                  <a:srgbClr val="202124"/>
                </a:solidFill>
                <a:latin typeface="Calibri"/>
                <a:ea typeface="Calibri"/>
                <a:cs typeface="Calibri"/>
              </a:defRPr>
            </a:pPr>
            <a:r>
              <a:rPr sz="2775" b="1">
                <a:solidFill>
                  <a:srgbClr val="202124"/>
                </a:solidFill>
                <a:latin typeface="Calibri"/>
                <a:ea typeface="Calibri"/>
                <a:cs typeface="Calibri"/>
              </a:rPr>
              <a:t>C′ = C + s G ⊙ R(C)</a:t>
            </a:r>
          </a:p>
        </p:txBody>
      </p:sp>
      <p:sp>
        <p:nvSpPr>
          <p:cNvPr id="36" name="R(C): DWConv → PWConv&#10;s = 0.15 tanh(a), initially zero">
            <a:extLst xmlns:a="http://schemas.openxmlformats.org/drawingml/2006/main">
              <a:ext uri="{FF2B5EF4-FFF2-40B4-BE49-F238E27FC236}">
                <a16:creationId xmlns:a16="http://schemas.microsoft.com/office/drawing/2014/main" id="{40582B59-560B-4927-A0B4-6D269A841703}"/>
              </a:ext>
            </a:extLst>
          </p:cNvPr>
          <p:cNvSpPr>
            <a:spLocks xmlns:a="http://schemas.openxmlformats.org/drawingml/2006/main" noGrp="1"/>
          </p:cNvSpPr>
          <p:nvPr/>
        </p:nvSpPr>
        <p:spPr>
          <a:xfrm xmlns:a="http://schemas.openxmlformats.org/drawingml/2006/main">
            <a:off x="6772275" y="5305425"/>
            <a:ext cx="47815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202124"/>
                </a:solidFill>
                <a:latin typeface="Calibri"/>
                <a:ea typeface="Calibri"/>
                <a:cs typeface="Calibri"/>
              </a:defRPr>
            </a:defPPr>
          </a:lstStyle>
          <a:p xmlns:a="http://schemas.openxmlformats.org/drawingml/2006/main">
            <a:pPr algn="l">
              <a:defRPr sz="1875" b="0">
                <a:solidFill>
                  <a:srgbClr val="202124"/>
                </a:solidFill>
                <a:latin typeface="Calibri"/>
                <a:ea typeface="Calibri"/>
                <a:cs typeface="Calibri"/>
              </a:defRPr>
            </a:pPr>
            <a:r>
              <a:rPr sz="1875" b="0">
                <a:solidFill>
                  <a:srgbClr val="202124"/>
                </a:solidFill>
                <a:latin typeface="Calibri"/>
                <a:ea typeface="Calibri"/>
                <a:cs typeface="Calibri"/>
              </a:rPr>
              <a:t>R(C): DWConv → PWConv</a:t>
            </a:r>
          </a:p>
          <a:p xmlns:a="http://schemas.openxmlformats.org/drawingml/2006/main">
            <a:pPr algn="l">
              <a:defRPr sz="1875" b="0">
                <a:solidFill>
                  <a:srgbClr val="202124"/>
                </a:solidFill>
                <a:latin typeface="Calibri"/>
                <a:ea typeface="Calibri"/>
                <a:cs typeface="Calibri"/>
              </a:defRPr>
            </a:pPr>
            <a:r>
              <a:rPr sz="1875" b="0">
                <a:solidFill>
                  <a:srgbClr val="202124"/>
                </a:solidFill>
                <a:latin typeface="Calibri"/>
                <a:ea typeface="Calibri"/>
                <a:cs typeface="Calibri"/>
              </a:rPr>
              <a:t>s = 0.15 tanh(a), initially zero</a:t>
            </a:r>
          </a:p>
        </p:txBody>
      </p:sp>
    </p:spTree>
    <p:extLst>
      <p:ext uri="{BB962C8B-B14F-4D97-AF65-F5344CB8AC3E}">
        <p14:creationId xmlns:p14="http://schemas.microsoft.com/office/powerpoint/2010/main" val="19328638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Matched experimental design">
            <a:extLst xmlns:a="http://schemas.openxmlformats.org/drawingml/2006/main">
              <a:ext uri="{FF2B5EF4-FFF2-40B4-BE49-F238E27FC236}">
                <a16:creationId xmlns:a16="http://schemas.microsoft.com/office/drawing/2014/main" id="{0191D462-B247-497D-A4E3-043C9637EBB1}"/>
              </a:ext>
            </a:extLst>
          </p:cNvPr>
          <p:cNvSpPr>
            <a:spLocks xmlns:a="http://schemas.openxmlformats.org/drawingml/2006/main" noGrp="1"/>
          </p:cNvSpPr>
          <p:nvPr/>
        </p:nvSpPr>
        <p:spPr>
          <a:xfrm xmlns:a="http://schemas.openxmlformats.org/drawingml/2006/main">
            <a:off x="638175" y="361950"/>
            <a:ext cx="10915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02124"/>
                </a:solidFill>
                <a:latin typeface="Cambria"/>
                <a:ea typeface="Cambria"/>
                <a:cs typeface="Cambria"/>
              </a:defRPr>
            </a:defPPr>
          </a:lstStyle>
          <a:p xmlns:a="http://schemas.openxmlformats.org/drawingml/2006/main">
            <a:pPr algn="l">
              <a:defRPr sz="3000" b="1">
                <a:solidFill>
                  <a:srgbClr val="202124"/>
                </a:solidFill>
                <a:latin typeface="Cambria"/>
                <a:ea typeface="Cambria"/>
                <a:cs typeface="Cambria"/>
              </a:defRPr>
            </a:pPr>
            <a:r>
              <a:rPr sz="3000" b="1">
                <a:solidFill>
                  <a:srgbClr val="202124"/>
                </a:solidFill>
                <a:latin typeface="Cambria"/>
                <a:ea typeface="Cambria"/>
                <a:cs typeface="Cambria"/>
              </a:rPr>
              <a:t>Matched experimental design</a:t>
            </a:r>
          </a:p>
        </p:txBody>
      </p:sp>
      <p:sp>
        <p:nvSpPr>
          <p:cNvPr id="2" name="Primary comparison · all 12 runs completed · single-cyc">
            <a:extLst xmlns:a="http://schemas.openxmlformats.org/drawingml/2006/main">
              <a:ext uri="{FF2B5EF4-FFF2-40B4-BE49-F238E27FC236}">
                <a16:creationId xmlns:a16="http://schemas.microsoft.com/office/drawing/2014/main" id="{481CD9B5-5549-4003-97FE-12F9DF0503C3}"/>
              </a:ext>
            </a:extLst>
          </p:cNvPr>
          <p:cNvSpPr>
            <a:spLocks xmlns:a="http://schemas.openxmlformats.org/drawingml/2006/main" noGrp="1"/>
          </p:cNvSpPr>
          <p:nvPr/>
        </p:nvSpPr>
        <p:spPr>
          <a:xfrm xmlns:a="http://schemas.openxmlformats.org/drawingml/2006/main">
            <a:off x="638175" y="6477000"/>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929699"/>
                </a:solidFill>
                <a:latin typeface="Calibri"/>
                <a:ea typeface="Calibri"/>
                <a:cs typeface="Calibri"/>
              </a:defRPr>
            </a:defPPr>
          </a:lstStyle>
          <a:p xmlns:a="http://schemas.openxmlformats.org/drawingml/2006/main">
            <a:pPr algn="l">
              <a:defRPr sz="900" b="0">
                <a:solidFill>
                  <a:srgbClr val="929699"/>
                </a:solidFill>
                <a:latin typeface="Calibri"/>
                <a:ea typeface="Calibri"/>
                <a:cs typeface="Calibri"/>
              </a:defRPr>
            </a:pPr>
            <a:r>
              <a:rPr sz="900" b="0">
                <a:solidFill>
                  <a:srgbClr val="929699"/>
                </a:solidFill>
                <a:latin typeface="Calibri"/>
                <a:ea typeface="Calibri"/>
                <a:cs typeface="Calibri"/>
              </a:rPr>
              <a:t>Primary comparison · all 12 runs completed · single-cycle cosine</a:t>
            </a:r>
          </a:p>
        </p:txBody>
      </p:sp>
      <p:sp>
        <p:nvSpPr>
          <p:cNvPr id="3" name="8">
            <a:extLst xmlns:a="http://schemas.openxmlformats.org/drawingml/2006/main">
              <a:ext uri="{FF2B5EF4-FFF2-40B4-BE49-F238E27FC236}">
                <a16:creationId xmlns:a16="http://schemas.microsoft.com/office/drawing/2014/main" id="{5CB6160E-1728-4A30-A3CE-3A826B1E0BC8}"/>
              </a:ext>
            </a:extLst>
          </p:cNvPr>
          <p:cNvSpPr>
            <a:spLocks xmlns:a="http://schemas.openxmlformats.org/drawingml/2006/main" noGrp="1"/>
          </p:cNvSpPr>
          <p:nvPr/>
        </p:nvSpPr>
        <p:spPr>
          <a:xfrm xmlns:a="http://schemas.openxmlformats.org/drawingml/2006/main">
            <a:off x="11144250" y="6477000"/>
            <a:ext cx="4095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929699"/>
                </a:solidFill>
                <a:latin typeface="Calibri"/>
                <a:ea typeface="Calibri"/>
                <a:cs typeface="Calibri"/>
              </a:defRPr>
            </a:defPPr>
          </a:lstStyle>
          <a:p xmlns:a="http://schemas.openxmlformats.org/drawingml/2006/main">
            <a:pPr algn="r">
              <a:defRPr sz="900" b="0">
                <a:solidFill>
                  <a:srgbClr val="929699"/>
                </a:solidFill>
                <a:latin typeface="Calibri"/>
                <a:ea typeface="Calibri"/>
                <a:cs typeface="Calibri"/>
              </a:defRPr>
            </a:pPr>
            <a:r>
              <a:rPr sz="900" b="0">
                <a:solidFill>
                  <a:srgbClr val="929699"/>
                </a:solidFill>
                <a:latin typeface="Calibri"/>
                <a:ea typeface="Calibri"/>
                <a:cs typeface="Calibri"/>
              </a:rPr>
              <a:t>8</a:t>
            </a:r>
          </a:p>
        </p:txBody>
      </p:sp>
      <p:graphicFrame>
        <p:nvGraphicFramePr>
          <p:cNvPr id="4" name="">
            <a:extLst xmlns:a="http://schemas.openxmlformats.org/drawingml/2006/main">
              <a:ext uri="{FF2B5EF4-FFF2-40B4-BE49-F238E27FC236}">
                <a16:creationId xmlns:a16="http://schemas.microsoft.com/office/drawing/2014/main" id="{438CD5AE-DEDC-497C-BD6D-50FE0D040BD8}"/>
              </a:ext>
            </a:extLst>
          </p:cNvPr>
          <p:cNvGraphicFramePr/>
          <p:nvPr/>
        </p:nvGraphicFramePr>
        <p:xfrm>
          <a:off xmlns:a="http://schemas.openxmlformats.org/drawingml/2006/main" x="638175" y="1533525"/>
          <a:ext xmlns:a="http://schemas.openxmlformats.org/drawingml/2006/main" cx="10915650" cy="3771900"/>
        </p:xfrm>
        <a:graphic xmlns:a="http://schemas.openxmlformats.org/drawingml/2006/main">
          <a:graphicData uri="http://schemas.openxmlformats.org/drawingml/2006/table">
            <a:tbl>
              <a:tblPr/>
              <a:tblGrid>
                <a:gridCol w="2809875"/>
                <a:gridCol w="8105775"/>
              </a:tblGrid>
              <a:tr h="538843">
                <a:tc>
                  <a:txBody>
                    <a:bodyPr>
                      <a:noAutofit/>
                    </a:bodyPr>
                    <a:lstStyle/>
                    <a:p>
                      <a:r>
                        <a:rPr sz="1800" b="1">
                          <a:solidFill>
                            <a:srgbClr val="FFFFFF"/>
                          </a:solidFill>
                          <a:latin typeface="Calibri"/>
                          <a:ea typeface="Calibri"/>
                          <a:cs typeface="Calibri"/>
                        </a:rPr>
                        <a:t>Item</a:t>
                      </a:r>
                    </a:p>
                  </a:txBody>
                  <a:tcPr marL="114300" marR="95250" marT="38100" marB="38100" anchor="ctr">
                    <a:lnL w="7620">
                      <a:solidFill>
                        <a:srgbClr val="B8BFC3"/>
                      </a:solidFill>
                      <a:prstDash val="solid"/>
                    </a:lnL>
                    <a:lnR w="7620">
                      <a:solidFill>
                        <a:srgbClr val="B8BFC3"/>
                      </a:solidFill>
                      <a:prstDash val="solid"/>
                    </a:lnR>
                    <a:lnT w="7620">
                      <a:solidFill>
                        <a:srgbClr val="B8BFC3"/>
                      </a:solidFill>
                      <a:prstDash val="solid"/>
                    </a:lnT>
                    <a:lnB w="7620">
                      <a:solidFill>
                        <a:srgbClr val="B8BFC3"/>
                      </a:solidFill>
                      <a:prstDash val="solid"/>
                    </a:lnB>
                    <a:solidFill>
                      <a:srgbClr val="202124"/>
                    </a:solidFill>
                  </a:tcPr>
                </a:tc>
                <a:tc>
                  <a:txBody>
                    <a:bodyPr>
                      <a:noAutofit/>
                    </a:bodyPr>
                    <a:lstStyle/>
                    <a:p>
                      <a:r>
                        <a:rPr sz="1800" b="1">
                          <a:solidFill>
                            <a:srgbClr val="FFFFFF"/>
                          </a:solidFill>
                          <a:latin typeface="Calibri"/>
                          <a:ea typeface="Calibri"/>
                          <a:cs typeface="Calibri"/>
                        </a:rPr>
                        <a:t>Shared protocol</a:t>
                      </a:r>
                    </a:p>
                  </a:txBody>
                  <a:tcPr marL="114300" marR="95250" marT="38100" marB="38100" anchor="ctr">
                    <a:lnR w="7620">
                      <a:solidFill>
                        <a:srgbClr val="B8BFC3"/>
                      </a:solidFill>
                      <a:prstDash val="solid"/>
                    </a:lnR>
                    <a:lnT w="7620">
                      <a:solidFill>
                        <a:srgbClr val="B8BFC3"/>
                      </a:solidFill>
                      <a:prstDash val="solid"/>
                    </a:lnT>
                    <a:lnB w="7620">
                      <a:solidFill>
                        <a:srgbClr val="B8BFC3"/>
                      </a:solidFill>
                      <a:prstDash val="solid"/>
                    </a:lnB>
                    <a:solidFill>
                      <a:srgbClr val="202124"/>
                    </a:solidFill>
                  </a:tcPr>
                </a:tc>
              </a:tr>
              <a:tr h="538843">
                <a:tc>
                  <a:txBody>
                    <a:bodyPr>
                      <a:noAutofit/>
                    </a:bodyPr>
                    <a:lstStyle/>
                    <a:p>
                      <a:r>
                        <a:rPr sz="1800" b="0">
                          <a:solidFill>
                            <a:srgbClr val="202124"/>
                          </a:solidFill>
                          <a:latin typeface="Calibri"/>
                          <a:ea typeface="Calibri"/>
                          <a:cs typeface="Calibri"/>
                        </a:rPr>
                        <a:t>Data</a:t>
                      </a:r>
                    </a:p>
                  </a:txBody>
                  <a:tcPr marL="114300" marR="95250" marT="38100" marB="38100" anchor="ctr">
                    <a:lnL w="7620">
                      <a:solidFill>
                        <a:srgbClr val="B8BFC3"/>
                      </a:solidFill>
                      <a:prstDash val="solid"/>
                    </a:lnL>
                    <a:lnR w="7620">
                      <a:solidFill>
                        <a:srgbClr val="B8BFC3"/>
                      </a:solidFill>
                      <a:prstDash val="solid"/>
                    </a:lnR>
                    <a:lnB w="7620">
                      <a:solidFill>
                        <a:srgbClr val="B8BFC3"/>
                      </a:solidFill>
                      <a:prstDash val="solid"/>
                    </a:lnB>
                    <a:solidFill>
                      <a:srgbClr val="FFFFFF"/>
                    </a:solidFill>
                  </a:tcPr>
                </a:tc>
                <a:tc>
                  <a:txBody>
                    <a:bodyPr>
                      <a:noAutofit/>
                    </a:bodyPr>
                    <a:lstStyle/>
                    <a:p>
                      <a:r>
                        <a:rPr sz="1800" b="0">
                          <a:solidFill>
                            <a:srgbClr val="202124"/>
                          </a:solidFill>
                          <a:latin typeface="Calibri"/>
                          <a:ea typeface="Calibri"/>
                          <a:cs typeface="Calibri"/>
                        </a:rPr>
                        <a:t>QaTa-COV19 v2 · Train 5,716 / Val 1,429 / Test 2,113</a:t>
                      </a:r>
                    </a:p>
                  </a:txBody>
                  <a:tcPr marL="114300" marR="95250" marT="38100" marB="38100" anchor="ctr">
                    <a:lnR w="7620">
                      <a:solidFill>
                        <a:srgbClr val="B8BFC3"/>
                      </a:solidFill>
                      <a:prstDash val="solid"/>
                    </a:lnR>
                    <a:lnB w="7620">
                      <a:solidFill>
                        <a:srgbClr val="B8BFC3"/>
                      </a:solidFill>
                      <a:prstDash val="solid"/>
                    </a:lnB>
                    <a:solidFill>
                      <a:srgbClr val="FFFFFF"/>
                    </a:solidFill>
                  </a:tcPr>
                </a:tc>
              </a:tr>
              <a:tr h="538843">
                <a:tc>
                  <a:txBody>
                    <a:bodyPr>
                      <a:noAutofit/>
                    </a:bodyPr>
                    <a:lstStyle/>
                    <a:p>
                      <a:r>
                        <a:rPr sz="1800" b="0">
                          <a:solidFill>
                            <a:srgbClr val="202124"/>
                          </a:solidFill>
                          <a:latin typeface="Calibri"/>
                          <a:ea typeface="Calibri"/>
                          <a:cs typeface="Calibri"/>
                        </a:rPr>
                        <a:t>Input / text</a:t>
                      </a:r>
                    </a:p>
                  </a:txBody>
                  <a:tcPr marL="114300" marR="95250" marT="38100" marB="38100" anchor="ctr">
                    <a:lnL w="7620">
                      <a:solidFill>
                        <a:srgbClr val="B8BFC3"/>
                      </a:solidFill>
                      <a:prstDash val="solid"/>
                    </a:lnL>
                    <a:lnR w="7620">
                      <a:solidFill>
                        <a:srgbClr val="B8BFC3"/>
                      </a:solidFill>
                      <a:prstDash val="solid"/>
                    </a:lnR>
                    <a:lnB w="7620">
                      <a:solidFill>
                        <a:srgbClr val="B8BFC3"/>
                      </a:solidFill>
                      <a:prstDash val="solid"/>
                    </a:lnB>
                    <a:solidFill>
                      <a:srgbClr val="F4F5F5"/>
                    </a:solidFill>
                  </a:tcPr>
                </a:tc>
                <a:tc>
                  <a:txBody>
                    <a:bodyPr>
                      <a:noAutofit/>
                    </a:bodyPr>
                    <a:lstStyle/>
                    <a:p>
                      <a:r>
                        <a:rPr sz="1800" b="0">
                          <a:solidFill>
                            <a:srgbClr val="202124"/>
                          </a:solidFill>
                          <a:latin typeface="Calibri"/>
                          <a:ea typeface="Calibri"/>
                          <a:cs typeface="Calibri"/>
                        </a:rPr>
                        <a:t>224 × 224 · frozen CXR-BERT · 32 tokens · no LoRA</a:t>
                      </a:r>
                    </a:p>
                  </a:txBody>
                  <a:tcPr marL="114300" marR="95250" marT="38100" marB="38100" anchor="ctr">
                    <a:lnR w="7620">
                      <a:solidFill>
                        <a:srgbClr val="B8BFC3"/>
                      </a:solidFill>
                      <a:prstDash val="solid"/>
                    </a:lnR>
                    <a:lnB w="7620">
                      <a:solidFill>
                        <a:srgbClr val="B8BFC3"/>
                      </a:solidFill>
                      <a:prstDash val="solid"/>
                    </a:lnB>
                    <a:solidFill>
                      <a:srgbClr val="F4F5F5"/>
                    </a:solidFill>
                  </a:tcPr>
                </a:tc>
              </a:tr>
              <a:tr h="538843">
                <a:tc>
                  <a:txBody>
                    <a:bodyPr>
                      <a:noAutofit/>
                    </a:bodyPr>
                    <a:lstStyle/>
                    <a:p>
                      <a:r>
                        <a:rPr sz="1800" b="0">
                          <a:solidFill>
                            <a:srgbClr val="202124"/>
                          </a:solidFill>
                          <a:latin typeface="Calibri"/>
                          <a:ea typeface="Calibri"/>
                          <a:cs typeface="Calibri"/>
                        </a:rPr>
                        <a:t>Optimisation</a:t>
                      </a:r>
                    </a:p>
                  </a:txBody>
                  <a:tcPr marL="114300" marR="95250" marT="38100" marB="38100" anchor="ctr">
                    <a:lnL w="7620">
                      <a:solidFill>
                        <a:srgbClr val="B8BFC3"/>
                      </a:solidFill>
                      <a:prstDash val="solid"/>
                    </a:lnL>
                    <a:lnR w="7620">
                      <a:solidFill>
                        <a:srgbClr val="B8BFC3"/>
                      </a:solidFill>
                      <a:prstDash val="solid"/>
                    </a:lnR>
                    <a:lnB w="7620">
                      <a:solidFill>
                        <a:srgbClr val="B8BFC3"/>
                      </a:solidFill>
                      <a:prstDash val="solid"/>
                    </a:lnB>
                    <a:solidFill>
                      <a:srgbClr val="FFFFFF"/>
                    </a:solidFill>
                  </a:tcPr>
                </a:tc>
                <a:tc>
                  <a:txBody>
                    <a:bodyPr>
                      <a:noAutofit/>
                    </a:bodyPr>
                    <a:lstStyle/>
                    <a:p>
                      <a:r>
                        <a:rPr sz="1800" b="0">
                          <a:solidFill>
                            <a:srgbClr val="202124"/>
                          </a:solidFill>
                          <a:latin typeface="Calibri"/>
                          <a:ea typeface="Calibri"/>
                          <a:cs typeface="Calibri"/>
                        </a:rPr>
                        <a:t>80 epochs · batch 16 · Adam · weight decay 10⁻⁴</a:t>
                      </a:r>
                    </a:p>
                  </a:txBody>
                  <a:tcPr marL="114300" marR="95250" marT="38100" marB="38100" anchor="ctr">
                    <a:lnR w="7620">
                      <a:solidFill>
                        <a:srgbClr val="B8BFC3"/>
                      </a:solidFill>
                      <a:prstDash val="solid"/>
                    </a:lnR>
                    <a:lnB w="7620">
                      <a:solidFill>
                        <a:srgbClr val="B8BFC3"/>
                      </a:solidFill>
                      <a:prstDash val="solid"/>
                    </a:lnB>
                    <a:solidFill>
                      <a:srgbClr val="FFFFFF"/>
                    </a:solidFill>
                  </a:tcPr>
                </a:tc>
              </a:tr>
              <a:tr h="538843">
                <a:tc>
                  <a:txBody>
                    <a:bodyPr>
                      <a:noAutofit/>
                    </a:bodyPr>
                    <a:lstStyle/>
                    <a:p>
                      <a:r>
                        <a:rPr sz="1800" b="0">
                          <a:solidFill>
                            <a:srgbClr val="202124"/>
                          </a:solidFill>
                          <a:latin typeface="Calibri"/>
                          <a:ea typeface="Calibri"/>
                          <a:cs typeface="Calibri"/>
                        </a:rPr>
                        <a:t>Learning rate / loss</a:t>
                      </a:r>
                    </a:p>
                  </a:txBody>
                  <a:tcPr marL="114300" marR="95250" marT="38100" marB="38100" anchor="ctr">
                    <a:lnL w="7620">
                      <a:solidFill>
                        <a:srgbClr val="B8BFC3"/>
                      </a:solidFill>
                      <a:prstDash val="solid"/>
                    </a:lnL>
                    <a:lnR w="7620">
                      <a:solidFill>
                        <a:srgbClr val="B8BFC3"/>
                      </a:solidFill>
                      <a:prstDash val="solid"/>
                    </a:lnR>
                    <a:lnB w="7620">
                      <a:solidFill>
                        <a:srgbClr val="B8BFC3"/>
                      </a:solidFill>
                      <a:prstDash val="solid"/>
                    </a:lnB>
                    <a:solidFill>
                      <a:srgbClr val="F4F5F5"/>
                    </a:solidFill>
                  </a:tcPr>
                </a:tc>
                <a:tc>
                  <a:txBody>
                    <a:bodyPr>
                      <a:noAutofit/>
                    </a:bodyPr>
                    <a:lstStyle/>
                    <a:p>
                      <a:r>
                        <a:rPr sz="1800" b="0">
                          <a:solidFill>
                            <a:srgbClr val="202124"/>
                          </a:solidFill>
                          <a:latin typeface="Calibri"/>
                          <a:ea typeface="Calibri"/>
                          <a:cs typeface="Calibri"/>
                        </a:rPr>
                        <a:t>Single-cycle cosine: 3×10⁻⁴ → 10⁻⁶ · Dice + Focal</a:t>
                      </a:r>
                    </a:p>
                  </a:txBody>
                  <a:tcPr marL="114300" marR="95250" marT="38100" marB="38100" anchor="ctr">
                    <a:lnR w="7620">
                      <a:solidFill>
                        <a:srgbClr val="B8BFC3"/>
                      </a:solidFill>
                      <a:prstDash val="solid"/>
                    </a:lnR>
                    <a:lnB w="7620">
                      <a:solidFill>
                        <a:srgbClr val="B8BFC3"/>
                      </a:solidFill>
                      <a:prstDash val="solid"/>
                    </a:lnB>
                    <a:solidFill>
                      <a:srgbClr val="F4F5F5"/>
                    </a:solidFill>
                  </a:tcPr>
                </a:tc>
              </a:tr>
              <a:tr h="538843">
                <a:tc>
                  <a:txBody>
                    <a:bodyPr>
                      <a:noAutofit/>
                    </a:bodyPr>
                    <a:lstStyle/>
                    <a:p>
                      <a:r>
                        <a:rPr sz="1800" b="0">
                          <a:solidFill>
                            <a:srgbClr val="202124"/>
                          </a:solidFill>
                          <a:latin typeface="Calibri"/>
                          <a:ea typeface="Calibri"/>
                          <a:cs typeface="Calibri"/>
                        </a:rPr>
                        <a:t>Comparison</a:t>
                      </a:r>
                    </a:p>
                  </a:txBody>
                  <a:tcPr marL="114300" marR="95250" marT="38100" marB="38100" anchor="ctr">
                    <a:lnL w="7620">
                      <a:solidFill>
                        <a:srgbClr val="B8BFC3"/>
                      </a:solidFill>
                      <a:prstDash val="solid"/>
                    </a:lnL>
                    <a:lnR w="7620">
                      <a:solidFill>
                        <a:srgbClr val="B8BFC3"/>
                      </a:solidFill>
                      <a:prstDash val="solid"/>
                    </a:lnR>
                    <a:lnB w="7620">
                      <a:solidFill>
                        <a:srgbClr val="B8BFC3"/>
                      </a:solidFill>
                      <a:prstDash val="solid"/>
                    </a:lnB>
                    <a:solidFill>
                      <a:srgbClr val="FFFFFF"/>
                    </a:solidFill>
                  </a:tcPr>
                </a:tc>
                <a:tc>
                  <a:txBody>
                    <a:bodyPr>
                      <a:noAutofit/>
                    </a:bodyPr>
                    <a:lstStyle/>
                    <a:p>
                      <a:r>
                        <a:rPr sz="1800" b="0">
                          <a:solidFill>
                            <a:srgbClr val="202124"/>
                          </a:solidFill>
                          <a:latin typeface="Calibri"/>
                          <a:ea typeface="Calibri"/>
                          <a:cs typeface="Calibri"/>
                        </a:rPr>
                        <a:t>PLAM / FSDR × RACE off / on · seeds 1219, 2027, 3407</a:t>
                      </a:r>
                    </a:p>
                  </a:txBody>
                  <a:tcPr marL="114300" marR="95250" marT="38100" marB="38100" anchor="ctr">
                    <a:lnR w="7620">
                      <a:solidFill>
                        <a:srgbClr val="B8BFC3"/>
                      </a:solidFill>
                      <a:prstDash val="solid"/>
                    </a:lnR>
                    <a:lnB w="7620">
                      <a:solidFill>
                        <a:srgbClr val="B8BFC3"/>
                      </a:solidFill>
                      <a:prstDash val="solid"/>
                    </a:lnB>
                    <a:solidFill>
                      <a:srgbClr val="FFFFFF"/>
                    </a:solidFill>
                  </a:tcPr>
                </a:tc>
              </a:tr>
              <a:tr h="538843">
                <a:tc>
                  <a:txBody>
                    <a:bodyPr>
                      <a:noAutofit/>
                    </a:bodyPr>
                    <a:lstStyle/>
                    <a:p>
                      <a:r>
                        <a:rPr sz="1800" b="0">
                          <a:solidFill>
                            <a:srgbClr val="202124"/>
                          </a:solidFill>
                          <a:latin typeface="Calibri"/>
                          <a:ea typeface="Calibri"/>
                          <a:cs typeface="Calibri"/>
                        </a:rPr>
                        <a:t>Selection / metric</a:t>
                      </a:r>
                    </a:p>
                  </a:txBody>
                  <a:tcPr marL="114300" marR="95250" marT="38100" marB="38100" anchor="ctr">
                    <a:lnL w="7620">
                      <a:solidFill>
                        <a:srgbClr val="B8BFC3"/>
                      </a:solidFill>
                      <a:prstDash val="solid"/>
                    </a:lnL>
                    <a:lnR w="7620">
                      <a:solidFill>
                        <a:srgbClr val="B8BFC3"/>
                      </a:solidFill>
                      <a:prstDash val="solid"/>
                    </a:lnR>
                    <a:lnB w="7620">
                      <a:solidFill>
                        <a:srgbClr val="B8BFC3"/>
                      </a:solidFill>
                      <a:prstDash val="solid"/>
                    </a:lnB>
                    <a:solidFill>
                      <a:srgbClr val="F4F5F5"/>
                    </a:solidFill>
                  </a:tcPr>
                </a:tc>
                <a:tc>
                  <a:txBody>
                    <a:bodyPr>
                      <a:noAutofit/>
                    </a:bodyPr>
                    <a:lstStyle/>
                    <a:p>
                      <a:r>
                        <a:rPr sz="1800" b="0">
                          <a:solidFill>
                            <a:srgbClr val="202124"/>
                          </a:solidFill>
                          <a:latin typeface="Calibri"/>
                          <a:ea typeface="Calibri"/>
                          <a:cs typeface="Calibri"/>
                        </a:rPr>
                        <a:t>Best Val macro IoU · Test macro IoU / Dice · probability &gt; 0.5</a:t>
                      </a:r>
                    </a:p>
                  </a:txBody>
                  <a:tcPr marL="114300" marR="95250" marT="38100" marB="38100" anchor="ctr">
                    <a:lnR w="7620">
                      <a:solidFill>
                        <a:srgbClr val="B8BFC3"/>
                      </a:solidFill>
                      <a:prstDash val="solid"/>
                    </a:lnR>
                    <a:lnB w="7620">
                      <a:solidFill>
                        <a:srgbClr val="B8BFC3"/>
                      </a:solidFill>
                      <a:prstDash val="solid"/>
                    </a:lnB>
                    <a:solidFill>
                      <a:srgbClr val="F4F5F5"/>
                    </a:solidFill>
                  </a:tcPr>
                </a:tc>
              </a:tr>
            </a:tbl>
          </a:graphicData>
        </a:graphic>
      </p:graphicFrame>
      <p:sp>
        <p:nvSpPr>
          <p:cNvPr id="5" name="Hold the recipe fixed; change the architectural modules">
            <a:extLst xmlns:a="http://schemas.openxmlformats.org/drawingml/2006/main">
              <a:ext uri="{FF2B5EF4-FFF2-40B4-BE49-F238E27FC236}">
                <a16:creationId xmlns:a16="http://schemas.microsoft.com/office/drawing/2014/main" id="{AD362621-1404-42FE-9C45-B8D5780534E7}"/>
              </a:ext>
            </a:extLst>
          </p:cNvPr>
          <p:cNvSpPr>
            <a:spLocks xmlns:a="http://schemas.openxmlformats.org/drawingml/2006/main" noGrp="1"/>
          </p:cNvSpPr>
          <p:nvPr/>
        </p:nvSpPr>
        <p:spPr>
          <a:xfrm xmlns:a="http://schemas.openxmlformats.org/drawingml/2006/main">
            <a:off x="638175" y="5581650"/>
            <a:ext cx="10915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202124"/>
                </a:solidFill>
                <a:latin typeface="Calibri"/>
                <a:ea typeface="Calibri"/>
                <a:cs typeface="Calibri"/>
              </a:defRPr>
            </a:defPPr>
          </a:lstStyle>
          <a:p xmlns:a="http://schemas.openxmlformats.org/drawingml/2006/main">
            <a:pPr algn="l">
              <a:defRPr sz="2100" b="1">
                <a:solidFill>
                  <a:srgbClr val="202124"/>
                </a:solidFill>
                <a:latin typeface="Calibri"/>
                <a:ea typeface="Calibri"/>
                <a:cs typeface="Calibri"/>
              </a:defRPr>
            </a:pPr>
            <a:r>
              <a:rPr sz="2100" b="1">
                <a:solidFill>
                  <a:srgbClr val="202124"/>
                </a:solidFill>
                <a:latin typeface="Calibri"/>
                <a:ea typeface="Calibri"/>
                <a:cs typeface="Calibri"/>
              </a:rPr>
              <a:t>Hold the recipe fixed; change the architectural modules.</a:t>
            </a:r>
          </a:p>
        </p:txBody>
      </p:sp>
      <p:sp>
        <p:nvSpPr>
          <p:cNvPr id="6" name="Test has prior research access. Split-audit limitations">
            <a:extLst xmlns:a="http://schemas.openxmlformats.org/drawingml/2006/main">
              <a:ext uri="{FF2B5EF4-FFF2-40B4-BE49-F238E27FC236}">
                <a16:creationId xmlns:a16="http://schemas.microsoft.com/office/drawing/2014/main" id="{B25B0DFD-57DA-4C6F-A2D2-4FB7DCAEF2CD}"/>
              </a:ext>
            </a:extLst>
          </p:cNvPr>
          <p:cNvSpPr>
            <a:spLocks xmlns:a="http://schemas.openxmlformats.org/drawingml/2006/main" noGrp="1"/>
          </p:cNvSpPr>
          <p:nvPr/>
        </p:nvSpPr>
        <p:spPr>
          <a:xfrm xmlns:a="http://schemas.openxmlformats.org/drawingml/2006/main">
            <a:off x="638175" y="6086475"/>
            <a:ext cx="10915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62686C"/>
                </a:solidFill>
                <a:latin typeface="Calibri"/>
                <a:ea typeface="Calibri"/>
                <a:cs typeface="Calibri"/>
              </a:defRPr>
            </a:defPPr>
          </a:lstStyle>
          <a:p xmlns:a="http://schemas.openxmlformats.org/drawingml/2006/main">
            <a:pPr algn="l">
              <a:defRPr sz="1575" b="0">
                <a:solidFill>
                  <a:srgbClr val="62686C"/>
                </a:solidFill>
                <a:latin typeface="Calibri"/>
                <a:ea typeface="Calibri"/>
                <a:cs typeface="Calibri"/>
              </a:defRPr>
            </a:pPr>
            <a:r>
              <a:rPr sz="1575" b="0">
                <a:solidFill>
                  <a:srgbClr val="62686C"/>
                </a:solidFill>
                <a:latin typeface="Calibri"/>
                <a:ea typeface="Calibri"/>
                <a:cs typeface="Calibri"/>
              </a:rPr>
              <a:t>Test has prior research access. Split-audit limitations are retained in the backup.</a:t>
            </a:r>
          </a:p>
        </p:txBody>
      </p:sp>
    </p:spTree>
    <p:extLst>
      <p:ext uri="{BB962C8B-B14F-4D97-AF65-F5344CB8AC3E}">
        <p14:creationId xmlns:p14="http://schemas.microsoft.com/office/powerpoint/2010/main" val="43497078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st results across three seeds">
            <a:extLst xmlns:a="http://schemas.openxmlformats.org/drawingml/2006/main">
              <a:ext uri="{FF2B5EF4-FFF2-40B4-BE49-F238E27FC236}">
                <a16:creationId xmlns:a16="http://schemas.microsoft.com/office/drawing/2014/main" id="{4465D738-EDCD-49AE-904A-9529FC94CE7D}"/>
              </a:ext>
            </a:extLst>
          </p:cNvPr>
          <p:cNvSpPr>
            <a:spLocks xmlns:a="http://schemas.openxmlformats.org/drawingml/2006/main" noGrp="1"/>
          </p:cNvSpPr>
          <p:nvPr/>
        </p:nvSpPr>
        <p:spPr>
          <a:xfrm xmlns:a="http://schemas.openxmlformats.org/drawingml/2006/main">
            <a:off x="638175" y="361950"/>
            <a:ext cx="10915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02124"/>
                </a:solidFill>
                <a:latin typeface="Cambria"/>
                <a:ea typeface="Cambria"/>
                <a:cs typeface="Cambria"/>
              </a:defRPr>
            </a:defPPr>
          </a:lstStyle>
          <a:p xmlns:a="http://schemas.openxmlformats.org/drawingml/2006/main">
            <a:pPr algn="l">
              <a:defRPr sz="3000" b="1">
                <a:solidFill>
                  <a:srgbClr val="202124"/>
                </a:solidFill>
                <a:latin typeface="Cambria"/>
                <a:ea typeface="Cambria"/>
                <a:cs typeface="Cambria"/>
              </a:defRPr>
            </a:pPr>
            <a:r>
              <a:rPr sz="3000" b="1">
                <a:solidFill>
                  <a:srgbClr val="202124"/>
                </a:solidFill>
                <a:latin typeface="Cambria"/>
                <a:ea typeface="Cambria"/>
                <a:cs typeface="Cambria"/>
              </a:rPr>
              <a:t>Test results across three seeds</a:t>
            </a:r>
          </a:p>
        </p:txBody>
      </p:sp>
      <p:sp>
        <p:nvSpPr>
          <p:cNvPr id="2" name="Mean ± sample SD · macro metrics · percentage-point gai">
            <a:extLst xmlns:a="http://schemas.openxmlformats.org/drawingml/2006/main">
              <a:ext uri="{FF2B5EF4-FFF2-40B4-BE49-F238E27FC236}">
                <a16:creationId xmlns:a16="http://schemas.microsoft.com/office/drawing/2014/main" id="{3BAD047F-4A82-48DB-891E-008CF00CB426}"/>
              </a:ext>
            </a:extLst>
          </p:cNvPr>
          <p:cNvSpPr>
            <a:spLocks xmlns:a="http://schemas.openxmlformats.org/drawingml/2006/main" noGrp="1"/>
          </p:cNvSpPr>
          <p:nvPr/>
        </p:nvSpPr>
        <p:spPr>
          <a:xfrm xmlns:a="http://schemas.openxmlformats.org/drawingml/2006/main">
            <a:off x="638175" y="6477000"/>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929699"/>
                </a:solidFill>
                <a:latin typeface="Calibri"/>
                <a:ea typeface="Calibri"/>
                <a:cs typeface="Calibri"/>
              </a:defRPr>
            </a:defPPr>
          </a:lstStyle>
          <a:p xmlns:a="http://schemas.openxmlformats.org/drawingml/2006/main">
            <a:pPr algn="l">
              <a:defRPr sz="900" b="0">
                <a:solidFill>
                  <a:srgbClr val="929699"/>
                </a:solidFill>
                <a:latin typeface="Calibri"/>
                <a:ea typeface="Calibri"/>
                <a:cs typeface="Calibri"/>
              </a:defRPr>
            </a:pPr>
            <a:r>
              <a:rPr sz="900" b="0">
                <a:solidFill>
                  <a:srgbClr val="929699"/>
                </a:solidFill>
                <a:latin typeface="Calibri"/>
                <a:ea typeface="Calibri"/>
                <a:cs typeface="Calibri"/>
              </a:rPr>
              <a:t>Mean ± sample SD · macro metrics · percentage-point gain over matched PLAM</a:t>
            </a:r>
          </a:p>
        </p:txBody>
      </p:sp>
      <p:sp>
        <p:nvSpPr>
          <p:cNvPr id="3" name="9">
            <a:extLst xmlns:a="http://schemas.openxmlformats.org/drawingml/2006/main">
              <a:ext uri="{FF2B5EF4-FFF2-40B4-BE49-F238E27FC236}">
                <a16:creationId xmlns:a16="http://schemas.microsoft.com/office/drawing/2014/main" id="{7951A85D-C837-407C-A91E-6DFA05777B01}"/>
              </a:ext>
            </a:extLst>
          </p:cNvPr>
          <p:cNvSpPr>
            <a:spLocks xmlns:a="http://schemas.openxmlformats.org/drawingml/2006/main" noGrp="1"/>
          </p:cNvSpPr>
          <p:nvPr/>
        </p:nvSpPr>
        <p:spPr>
          <a:xfrm xmlns:a="http://schemas.openxmlformats.org/drawingml/2006/main">
            <a:off x="11144250" y="6477000"/>
            <a:ext cx="4095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929699"/>
                </a:solidFill>
                <a:latin typeface="Calibri"/>
                <a:ea typeface="Calibri"/>
                <a:cs typeface="Calibri"/>
              </a:defRPr>
            </a:defPPr>
          </a:lstStyle>
          <a:p xmlns:a="http://schemas.openxmlformats.org/drawingml/2006/main">
            <a:pPr algn="r">
              <a:defRPr sz="900" b="0">
                <a:solidFill>
                  <a:srgbClr val="929699"/>
                </a:solidFill>
                <a:latin typeface="Calibri"/>
                <a:ea typeface="Calibri"/>
                <a:cs typeface="Calibri"/>
              </a:defRPr>
            </a:pPr>
            <a:r>
              <a:rPr sz="900" b="0">
                <a:solidFill>
                  <a:srgbClr val="929699"/>
                </a:solidFill>
                <a:latin typeface="Calibri"/>
                <a:ea typeface="Calibri"/>
                <a:cs typeface="Calibri"/>
              </a:rPr>
              <a:t>9</a:t>
            </a:r>
          </a:p>
        </p:txBody>
      </p:sp>
      <p:graphicFrame>
        <p:nvGraphicFramePr>
          <p:cNvPr id="4" name="">
            <a:extLst xmlns:a="http://schemas.openxmlformats.org/drawingml/2006/main">
              <a:ext uri="{FF2B5EF4-FFF2-40B4-BE49-F238E27FC236}">
                <a16:creationId xmlns:a16="http://schemas.microsoft.com/office/drawing/2014/main" id="{792AE169-6C32-41E4-8CCE-793F7DE3CFA1}"/>
              </a:ext>
            </a:extLst>
          </p:cNvPr>
          <p:cNvGraphicFramePr/>
          <p:nvPr/>
        </p:nvGraphicFramePr>
        <p:xfrm>
          <a:off xmlns:a="http://schemas.openxmlformats.org/drawingml/2006/main" x="638175" y="1695450"/>
          <a:ext xmlns:a="http://schemas.openxmlformats.org/drawingml/2006/main" cx="10915650" cy="3371850"/>
        </p:xfrm>
        <a:graphic xmlns:a="http://schemas.openxmlformats.org/drawingml/2006/main">
          <a:graphicData uri="http://schemas.openxmlformats.org/drawingml/2006/table">
            <a:tbl>
              <a:tblPr/>
              <a:tblGrid>
                <a:gridCol w="4429125"/>
                <a:gridCol w="2295525"/>
                <a:gridCol w="2286000"/>
                <a:gridCol w="1905000"/>
              </a:tblGrid>
              <a:tr h="674370">
                <a:tc>
                  <a:txBody>
                    <a:bodyPr>
                      <a:noAutofit/>
                    </a:bodyPr>
                    <a:lstStyle/>
                    <a:p>
                      <a:r>
                        <a:rPr sz="2025" b="1">
                          <a:solidFill>
                            <a:srgbClr val="FFFFFF"/>
                          </a:solidFill>
                          <a:latin typeface="Calibri"/>
                          <a:ea typeface="Calibri"/>
                          <a:cs typeface="Calibri"/>
                        </a:rPr>
                        <a:t>Configuration</a:t>
                      </a:r>
                    </a:p>
                  </a:txBody>
                  <a:tcPr marL="114300" marR="95250" marT="38100" marB="38100" anchor="ctr">
                    <a:lnL w="7620">
                      <a:solidFill>
                        <a:srgbClr val="B8BFC3"/>
                      </a:solidFill>
                      <a:prstDash val="solid"/>
                    </a:lnL>
                    <a:lnR w="7620">
                      <a:solidFill>
                        <a:srgbClr val="B8BFC3"/>
                      </a:solidFill>
                      <a:prstDash val="solid"/>
                    </a:lnR>
                    <a:lnT w="7620">
                      <a:solidFill>
                        <a:srgbClr val="B8BFC3"/>
                      </a:solidFill>
                      <a:prstDash val="solid"/>
                    </a:lnT>
                    <a:lnB w="7620">
                      <a:solidFill>
                        <a:srgbClr val="B8BFC3"/>
                      </a:solidFill>
                      <a:prstDash val="solid"/>
                    </a:lnB>
                    <a:solidFill>
                      <a:srgbClr val="202124"/>
                    </a:solidFill>
                  </a:tcPr>
                </a:tc>
                <a:tc>
                  <a:txBody>
                    <a:bodyPr>
                      <a:noAutofit/>
                    </a:bodyPr>
                    <a:lstStyle/>
                    <a:p>
                      <a:r>
                        <a:rPr sz="2025" b="1">
                          <a:solidFill>
                            <a:srgbClr val="FFFFFF"/>
                          </a:solidFill>
                          <a:latin typeface="Calibri"/>
                          <a:ea typeface="Calibri"/>
                          <a:cs typeface="Calibri"/>
                        </a:rPr>
                        <a:t>Test IoU (%)</a:t>
                      </a:r>
                    </a:p>
                  </a:txBody>
                  <a:tcPr marL="114300" marR="95250" marT="38100" marB="38100" anchor="ctr">
                    <a:lnR w="7620">
                      <a:solidFill>
                        <a:srgbClr val="B8BFC3"/>
                      </a:solidFill>
                      <a:prstDash val="solid"/>
                    </a:lnR>
                    <a:lnT w="7620">
                      <a:solidFill>
                        <a:srgbClr val="B8BFC3"/>
                      </a:solidFill>
                      <a:prstDash val="solid"/>
                    </a:lnT>
                    <a:lnB w="7620">
                      <a:solidFill>
                        <a:srgbClr val="B8BFC3"/>
                      </a:solidFill>
                      <a:prstDash val="solid"/>
                    </a:lnB>
                    <a:solidFill>
                      <a:srgbClr val="202124"/>
                    </a:solidFill>
                  </a:tcPr>
                </a:tc>
                <a:tc>
                  <a:txBody>
                    <a:bodyPr>
                      <a:noAutofit/>
                    </a:bodyPr>
                    <a:lstStyle/>
                    <a:p>
                      <a:r>
                        <a:rPr sz="2025" b="1">
                          <a:solidFill>
                            <a:srgbClr val="FFFFFF"/>
                          </a:solidFill>
                          <a:latin typeface="Calibri"/>
                          <a:ea typeface="Calibri"/>
                          <a:cs typeface="Calibri"/>
                        </a:rPr>
                        <a:t>Test Dice (%)</a:t>
                      </a:r>
                    </a:p>
                  </a:txBody>
                  <a:tcPr marL="114300" marR="95250" marT="38100" marB="38100" anchor="ctr">
                    <a:lnR w="7620">
                      <a:solidFill>
                        <a:srgbClr val="B8BFC3"/>
                      </a:solidFill>
                      <a:prstDash val="solid"/>
                    </a:lnR>
                    <a:lnT w="7620">
                      <a:solidFill>
                        <a:srgbClr val="B8BFC3"/>
                      </a:solidFill>
                      <a:prstDash val="solid"/>
                    </a:lnT>
                    <a:lnB w="7620">
                      <a:solidFill>
                        <a:srgbClr val="B8BFC3"/>
                      </a:solidFill>
                      <a:prstDash val="solid"/>
                    </a:lnB>
                    <a:solidFill>
                      <a:srgbClr val="202124"/>
                    </a:solidFill>
                  </a:tcPr>
                </a:tc>
                <a:tc>
                  <a:txBody>
                    <a:bodyPr>
                      <a:noAutofit/>
                    </a:bodyPr>
                    <a:lstStyle/>
                    <a:p>
                      <a:r>
                        <a:rPr sz="2025" b="1">
                          <a:solidFill>
                            <a:srgbClr val="FFFFFF"/>
                          </a:solidFill>
                          <a:latin typeface="Calibri"/>
                          <a:ea typeface="Calibri"/>
                          <a:cs typeface="Calibri"/>
                        </a:rPr>
                        <a:t>Δ IoU (pp)</a:t>
                      </a:r>
                    </a:p>
                  </a:txBody>
                  <a:tcPr marL="114300" marR="95250" marT="38100" marB="38100" anchor="ctr">
                    <a:lnR w="7620">
                      <a:solidFill>
                        <a:srgbClr val="B8BFC3"/>
                      </a:solidFill>
                      <a:prstDash val="solid"/>
                    </a:lnR>
                    <a:lnT w="7620">
                      <a:solidFill>
                        <a:srgbClr val="B8BFC3"/>
                      </a:solidFill>
                      <a:prstDash val="solid"/>
                    </a:lnT>
                    <a:lnB w="7620">
                      <a:solidFill>
                        <a:srgbClr val="B8BFC3"/>
                      </a:solidFill>
                      <a:prstDash val="solid"/>
                    </a:lnB>
                    <a:solidFill>
                      <a:srgbClr val="202124"/>
                    </a:solidFill>
                  </a:tcPr>
                </a:tc>
              </a:tr>
              <a:tr h="674370">
                <a:tc>
                  <a:txBody>
                    <a:bodyPr>
                      <a:noAutofit/>
                    </a:bodyPr>
                    <a:lstStyle/>
                    <a:p>
                      <a:r>
                        <a:rPr sz="2025" b="0">
                          <a:solidFill>
                            <a:srgbClr val="202124"/>
                          </a:solidFill>
                          <a:latin typeface="Calibri"/>
                          <a:ea typeface="Calibri"/>
                          <a:cs typeface="Calibri"/>
                        </a:rPr>
                        <a:t>Matched PLAM</a:t>
                      </a:r>
                    </a:p>
                  </a:txBody>
                  <a:tcPr marL="114300" marR="95250" marT="38100" marB="38100" anchor="ctr">
                    <a:lnL w="7620">
                      <a:solidFill>
                        <a:srgbClr val="B8BFC3"/>
                      </a:solidFill>
                      <a:prstDash val="solid"/>
                    </a:lnL>
                    <a:lnR w="7620">
                      <a:solidFill>
                        <a:srgbClr val="B8BFC3"/>
                      </a:solidFill>
                      <a:prstDash val="solid"/>
                    </a:lnR>
                    <a:lnB w="7620">
                      <a:solidFill>
                        <a:srgbClr val="B8BFC3"/>
                      </a:solidFill>
                      <a:prstDash val="solid"/>
                    </a:lnB>
                    <a:solidFill>
                      <a:srgbClr val="FFFFFF"/>
                    </a:solidFill>
                  </a:tcPr>
                </a:tc>
                <a:tc>
                  <a:txBody>
                    <a:bodyPr>
                      <a:noAutofit/>
                    </a:bodyPr>
                    <a:lstStyle/>
                    <a:p>
                      <a:r>
                        <a:rPr sz="2025" b="0">
                          <a:solidFill>
                            <a:srgbClr val="202124"/>
                          </a:solidFill>
                          <a:latin typeface="Calibri"/>
                          <a:ea typeface="Calibri"/>
                          <a:cs typeface="Calibri"/>
                        </a:rPr>
                        <a:t>75.48 ± 0.09</a:t>
                      </a:r>
                    </a:p>
                  </a:txBody>
                  <a:tcPr marL="114300" marR="95250" marT="38100" marB="38100" anchor="ctr">
                    <a:lnR w="7620">
                      <a:solidFill>
                        <a:srgbClr val="B8BFC3"/>
                      </a:solidFill>
                      <a:prstDash val="solid"/>
                    </a:lnR>
                    <a:lnB w="7620">
                      <a:solidFill>
                        <a:srgbClr val="B8BFC3"/>
                      </a:solidFill>
                      <a:prstDash val="solid"/>
                    </a:lnB>
                    <a:solidFill>
                      <a:srgbClr val="FFFFFF"/>
                    </a:solidFill>
                  </a:tcPr>
                </a:tc>
                <a:tc>
                  <a:txBody>
                    <a:bodyPr>
                      <a:noAutofit/>
                    </a:bodyPr>
                    <a:lstStyle/>
                    <a:p>
                      <a:r>
                        <a:rPr sz="2025" b="0">
                          <a:solidFill>
                            <a:srgbClr val="202124"/>
                          </a:solidFill>
                          <a:latin typeface="Calibri"/>
                          <a:ea typeface="Calibri"/>
                          <a:cs typeface="Calibri"/>
                        </a:rPr>
                        <a:t>84.03 ± 0.08</a:t>
                      </a:r>
                    </a:p>
                  </a:txBody>
                  <a:tcPr marL="114300" marR="95250" marT="38100" marB="38100" anchor="ctr">
                    <a:lnR w="7620">
                      <a:solidFill>
                        <a:srgbClr val="B8BFC3"/>
                      </a:solidFill>
                      <a:prstDash val="solid"/>
                    </a:lnR>
                    <a:lnB w="7620">
                      <a:solidFill>
                        <a:srgbClr val="B8BFC3"/>
                      </a:solidFill>
                      <a:prstDash val="solid"/>
                    </a:lnB>
                    <a:solidFill>
                      <a:srgbClr val="FFFFFF"/>
                    </a:solidFill>
                  </a:tcPr>
                </a:tc>
                <a:tc>
                  <a:txBody>
                    <a:bodyPr>
                      <a:noAutofit/>
                    </a:bodyPr>
                    <a:lstStyle/>
                    <a:p>
                      <a:r>
                        <a:rPr sz="2025" b="0">
                          <a:solidFill>
                            <a:srgbClr val="202124"/>
                          </a:solidFill>
                          <a:latin typeface="Calibri"/>
                          <a:ea typeface="Calibri"/>
                          <a:cs typeface="Calibri"/>
                        </a:rPr>
                        <a:t>—</a:t>
                      </a:r>
                    </a:p>
                  </a:txBody>
                  <a:tcPr marL="114300" marR="95250" marT="38100" marB="38100" anchor="ctr">
                    <a:lnR w="7620">
                      <a:solidFill>
                        <a:srgbClr val="B8BFC3"/>
                      </a:solidFill>
                      <a:prstDash val="solid"/>
                    </a:lnR>
                    <a:lnB w="7620">
                      <a:solidFill>
                        <a:srgbClr val="B8BFC3"/>
                      </a:solidFill>
                      <a:prstDash val="solid"/>
                    </a:lnB>
                    <a:solidFill>
                      <a:srgbClr val="FFFFFF"/>
                    </a:solidFill>
                  </a:tcPr>
                </a:tc>
              </a:tr>
              <a:tr h="674370">
                <a:tc>
                  <a:txBody>
                    <a:bodyPr>
                      <a:noAutofit/>
                    </a:bodyPr>
                    <a:lstStyle/>
                    <a:p>
                      <a:r>
                        <a:rPr sz="2025" b="0">
                          <a:solidFill>
                            <a:srgbClr val="202124"/>
                          </a:solidFill>
                          <a:latin typeface="Calibri"/>
                          <a:ea typeface="Calibri"/>
                          <a:cs typeface="Calibri"/>
                        </a:rPr>
                        <a:t>FSDR</a:t>
                      </a:r>
                    </a:p>
                  </a:txBody>
                  <a:tcPr marL="114300" marR="95250" marT="38100" marB="38100" anchor="ctr">
                    <a:lnL w="7620">
                      <a:solidFill>
                        <a:srgbClr val="B8BFC3"/>
                      </a:solidFill>
                      <a:prstDash val="solid"/>
                    </a:lnL>
                    <a:lnR w="7620">
                      <a:solidFill>
                        <a:srgbClr val="B8BFC3"/>
                      </a:solidFill>
                      <a:prstDash val="solid"/>
                    </a:lnR>
                    <a:lnB w="7620">
                      <a:solidFill>
                        <a:srgbClr val="B8BFC3"/>
                      </a:solidFill>
                      <a:prstDash val="solid"/>
                    </a:lnB>
                    <a:solidFill>
                      <a:srgbClr val="F4F5F5"/>
                    </a:solidFill>
                  </a:tcPr>
                </a:tc>
                <a:tc>
                  <a:txBody>
                    <a:bodyPr>
                      <a:noAutofit/>
                    </a:bodyPr>
                    <a:lstStyle/>
                    <a:p>
                      <a:r>
                        <a:rPr sz="2025" b="0">
                          <a:solidFill>
                            <a:srgbClr val="202124"/>
                          </a:solidFill>
                          <a:latin typeface="Calibri"/>
                          <a:ea typeface="Calibri"/>
                          <a:cs typeface="Calibri"/>
                        </a:rPr>
                        <a:t>75.98 ± 0.15</a:t>
                      </a:r>
                    </a:p>
                  </a:txBody>
                  <a:tcPr marL="114300" marR="95250" marT="38100" marB="38100" anchor="ctr">
                    <a:lnR w="7620">
                      <a:solidFill>
                        <a:srgbClr val="B8BFC3"/>
                      </a:solidFill>
                      <a:prstDash val="solid"/>
                    </a:lnR>
                    <a:lnB w="7620">
                      <a:solidFill>
                        <a:srgbClr val="B8BFC3"/>
                      </a:solidFill>
                      <a:prstDash val="solid"/>
                    </a:lnB>
                    <a:solidFill>
                      <a:srgbClr val="F4F5F5"/>
                    </a:solidFill>
                  </a:tcPr>
                </a:tc>
                <a:tc>
                  <a:txBody>
                    <a:bodyPr>
                      <a:noAutofit/>
                    </a:bodyPr>
                    <a:lstStyle/>
                    <a:p>
                      <a:r>
                        <a:rPr sz="2025" b="0">
                          <a:solidFill>
                            <a:srgbClr val="202124"/>
                          </a:solidFill>
                          <a:latin typeface="Calibri"/>
                          <a:ea typeface="Calibri"/>
                          <a:cs typeface="Calibri"/>
                        </a:rPr>
                        <a:t>84.50 ± 0.08</a:t>
                      </a:r>
                    </a:p>
                  </a:txBody>
                  <a:tcPr marL="114300" marR="95250" marT="38100" marB="38100" anchor="ctr">
                    <a:lnR w="7620">
                      <a:solidFill>
                        <a:srgbClr val="B8BFC3"/>
                      </a:solidFill>
                      <a:prstDash val="solid"/>
                    </a:lnR>
                    <a:lnB w="7620">
                      <a:solidFill>
                        <a:srgbClr val="B8BFC3"/>
                      </a:solidFill>
                      <a:prstDash val="solid"/>
                    </a:lnB>
                    <a:solidFill>
                      <a:srgbClr val="F4F5F5"/>
                    </a:solidFill>
                  </a:tcPr>
                </a:tc>
                <a:tc>
                  <a:txBody>
                    <a:bodyPr>
                      <a:noAutofit/>
                    </a:bodyPr>
                    <a:lstStyle/>
                    <a:p>
                      <a:r>
                        <a:rPr sz="2025" b="0">
                          <a:solidFill>
                            <a:srgbClr val="202124"/>
                          </a:solidFill>
                          <a:latin typeface="Calibri"/>
                          <a:ea typeface="Calibri"/>
                          <a:cs typeface="Calibri"/>
                        </a:rPr>
                        <a:t>+0.51</a:t>
                      </a:r>
                    </a:p>
                  </a:txBody>
                  <a:tcPr marL="114300" marR="95250" marT="38100" marB="38100" anchor="ctr">
                    <a:lnR w="7620">
                      <a:solidFill>
                        <a:srgbClr val="B8BFC3"/>
                      </a:solidFill>
                      <a:prstDash val="solid"/>
                    </a:lnR>
                    <a:lnB w="7620">
                      <a:solidFill>
                        <a:srgbClr val="B8BFC3"/>
                      </a:solidFill>
                      <a:prstDash val="solid"/>
                    </a:lnB>
                    <a:solidFill>
                      <a:srgbClr val="F4F5F5"/>
                    </a:solidFill>
                  </a:tcPr>
                </a:tc>
              </a:tr>
              <a:tr h="674370">
                <a:tc>
                  <a:txBody>
                    <a:bodyPr>
                      <a:noAutofit/>
                    </a:bodyPr>
                    <a:lstStyle/>
                    <a:p>
                      <a:r>
                        <a:rPr sz="2025" b="0">
                          <a:solidFill>
                            <a:srgbClr val="202124"/>
                          </a:solidFill>
                          <a:latin typeface="Calibri"/>
                          <a:ea typeface="Calibri"/>
                          <a:cs typeface="Calibri"/>
                        </a:rPr>
                        <a:t>PLAM + complete RACE</a:t>
                      </a:r>
                    </a:p>
                  </a:txBody>
                  <a:tcPr marL="114300" marR="95250" marT="38100" marB="38100" anchor="ctr">
                    <a:lnL w="7620">
                      <a:solidFill>
                        <a:srgbClr val="B8BFC3"/>
                      </a:solidFill>
                      <a:prstDash val="solid"/>
                    </a:lnL>
                    <a:lnR w="7620">
                      <a:solidFill>
                        <a:srgbClr val="B8BFC3"/>
                      </a:solidFill>
                      <a:prstDash val="solid"/>
                    </a:lnR>
                    <a:lnB w="7620">
                      <a:solidFill>
                        <a:srgbClr val="B8BFC3"/>
                      </a:solidFill>
                      <a:prstDash val="solid"/>
                    </a:lnB>
                    <a:solidFill>
                      <a:srgbClr val="FFFFFF"/>
                    </a:solidFill>
                  </a:tcPr>
                </a:tc>
                <a:tc>
                  <a:txBody>
                    <a:bodyPr>
                      <a:noAutofit/>
                    </a:bodyPr>
                    <a:lstStyle/>
                    <a:p>
                      <a:r>
                        <a:rPr sz="2025" b="0">
                          <a:solidFill>
                            <a:srgbClr val="202124"/>
                          </a:solidFill>
                          <a:latin typeface="Calibri"/>
                          <a:ea typeface="Calibri"/>
                          <a:cs typeface="Calibri"/>
                        </a:rPr>
                        <a:t>75.70 ± 0.11</a:t>
                      </a:r>
                    </a:p>
                  </a:txBody>
                  <a:tcPr marL="114300" marR="95250" marT="38100" marB="38100" anchor="ctr">
                    <a:lnR w="7620">
                      <a:solidFill>
                        <a:srgbClr val="B8BFC3"/>
                      </a:solidFill>
                      <a:prstDash val="solid"/>
                    </a:lnR>
                    <a:lnB w="7620">
                      <a:solidFill>
                        <a:srgbClr val="B8BFC3"/>
                      </a:solidFill>
                      <a:prstDash val="solid"/>
                    </a:lnB>
                    <a:solidFill>
                      <a:srgbClr val="FFFFFF"/>
                    </a:solidFill>
                  </a:tcPr>
                </a:tc>
                <a:tc>
                  <a:txBody>
                    <a:bodyPr>
                      <a:noAutofit/>
                    </a:bodyPr>
                    <a:lstStyle/>
                    <a:p>
                      <a:r>
                        <a:rPr sz="2025" b="0">
                          <a:solidFill>
                            <a:srgbClr val="202124"/>
                          </a:solidFill>
                          <a:latin typeface="Calibri"/>
                          <a:ea typeface="Calibri"/>
                          <a:cs typeface="Calibri"/>
                        </a:rPr>
                        <a:t>84.19 ± 0.07</a:t>
                      </a:r>
                    </a:p>
                  </a:txBody>
                  <a:tcPr marL="114300" marR="95250" marT="38100" marB="38100" anchor="ctr">
                    <a:lnR w="7620">
                      <a:solidFill>
                        <a:srgbClr val="B8BFC3"/>
                      </a:solidFill>
                      <a:prstDash val="solid"/>
                    </a:lnR>
                    <a:lnB w="7620">
                      <a:solidFill>
                        <a:srgbClr val="B8BFC3"/>
                      </a:solidFill>
                      <a:prstDash val="solid"/>
                    </a:lnB>
                    <a:solidFill>
                      <a:srgbClr val="FFFFFF"/>
                    </a:solidFill>
                  </a:tcPr>
                </a:tc>
                <a:tc>
                  <a:txBody>
                    <a:bodyPr>
                      <a:noAutofit/>
                    </a:bodyPr>
                    <a:lstStyle/>
                    <a:p>
                      <a:r>
                        <a:rPr sz="2025" b="0">
                          <a:solidFill>
                            <a:srgbClr val="202124"/>
                          </a:solidFill>
                          <a:latin typeface="Calibri"/>
                          <a:ea typeface="Calibri"/>
                          <a:cs typeface="Calibri"/>
                        </a:rPr>
                        <a:t>+0.22</a:t>
                      </a:r>
                    </a:p>
                  </a:txBody>
                  <a:tcPr marL="114300" marR="95250" marT="38100" marB="38100" anchor="ctr">
                    <a:lnR w="7620">
                      <a:solidFill>
                        <a:srgbClr val="B8BFC3"/>
                      </a:solidFill>
                      <a:prstDash val="solid"/>
                    </a:lnR>
                    <a:lnB w="7620">
                      <a:solidFill>
                        <a:srgbClr val="B8BFC3"/>
                      </a:solidFill>
                      <a:prstDash val="solid"/>
                    </a:lnB>
                    <a:solidFill>
                      <a:srgbClr val="FFFFFF"/>
                    </a:solidFill>
                  </a:tcPr>
                </a:tc>
              </a:tr>
              <a:tr h="674370">
                <a:tc>
                  <a:txBody>
                    <a:bodyPr>
                      <a:noAutofit/>
                    </a:bodyPr>
                    <a:lstStyle/>
                    <a:p>
                      <a:r>
                        <a:rPr sz="2025" b="1">
                          <a:solidFill>
                            <a:srgbClr val="202124"/>
                          </a:solidFill>
                          <a:latin typeface="Calibri"/>
                          <a:ea typeface="Calibri"/>
                          <a:cs typeface="Calibri"/>
                        </a:rPr>
                        <a:t>FSDR + complete RACE</a:t>
                      </a:r>
                    </a:p>
                  </a:txBody>
                  <a:tcPr marL="114300" marR="95250" marT="38100" marB="38100" anchor="ctr">
                    <a:lnL w="7620">
                      <a:solidFill>
                        <a:srgbClr val="B8BFC3"/>
                      </a:solidFill>
                      <a:prstDash val="solid"/>
                    </a:lnL>
                    <a:lnR w="7620">
                      <a:solidFill>
                        <a:srgbClr val="B8BFC3"/>
                      </a:solidFill>
                      <a:prstDash val="solid"/>
                    </a:lnR>
                    <a:lnB w="7620">
                      <a:solidFill>
                        <a:srgbClr val="B8BFC3"/>
                      </a:solidFill>
                      <a:prstDash val="solid"/>
                    </a:lnB>
                    <a:solidFill>
                      <a:srgbClr val="EDF3E7"/>
                    </a:solidFill>
                  </a:tcPr>
                </a:tc>
                <a:tc>
                  <a:txBody>
                    <a:bodyPr>
                      <a:noAutofit/>
                    </a:bodyPr>
                    <a:lstStyle/>
                    <a:p>
                      <a:r>
                        <a:rPr sz="2025" b="1">
                          <a:solidFill>
                            <a:srgbClr val="202124"/>
                          </a:solidFill>
                          <a:latin typeface="Calibri"/>
                          <a:ea typeface="Calibri"/>
                          <a:cs typeface="Calibri"/>
                        </a:rPr>
                        <a:t>76.23 ± 0.05</a:t>
                      </a:r>
                    </a:p>
                  </a:txBody>
                  <a:tcPr marL="114300" marR="95250" marT="38100" marB="38100" anchor="ctr">
                    <a:lnR w="7620">
                      <a:solidFill>
                        <a:srgbClr val="B8BFC3"/>
                      </a:solidFill>
                      <a:prstDash val="solid"/>
                    </a:lnR>
                    <a:lnB w="7620">
                      <a:solidFill>
                        <a:srgbClr val="B8BFC3"/>
                      </a:solidFill>
                      <a:prstDash val="solid"/>
                    </a:lnB>
                    <a:solidFill>
                      <a:srgbClr val="EDF3E7"/>
                    </a:solidFill>
                  </a:tcPr>
                </a:tc>
                <a:tc>
                  <a:txBody>
                    <a:bodyPr>
                      <a:noAutofit/>
                    </a:bodyPr>
                    <a:lstStyle/>
                    <a:p>
                      <a:r>
                        <a:rPr sz="2025" b="1">
                          <a:solidFill>
                            <a:srgbClr val="202124"/>
                          </a:solidFill>
                          <a:latin typeface="Calibri"/>
                          <a:ea typeface="Calibri"/>
                          <a:cs typeface="Calibri"/>
                        </a:rPr>
                        <a:t>84.71 ± 0.03</a:t>
                      </a:r>
                    </a:p>
                  </a:txBody>
                  <a:tcPr marL="114300" marR="95250" marT="38100" marB="38100" anchor="ctr">
                    <a:lnR w="7620">
                      <a:solidFill>
                        <a:srgbClr val="B8BFC3"/>
                      </a:solidFill>
                      <a:prstDash val="solid"/>
                    </a:lnR>
                    <a:lnB w="7620">
                      <a:solidFill>
                        <a:srgbClr val="B8BFC3"/>
                      </a:solidFill>
                      <a:prstDash val="solid"/>
                    </a:lnB>
                    <a:solidFill>
                      <a:srgbClr val="EDF3E7"/>
                    </a:solidFill>
                  </a:tcPr>
                </a:tc>
                <a:tc>
                  <a:txBody>
                    <a:bodyPr>
                      <a:noAutofit/>
                    </a:bodyPr>
                    <a:lstStyle/>
                    <a:p>
                      <a:r>
                        <a:rPr sz="2025" b="1">
                          <a:solidFill>
                            <a:srgbClr val="202124"/>
                          </a:solidFill>
                          <a:latin typeface="Calibri"/>
                          <a:ea typeface="Calibri"/>
                          <a:cs typeface="Calibri"/>
                        </a:rPr>
                        <a:t>+0.75</a:t>
                      </a:r>
                    </a:p>
                  </a:txBody>
                  <a:tcPr marL="114300" marR="95250" marT="38100" marB="38100" anchor="ctr">
                    <a:lnR w="7620">
                      <a:solidFill>
                        <a:srgbClr val="B8BFC3"/>
                      </a:solidFill>
                      <a:prstDash val="solid"/>
                    </a:lnR>
                    <a:lnB w="7620">
                      <a:solidFill>
                        <a:srgbClr val="B8BFC3"/>
                      </a:solidFill>
                      <a:prstDash val="solid"/>
                    </a:lnB>
                    <a:solidFill>
                      <a:srgbClr val="EDF3E7"/>
                    </a:solidFill>
                  </a:tcPr>
                </a:tc>
              </a:tr>
            </a:tbl>
          </a:graphicData>
        </a:graphic>
      </p:graphicFrame>
      <p:sp>
        <p:nvSpPr>
          <p:cNvPr id="5" name="76.23%">
            <a:extLst xmlns:a="http://schemas.openxmlformats.org/drawingml/2006/main">
              <a:ext uri="{FF2B5EF4-FFF2-40B4-BE49-F238E27FC236}">
                <a16:creationId xmlns:a16="http://schemas.microsoft.com/office/drawing/2014/main" id="{5BF61222-F839-4CD2-A47A-53CD053A4B89}"/>
              </a:ext>
            </a:extLst>
          </p:cNvPr>
          <p:cNvSpPr>
            <a:spLocks xmlns:a="http://schemas.openxmlformats.org/drawingml/2006/main" noGrp="1"/>
          </p:cNvSpPr>
          <p:nvPr/>
        </p:nvSpPr>
        <p:spPr>
          <a:xfrm xmlns:a="http://schemas.openxmlformats.org/drawingml/2006/main">
            <a:off x="638175" y="5353050"/>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900" b="1">
                <a:solidFill>
                  <a:srgbClr val="78974E"/>
                </a:solidFill>
                <a:latin typeface="Calibri"/>
                <a:ea typeface="Calibri"/>
                <a:cs typeface="Calibri"/>
              </a:defRPr>
            </a:defPPr>
          </a:lstStyle>
          <a:p xmlns:a="http://schemas.openxmlformats.org/drawingml/2006/main">
            <a:pPr algn="l">
              <a:defRPr sz="3900" b="1">
                <a:solidFill>
                  <a:srgbClr val="78974E"/>
                </a:solidFill>
                <a:latin typeface="Calibri"/>
                <a:ea typeface="Calibri"/>
                <a:cs typeface="Calibri"/>
              </a:defRPr>
            </a:pPr>
            <a:r>
              <a:rPr sz="3900" b="1">
                <a:solidFill>
                  <a:srgbClr val="78974E"/>
                </a:solidFill>
                <a:latin typeface="Calibri"/>
                <a:ea typeface="Calibri"/>
                <a:cs typeface="Calibri"/>
              </a:rPr>
              <a:t>76.23%</a:t>
            </a:r>
          </a:p>
        </p:txBody>
      </p:sp>
      <p:sp>
        <p:nvSpPr>
          <p:cNvPr id="6" name="Test IoU">
            <a:extLst xmlns:a="http://schemas.openxmlformats.org/drawingml/2006/main">
              <a:ext uri="{FF2B5EF4-FFF2-40B4-BE49-F238E27FC236}">
                <a16:creationId xmlns:a16="http://schemas.microsoft.com/office/drawing/2014/main" id="{74CCAC11-FB54-4B5C-BCE4-1E972336C29B}"/>
              </a:ext>
            </a:extLst>
          </p:cNvPr>
          <p:cNvSpPr>
            <a:spLocks xmlns:a="http://schemas.openxmlformats.org/drawingml/2006/main" noGrp="1"/>
          </p:cNvSpPr>
          <p:nvPr/>
        </p:nvSpPr>
        <p:spPr>
          <a:xfrm xmlns:a="http://schemas.openxmlformats.org/drawingml/2006/main">
            <a:off x="638175" y="60674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62686C"/>
                </a:solidFill>
                <a:latin typeface="Calibri"/>
                <a:ea typeface="Calibri"/>
                <a:cs typeface="Calibri"/>
              </a:defRPr>
            </a:defPPr>
          </a:lstStyle>
          <a:p xmlns:a="http://schemas.openxmlformats.org/drawingml/2006/main">
            <a:pPr algn="l">
              <a:defRPr sz="1725" b="0">
                <a:solidFill>
                  <a:srgbClr val="62686C"/>
                </a:solidFill>
                <a:latin typeface="Calibri"/>
                <a:ea typeface="Calibri"/>
                <a:cs typeface="Calibri"/>
              </a:defRPr>
            </a:pPr>
            <a:r>
              <a:rPr sz="1725" b="0">
                <a:solidFill>
                  <a:srgbClr val="62686C"/>
                </a:solidFill>
                <a:latin typeface="Calibri"/>
                <a:ea typeface="Calibri"/>
                <a:cs typeface="Calibri"/>
              </a:rPr>
              <a:t>Test IoU</a:t>
            </a:r>
          </a:p>
        </p:txBody>
      </p:sp>
      <p:sp>
        <p:nvSpPr>
          <p:cNvPr id="7" name="+0.75 pp">
            <a:extLst xmlns:a="http://schemas.openxmlformats.org/drawingml/2006/main">
              <a:ext uri="{FF2B5EF4-FFF2-40B4-BE49-F238E27FC236}">
                <a16:creationId xmlns:a16="http://schemas.microsoft.com/office/drawing/2014/main" id="{DF4D0820-A56E-4871-8A71-0C28CD09CE88}"/>
              </a:ext>
            </a:extLst>
          </p:cNvPr>
          <p:cNvSpPr>
            <a:spLocks xmlns:a="http://schemas.openxmlformats.org/drawingml/2006/main" noGrp="1"/>
          </p:cNvSpPr>
          <p:nvPr/>
        </p:nvSpPr>
        <p:spPr>
          <a:xfrm xmlns:a="http://schemas.openxmlformats.org/drawingml/2006/main">
            <a:off x="4819650" y="5353050"/>
            <a:ext cx="352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900" b="1">
                <a:solidFill>
                  <a:srgbClr val="78974E"/>
                </a:solidFill>
                <a:latin typeface="Calibri"/>
                <a:ea typeface="Calibri"/>
                <a:cs typeface="Calibri"/>
              </a:defRPr>
            </a:defPPr>
          </a:lstStyle>
          <a:p xmlns:a="http://schemas.openxmlformats.org/drawingml/2006/main">
            <a:pPr algn="l">
              <a:defRPr sz="3900" b="1">
                <a:solidFill>
                  <a:srgbClr val="78974E"/>
                </a:solidFill>
                <a:latin typeface="Calibri"/>
                <a:ea typeface="Calibri"/>
                <a:cs typeface="Calibri"/>
              </a:defRPr>
            </a:pPr>
            <a:r>
              <a:rPr sz="3900" b="1">
                <a:solidFill>
                  <a:srgbClr val="78974E"/>
                </a:solidFill>
                <a:latin typeface="Calibri"/>
                <a:ea typeface="Calibri"/>
                <a:cs typeface="Calibri"/>
              </a:rPr>
              <a:t>+0.75 pp</a:t>
            </a:r>
          </a:p>
        </p:txBody>
      </p:sp>
      <p:sp>
        <p:nvSpPr>
          <p:cNvPr id="8" name="over matched PLAM">
            <a:extLst xmlns:a="http://schemas.openxmlformats.org/drawingml/2006/main">
              <a:ext uri="{FF2B5EF4-FFF2-40B4-BE49-F238E27FC236}">
                <a16:creationId xmlns:a16="http://schemas.microsoft.com/office/drawing/2014/main" id="{EEADDAE1-666B-4044-B32A-4611064866D4}"/>
              </a:ext>
            </a:extLst>
          </p:cNvPr>
          <p:cNvSpPr>
            <a:spLocks xmlns:a="http://schemas.openxmlformats.org/drawingml/2006/main" noGrp="1"/>
          </p:cNvSpPr>
          <p:nvPr/>
        </p:nvSpPr>
        <p:spPr>
          <a:xfrm xmlns:a="http://schemas.openxmlformats.org/drawingml/2006/main">
            <a:off x="4819650" y="6067425"/>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62686C"/>
                </a:solidFill>
                <a:latin typeface="Calibri"/>
                <a:ea typeface="Calibri"/>
                <a:cs typeface="Calibri"/>
              </a:defRPr>
            </a:defPPr>
          </a:lstStyle>
          <a:p xmlns:a="http://schemas.openxmlformats.org/drawingml/2006/main">
            <a:pPr algn="l">
              <a:defRPr sz="1725" b="0">
                <a:solidFill>
                  <a:srgbClr val="62686C"/>
                </a:solidFill>
                <a:latin typeface="Calibri"/>
                <a:ea typeface="Calibri"/>
                <a:cs typeface="Calibri"/>
              </a:defRPr>
            </a:pPr>
            <a:r>
              <a:rPr sz="1725" b="0">
                <a:solidFill>
                  <a:srgbClr val="62686C"/>
                </a:solidFill>
                <a:latin typeface="Calibri"/>
                <a:ea typeface="Calibri"/>
                <a:cs typeface="Calibri"/>
              </a:rPr>
              <a:t>over matched PLAM</a:t>
            </a:r>
          </a:p>
        </p:txBody>
      </p:sp>
    </p:spTree>
    <p:extLst>
      <p:ext uri="{BB962C8B-B14F-4D97-AF65-F5344CB8AC3E}">
        <p14:creationId xmlns:p14="http://schemas.microsoft.com/office/powerpoint/2010/main" val="111287114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Positive IoU gains in every paired seed">
            <a:extLst xmlns:a="http://schemas.openxmlformats.org/drawingml/2006/main">
              <a:ext uri="{FF2B5EF4-FFF2-40B4-BE49-F238E27FC236}">
                <a16:creationId xmlns:a16="http://schemas.microsoft.com/office/drawing/2014/main" id="{156E59A8-7224-497C-B123-3F13C69FE0E3}"/>
              </a:ext>
            </a:extLst>
          </p:cNvPr>
          <p:cNvSpPr>
            <a:spLocks xmlns:a="http://schemas.openxmlformats.org/drawingml/2006/main" noGrp="1"/>
          </p:cNvSpPr>
          <p:nvPr/>
        </p:nvSpPr>
        <p:spPr>
          <a:xfrm xmlns:a="http://schemas.openxmlformats.org/drawingml/2006/main">
            <a:off x="638175" y="361950"/>
            <a:ext cx="10915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02124"/>
                </a:solidFill>
                <a:latin typeface="Cambria"/>
                <a:ea typeface="Cambria"/>
                <a:cs typeface="Cambria"/>
              </a:defRPr>
            </a:defPPr>
          </a:lstStyle>
          <a:p xmlns:a="http://schemas.openxmlformats.org/drawingml/2006/main">
            <a:pPr algn="l">
              <a:defRPr sz="3000" b="1">
                <a:solidFill>
                  <a:srgbClr val="202124"/>
                </a:solidFill>
                <a:latin typeface="Cambria"/>
                <a:ea typeface="Cambria"/>
                <a:cs typeface="Cambria"/>
              </a:defRPr>
            </a:pPr>
            <a:r>
              <a:rPr sz="3000" b="1">
                <a:solidFill>
                  <a:srgbClr val="202124"/>
                </a:solidFill>
                <a:latin typeface="Cambria"/>
                <a:ea typeface="Cambria"/>
                <a:cs typeface="Cambria"/>
              </a:rPr>
              <a:t>Positive IoU gains in every paired seed</a:t>
            </a:r>
          </a:p>
        </p:txBody>
      </p:sp>
      <p:sp>
        <p:nvSpPr>
          <p:cNvPr id="2" name="Same-seed contrasts · Test macro IoU gain in percentage">
            <a:extLst xmlns:a="http://schemas.openxmlformats.org/drawingml/2006/main">
              <a:ext uri="{FF2B5EF4-FFF2-40B4-BE49-F238E27FC236}">
                <a16:creationId xmlns:a16="http://schemas.microsoft.com/office/drawing/2014/main" id="{D1370544-387D-4404-A316-17FABCA2D036}"/>
              </a:ext>
            </a:extLst>
          </p:cNvPr>
          <p:cNvSpPr>
            <a:spLocks xmlns:a="http://schemas.openxmlformats.org/drawingml/2006/main" noGrp="1"/>
          </p:cNvSpPr>
          <p:nvPr/>
        </p:nvSpPr>
        <p:spPr>
          <a:xfrm xmlns:a="http://schemas.openxmlformats.org/drawingml/2006/main">
            <a:off x="638175" y="6477000"/>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929699"/>
                </a:solidFill>
                <a:latin typeface="Calibri"/>
                <a:ea typeface="Calibri"/>
                <a:cs typeface="Calibri"/>
              </a:defRPr>
            </a:defPPr>
          </a:lstStyle>
          <a:p xmlns:a="http://schemas.openxmlformats.org/drawingml/2006/main">
            <a:pPr algn="l">
              <a:defRPr sz="900" b="0">
                <a:solidFill>
                  <a:srgbClr val="929699"/>
                </a:solidFill>
                <a:latin typeface="Calibri"/>
                <a:ea typeface="Calibri"/>
                <a:cs typeface="Calibri"/>
              </a:defRPr>
            </a:pPr>
            <a:r>
              <a:rPr sz="900" b="0">
                <a:solidFill>
                  <a:srgbClr val="929699"/>
                </a:solidFill>
                <a:latin typeface="Calibri"/>
                <a:ea typeface="Calibri"/>
                <a:cs typeface="Calibri"/>
              </a:rPr>
              <a:t>Same-seed contrasts · Test macro IoU gain in percentage points</a:t>
            </a:r>
          </a:p>
        </p:txBody>
      </p:sp>
      <p:sp>
        <p:nvSpPr>
          <p:cNvPr id="3" name="10">
            <a:extLst xmlns:a="http://schemas.openxmlformats.org/drawingml/2006/main">
              <a:ext uri="{FF2B5EF4-FFF2-40B4-BE49-F238E27FC236}">
                <a16:creationId xmlns:a16="http://schemas.microsoft.com/office/drawing/2014/main" id="{5E6ED38E-2F6C-4192-98CD-E983E9B332BE}"/>
              </a:ext>
            </a:extLst>
          </p:cNvPr>
          <p:cNvSpPr>
            <a:spLocks xmlns:a="http://schemas.openxmlformats.org/drawingml/2006/main" noGrp="1"/>
          </p:cNvSpPr>
          <p:nvPr/>
        </p:nvSpPr>
        <p:spPr>
          <a:xfrm xmlns:a="http://schemas.openxmlformats.org/drawingml/2006/main">
            <a:off x="11144250" y="6477000"/>
            <a:ext cx="4095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929699"/>
                </a:solidFill>
                <a:latin typeface="Calibri"/>
                <a:ea typeface="Calibri"/>
                <a:cs typeface="Calibri"/>
              </a:defRPr>
            </a:defPPr>
          </a:lstStyle>
          <a:p xmlns:a="http://schemas.openxmlformats.org/drawingml/2006/main">
            <a:pPr algn="r">
              <a:defRPr sz="900" b="0">
                <a:solidFill>
                  <a:srgbClr val="929699"/>
                </a:solidFill>
                <a:latin typeface="Calibri"/>
                <a:ea typeface="Calibri"/>
                <a:cs typeface="Calibri"/>
              </a:defRPr>
            </a:pPr>
            <a:r>
              <a:rPr sz="900" b="0">
                <a:solidFill>
                  <a:srgbClr val="929699"/>
                </a:solidFill>
                <a:latin typeface="Calibri"/>
                <a:ea typeface="Calibri"/>
                <a:cs typeface="Calibri"/>
              </a:rPr>
              <a:t>10</a:t>
            </a:r>
          </a:p>
        </p:txBody>
      </p:sp>
      <p:graphicFrame>
        <p:nvGraphicFramePr>
          <p:cNvPr id="4" name="Chart">
            <a:extLst xmlns:a="http://schemas.openxmlformats.org/drawingml/2006/main">
              <a:ext uri="{FF2B5EF4-FFF2-40B4-BE49-F238E27FC236}">
                <a16:creationId xmlns:a16="http://schemas.microsoft.com/office/drawing/2014/main" id="{4E0B2DEC-4329-4ADB-9CC2-A6E4A9097F2C}"/>
              </a:ext>
            </a:extLst>
          </p:cNvPr>
          <p:cNvGraphicFramePr/>
          <p:nvPr/>
        </p:nvGraphicFramePr>
        <p:xfrm>
          <a:off xmlns:a="http://schemas.openxmlformats.org/drawingml/2006/main" x="638175" y="1543050"/>
          <a:ext xmlns:a="http://schemas.openxmlformats.org/drawingml/2006/main" cx="10915650" cy="4038600"/>
        </p:xfrm>
        <a:graphic xmlns:a="http://schemas.openxmlformats.org/drawingml/2006/main">
          <a:graphicData uri="http://schemas.openxmlformats.org/drawingml/2006/chart">
            <c:chart xmlns:r="http://schemas.openxmlformats.org/officeDocument/2006/relationships" xmlns:c="http://schemas.openxmlformats.org/drawingml/2006/chart" r:id="Rc66bd96bd49e4f39"/>
          </a:graphicData>
        </a:graphic>
      </p:graphicFrame>
      <p:sp>
        <p:nvSpPr>
          <p:cNvPr id="5" name="Combined gain: +0.68 to +0.79 pp across the three seeds">
            <a:extLst xmlns:a="http://schemas.openxmlformats.org/drawingml/2006/main">
              <a:ext uri="{FF2B5EF4-FFF2-40B4-BE49-F238E27FC236}">
                <a16:creationId xmlns:a16="http://schemas.microsoft.com/office/drawing/2014/main" id="{D0992FFD-F29F-4BD5-952B-446C3C13480B}"/>
              </a:ext>
            </a:extLst>
          </p:cNvPr>
          <p:cNvSpPr>
            <a:spLocks xmlns:a="http://schemas.openxmlformats.org/drawingml/2006/main" noGrp="1"/>
          </p:cNvSpPr>
          <p:nvPr/>
        </p:nvSpPr>
        <p:spPr>
          <a:xfrm xmlns:a="http://schemas.openxmlformats.org/drawingml/2006/main">
            <a:off x="638175" y="5715000"/>
            <a:ext cx="10915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202124"/>
                </a:solidFill>
                <a:latin typeface="Calibri"/>
                <a:ea typeface="Calibri"/>
                <a:cs typeface="Calibri"/>
              </a:defRPr>
            </a:defPPr>
          </a:lstStyle>
          <a:p xmlns:a="http://schemas.openxmlformats.org/drawingml/2006/main">
            <a:pPr algn="l">
              <a:defRPr sz="2100" b="1">
                <a:solidFill>
                  <a:srgbClr val="202124"/>
                </a:solidFill>
                <a:latin typeface="Calibri"/>
                <a:ea typeface="Calibri"/>
                <a:cs typeface="Calibri"/>
              </a:defRPr>
            </a:pPr>
            <a:r>
              <a:rPr sz="2100" b="1">
                <a:solidFill>
                  <a:srgbClr val="202124"/>
                </a:solidFill>
                <a:latin typeface="Calibri"/>
                <a:ea typeface="Calibri"/>
                <a:cs typeface="Calibri"/>
              </a:rPr>
              <a:t>Combined gain: +0.68 to +0.79 pp across the three seeds.</a:t>
            </a:r>
          </a:p>
        </p:txBody>
      </p:sp>
      <p:sp>
        <p:nvSpPr>
          <p:cNvPr id="6" name="Three positive repetitions support consistency under th">
            <a:extLst xmlns:a="http://schemas.openxmlformats.org/drawingml/2006/main">
              <a:ext uri="{FF2B5EF4-FFF2-40B4-BE49-F238E27FC236}">
                <a16:creationId xmlns:a16="http://schemas.microsoft.com/office/drawing/2014/main" id="{D45B63C3-88C5-4AF4-887E-CD248EA46FE0}"/>
              </a:ext>
            </a:extLst>
          </p:cNvPr>
          <p:cNvSpPr>
            <a:spLocks xmlns:a="http://schemas.openxmlformats.org/drawingml/2006/main" noGrp="1"/>
          </p:cNvSpPr>
          <p:nvPr/>
        </p:nvSpPr>
        <p:spPr>
          <a:xfrm xmlns:a="http://schemas.openxmlformats.org/drawingml/2006/main">
            <a:off x="638175" y="6134100"/>
            <a:ext cx="10915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62686C"/>
                </a:solidFill>
                <a:latin typeface="Calibri"/>
                <a:ea typeface="Calibri"/>
                <a:cs typeface="Calibri"/>
              </a:defRPr>
            </a:defPPr>
          </a:lstStyle>
          <a:p xmlns:a="http://schemas.openxmlformats.org/drawingml/2006/main">
            <a:pPr algn="l">
              <a:defRPr sz="1575" b="0">
                <a:solidFill>
                  <a:srgbClr val="62686C"/>
                </a:solidFill>
                <a:latin typeface="Calibri"/>
                <a:ea typeface="Calibri"/>
                <a:cs typeface="Calibri"/>
              </a:defRPr>
            </a:pPr>
            <a:r>
              <a:rPr sz="1575" b="0">
                <a:solidFill>
                  <a:srgbClr val="62686C"/>
                </a:solidFill>
                <a:latin typeface="Calibri"/>
                <a:ea typeface="Calibri"/>
                <a:cs typeface="Calibri"/>
              </a:rPr>
              <a:t>Three positive repetitions support consistency under this recipe; they do not establish universal stability.</a:t>
            </a:r>
          </a:p>
        </p:txBody>
      </p:sp>
    </p:spTree>
    <p:extLst>
      <p:ext uri="{BB962C8B-B14F-4D97-AF65-F5344CB8AC3E}">
        <p14:creationId xmlns:p14="http://schemas.microsoft.com/office/powerpoint/2010/main" val="196643939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External methods on the same Test images">
            <a:extLst xmlns:a="http://schemas.openxmlformats.org/drawingml/2006/main">
              <a:ext uri="{FF2B5EF4-FFF2-40B4-BE49-F238E27FC236}">
                <a16:creationId xmlns:a16="http://schemas.microsoft.com/office/drawing/2014/main" id="{16FBABA8-8353-4251-964A-14AD55D8A2E4}"/>
              </a:ext>
            </a:extLst>
          </p:cNvPr>
          <p:cNvSpPr>
            <a:spLocks xmlns:a="http://schemas.openxmlformats.org/drawingml/2006/main" noGrp="1"/>
          </p:cNvSpPr>
          <p:nvPr/>
        </p:nvSpPr>
        <p:spPr>
          <a:xfrm xmlns:a="http://schemas.openxmlformats.org/drawingml/2006/main">
            <a:off x="638175" y="361950"/>
            <a:ext cx="10915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02124"/>
                </a:solidFill>
                <a:latin typeface="Cambria"/>
                <a:ea typeface="Cambria"/>
                <a:cs typeface="Cambria"/>
              </a:defRPr>
            </a:defPPr>
          </a:lstStyle>
          <a:p xmlns:a="http://schemas.openxmlformats.org/drawingml/2006/main">
            <a:pPr algn="l">
              <a:defRPr sz="3000" b="1">
                <a:solidFill>
                  <a:srgbClr val="202124"/>
                </a:solidFill>
                <a:latin typeface="Cambria"/>
                <a:ea typeface="Cambria"/>
                <a:cs typeface="Cambria"/>
              </a:defRPr>
            </a:pPr>
            <a:r>
              <a:rPr sz="3000" b="1">
                <a:solidFill>
                  <a:srgbClr val="202124"/>
                </a:solidFill>
                <a:latin typeface="Cambria"/>
                <a:ea typeface="Cambria"/>
                <a:cs typeface="Cambria"/>
              </a:rPr>
              <a:t>External methods on the same Test images</a:t>
            </a:r>
          </a:p>
        </p:txBody>
      </p:sp>
      <p:sp>
        <p:nvSpPr>
          <p:cNvPr id="2" name="Context comparison · 2,113 images · fixed probability &gt;">
            <a:extLst xmlns:a="http://schemas.openxmlformats.org/drawingml/2006/main">
              <a:ext uri="{FF2B5EF4-FFF2-40B4-BE49-F238E27FC236}">
                <a16:creationId xmlns:a16="http://schemas.microsoft.com/office/drawing/2014/main" id="{26F0DC3A-76CA-4DBF-BBD3-CF16D4AA22BE}"/>
              </a:ext>
            </a:extLst>
          </p:cNvPr>
          <p:cNvSpPr>
            <a:spLocks xmlns:a="http://schemas.openxmlformats.org/drawingml/2006/main" noGrp="1"/>
          </p:cNvSpPr>
          <p:nvPr/>
        </p:nvSpPr>
        <p:spPr>
          <a:xfrm xmlns:a="http://schemas.openxmlformats.org/drawingml/2006/main">
            <a:off x="638175" y="6477000"/>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929699"/>
                </a:solidFill>
                <a:latin typeface="Calibri"/>
                <a:ea typeface="Calibri"/>
                <a:cs typeface="Calibri"/>
              </a:defRPr>
            </a:defPPr>
          </a:lstStyle>
          <a:p xmlns:a="http://schemas.openxmlformats.org/drawingml/2006/main">
            <a:pPr algn="l">
              <a:defRPr sz="900" b="0">
                <a:solidFill>
                  <a:srgbClr val="929699"/>
                </a:solidFill>
                <a:latin typeface="Calibri"/>
                <a:ea typeface="Calibri"/>
                <a:cs typeface="Calibri"/>
              </a:defRPr>
            </a:pPr>
            <a:r>
              <a:rPr sz="900" b="0">
                <a:solidFill>
                  <a:srgbClr val="929699"/>
                </a:solidFill>
                <a:latin typeface="Calibri"/>
                <a:ea typeface="Calibri"/>
                <a:cs typeface="Calibri"/>
              </a:rPr>
              <a:t>Context comparison · 2,113 images · fixed probability &gt; 0.5 · training recipes differ</a:t>
            </a:r>
          </a:p>
        </p:txBody>
      </p:sp>
      <p:sp>
        <p:nvSpPr>
          <p:cNvPr id="3" name="11">
            <a:extLst xmlns:a="http://schemas.openxmlformats.org/drawingml/2006/main">
              <a:ext uri="{FF2B5EF4-FFF2-40B4-BE49-F238E27FC236}">
                <a16:creationId xmlns:a16="http://schemas.microsoft.com/office/drawing/2014/main" id="{2318EF77-AE51-4AF7-AEED-2200F957EE76}"/>
              </a:ext>
            </a:extLst>
          </p:cNvPr>
          <p:cNvSpPr>
            <a:spLocks xmlns:a="http://schemas.openxmlformats.org/drawingml/2006/main" noGrp="1"/>
          </p:cNvSpPr>
          <p:nvPr/>
        </p:nvSpPr>
        <p:spPr>
          <a:xfrm xmlns:a="http://schemas.openxmlformats.org/drawingml/2006/main">
            <a:off x="11144250" y="6477000"/>
            <a:ext cx="4095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929699"/>
                </a:solidFill>
                <a:latin typeface="Calibri"/>
                <a:ea typeface="Calibri"/>
                <a:cs typeface="Calibri"/>
              </a:defRPr>
            </a:defPPr>
          </a:lstStyle>
          <a:p xmlns:a="http://schemas.openxmlformats.org/drawingml/2006/main">
            <a:pPr algn="r">
              <a:defRPr sz="900" b="0">
                <a:solidFill>
                  <a:srgbClr val="929699"/>
                </a:solidFill>
                <a:latin typeface="Calibri"/>
                <a:ea typeface="Calibri"/>
                <a:cs typeface="Calibri"/>
              </a:defRPr>
            </a:pPr>
            <a:r>
              <a:rPr sz="900" b="0">
                <a:solidFill>
                  <a:srgbClr val="929699"/>
                </a:solidFill>
                <a:latin typeface="Calibri"/>
                <a:ea typeface="Calibri"/>
                <a:cs typeface="Calibri"/>
              </a:rPr>
              <a:t>11</a:t>
            </a:r>
          </a:p>
        </p:txBody>
      </p:sp>
      <p:graphicFrame>
        <p:nvGraphicFramePr>
          <p:cNvPr id="4" name="">
            <a:extLst xmlns:a="http://schemas.openxmlformats.org/drawingml/2006/main">
              <a:ext uri="{FF2B5EF4-FFF2-40B4-BE49-F238E27FC236}">
                <a16:creationId xmlns:a16="http://schemas.microsoft.com/office/drawing/2014/main" id="{5E00EA79-9B24-4CDF-B111-1FCAD4EC1973}"/>
              </a:ext>
            </a:extLst>
          </p:cNvPr>
          <p:cNvGraphicFramePr/>
          <p:nvPr/>
        </p:nvGraphicFramePr>
        <p:xfrm>
          <a:off xmlns:a="http://schemas.openxmlformats.org/drawingml/2006/main" x="638175" y="1704975"/>
          <a:ext xmlns:a="http://schemas.openxmlformats.org/drawingml/2006/main" cx="10915650" cy="3333750"/>
        </p:xfrm>
        <a:graphic xmlns:a="http://schemas.openxmlformats.org/drawingml/2006/main">
          <a:graphicData uri="http://schemas.openxmlformats.org/drawingml/2006/table">
            <a:tbl>
              <a:tblPr/>
              <a:tblGrid>
                <a:gridCol w="3143250"/>
                <a:gridCol w="3848100"/>
                <a:gridCol w="1962150"/>
                <a:gridCol w="1962150"/>
              </a:tblGrid>
              <a:tr h="666750">
                <a:tc>
                  <a:txBody>
                    <a:bodyPr>
                      <a:noAutofit/>
                    </a:bodyPr>
                    <a:lstStyle/>
                    <a:p>
                      <a:r>
                        <a:rPr sz="1950" b="1">
                          <a:solidFill>
                            <a:srgbClr val="FFFFFF"/>
                          </a:solidFill>
                          <a:latin typeface="Calibri"/>
                          <a:ea typeface="Calibri"/>
                          <a:cs typeface="Calibri"/>
                        </a:rPr>
                        <a:t>Method</a:t>
                      </a:r>
                    </a:p>
                  </a:txBody>
                  <a:tcPr marL="114300" marR="95250" marT="38100" marB="38100" anchor="ctr">
                    <a:lnL w="7620">
                      <a:solidFill>
                        <a:srgbClr val="B8BFC3"/>
                      </a:solidFill>
                      <a:prstDash val="solid"/>
                    </a:lnL>
                    <a:lnR w="7620">
                      <a:solidFill>
                        <a:srgbClr val="B8BFC3"/>
                      </a:solidFill>
                      <a:prstDash val="solid"/>
                    </a:lnR>
                    <a:lnT w="7620">
                      <a:solidFill>
                        <a:srgbClr val="B8BFC3"/>
                      </a:solidFill>
                      <a:prstDash val="solid"/>
                    </a:lnT>
                    <a:lnB w="7620">
                      <a:solidFill>
                        <a:srgbClr val="B8BFC3"/>
                      </a:solidFill>
                      <a:prstDash val="solid"/>
                    </a:lnB>
                    <a:solidFill>
                      <a:srgbClr val="202124"/>
                    </a:solidFill>
                  </a:tcPr>
                </a:tc>
                <a:tc>
                  <a:txBody>
                    <a:bodyPr>
                      <a:noAutofit/>
                    </a:bodyPr>
                    <a:lstStyle/>
                    <a:p>
                      <a:r>
                        <a:rPr sz="1950" b="1">
                          <a:solidFill>
                            <a:srgbClr val="FFFFFF"/>
                          </a:solidFill>
                          <a:latin typeface="Calibri"/>
                          <a:ea typeface="Calibri"/>
                          <a:cs typeface="Calibri"/>
                        </a:rPr>
                        <a:t>Model source</a:t>
                      </a:r>
                    </a:p>
                  </a:txBody>
                  <a:tcPr marL="114300" marR="95250" marT="38100" marB="38100" anchor="ctr">
                    <a:lnR w="7620">
                      <a:solidFill>
                        <a:srgbClr val="B8BFC3"/>
                      </a:solidFill>
                      <a:prstDash val="solid"/>
                    </a:lnR>
                    <a:lnT w="7620">
                      <a:solidFill>
                        <a:srgbClr val="B8BFC3"/>
                      </a:solidFill>
                      <a:prstDash val="solid"/>
                    </a:lnT>
                    <a:lnB w="7620">
                      <a:solidFill>
                        <a:srgbClr val="B8BFC3"/>
                      </a:solidFill>
                      <a:prstDash val="solid"/>
                    </a:lnB>
                    <a:solidFill>
                      <a:srgbClr val="202124"/>
                    </a:solidFill>
                  </a:tcPr>
                </a:tc>
                <a:tc>
                  <a:txBody>
                    <a:bodyPr>
                      <a:noAutofit/>
                    </a:bodyPr>
                    <a:lstStyle/>
                    <a:p>
                      <a:r>
                        <a:rPr sz="1950" b="1">
                          <a:solidFill>
                            <a:srgbClr val="FFFFFF"/>
                          </a:solidFill>
                          <a:latin typeface="Calibri"/>
                          <a:ea typeface="Calibri"/>
                          <a:cs typeface="Calibri"/>
                        </a:rPr>
                        <a:t>IoU (%)</a:t>
                      </a:r>
                    </a:p>
                  </a:txBody>
                  <a:tcPr marL="114300" marR="95250" marT="38100" marB="38100" anchor="ctr">
                    <a:lnR w="7620">
                      <a:solidFill>
                        <a:srgbClr val="B8BFC3"/>
                      </a:solidFill>
                      <a:prstDash val="solid"/>
                    </a:lnR>
                    <a:lnT w="7620">
                      <a:solidFill>
                        <a:srgbClr val="B8BFC3"/>
                      </a:solidFill>
                      <a:prstDash val="solid"/>
                    </a:lnT>
                    <a:lnB w="7620">
                      <a:solidFill>
                        <a:srgbClr val="B8BFC3"/>
                      </a:solidFill>
                      <a:prstDash val="solid"/>
                    </a:lnB>
                    <a:solidFill>
                      <a:srgbClr val="202124"/>
                    </a:solidFill>
                  </a:tcPr>
                </a:tc>
                <a:tc>
                  <a:txBody>
                    <a:bodyPr>
                      <a:noAutofit/>
                    </a:bodyPr>
                    <a:lstStyle/>
                    <a:p>
                      <a:r>
                        <a:rPr sz="1950" b="1">
                          <a:solidFill>
                            <a:srgbClr val="FFFFFF"/>
                          </a:solidFill>
                          <a:latin typeface="Calibri"/>
                          <a:ea typeface="Calibri"/>
                          <a:cs typeface="Calibri"/>
                        </a:rPr>
                        <a:t>Dice (%)</a:t>
                      </a:r>
                    </a:p>
                  </a:txBody>
                  <a:tcPr marL="114300" marR="95250" marT="38100" marB="38100" anchor="ctr">
                    <a:lnR w="7620">
                      <a:solidFill>
                        <a:srgbClr val="B8BFC3"/>
                      </a:solidFill>
                      <a:prstDash val="solid"/>
                    </a:lnR>
                    <a:lnT w="7620">
                      <a:solidFill>
                        <a:srgbClr val="B8BFC3"/>
                      </a:solidFill>
                      <a:prstDash val="solid"/>
                    </a:lnT>
                    <a:lnB w="7620">
                      <a:solidFill>
                        <a:srgbClr val="B8BFC3"/>
                      </a:solidFill>
                      <a:prstDash val="solid"/>
                    </a:lnB>
                    <a:solidFill>
                      <a:srgbClr val="202124"/>
                    </a:solidFill>
                  </a:tcPr>
                </a:tc>
              </a:tr>
              <a:tr h="666750">
                <a:tc>
                  <a:txBody>
                    <a:bodyPr>
                      <a:noAutofit/>
                    </a:bodyPr>
                    <a:lstStyle/>
                    <a:p>
                      <a:r>
                        <a:rPr sz="1950" b="0">
                          <a:solidFill>
                            <a:srgbClr val="202124"/>
                          </a:solidFill>
                          <a:latin typeface="Calibri"/>
                          <a:ea typeface="Calibri"/>
                          <a:cs typeface="Calibri"/>
                        </a:rPr>
                        <a:t>MMI-UNet</a:t>
                      </a:r>
                    </a:p>
                  </a:txBody>
                  <a:tcPr marL="114300" marR="95250" marT="38100" marB="38100" anchor="ctr">
                    <a:lnL w="7620">
                      <a:solidFill>
                        <a:srgbClr val="B8BFC3"/>
                      </a:solidFill>
                      <a:prstDash val="solid"/>
                    </a:lnL>
                    <a:lnR w="7620">
                      <a:solidFill>
                        <a:srgbClr val="B8BFC3"/>
                      </a:solidFill>
                      <a:prstDash val="solid"/>
                    </a:lnR>
                    <a:lnB w="7620">
                      <a:solidFill>
                        <a:srgbClr val="B8BFC3"/>
                      </a:solidFill>
                      <a:prstDash val="solid"/>
                    </a:lnB>
                    <a:solidFill>
                      <a:srgbClr val="FFFFFF"/>
                    </a:solidFill>
                  </a:tcPr>
                </a:tc>
                <a:tc>
                  <a:txBody>
                    <a:bodyPr>
                      <a:noAutofit/>
                    </a:bodyPr>
                    <a:lstStyle/>
                    <a:p>
                      <a:r>
                        <a:rPr sz="1950" b="0">
                          <a:solidFill>
                            <a:srgbClr val="202124"/>
                          </a:solidFill>
                          <a:latin typeface="Calibri"/>
                          <a:ea typeface="Calibri"/>
                          <a:cs typeface="Calibri"/>
                        </a:rPr>
                        <a:t>Author checkpoint</a:t>
                      </a:r>
                    </a:p>
                  </a:txBody>
                  <a:tcPr marL="114300" marR="95250" marT="38100" marB="38100" anchor="ctr">
                    <a:lnR w="7620">
                      <a:solidFill>
                        <a:srgbClr val="B8BFC3"/>
                      </a:solidFill>
                      <a:prstDash val="solid"/>
                    </a:lnR>
                    <a:lnB w="7620">
                      <a:solidFill>
                        <a:srgbClr val="B8BFC3"/>
                      </a:solidFill>
                      <a:prstDash val="solid"/>
                    </a:lnB>
                    <a:solidFill>
                      <a:srgbClr val="FFFFFF"/>
                    </a:solidFill>
                  </a:tcPr>
                </a:tc>
                <a:tc>
                  <a:txBody>
                    <a:bodyPr>
                      <a:noAutofit/>
                    </a:bodyPr>
                    <a:lstStyle/>
                    <a:p>
                      <a:r>
                        <a:rPr sz="1950" b="0">
                          <a:solidFill>
                            <a:srgbClr val="202124"/>
                          </a:solidFill>
                          <a:latin typeface="Calibri"/>
                          <a:ea typeface="Calibri"/>
                          <a:cs typeface="Calibri"/>
                        </a:rPr>
                        <a:t>75.48</a:t>
                      </a:r>
                    </a:p>
                  </a:txBody>
                  <a:tcPr marL="114300" marR="95250" marT="38100" marB="38100" anchor="ctr">
                    <a:lnR w="7620">
                      <a:solidFill>
                        <a:srgbClr val="B8BFC3"/>
                      </a:solidFill>
                      <a:prstDash val="solid"/>
                    </a:lnR>
                    <a:lnB w="7620">
                      <a:solidFill>
                        <a:srgbClr val="B8BFC3"/>
                      </a:solidFill>
                      <a:prstDash val="solid"/>
                    </a:lnB>
                    <a:solidFill>
                      <a:srgbClr val="FFFFFF"/>
                    </a:solidFill>
                  </a:tcPr>
                </a:tc>
                <a:tc>
                  <a:txBody>
                    <a:bodyPr>
                      <a:noAutofit/>
                    </a:bodyPr>
                    <a:lstStyle/>
                    <a:p>
                      <a:r>
                        <a:rPr sz="1950" b="0">
                          <a:solidFill>
                            <a:srgbClr val="202124"/>
                          </a:solidFill>
                          <a:latin typeface="Calibri"/>
                          <a:ea typeface="Calibri"/>
                          <a:cs typeface="Calibri"/>
                        </a:rPr>
                        <a:t>83.97</a:t>
                      </a:r>
                    </a:p>
                  </a:txBody>
                  <a:tcPr marL="114300" marR="95250" marT="38100" marB="38100" anchor="ctr">
                    <a:lnR w="7620">
                      <a:solidFill>
                        <a:srgbClr val="B8BFC3"/>
                      </a:solidFill>
                      <a:prstDash val="solid"/>
                    </a:lnR>
                    <a:lnB w="7620">
                      <a:solidFill>
                        <a:srgbClr val="B8BFC3"/>
                      </a:solidFill>
                      <a:prstDash val="solid"/>
                    </a:lnB>
                    <a:solidFill>
                      <a:srgbClr val="FFFFFF"/>
                    </a:solidFill>
                  </a:tcPr>
                </a:tc>
              </a:tr>
              <a:tr h="666750">
                <a:tc>
                  <a:txBody>
                    <a:bodyPr>
                      <a:noAutofit/>
                    </a:bodyPr>
                    <a:lstStyle/>
                    <a:p>
                      <a:r>
                        <a:rPr sz="1950" b="0">
                          <a:solidFill>
                            <a:srgbClr val="202124"/>
                          </a:solidFill>
                          <a:latin typeface="Calibri"/>
                          <a:ea typeface="Calibri"/>
                          <a:cs typeface="Calibri"/>
                        </a:rPr>
                        <a:t>GuideDecoder</a:t>
                      </a:r>
                    </a:p>
                  </a:txBody>
                  <a:tcPr marL="114300" marR="95250" marT="38100" marB="38100" anchor="ctr">
                    <a:lnL w="7620">
                      <a:solidFill>
                        <a:srgbClr val="B8BFC3"/>
                      </a:solidFill>
                      <a:prstDash val="solid"/>
                    </a:lnL>
                    <a:lnR w="7620">
                      <a:solidFill>
                        <a:srgbClr val="B8BFC3"/>
                      </a:solidFill>
                      <a:prstDash val="solid"/>
                    </a:lnR>
                    <a:lnB w="7620">
                      <a:solidFill>
                        <a:srgbClr val="B8BFC3"/>
                      </a:solidFill>
                      <a:prstDash val="solid"/>
                    </a:lnB>
                    <a:solidFill>
                      <a:srgbClr val="F4F5F5"/>
                    </a:solidFill>
                  </a:tcPr>
                </a:tc>
                <a:tc>
                  <a:txBody>
                    <a:bodyPr>
                      <a:noAutofit/>
                    </a:bodyPr>
                    <a:lstStyle/>
                    <a:p>
                      <a:r>
                        <a:rPr sz="1950" b="0">
                          <a:solidFill>
                            <a:srgbClr val="202124"/>
                          </a:solidFill>
                          <a:latin typeface="Calibri"/>
                          <a:ea typeface="Calibri"/>
                          <a:cs typeface="Calibri"/>
                        </a:rPr>
                        <a:t>Retrained · seed 1219</a:t>
                      </a:r>
                    </a:p>
                  </a:txBody>
                  <a:tcPr marL="114300" marR="95250" marT="38100" marB="38100" anchor="ctr">
                    <a:lnR w="7620">
                      <a:solidFill>
                        <a:srgbClr val="B8BFC3"/>
                      </a:solidFill>
                      <a:prstDash val="solid"/>
                    </a:lnR>
                    <a:lnB w="7620">
                      <a:solidFill>
                        <a:srgbClr val="B8BFC3"/>
                      </a:solidFill>
                      <a:prstDash val="solid"/>
                    </a:lnB>
                    <a:solidFill>
                      <a:srgbClr val="F4F5F5"/>
                    </a:solidFill>
                  </a:tcPr>
                </a:tc>
                <a:tc>
                  <a:txBody>
                    <a:bodyPr>
                      <a:noAutofit/>
                    </a:bodyPr>
                    <a:lstStyle/>
                    <a:p>
                      <a:r>
                        <a:rPr sz="1950" b="0">
                          <a:solidFill>
                            <a:srgbClr val="202124"/>
                          </a:solidFill>
                          <a:latin typeface="Calibri"/>
                          <a:ea typeface="Calibri"/>
                          <a:cs typeface="Calibri"/>
                        </a:rPr>
                        <a:t>75.29</a:t>
                      </a:r>
                    </a:p>
                  </a:txBody>
                  <a:tcPr marL="114300" marR="95250" marT="38100" marB="38100" anchor="ctr">
                    <a:lnR w="7620">
                      <a:solidFill>
                        <a:srgbClr val="B8BFC3"/>
                      </a:solidFill>
                      <a:prstDash val="solid"/>
                    </a:lnR>
                    <a:lnB w="7620">
                      <a:solidFill>
                        <a:srgbClr val="B8BFC3"/>
                      </a:solidFill>
                      <a:prstDash val="solid"/>
                    </a:lnB>
                    <a:solidFill>
                      <a:srgbClr val="F4F5F5"/>
                    </a:solidFill>
                  </a:tcPr>
                </a:tc>
                <a:tc>
                  <a:txBody>
                    <a:bodyPr>
                      <a:noAutofit/>
                    </a:bodyPr>
                    <a:lstStyle/>
                    <a:p>
                      <a:r>
                        <a:rPr sz="1950" b="0">
                          <a:solidFill>
                            <a:srgbClr val="202124"/>
                          </a:solidFill>
                          <a:latin typeface="Calibri"/>
                          <a:ea typeface="Calibri"/>
                          <a:cs typeface="Calibri"/>
                        </a:rPr>
                        <a:t>83.88</a:t>
                      </a:r>
                    </a:p>
                  </a:txBody>
                  <a:tcPr marL="114300" marR="95250" marT="38100" marB="38100" anchor="ctr">
                    <a:lnR w="7620">
                      <a:solidFill>
                        <a:srgbClr val="B8BFC3"/>
                      </a:solidFill>
                      <a:prstDash val="solid"/>
                    </a:lnR>
                    <a:lnB w="7620">
                      <a:solidFill>
                        <a:srgbClr val="B8BFC3"/>
                      </a:solidFill>
                      <a:prstDash val="solid"/>
                    </a:lnB>
                    <a:solidFill>
                      <a:srgbClr val="F4F5F5"/>
                    </a:solidFill>
                  </a:tcPr>
                </a:tc>
              </a:tr>
              <a:tr h="666750">
                <a:tc>
                  <a:txBody>
                    <a:bodyPr>
                      <a:noAutofit/>
                    </a:bodyPr>
                    <a:lstStyle/>
                    <a:p>
                      <a:r>
                        <a:rPr sz="1950" b="0">
                          <a:solidFill>
                            <a:srgbClr val="202124"/>
                          </a:solidFill>
                          <a:latin typeface="Calibri"/>
                          <a:ea typeface="Calibri"/>
                          <a:cs typeface="Calibri"/>
                        </a:rPr>
                        <a:t>DD-CMD</a:t>
                      </a:r>
                    </a:p>
                  </a:txBody>
                  <a:tcPr marL="114300" marR="95250" marT="38100" marB="38100" anchor="ctr">
                    <a:lnL w="7620">
                      <a:solidFill>
                        <a:srgbClr val="B8BFC3"/>
                      </a:solidFill>
                      <a:prstDash val="solid"/>
                    </a:lnL>
                    <a:lnR w="7620">
                      <a:solidFill>
                        <a:srgbClr val="B8BFC3"/>
                      </a:solidFill>
                      <a:prstDash val="solid"/>
                    </a:lnR>
                    <a:lnB w="7620">
                      <a:solidFill>
                        <a:srgbClr val="B8BFC3"/>
                      </a:solidFill>
                      <a:prstDash val="solid"/>
                    </a:lnB>
                    <a:solidFill>
                      <a:srgbClr val="FFFFFF"/>
                    </a:solidFill>
                  </a:tcPr>
                </a:tc>
                <a:tc>
                  <a:txBody>
                    <a:bodyPr>
                      <a:noAutofit/>
                    </a:bodyPr>
                    <a:lstStyle/>
                    <a:p>
                      <a:r>
                        <a:rPr sz="1950" b="0">
                          <a:solidFill>
                            <a:srgbClr val="202124"/>
                          </a:solidFill>
                          <a:latin typeface="Calibri"/>
                          <a:ea typeface="Calibri"/>
                          <a:cs typeface="Calibri"/>
                        </a:rPr>
                        <a:t>Retrained · seed 1219</a:t>
                      </a:r>
                    </a:p>
                  </a:txBody>
                  <a:tcPr marL="114300" marR="95250" marT="38100" marB="38100" anchor="ctr">
                    <a:lnR w="7620">
                      <a:solidFill>
                        <a:srgbClr val="B8BFC3"/>
                      </a:solidFill>
                      <a:prstDash val="solid"/>
                    </a:lnR>
                    <a:lnB w="7620">
                      <a:solidFill>
                        <a:srgbClr val="B8BFC3"/>
                      </a:solidFill>
                      <a:prstDash val="solid"/>
                    </a:lnB>
                    <a:solidFill>
                      <a:srgbClr val="FFFFFF"/>
                    </a:solidFill>
                  </a:tcPr>
                </a:tc>
                <a:tc>
                  <a:txBody>
                    <a:bodyPr>
                      <a:noAutofit/>
                    </a:bodyPr>
                    <a:lstStyle/>
                    <a:p>
                      <a:r>
                        <a:rPr sz="1950" b="0">
                          <a:solidFill>
                            <a:srgbClr val="202124"/>
                          </a:solidFill>
                          <a:latin typeface="Calibri"/>
                          <a:ea typeface="Calibri"/>
                          <a:cs typeface="Calibri"/>
                        </a:rPr>
                        <a:t>76.30</a:t>
                      </a:r>
                    </a:p>
                  </a:txBody>
                  <a:tcPr marL="114300" marR="95250" marT="38100" marB="38100" anchor="ctr">
                    <a:lnR w="7620">
                      <a:solidFill>
                        <a:srgbClr val="B8BFC3"/>
                      </a:solidFill>
                      <a:prstDash val="solid"/>
                    </a:lnR>
                    <a:lnB w="7620">
                      <a:solidFill>
                        <a:srgbClr val="B8BFC3"/>
                      </a:solidFill>
                      <a:prstDash val="solid"/>
                    </a:lnB>
                    <a:solidFill>
                      <a:srgbClr val="FFFFFF"/>
                    </a:solidFill>
                  </a:tcPr>
                </a:tc>
                <a:tc>
                  <a:txBody>
                    <a:bodyPr>
                      <a:noAutofit/>
                    </a:bodyPr>
                    <a:lstStyle/>
                    <a:p>
                      <a:r>
                        <a:rPr sz="1950" b="0">
                          <a:solidFill>
                            <a:srgbClr val="202124"/>
                          </a:solidFill>
                          <a:latin typeface="Calibri"/>
                          <a:ea typeface="Calibri"/>
                          <a:cs typeface="Calibri"/>
                        </a:rPr>
                        <a:t>84.75</a:t>
                      </a:r>
                    </a:p>
                  </a:txBody>
                  <a:tcPr marL="114300" marR="95250" marT="38100" marB="38100" anchor="ctr">
                    <a:lnR w="7620">
                      <a:solidFill>
                        <a:srgbClr val="B8BFC3"/>
                      </a:solidFill>
                      <a:prstDash val="solid"/>
                    </a:lnR>
                    <a:lnB w="7620">
                      <a:solidFill>
                        <a:srgbClr val="B8BFC3"/>
                      </a:solidFill>
                      <a:prstDash val="solid"/>
                    </a:lnB>
                    <a:solidFill>
                      <a:srgbClr val="FFFFFF"/>
                    </a:solidFill>
                  </a:tcPr>
                </a:tc>
              </a:tr>
              <a:tr h="666750">
                <a:tc>
                  <a:txBody>
                    <a:bodyPr>
                      <a:noAutofit/>
                    </a:bodyPr>
                    <a:lstStyle/>
                    <a:p>
                      <a:r>
                        <a:rPr sz="1950" b="1">
                          <a:solidFill>
                            <a:srgbClr val="202124"/>
                          </a:solidFill>
                          <a:latin typeface="Calibri"/>
                          <a:ea typeface="Calibri"/>
                          <a:cs typeface="Calibri"/>
                        </a:rPr>
                        <a:t>FSDR + complete RACE</a:t>
                      </a:r>
                    </a:p>
                  </a:txBody>
                  <a:tcPr marL="114300" marR="95250" marT="38100" marB="38100" anchor="ctr">
                    <a:lnL w="7620">
                      <a:solidFill>
                        <a:srgbClr val="B8BFC3"/>
                      </a:solidFill>
                      <a:prstDash val="solid"/>
                    </a:lnL>
                    <a:lnR w="7620">
                      <a:solidFill>
                        <a:srgbClr val="B8BFC3"/>
                      </a:solidFill>
                      <a:prstDash val="solid"/>
                    </a:lnR>
                    <a:lnB w="7620">
                      <a:solidFill>
                        <a:srgbClr val="B8BFC3"/>
                      </a:solidFill>
                      <a:prstDash val="solid"/>
                    </a:lnB>
                    <a:solidFill>
                      <a:srgbClr val="EDF3E7"/>
                    </a:solidFill>
                  </a:tcPr>
                </a:tc>
                <a:tc>
                  <a:txBody>
                    <a:bodyPr>
                      <a:noAutofit/>
                    </a:bodyPr>
                    <a:lstStyle/>
                    <a:p>
                      <a:r>
                        <a:rPr sz="1950" b="1">
                          <a:solidFill>
                            <a:srgbClr val="202124"/>
                          </a:solidFill>
                          <a:latin typeface="Calibri"/>
                          <a:ea typeface="Calibri"/>
                          <a:cs typeface="Calibri"/>
                        </a:rPr>
                        <a:t>Three-seed mean</a:t>
                      </a:r>
                    </a:p>
                  </a:txBody>
                  <a:tcPr marL="114300" marR="95250" marT="38100" marB="38100" anchor="ctr">
                    <a:lnR w="7620">
                      <a:solidFill>
                        <a:srgbClr val="B8BFC3"/>
                      </a:solidFill>
                      <a:prstDash val="solid"/>
                    </a:lnR>
                    <a:lnB w="7620">
                      <a:solidFill>
                        <a:srgbClr val="B8BFC3"/>
                      </a:solidFill>
                      <a:prstDash val="solid"/>
                    </a:lnB>
                    <a:solidFill>
                      <a:srgbClr val="EDF3E7"/>
                    </a:solidFill>
                  </a:tcPr>
                </a:tc>
                <a:tc>
                  <a:txBody>
                    <a:bodyPr>
                      <a:noAutofit/>
                    </a:bodyPr>
                    <a:lstStyle/>
                    <a:p>
                      <a:r>
                        <a:rPr sz="1950" b="1">
                          <a:solidFill>
                            <a:srgbClr val="202124"/>
                          </a:solidFill>
                          <a:latin typeface="Calibri"/>
                          <a:ea typeface="Calibri"/>
                          <a:cs typeface="Calibri"/>
                        </a:rPr>
                        <a:t>76.23</a:t>
                      </a:r>
                    </a:p>
                  </a:txBody>
                  <a:tcPr marL="114300" marR="95250" marT="38100" marB="38100" anchor="ctr">
                    <a:lnR w="7620">
                      <a:solidFill>
                        <a:srgbClr val="B8BFC3"/>
                      </a:solidFill>
                      <a:prstDash val="solid"/>
                    </a:lnR>
                    <a:lnB w="7620">
                      <a:solidFill>
                        <a:srgbClr val="B8BFC3"/>
                      </a:solidFill>
                      <a:prstDash val="solid"/>
                    </a:lnB>
                    <a:solidFill>
                      <a:srgbClr val="EDF3E7"/>
                    </a:solidFill>
                  </a:tcPr>
                </a:tc>
                <a:tc>
                  <a:txBody>
                    <a:bodyPr>
                      <a:noAutofit/>
                    </a:bodyPr>
                    <a:lstStyle/>
                    <a:p>
                      <a:r>
                        <a:rPr sz="1950" b="1">
                          <a:solidFill>
                            <a:srgbClr val="202124"/>
                          </a:solidFill>
                          <a:latin typeface="Calibri"/>
                          <a:ea typeface="Calibri"/>
                          <a:cs typeface="Calibri"/>
                        </a:rPr>
                        <a:t>84.71</a:t>
                      </a:r>
                    </a:p>
                  </a:txBody>
                  <a:tcPr marL="114300" marR="95250" marT="38100" marB="38100" anchor="ctr">
                    <a:lnR w="7620">
                      <a:solidFill>
                        <a:srgbClr val="B8BFC3"/>
                      </a:solidFill>
                      <a:prstDash val="solid"/>
                    </a:lnR>
                    <a:lnB w="7620">
                      <a:solidFill>
                        <a:srgbClr val="B8BFC3"/>
                      </a:solidFill>
                      <a:prstDash val="solid"/>
                    </a:lnB>
                    <a:solidFill>
                      <a:srgbClr val="EDF3E7"/>
                    </a:solidFill>
                  </a:tcPr>
                </a:tc>
              </a:tr>
            </a:tbl>
          </a:graphicData>
        </a:graphic>
      </p:graphicFrame>
      <p:sp>
        <p:nvSpPr>
          <p:cNvPr id="5" name="The matched module ablation is the core evidence for th">
            <a:extLst xmlns:a="http://schemas.openxmlformats.org/drawingml/2006/main">
              <a:ext uri="{FF2B5EF4-FFF2-40B4-BE49-F238E27FC236}">
                <a16:creationId xmlns:a16="http://schemas.microsoft.com/office/drawing/2014/main" id="{AE15635B-0D19-42ED-AF04-13FC5A91744A}"/>
              </a:ext>
            </a:extLst>
          </p:cNvPr>
          <p:cNvSpPr>
            <a:spLocks xmlns:a="http://schemas.openxmlformats.org/drawingml/2006/main" noGrp="1"/>
          </p:cNvSpPr>
          <p:nvPr/>
        </p:nvSpPr>
        <p:spPr>
          <a:xfrm xmlns:a="http://schemas.openxmlformats.org/drawingml/2006/main">
            <a:off x="638175" y="5334000"/>
            <a:ext cx="10915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202124"/>
                </a:solidFill>
                <a:latin typeface="Calibri"/>
                <a:ea typeface="Calibri"/>
                <a:cs typeface="Calibri"/>
              </a:defRPr>
            </a:defPPr>
          </a:lstStyle>
          <a:p xmlns:a="http://schemas.openxmlformats.org/drawingml/2006/main">
            <a:pPr algn="l">
              <a:defRPr sz="2100" b="1">
                <a:solidFill>
                  <a:srgbClr val="202124"/>
                </a:solidFill>
                <a:latin typeface="Calibri"/>
                <a:ea typeface="Calibri"/>
                <a:cs typeface="Calibri"/>
              </a:defRPr>
            </a:pPr>
            <a:r>
              <a:rPr sz="2100" b="1">
                <a:solidFill>
                  <a:srgbClr val="202124"/>
                </a:solidFill>
                <a:latin typeface="Calibri"/>
                <a:ea typeface="Calibri"/>
                <a:cs typeface="Calibri"/>
              </a:rPr>
              <a:t>The matched module ablation is the core evidence for the contributions.</a:t>
            </a:r>
          </a:p>
        </p:txBody>
      </p:sp>
      <p:sp>
        <p:nvSpPr>
          <p:cNvPr id="6" name="DD-CMD remains slightly higher (+0.0732 pp IoU). This c">
            <a:extLst xmlns:a="http://schemas.openxmlformats.org/drawingml/2006/main">
              <a:ext uri="{FF2B5EF4-FFF2-40B4-BE49-F238E27FC236}">
                <a16:creationId xmlns:a16="http://schemas.microsoft.com/office/drawing/2014/main" id="{5B999D3B-199B-434E-8327-8F1E4E71261B}"/>
              </a:ext>
            </a:extLst>
          </p:cNvPr>
          <p:cNvSpPr>
            <a:spLocks xmlns:a="http://schemas.openxmlformats.org/drawingml/2006/main" noGrp="1"/>
          </p:cNvSpPr>
          <p:nvPr/>
        </p:nvSpPr>
        <p:spPr>
          <a:xfrm xmlns:a="http://schemas.openxmlformats.org/drawingml/2006/main">
            <a:off x="638175" y="6038850"/>
            <a:ext cx="10915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62686C"/>
                </a:solidFill>
                <a:latin typeface="Calibri"/>
                <a:ea typeface="Calibri"/>
                <a:cs typeface="Calibri"/>
              </a:defRPr>
            </a:defPPr>
          </a:lstStyle>
          <a:p xmlns:a="http://schemas.openxmlformats.org/drawingml/2006/main">
            <a:pPr algn="l">
              <a:defRPr sz="1650" b="0">
                <a:solidFill>
                  <a:srgbClr val="62686C"/>
                </a:solidFill>
                <a:latin typeface="Calibri"/>
                <a:ea typeface="Calibri"/>
                <a:cs typeface="Calibri"/>
              </a:defRPr>
            </a:pPr>
            <a:r>
              <a:rPr sz="1650" b="0">
                <a:solidFill>
                  <a:srgbClr val="62686C"/>
                </a:solidFill>
                <a:latin typeface="Calibri"/>
                <a:ea typeface="Calibri"/>
                <a:cs typeface="Calibri"/>
              </a:rPr>
              <a:t>DD-CMD remains slightly higher (+0.0732 pp IoU). This comparison does not support a SOTA claim.</a:t>
            </a:r>
          </a:p>
        </p:txBody>
      </p:sp>
    </p:spTree>
    <p:extLst>
      <p:ext uri="{BB962C8B-B14F-4D97-AF65-F5344CB8AC3E}">
        <p14:creationId xmlns:p14="http://schemas.microsoft.com/office/powerpoint/2010/main" val="193543703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C07: reduced missed regions">
            <a:extLst xmlns:a="http://schemas.openxmlformats.org/drawingml/2006/main">
              <a:ext uri="{FF2B5EF4-FFF2-40B4-BE49-F238E27FC236}">
                <a16:creationId xmlns:a16="http://schemas.microsoft.com/office/drawing/2014/main" id="{5488D90D-E02E-47D9-A285-0C9BE461F250}"/>
              </a:ext>
            </a:extLst>
          </p:cNvPr>
          <p:cNvSpPr>
            <a:spLocks xmlns:a="http://schemas.openxmlformats.org/drawingml/2006/main" noGrp="1"/>
          </p:cNvSpPr>
          <p:nvPr/>
        </p:nvSpPr>
        <p:spPr>
          <a:xfrm xmlns:a="http://schemas.openxmlformats.org/drawingml/2006/main">
            <a:off x="638175" y="361950"/>
            <a:ext cx="10915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02124"/>
                </a:solidFill>
                <a:latin typeface="Cambria"/>
                <a:ea typeface="Cambria"/>
                <a:cs typeface="Cambria"/>
              </a:defRPr>
            </a:defPPr>
          </a:lstStyle>
          <a:p xmlns:a="http://schemas.openxmlformats.org/drawingml/2006/main">
            <a:pPr algn="l">
              <a:defRPr sz="3000" b="1">
                <a:solidFill>
                  <a:srgbClr val="202124"/>
                </a:solidFill>
                <a:latin typeface="Cambria"/>
                <a:ea typeface="Cambria"/>
                <a:cs typeface="Cambria"/>
              </a:defRPr>
            </a:pPr>
            <a:r>
              <a:rPr sz="3000" b="1">
                <a:solidFill>
                  <a:srgbClr val="202124"/>
                </a:solidFill>
                <a:latin typeface="Cambria"/>
                <a:ea typeface="Cambria"/>
                <a:cs typeface="Cambria"/>
              </a:rPr>
              <a:t>C07: reduced missed regions</a:t>
            </a:r>
          </a:p>
        </p:txBody>
      </p:sp>
      <p:sp>
        <p:nvSpPr>
          <p:cNvPr id="2" name="Selected qualitative example · J0/J2: seed 3407 · J1/J3">
            <a:extLst xmlns:a="http://schemas.openxmlformats.org/drawingml/2006/main">
              <a:ext uri="{FF2B5EF4-FFF2-40B4-BE49-F238E27FC236}">
                <a16:creationId xmlns:a16="http://schemas.microsoft.com/office/drawing/2014/main" id="{447964CA-961B-46E7-8BDF-892709BA24AB}"/>
              </a:ext>
            </a:extLst>
          </p:cNvPr>
          <p:cNvSpPr>
            <a:spLocks xmlns:a="http://schemas.openxmlformats.org/drawingml/2006/main" noGrp="1"/>
          </p:cNvSpPr>
          <p:nvPr/>
        </p:nvSpPr>
        <p:spPr>
          <a:xfrm xmlns:a="http://schemas.openxmlformats.org/drawingml/2006/main">
            <a:off x="638175" y="6477000"/>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929699"/>
                </a:solidFill>
                <a:latin typeface="Calibri"/>
                <a:ea typeface="Calibri"/>
                <a:cs typeface="Calibri"/>
              </a:defRPr>
            </a:defPPr>
          </a:lstStyle>
          <a:p xmlns:a="http://schemas.openxmlformats.org/drawingml/2006/main">
            <a:pPr algn="l">
              <a:defRPr sz="900" b="0">
                <a:solidFill>
                  <a:srgbClr val="929699"/>
                </a:solidFill>
                <a:latin typeface="Calibri"/>
                <a:ea typeface="Calibri"/>
                <a:cs typeface="Calibri"/>
              </a:defRPr>
            </a:pPr>
            <a:r>
              <a:rPr sz="900" b="0">
                <a:solidFill>
                  <a:srgbClr val="929699"/>
                </a:solidFill>
                <a:latin typeface="Calibri"/>
                <a:ea typeface="Calibri"/>
                <a:cs typeface="Calibri"/>
              </a:rPr>
              <a:t>Selected qualitative example · J0/J2: seed 3407 · J1/J3: seed 2027 · not a paired-seed ablation</a:t>
            </a:r>
          </a:p>
        </p:txBody>
      </p:sp>
      <p:sp>
        <p:nvSpPr>
          <p:cNvPr id="3" name="12">
            <a:extLst xmlns:a="http://schemas.openxmlformats.org/drawingml/2006/main">
              <a:ext uri="{FF2B5EF4-FFF2-40B4-BE49-F238E27FC236}">
                <a16:creationId xmlns:a16="http://schemas.microsoft.com/office/drawing/2014/main" id="{65674DE8-4F21-46C2-9F0E-56FFC337FF40}"/>
              </a:ext>
            </a:extLst>
          </p:cNvPr>
          <p:cNvSpPr>
            <a:spLocks xmlns:a="http://schemas.openxmlformats.org/drawingml/2006/main" noGrp="1"/>
          </p:cNvSpPr>
          <p:nvPr/>
        </p:nvSpPr>
        <p:spPr>
          <a:xfrm xmlns:a="http://schemas.openxmlformats.org/drawingml/2006/main">
            <a:off x="11144250" y="6477000"/>
            <a:ext cx="4095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929699"/>
                </a:solidFill>
                <a:latin typeface="Calibri"/>
                <a:ea typeface="Calibri"/>
                <a:cs typeface="Calibri"/>
              </a:defRPr>
            </a:defPPr>
          </a:lstStyle>
          <a:p xmlns:a="http://schemas.openxmlformats.org/drawingml/2006/main">
            <a:pPr algn="r">
              <a:defRPr sz="900" b="0">
                <a:solidFill>
                  <a:srgbClr val="929699"/>
                </a:solidFill>
                <a:latin typeface="Calibri"/>
                <a:ea typeface="Calibri"/>
                <a:cs typeface="Calibri"/>
              </a:defRPr>
            </a:pPr>
            <a:r>
              <a:rPr sz="900" b="0">
                <a:solidFill>
                  <a:srgbClr val="929699"/>
                </a:solidFill>
                <a:latin typeface="Calibri"/>
                <a:ea typeface="Calibri"/>
                <a:cs typeface="Calibri"/>
              </a:rPr>
              <a:t>12</a:t>
            </a:r>
          </a:p>
        </p:txBody>
      </p:sp>
      <p:sp>
        <p:nvSpPr>
          <p:cNvPr id="4" name="Chest X-ray">
            <a:extLst xmlns:a="http://schemas.openxmlformats.org/drawingml/2006/main">
              <a:ext uri="{FF2B5EF4-FFF2-40B4-BE49-F238E27FC236}">
                <a16:creationId xmlns:a16="http://schemas.microsoft.com/office/drawing/2014/main" id="{FA31F9BB-9362-4C16-98BC-8D6753CAE5E3}"/>
              </a:ext>
            </a:extLst>
          </p:cNvPr>
          <p:cNvSpPr>
            <a:spLocks xmlns:a="http://schemas.openxmlformats.org/drawingml/2006/main" noGrp="1"/>
          </p:cNvSpPr>
          <p:nvPr/>
        </p:nvSpPr>
        <p:spPr>
          <a:xfrm xmlns:a="http://schemas.openxmlformats.org/drawingml/2006/main">
            <a:off x="638175" y="1438275"/>
            <a:ext cx="2343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124"/>
                </a:solidFill>
                <a:latin typeface="Calibri"/>
                <a:ea typeface="Calibri"/>
                <a:cs typeface="Calibri"/>
              </a:defRPr>
            </a:defPPr>
          </a:lstStyle>
          <a:p xmlns:a="http://schemas.openxmlformats.org/drawingml/2006/main">
            <a:pPr algn="l">
              <a:defRPr sz="1875" b="1">
                <a:solidFill>
                  <a:srgbClr val="202124"/>
                </a:solidFill>
                <a:latin typeface="Calibri"/>
                <a:ea typeface="Calibri"/>
                <a:cs typeface="Calibri"/>
              </a:defRPr>
            </a:pPr>
            <a:r>
              <a:rPr sz="1875" b="1">
                <a:solidFill>
                  <a:srgbClr val="202124"/>
                </a:solidFill>
                <a:latin typeface="Calibri"/>
                <a:ea typeface="Calibri"/>
                <a:cs typeface="Calibri"/>
              </a:rPr>
              <a:t>Chest X-ray</a:t>
            </a:r>
          </a:p>
        </p:txBody>
      </p:sp>
      <p:sp>
        <p:nvSpPr>
          <p:cNvPr id="5" name="Ground truth">
            <a:extLst xmlns:a="http://schemas.openxmlformats.org/drawingml/2006/main">
              <a:ext uri="{FF2B5EF4-FFF2-40B4-BE49-F238E27FC236}">
                <a16:creationId xmlns:a16="http://schemas.microsoft.com/office/drawing/2014/main" id="{5D408AC8-D196-412B-AAB8-1506953ED61A}"/>
              </a:ext>
            </a:extLst>
          </p:cNvPr>
          <p:cNvSpPr>
            <a:spLocks xmlns:a="http://schemas.openxmlformats.org/drawingml/2006/main" noGrp="1"/>
          </p:cNvSpPr>
          <p:nvPr/>
        </p:nvSpPr>
        <p:spPr>
          <a:xfrm xmlns:a="http://schemas.openxmlformats.org/drawingml/2006/main">
            <a:off x="3467100" y="1438275"/>
            <a:ext cx="2343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124"/>
                </a:solidFill>
                <a:latin typeface="Calibri"/>
                <a:ea typeface="Calibri"/>
                <a:cs typeface="Calibri"/>
              </a:defRPr>
            </a:defPPr>
          </a:lstStyle>
          <a:p xmlns:a="http://schemas.openxmlformats.org/drawingml/2006/main">
            <a:pPr algn="l">
              <a:defRPr sz="1875" b="1">
                <a:solidFill>
                  <a:srgbClr val="202124"/>
                </a:solidFill>
                <a:latin typeface="Calibri"/>
                <a:ea typeface="Calibri"/>
                <a:cs typeface="Calibri"/>
              </a:defRPr>
            </a:pPr>
            <a:r>
              <a:rPr sz="1875" b="1">
                <a:solidFill>
                  <a:srgbClr val="202124"/>
                </a:solidFill>
                <a:latin typeface="Calibri"/>
                <a:ea typeface="Calibri"/>
                <a:cs typeface="Calibri"/>
              </a:rPr>
              <a:t>Ground truth</a:t>
            </a:r>
          </a:p>
        </p:txBody>
      </p:sp>
      <p:sp>
        <p:nvSpPr>
          <p:cNvPr id="6" name="Matched PLAM">
            <a:extLst xmlns:a="http://schemas.openxmlformats.org/drawingml/2006/main">
              <a:ext uri="{FF2B5EF4-FFF2-40B4-BE49-F238E27FC236}">
                <a16:creationId xmlns:a16="http://schemas.microsoft.com/office/drawing/2014/main" id="{305325C4-06C7-46C0-B127-4990A6A0E937}"/>
              </a:ext>
            </a:extLst>
          </p:cNvPr>
          <p:cNvSpPr>
            <a:spLocks xmlns:a="http://schemas.openxmlformats.org/drawingml/2006/main" noGrp="1"/>
          </p:cNvSpPr>
          <p:nvPr/>
        </p:nvSpPr>
        <p:spPr>
          <a:xfrm xmlns:a="http://schemas.openxmlformats.org/drawingml/2006/main">
            <a:off x="6296025" y="1438275"/>
            <a:ext cx="2343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124"/>
                </a:solidFill>
                <a:latin typeface="Calibri"/>
                <a:ea typeface="Calibri"/>
                <a:cs typeface="Calibri"/>
              </a:defRPr>
            </a:defPPr>
          </a:lstStyle>
          <a:p xmlns:a="http://schemas.openxmlformats.org/drawingml/2006/main">
            <a:pPr algn="l">
              <a:defRPr sz="1875" b="1">
                <a:solidFill>
                  <a:srgbClr val="202124"/>
                </a:solidFill>
                <a:latin typeface="Calibri"/>
                <a:ea typeface="Calibri"/>
                <a:cs typeface="Calibri"/>
              </a:defRPr>
            </a:pPr>
            <a:r>
              <a:rPr sz="1875" b="1">
                <a:solidFill>
                  <a:srgbClr val="202124"/>
                </a:solidFill>
                <a:latin typeface="Calibri"/>
                <a:ea typeface="Calibri"/>
                <a:cs typeface="Calibri"/>
              </a:rPr>
              <a:t>Matched PLAM</a:t>
            </a:r>
          </a:p>
        </p:txBody>
      </p:sp>
      <p:sp>
        <p:nvSpPr>
          <p:cNvPr id="7" name="FSDR + RACE">
            <a:extLst xmlns:a="http://schemas.openxmlformats.org/drawingml/2006/main">
              <a:ext uri="{FF2B5EF4-FFF2-40B4-BE49-F238E27FC236}">
                <a16:creationId xmlns:a16="http://schemas.microsoft.com/office/drawing/2014/main" id="{7F3A6DE1-661F-4C18-AB25-347D833D3229}"/>
              </a:ext>
            </a:extLst>
          </p:cNvPr>
          <p:cNvSpPr>
            <a:spLocks xmlns:a="http://schemas.openxmlformats.org/drawingml/2006/main" noGrp="1"/>
          </p:cNvSpPr>
          <p:nvPr/>
        </p:nvSpPr>
        <p:spPr>
          <a:xfrm xmlns:a="http://schemas.openxmlformats.org/drawingml/2006/main">
            <a:off x="9124950" y="1438275"/>
            <a:ext cx="2343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124"/>
                </a:solidFill>
                <a:latin typeface="Calibri"/>
                <a:ea typeface="Calibri"/>
                <a:cs typeface="Calibri"/>
              </a:defRPr>
            </a:defPPr>
          </a:lstStyle>
          <a:p xmlns:a="http://schemas.openxmlformats.org/drawingml/2006/main">
            <a:pPr algn="l">
              <a:defRPr sz="1875" b="1">
                <a:solidFill>
                  <a:srgbClr val="202124"/>
                </a:solidFill>
                <a:latin typeface="Calibri"/>
                <a:ea typeface="Calibri"/>
                <a:cs typeface="Calibri"/>
              </a:defRPr>
            </a:pPr>
            <a:r>
              <a:rPr sz="1875" b="1">
                <a:solidFill>
                  <a:srgbClr val="202124"/>
                </a:solidFill>
                <a:latin typeface="Calibri"/>
                <a:ea typeface="Calibri"/>
                <a:cs typeface="Calibri"/>
              </a:rPr>
              <a:t>FSDR + RACE</a:t>
            </a:r>
          </a:p>
        </p:txBody>
      </p:sp>
      <p:pic>
        <p:nvPicPr>
          <p:cNvPr id="8" name="">
            <a:extLst xmlns:a="http://schemas.openxmlformats.org/drawingml/2006/main">
              <a:ext uri="{FF2B5EF4-FFF2-40B4-BE49-F238E27FC236}">
                <a16:creationId xmlns:a16="http://schemas.microsoft.com/office/drawing/2014/main" id="{48B0FF61-9F64-49DE-A14D-20DAE50E4A68}"/>
              </a:ext>
            </a:extLst>
          </p:cNvPr>
          <p:cNvPicPr>
            <a:picLocks xmlns:a="http://schemas.openxmlformats.org/drawingml/2006/main" noChangeAspect="1"/>
          </p:cNvPicPr>
          <p:nvPr/>
        </p:nvPicPr>
        <p:blipFill>
          <a:blip xmlns:r="http://schemas.openxmlformats.org/officeDocument/2006/relationships" xmlns:a="http://schemas.openxmlformats.org/drawingml/2006/main" r:embed="R2b49f38934294b13"/>
          <a:srcRect xmlns:a="http://schemas.openxmlformats.org/drawingml/2006/main" l="0" t="0" r="0" b="0"/>
          <a:stretch xmlns:a="http://schemas.openxmlformats.org/drawingml/2006/main">
            <a:fillRect l="0" t="0" r="0" b="0"/>
          </a:stretch>
        </p:blipFill>
        <p:spPr>
          <a:xfrm xmlns:a="http://schemas.openxmlformats.org/drawingml/2006/main">
            <a:off x="638175" y="1905000"/>
            <a:ext cx="2333625" cy="2333625"/>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97769D64-482E-484E-8BC0-123AD1506FDB}"/>
              </a:ext>
            </a:extLst>
          </p:cNvPr>
          <p:cNvPicPr>
            <a:picLocks xmlns:a="http://schemas.openxmlformats.org/drawingml/2006/main" noChangeAspect="1"/>
          </p:cNvPicPr>
          <p:nvPr/>
        </p:nvPicPr>
        <p:blipFill>
          <a:blip xmlns:r="http://schemas.openxmlformats.org/officeDocument/2006/relationships" xmlns:a="http://schemas.openxmlformats.org/drawingml/2006/main" r:embed="R77b43a4cad0446b7"/>
          <a:srcRect xmlns:a="http://schemas.openxmlformats.org/drawingml/2006/main" l="0" t="0" r="0" b="0"/>
          <a:stretch xmlns:a="http://schemas.openxmlformats.org/drawingml/2006/main">
            <a:fillRect l="0" t="0" r="0" b="0"/>
          </a:stretch>
        </p:blipFill>
        <p:spPr>
          <a:xfrm xmlns:a="http://schemas.openxmlformats.org/drawingml/2006/main">
            <a:off x="3467100" y="1905000"/>
            <a:ext cx="2333625" cy="233362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0347EEF3-FEB9-46F5-903F-6A3C28CFF242}"/>
              </a:ext>
            </a:extLst>
          </p:cNvPr>
          <p:cNvPicPr>
            <a:picLocks xmlns:a="http://schemas.openxmlformats.org/drawingml/2006/main" noChangeAspect="1"/>
          </p:cNvPicPr>
          <p:nvPr/>
        </p:nvPicPr>
        <p:blipFill>
          <a:blip xmlns:r="http://schemas.openxmlformats.org/officeDocument/2006/relationships" xmlns:a="http://schemas.openxmlformats.org/drawingml/2006/main" r:embed="Redbbd18e225b4a0e"/>
          <a:srcRect xmlns:a="http://schemas.openxmlformats.org/drawingml/2006/main" l="34118" t="56865" r="50196" b="8541"/>
          <a:stretch xmlns:a="http://schemas.openxmlformats.org/drawingml/2006/main"/>
        </p:blipFill>
        <p:spPr>
          <a:xfrm xmlns:a="http://schemas.openxmlformats.org/drawingml/2006/main">
            <a:off x="6296025" y="1905000"/>
            <a:ext cx="2333625" cy="23336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2C642AAB-A66D-4E5F-BA5A-75F3A56C0103}"/>
              </a:ext>
            </a:extLst>
          </p:cNvPr>
          <p:cNvPicPr>
            <a:picLocks xmlns:a="http://schemas.openxmlformats.org/drawingml/2006/main" noChangeAspect="1"/>
          </p:cNvPicPr>
          <p:nvPr/>
        </p:nvPicPr>
        <p:blipFill>
          <a:blip xmlns:r="http://schemas.openxmlformats.org/officeDocument/2006/relationships" xmlns:a="http://schemas.openxmlformats.org/drawingml/2006/main" r:embed="R4f524d4d0cd247fc"/>
          <a:srcRect xmlns:a="http://schemas.openxmlformats.org/drawingml/2006/main" l="83529" t="56865" r="784" b="8541"/>
          <a:stretch xmlns:a="http://schemas.openxmlformats.org/drawingml/2006/main"/>
        </p:blipFill>
        <p:spPr>
          <a:xfrm xmlns:a="http://schemas.openxmlformats.org/drawingml/2006/main">
            <a:off x="9124950" y="1905000"/>
            <a:ext cx="2333625" cy="2333625"/>
          </a:xfrm>
          <a:prstGeom xmlns:a="http://schemas.openxmlformats.org/drawingml/2006/main" prst="rect">
            <a:avLst/>
          </a:prstGeom>
        </p:spPr>
      </p:pic>
      <p:sp>
        <p:nvSpPr>
          <p:cNvPr id="12" name="IoU 44.68%">
            <a:extLst xmlns:a="http://schemas.openxmlformats.org/drawingml/2006/main">
              <a:ext uri="{FF2B5EF4-FFF2-40B4-BE49-F238E27FC236}">
                <a16:creationId xmlns:a16="http://schemas.microsoft.com/office/drawing/2014/main" id="{170F701E-F5A8-4DC3-8916-1363A4165C93}"/>
              </a:ext>
            </a:extLst>
          </p:cNvPr>
          <p:cNvSpPr>
            <a:spLocks xmlns:a="http://schemas.openxmlformats.org/drawingml/2006/main" noGrp="1"/>
          </p:cNvSpPr>
          <p:nvPr/>
        </p:nvSpPr>
        <p:spPr>
          <a:xfrm xmlns:a="http://schemas.openxmlformats.org/drawingml/2006/main">
            <a:off x="6296025" y="4305300"/>
            <a:ext cx="233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124"/>
                </a:solidFill>
                <a:latin typeface="Calibri"/>
                <a:ea typeface="Calibri"/>
                <a:cs typeface="Calibri"/>
              </a:defRPr>
            </a:defPPr>
          </a:lstStyle>
          <a:p xmlns:a="http://schemas.openxmlformats.org/drawingml/2006/main">
            <a:pPr algn="l">
              <a:defRPr sz="1875" b="1">
                <a:solidFill>
                  <a:srgbClr val="202124"/>
                </a:solidFill>
                <a:latin typeface="Calibri"/>
                <a:ea typeface="Calibri"/>
                <a:cs typeface="Calibri"/>
              </a:defRPr>
            </a:pPr>
            <a:r>
              <a:rPr sz="1875" b="1">
                <a:solidFill>
                  <a:srgbClr val="202124"/>
                </a:solidFill>
                <a:latin typeface="Calibri"/>
                <a:ea typeface="Calibri"/>
                <a:cs typeface="Calibri"/>
              </a:rPr>
              <a:t>IoU 44.68%</a:t>
            </a:r>
          </a:p>
        </p:txBody>
      </p:sp>
      <p:sp>
        <p:nvSpPr>
          <p:cNvPr id="13" name="IoU 82.16%">
            <a:extLst xmlns:a="http://schemas.openxmlformats.org/drawingml/2006/main">
              <a:ext uri="{FF2B5EF4-FFF2-40B4-BE49-F238E27FC236}">
                <a16:creationId xmlns:a16="http://schemas.microsoft.com/office/drawing/2014/main" id="{60528561-10CE-4748-A7F0-B8FA0F1C600E}"/>
              </a:ext>
            </a:extLst>
          </p:cNvPr>
          <p:cNvSpPr>
            <a:spLocks xmlns:a="http://schemas.openxmlformats.org/drawingml/2006/main" noGrp="1"/>
          </p:cNvSpPr>
          <p:nvPr/>
        </p:nvSpPr>
        <p:spPr>
          <a:xfrm xmlns:a="http://schemas.openxmlformats.org/drawingml/2006/main">
            <a:off x="9124950" y="4305300"/>
            <a:ext cx="233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124"/>
                </a:solidFill>
                <a:latin typeface="Calibri"/>
                <a:ea typeface="Calibri"/>
                <a:cs typeface="Calibri"/>
              </a:defRPr>
            </a:defPPr>
          </a:lstStyle>
          <a:p xmlns:a="http://schemas.openxmlformats.org/drawingml/2006/main">
            <a:pPr algn="l">
              <a:defRPr sz="1875" b="1">
                <a:solidFill>
                  <a:srgbClr val="202124"/>
                </a:solidFill>
                <a:latin typeface="Calibri"/>
                <a:ea typeface="Calibri"/>
                <a:cs typeface="Calibri"/>
              </a:defRPr>
            </a:pPr>
            <a:r>
              <a:rPr sz="1875" b="1">
                <a:solidFill>
                  <a:srgbClr val="202124"/>
                </a:solidFill>
                <a:latin typeface="Calibri"/>
                <a:ea typeface="Calibri"/>
                <a:cs typeface="Calibri"/>
              </a:rPr>
              <a:t>IoU 82.16%</a:t>
            </a:r>
          </a:p>
        </p:txBody>
      </p:sp>
      <p:sp>
        <p:nvSpPr>
          <p:cNvPr id="14" name="">
            <a:extLst xmlns:a="http://schemas.openxmlformats.org/drawingml/2006/main">
              <a:ext uri="{FF2B5EF4-FFF2-40B4-BE49-F238E27FC236}">
                <a16:creationId xmlns:a16="http://schemas.microsoft.com/office/drawing/2014/main" id="{DF828860-7A1E-413F-B7DD-B9B712B8C8E2}"/>
              </a:ext>
            </a:extLst>
          </p:cNvPr>
          <p:cNvSpPr>
            <a:spLocks xmlns:a="http://schemas.openxmlformats.org/drawingml/2006/main" noGrp="1"/>
          </p:cNvSpPr>
          <p:nvPr/>
        </p:nvSpPr>
        <p:spPr>
          <a:xfrm xmlns:a="http://schemas.openxmlformats.org/drawingml/2006/main">
            <a:off x="638175" y="4857750"/>
            <a:ext cx="209550" cy="209550"/>
          </a:xfrm>
          <a:prstGeom xmlns:a="http://schemas.openxmlformats.org/drawingml/2006/main" prst="roundRect">
            <a:avLst>
              <a:gd name="adj" fmla="val 36364"/>
            </a:avLst>
          </a:prstGeom>
          <a:solidFill xmlns:a="http://schemas.openxmlformats.org/drawingml/2006/main">
            <a:srgbClr val="32BF6B"/>
          </a:solidFill>
          <a:ln xmlns:a="http://schemas.openxmlformats.org/drawingml/2006/main" w="12383">
            <a:solidFill>
              <a:srgbClr val="32BF6B"/>
            </a:solidFill>
          </a:ln>
        </p:spPr>
        <p:txBody>
          <a:bodyPr xmlns:a="http://schemas.openxmlformats.org/drawingml/2006/main" wrap="square" lIns="66675" tIns="28575" rIns="66675" bIns="28575" anchor="ctr">
            <a:noAutofit/>
          </a:bodyPr>
          <a:lstStyle xmlns:a="http://schemas.openxmlformats.org/drawingml/2006/main">
            <a:defPPr algn="ctr">
              <a:defRPr sz="750">
                <a:solidFill>
                  <a:srgbClr val="202124"/>
                </a:solidFill>
                <a:latin typeface="Calibri"/>
                <a:ea typeface="Calibri"/>
                <a:cs typeface="Calibri"/>
              </a:defRPr>
            </a:defPPr>
          </a:lstStyle>
          <a:p xmlns:a="http://schemas.openxmlformats.org/drawingml/2006/main">
            <a:r>
              <a:t/>
            </a:r>
          </a:p>
        </p:txBody>
      </p:sp>
      <p:sp>
        <p:nvSpPr>
          <p:cNvPr id="15" name="TP">
            <a:extLst xmlns:a="http://schemas.openxmlformats.org/drawingml/2006/main">
              <a:ext uri="{FF2B5EF4-FFF2-40B4-BE49-F238E27FC236}">
                <a16:creationId xmlns:a16="http://schemas.microsoft.com/office/drawing/2014/main" id="{56B8E34F-879C-45D5-A38B-A87F8A14D2A9}"/>
              </a:ext>
            </a:extLst>
          </p:cNvPr>
          <p:cNvSpPr>
            <a:spLocks xmlns:a="http://schemas.openxmlformats.org/drawingml/2006/main" noGrp="1"/>
          </p:cNvSpPr>
          <p:nvPr/>
        </p:nvSpPr>
        <p:spPr>
          <a:xfrm xmlns:a="http://schemas.openxmlformats.org/drawingml/2006/main">
            <a:off x="952500" y="4800600"/>
            <a:ext cx="714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202124"/>
                </a:solidFill>
                <a:latin typeface="Calibri"/>
                <a:ea typeface="Calibri"/>
                <a:cs typeface="Calibri"/>
              </a:defRPr>
            </a:defPPr>
          </a:lstStyle>
          <a:p xmlns:a="http://schemas.openxmlformats.org/drawingml/2006/main">
            <a:pPr algn="l">
              <a:defRPr sz="1650" b="0">
                <a:solidFill>
                  <a:srgbClr val="202124"/>
                </a:solidFill>
                <a:latin typeface="Calibri"/>
                <a:ea typeface="Calibri"/>
                <a:cs typeface="Calibri"/>
              </a:defRPr>
            </a:pPr>
            <a:r>
              <a:rPr sz="1650" b="0">
                <a:solidFill>
                  <a:srgbClr val="202124"/>
                </a:solidFill>
                <a:latin typeface="Calibri"/>
                <a:ea typeface="Calibri"/>
                <a:cs typeface="Calibri"/>
              </a:rPr>
              <a:t>TP</a:t>
            </a:r>
          </a:p>
        </p:txBody>
      </p:sp>
      <p:sp>
        <p:nvSpPr>
          <p:cNvPr id="16" name="">
            <a:extLst xmlns:a="http://schemas.openxmlformats.org/drawingml/2006/main">
              <a:ext uri="{FF2B5EF4-FFF2-40B4-BE49-F238E27FC236}">
                <a16:creationId xmlns:a16="http://schemas.microsoft.com/office/drawing/2014/main" id="{F76F4900-15FA-4B02-B9A1-E34BE925D2E3}"/>
              </a:ext>
            </a:extLst>
          </p:cNvPr>
          <p:cNvSpPr>
            <a:spLocks xmlns:a="http://schemas.openxmlformats.org/drawingml/2006/main" noGrp="1"/>
          </p:cNvSpPr>
          <p:nvPr/>
        </p:nvSpPr>
        <p:spPr>
          <a:xfrm xmlns:a="http://schemas.openxmlformats.org/drawingml/2006/main">
            <a:off x="1905000" y="4857750"/>
            <a:ext cx="209550" cy="209550"/>
          </a:xfrm>
          <a:prstGeom xmlns:a="http://schemas.openxmlformats.org/drawingml/2006/main" prst="roundRect">
            <a:avLst>
              <a:gd name="adj" fmla="val 36364"/>
            </a:avLst>
          </a:prstGeom>
          <a:solidFill xmlns:a="http://schemas.openxmlformats.org/drawingml/2006/main">
            <a:srgbClr val="FF454F"/>
          </a:solidFill>
          <a:ln xmlns:a="http://schemas.openxmlformats.org/drawingml/2006/main" w="12383">
            <a:solidFill>
              <a:srgbClr val="FF454F"/>
            </a:solidFill>
          </a:ln>
        </p:spPr>
        <p:txBody>
          <a:bodyPr xmlns:a="http://schemas.openxmlformats.org/drawingml/2006/main" wrap="square" lIns="66675" tIns="28575" rIns="66675" bIns="28575" anchor="ctr">
            <a:noAutofit/>
          </a:bodyPr>
          <a:lstStyle xmlns:a="http://schemas.openxmlformats.org/drawingml/2006/main">
            <a:defPPr algn="ctr">
              <a:defRPr sz="750">
                <a:solidFill>
                  <a:srgbClr val="202124"/>
                </a:solidFill>
                <a:latin typeface="Calibri"/>
                <a:ea typeface="Calibri"/>
                <a:cs typeface="Calibri"/>
              </a:defRPr>
            </a:defPPr>
          </a:lstStyle>
          <a:p xmlns:a="http://schemas.openxmlformats.org/drawingml/2006/main">
            <a:r>
              <a:t/>
            </a:r>
          </a:p>
        </p:txBody>
      </p:sp>
      <p:sp>
        <p:nvSpPr>
          <p:cNvPr id="17" name="FP">
            <a:extLst xmlns:a="http://schemas.openxmlformats.org/drawingml/2006/main">
              <a:ext uri="{FF2B5EF4-FFF2-40B4-BE49-F238E27FC236}">
                <a16:creationId xmlns:a16="http://schemas.microsoft.com/office/drawing/2014/main" id="{BFF10B83-2ED5-4B62-A70A-EFBD970C79FD}"/>
              </a:ext>
            </a:extLst>
          </p:cNvPr>
          <p:cNvSpPr>
            <a:spLocks xmlns:a="http://schemas.openxmlformats.org/drawingml/2006/main" noGrp="1"/>
          </p:cNvSpPr>
          <p:nvPr/>
        </p:nvSpPr>
        <p:spPr>
          <a:xfrm xmlns:a="http://schemas.openxmlformats.org/drawingml/2006/main">
            <a:off x="2219325" y="4800600"/>
            <a:ext cx="714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202124"/>
                </a:solidFill>
                <a:latin typeface="Calibri"/>
                <a:ea typeface="Calibri"/>
                <a:cs typeface="Calibri"/>
              </a:defRPr>
            </a:defPPr>
          </a:lstStyle>
          <a:p xmlns:a="http://schemas.openxmlformats.org/drawingml/2006/main">
            <a:pPr algn="l">
              <a:defRPr sz="1650" b="0">
                <a:solidFill>
                  <a:srgbClr val="202124"/>
                </a:solidFill>
                <a:latin typeface="Calibri"/>
                <a:ea typeface="Calibri"/>
                <a:cs typeface="Calibri"/>
              </a:defRPr>
            </a:pPr>
            <a:r>
              <a:rPr sz="1650" b="0">
                <a:solidFill>
                  <a:srgbClr val="202124"/>
                </a:solidFill>
                <a:latin typeface="Calibri"/>
                <a:ea typeface="Calibri"/>
                <a:cs typeface="Calibri"/>
              </a:rPr>
              <a:t>FP</a:t>
            </a:r>
          </a:p>
        </p:txBody>
      </p:sp>
      <p:sp>
        <p:nvSpPr>
          <p:cNvPr id="18" name="">
            <a:extLst xmlns:a="http://schemas.openxmlformats.org/drawingml/2006/main">
              <a:ext uri="{FF2B5EF4-FFF2-40B4-BE49-F238E27FC236}">
                <a16:creationId xmlns:a16="http://schemas.microsoft.com/office/drawing/2014/main" id="{C7D8CB30-6045-434E-BCD7-7EBC3577136D}"/>
              </a:ext>
            </a:extLst>
          </p:cNvPr>
          <p:cNvSpPr>
            <a:spLocks xmlns:a="http://schemas.openxmlformats.org/drawingml/2006/main" noGrp="1"/>
          </p:cNvSpPr>
          <p:nvPr/>
        </p:nvSpPr>
        <p:spPr>
          <a:xfrm xmlns:a="http://schemas.openxmlformats.org/drawingml/2006/main">
            <a:off x="3171825" y="4857750"/>
            <a:ext cx="209550" cy="209550"/>
          </a:xfrm>
          <a:prstGeom xmlns:a="http://schemas.openxmlformats.org/drawingml/2006/main" prst="roundRect">
            <a:avLst>
              <a:gd name="adj" fmla="val 36364"/>
            </a:avLst>
          </a:prstGeom>
          <a:solidFill xmlns:a="http://schemas.openxmlformats.org/drawingml/2006/main">
            <a:srgbClr val="418BFE"/>
          </a:solidFill>
          <a:ln xmlns:a="http://schemas.openxmlformats.org/drawingml/2006/main" w="12383">
            <a:solidFill>
              <a:srgbClr val="418BFE"/>
            </a:solidFill>
          </a:ln>
        </p:spPr>
        <p:txBody>
          <a:bodyPr xmlns:a="http://schemas.openxmlformats.org/drawingml/2006/main" wrap="square" lIns="66675" tIns="28575" rIns="66675" bIns="28575" anchor="ctr">
            <a:noAutofit/>
          </a:bodyPr>
          <a:lstStyle xmlns:a="http://schemas.openxmlformats.org/drawingml/2006/main">
            <a:defPPr algn="ctr">
              <a:defRPr sz="750">
                <a:solidFill>
                  <a:srgbClr val="202124"/>
                </a:solidFill>
                <a:latin typeface="Calibri"/>
                <a:ea typeface="Calibri"/>
                <a:cs typeface="Calibri"/>
              </a:defRPr>
            </a:defPPr>
          </a:lstStyle>
          <a:p xmlns:a="http://schemas.openxmlformats.org/drawingml/2006/main">
            <a:r>
              <a:t/>
            </a:r>
          </a:p>
        </p:txBody>
      </p:sp>
      <p:sp>
        <p:nvSpPr>
          <p:cNvPr id="19" name="FN">
            <a:extLst xmlns:a="http://schemas.openxmlformats.org/drawingml/2006/main">
              <a:ext uri="{FF2B5EF4-FFF2-40B4-BE49-F238E27FC236}">
                <a16:creationId xmlns:a16="http://schemas.microsoft.com/office/drawing/2014/main" id="{BCD86D9F-8C2C-4D84-B172-3F6EF0043462}"/>
              </a:ext>
            </a:extLst>
          </p:cNvPr>
          <p:cNvSpPr>
            <a:spLocks xmlns:a="http://schemas.openxmlformats.org/drawingml/2006/main" noGrp="1"/>
          </p:cNvSpPr>
          <p:nvPr/>
        </p:nvSpPr>
        <p:spPr>
          <a:xfrm xmlns:a="http://schemas.openxmlformats.org/drawingml/2006/main">
            <a:off x="3486150" y="4800600"/>
            <a:ext cx="714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202124"/>
                </a:solidFill>
                <a:latin typeface="Calibri"/>
                <a:ea typeface="Calibri"/>
                <a:cs typeface="Calibri"/>
              </a:defRPr>
            </a:defPPr>
          </a:lstStyle>
          <a:p xmlns:a="http://schemas.openxmlformats.org/drawingml/2006/main">
            <a:pPr algn="l">
              <a:defRPr sz="1650" b="0">
                <a:solidFill>
                  <a:srgbClr val="202124"/>
                </a:solidFill>
                <a:latin typeface="Calibri"/>
                <a:ea typeface="Calibri"/>
                <a:cs typeface="Calibri"/>
              </a:defRPr>
            </a:pPr>
            <a:r>
              <a:rPr sz="1650" b="0">
                <a:solidFill>
                  <a:srgbClr val="202124"/>
                </a:solidFill>
                <a:latin typeface="Calibri"/>
                <a:ea typeface="Calibri"/>
                <a:cs typeface="Calibri"/>
              </a:rPr>
              <a:t>FN</a:t>
            </a:r>
          </a:p>
        </p:txBody>
      </p:sp>
      <p:sp>
        <p:nvSpPr>
          <p:cNvPr id="20" name="Less missed infection in the highlighted region.">
            <a:extLst xmlns:a="http://schemas.openxmlformats.org/drawingml/2006/main">
              <a:ext uri="{FF2B5EF4-FFF2-40B4-BE49-F238E27FC236}">
                <a16:creationId xmlns:a16="http://schemas.microsoft.com/office/drawing/2014/main" id="{09075E7D-FE20-44DB-A312-83B44860F97D}"/>
              </a:ext>
            </a:extLst>
          </p:cNvPr>
          <p:cNvSpPr>
            <a:spLocks xmlns:a="http://schemas.openxmlformats.org/drawingml/2006/main" noGrp="1"/>
          </p:cNvSpPr>
          <p:nvPr/>
        </p:nvSpPr>
        <p:spPr>
          <a:xfrm xmlns:a="http://schemas.openxmlformats.org/drawingml/2006/main">
            <a:off x="638175" y="5276850"/>
            <a:ext cx="50006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02124"/>
                </a:solidFill>
                <a:latin typeface="Calibri"/>
                <a:ea typeface="Calibri"/>
                <a:cs typeface="Calibri"/>
              </a:defRPr>
            </a:defPPr>
          </a:lstStyle>
          <a:p xmlns:a="http://schemas.openxmlformats.org/drawingml/2006/main">
            <a:pPr algn="l">
              <a:defRPr sz="2025" b="1">
                <a:solidFill>
                  <a:srgbClr val="202124"/>
                </a:solidFill>
                <a:latin typeface="Calibri"/>
                <a:ea typeface="Calibri"/>
                <a:cs typeface="Calibri"/>
              </a:defRPr>
            </a:pPr>
            <a:r>
              <a:rPr sz="2025" b="1">
                <a:solidFill>
                  <a:srgbClr val="202124"/>
                </a:solidFill>
                <a:latin typeface="Calibri"/>
                <a:ea typeface="Calibri"/>
                <a:cs typeface="Calibri"/>
              </a:rPr>
              <a:t>Less missed infection in the highlighted region.</a:t>
            </a:r>
          </a:p>
        </p:txBody>
      </p:sp>
      <p:pic>
        <p:nvPicPr>
          <p:cNvPr id="21" name="">
            <a:extLst xmlns:a="http://schemas.openxmlformats.org/drawingml/2006/main">
              <a:ext uri="{FF2B5EF4-FFF2-40B4-BE49-F238E27FC236}">
                <a16:creationId xmlns:a16="http://schemas.microsoft.com/office/drawing/2014/main" id="{FD7F569D-E2F7-4EB8-87B6-23B629B54F4B}"/>
              </a:ext>
            </a:extLst>
          </p:cNvPr>
          <p:cNvPicPr>
            <a:picLocks xmlns:a="http://schemas.openxmlformats.org/drawingml/2006/main" noChangeAspect="1"/>
          </p:cNvPicPr>
          <p:nvPr/>
        </p:nvPicPr>
        <p:blipFill>
          <a:blip xmlns:r="http://schemas.openxmlformats.org/officeDocument/2006/relationships" xmlns:a="http://schemas.openxmlformats.org/drawingml/2006/main" r:embed="R3d1530a23d684d64"/>
          <a:srcRect xmlns:a="http://schemas.openxmlformats.org/drawingml/2006/main" l="37725" t="66205" r="56000" b="19957"/>
          <a:stretch xmlns:a="http://schemas.openxmlformats.org/drawingml/2006/main"/>
        </p:blipFill>
        <p:spPr>
          <a:xfrm xmlns:a="http://schemas.openxmlformats.org/drawingml/2006/main">
            <a:off x="6438900" y="4838700"/>
            <a:ext cx="1524000" cy="1524000"/>
          </a:xfrm>
          <a:prstGeom xmlns:a="http://schemas.openxmlformats.org/drawingml/2006/main" prst="rect">
            <a:avLst/>
          </a:prstGeom>
        </p:spPr>
      </p:pic>
      <p:pic>
        <p:nvPicPr>
          <p:cNvPr id="22" name="">
            <a:extLst xmlns:a="http://schemas.openxmlformats.org/drawingml/2006/main">
              <a:ext uri="{FF2B5EF4-FFF2-40B4-BE49-F238E27FC236}">
                <a16:creationId xmlns:a16="http://schemas.microsoft.com/office/drawing/2014/main" id="{06A3117C-A016-499C-98BE-915DDA193E7D}"/>
              </a:ext>
            </a:extLst>
          </p:cNvPr>
          <p:cNvPicPr>
            <a:picLocks xmlns:a="http://schemas.openxmlformats.org/drawingml/2006/main" noChangeAspect="1"/>
          </p:cNvPicPr>
          <p:nvPr/>
        </p:nvPicPr>
        <p:blipFill>
          <a:blip xmlns:r="http://schemas.openxmlformats.org/officeDocument/2006/relationships" xmlns:a="http://schemas.openxmlformats.org/drawingml/2006/main" r:embed="R482796bd875345dd"/>
          <a:srcRect xmlns:a="http://schemas.openxmlformats.org/drawingml/2006/main" l="87137" t="66205" r="6588" b="19957"/>
          <a:stretch xmlns:a="http://schemas.openxmlformats.org/drawingml/2006/main"/>
        </p:blipFill>
        <p:spPr>
          <a:xfrm xmlns:a="http://schemas.openxmlformats.org/drawingml/2006/main">
            <a:off x="9696450" y="4838700"/>
            <a:ext cx="1524000" cy="1524000"/>
          </a:xfrm>
          <a:prstGeom xmlns:a="http://schemas.openxmlformats.org/drawingml/2006/main" prst="rect">
            <a:avLst/>
          </a:prstGeom>
        </p:spPr>
      </p:pic>
      <p:sp>
        <p:nvSpPr>
          <p:cNvPr id="23" name="Same region&#10;Detail view">
            <a:extLst xmlns:a="http://schemas.openxmlformats.org/drawingml/2006/main">
              <a:ext uri="{FF2B5EF4-FFF2-40B4-BE49-F238E27FC236}">
                <a16:creationId xmlns:a16="http://schemas.microsoft.com/office/drawing/2014/main" id="{AD8D0BD5-4DD6-4CF6-BD98-60599E17D20E}"/>
              </a:ext>
            </a:extLst>
          </p:cNvPr>
          <p:cNvSpPr>
            <a:spLocks xmlns:a="http://schemas.openxmlformats.org/drawingml/2006/main" noGrp="1"/>
          </p:cNvSpPr>
          <p:nvPr/>
        </p:nvSpPr>
        <p:spPr>
          <a:xfrm xmlns:a="http://schemas.openxmlformats.org/drawingml/2006/main">
            <a:off x="8210550" y="5229225"/>
            <a:ext cx="123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62686C"/>
                </a:solidFill>
                <a:latin typeface="Calibri"/>
                <a:ea typeface="Calibri"/>
                <a:cs typeface="Calibri"/>
              </a:defRPr>
            </a:defPPr>
          </a:lstStyle>
          <a:p xmlns:a="http://schemas.openxmlformats.org/drawingml/2006/main">
            <a:pPr algn="ctr">
              <a:defRPr sz="1725" b="0">
                <a:solidFill>
                  <a:srgbClr val="62686C"/>
                </a:solidFill>
                <a:latin typeface="Calibri"/>
                <a:ea typeface="Calibri"/>
                <a:cs typeface="Calibri"/>
              </a:defRPr>
            </a:pPr>
            <a:r>
              <a:rPr sz="1725" b="0">
                <a:solidFill>
                  <a:srgbClr val="62686C"/>
                </a:solidFill>
                <a:latin typeface="Calibri"/>
                <a:ea typeface="Calibri"/>
                <a:cs typeface="Calibri"/>
              </a:rPr>
              <a:t>Same region</a:t>
            </a:r>
          </a:p>
          <a:p xmlns:a="http://schemas.openxmlformats.org/drawingml/2006/main">
            <a:pPr algn="ctr">
              <a:defRPr sz="1725" b="0">
                <a:solidFill>
                  <a:srgbClr val="62686C"/>
                </a:solidFill>
                <a:latin typeface="Calibri"/>
                <a:ea typeface="Calibri"/>
                <a:cs typeface="Calibri"/>
              </a:defRPr>
            </a:pPr>
            <a:r>
              <a:rPr sz="1725" b="0">
                <a:solidFill>
                  <a:srgbClr val="62686C"/>
                </a:solidFill>
                <a:latin typeface="Calibri"/>
                <a:ea typeface="Calibri"/>
                <a:cs typeface="Calibri"/>
              </a:rPr>
              <a:t>Detail view</a:t>
            </a:r>
          </a:p>
        </p:txBody>
      </p:sp>
      <p:sp>
        <p:nvSpPr>
          <p:cNvPr id="24" name="">
            <a:extLst xmlns:a="http://schemas.openxmlformats.org/drawingml/2006/main">
              <a:ext uri="{FF2B5EF4-FFF2-40B4-BE49-F238E27FC236}">
                <a16:creationId xmlns:a16="http://schemas.microsoft.com/office/drawing/2014/main" id="{40F92F18-4E9E-479E-8918-15A4FEAAC67E}"/>
              </a:ext>
            </a:extLst>
          </p:cNvPr>
          <p:cNvSpPr>
            <a:spLocks xmlns:a="http://schemas.openxmlformats.org/drawingml/2006/main" noGrp="1"/>
          </p:cNvSpPr>
          <p:nvPr/>
        </p:nvSpPr>
        <p:spPr>
          <a:xfrm xmlns:a="http://schemas.openxmlformats.org/drawingml/2006/main">
            <a:off x="6832759" y="2535079"/>
            <a:ext cx="933450" cy="933450"/>
          </a:xfrm>
          <a:prstGeom xmlns:a="http://schemas.openxmlformats.org/drawingml/2006/main" prst="rect">
            <a:avLst/>
          </a:prstGeom>
          <a:noFill xmlns:a="http://schemas.openxmlformats.org/drawingml/2006/main"/>
          <a:ln xmlns:a="http://schemas.openxmlformats.org/drawingml/2006/main" w="17145">
            <a:solidFill>
              <a:srgbClr val="FFFFFF"/>
            </a:solidFill>
            <a:prstDash val="dash"/>
          </a:ln>
        </p:spPr>
      </p:sp>
      <p:sp>
        <p:nvSpPr>
          <p:cNvPr id="25" name="">
            <a:extLst xmlns:a="http://schemas.openxmlformats.org/drawingml/2006/main">
              <a:ext uri="{FF2B5EF4-FFF2-40B4-BE49-F238E27FC236}">
                <a16:creationId xmlns:a16="http://schemas.microsoft.com/office/drawing/2014/main" id="{90EBB6A5-6900-4384-9512-03038E524ADF}"/>
              </a:ext>
            </a:extLst>
          </p:cNvPr>
          <p:cNvSpPr>
            <a:spLocks xmlns:a="http://schemas.openxmlformats.org/drawingml/2006/main" noGrp="1"/>
          </p:cNvSpPr>
          <p:nvPr/>
        </p:nvSpPr>
        <p:spPr>
          <a:xfrm xmlns:a="http://schemas.openxmlformats.org/drawingml/2006/main">
            <a:off x="9661684" y="2535079"/>
            <a:ext cx="933450" cy="933450"/>
          </a:xfrm>
          <a:prstGeom xmlns:a="http://schemas.openxmlformats.org/drawingml/2006/main" prst="rect">
            <a:avLst/>
          </a:prstGeom>
          <a:noFill xmlns:a="http://schemas.openxmlformats.org/drawingml/2006/main"/>
          <a:ln xmlns:a="http://schemas.openxmlformats.org/drawingml/2006/main" w="17145">
            <a:solidFill>
              <a:srgbClr val="FFFFFF"/>
            </a:solidFill>
            <a:prstDash val="dash"/>
          </a:ln>
        </p:spPr>
      </p:sp>
    </p:spTree>
    <p:extLst>
      <p:ext uri="{BB962C8B-B14F-4D97-AF65-F5344CB8AC3E}">
        <p14:creationId xmlns:p14="http://schemas.microsoft.com/office/powerpoint/2010/main" val="122641829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G18: a remaining boundary error">
            <a:extLst xmlns:a="http://schemas.openxmlformats.org/drawingml/2006/main">
              <a:ext uri="{FF2B5EF4-FFF2-40B4-BE49-F238E27FC236}">
                <a16:creationId xmlns:a16="http://schemas.microsoft.com/office/drawing/2014/main" id="{5F047CE6-1DB6-4DDF-9EAB-CBD12F99AF93}"/>
              </a:ext>
            </a:extLst>
          </p:cNvPr>
          <p:cNvSpPr>
            <a:spLocks xmlns:a="http://schemas.openxmlformats.org/drawingml/2006/main" noGrp="1"/>
          </p:cNvSpPr>
          <p:nvPr/>
        </p:nvSpPr>
        <p:spPr>
          <a:xfrm xmlns:a="http://schemas.openxmlformats.org/drawingml/2006/main">
            <a:off x="638175" y="361950"/>
            <a:ext cx="10915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02124"/>
                </a:solidFill>
                <a:latin typeface="Cambria"/>
                <a:ea typeface="Cambria"/>
                <a:cs typeface="Cambria"/>
              </a:defRPr>
            </a:defPPr>
          </a:lstStyle>
          <a:p xmlns:a="http://schemas.openxmlformats.org/drawingml/2006/main">
            <a:pPr algn="l">
              <a:defRPr sz="3000" b="1">
                <a:solidFill>
                  <a:srgbClr val="202124"/>
                </a:solidFill>
                <a:latin typeface="Cambria"/>
                <a:ea typeface="Cambria"/>
                <a:cs typeface="Cambria"/>
              </a:defRPr>
            </a:pPr>
            <a:r>
              <a:rPr sz="3000" b="1">
                <a:solidFill>
                  <a:srgbClr val="202124"/>
                </a:solidFill>
                <a:latin typeface="Cambria"/>
                <a:ea typeface="Cambria"/>
                <a:cs typeface="Cambria"/>
              </a:rPr>
              <a:t>G18: a remaining boundary error</a:t>
            </a:r>
          </a:p>
        </p:txBody>
      </p:sp>
      <p:sp>
        <p:nvSpPr>
          <p:cNvPr id="2" name="Selected qualitative example · J0/J2: seed 3407 · J1/J3">
            <a:extLst xmlns:a="http://schemas.openxmlformats.org/drawingml/2006/main">
              <a:ext uri="{FF2B5EF4-FFF2-40B4-BE49-F238E27FC236}">
                <a16:creationId xmlns:a16="http://schemas.microsoft.com/office/drawing/2014/main" id="{BD749896-C585-4970-B19C-7A84BB5365B9}"/>
              </a:ext>
            </a:extLst>
          </p:cNvPr>
          <p:cNvSpPr>
            <a:spLocks xmlns:a="http://schemas.openxmlformats.org/drawingml/2006/main" noGrp="1"/>
          </p:cNvSpPr>
          <p:nvPr/>
        </p:nvSpPr>
        <p:spPr>
          <a:xfrm xmlns:a="http://schemas.openxmlformats.org/drawingml/2006/main">
            <a:off x="638175" y="6477000"/>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929699"/>
                </a:solidFill>
                <a:latin typeface="Calibri"/>
                <a:ea typeface="Calibri"/>
                <a:cs typeface="Calibri"/>
              </a:defRPr>
            </a:defPPr>
          </a:lstStyle>
          <a:p xmlns:a="http://schemas.openxmlformats.org/drawingml/2006/main">
            <a:pPr algn="l">
              <a:defRPr sz="900" b="0">
                <a:solidFill>
                  <a:srgbClr val="929699"/>
                </a:solidFill>
                <a:latin typeface="Calibri"/>
                <a:ea typeface="Calibri"/>
                <a:cs typeface="Calibri"/>
              </a:defRPr>
            </a:pPr>
            <a:r>
              <a:rPr sz="900" b="0">
                <a:solidFill>
                  <a:srgbClr val="929699"/>
                </a:solidFill>
                <a:latin typeface="Calibri"/>
                <a:ea typeface="Calibri"/>
                <a:cs typeface="Calibri"/>
              </a:rPr>
              <a:t>Selected qualitative example · J0/J2: seed 3407 · J1/J3: seed 2027 · not a paired-seed ablation</a:t>
            </a:r>
          </a:p>
        </p:txBody>
      </p:sp>
      <p:sp>
        <p:nvSpPr>
          <p:cNvPr id="3" name="13">
            <a:extLst xmlns:a="http://schemas.openxmlformats.org/drawingml/2006/main">
              <a:ext uri="{FF2B5EF4-FFF2-40B4-BE49-F238E27FC236}">
                <a16:creationId xmlns:a16="http://schemas.microsoft.com/office/drawing/2014/main" id="{60A223E5-43A0-4F5C-92FA-EED2BA68C737}"/>
              </a:ext>
            </a:extLst>
          </p:cNvPr>
          <p:cNvSpPr>
            <a:spLocks xmlns:a="http://schemas.openxmlformats.org/drawingml/2006/main" noGrp="1"/>
          </p:cNvSpPr>
          <p:nvPr/>
        </p:nvSpPr>
        <p:spPr>
          <a:xfrm xmlns:a="http://schemas.openxmlformats.org/drawingml/2006/main">
            <a:off x="11144250" y="6477000"/>
            <a:ext cx="4095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929699"/>
                </a:solidFill>
                <a:latin typeface="Calibri"/>
                <a:ea typeface="Calibri"/>
                <a:cs typeface="Calibri"/>
              </a:defRPr>
            </a:defPPr>
          </a:lstStyle>
          <a:p xmlns:a="http://schemas.openxmlformats.org/drawingml/2006/main">
            <a:pPr algn="r">
              <a:defRPr sz="900" b="0">
                <a:solidFill>
                  <a:srgbClr val="929699"/>
                </a:solidFill>
                <a:latin typeface="Calibri"/>
                <a:ea typeface="Calibri"/>
                <a:cs typeface="Calibri"/>
              </a:defRPr>
            </a:pPr>
            <a:r>
              <a:rPr sz="900" b="0">
                <a:solidFill>
                  <a:srgbClr val="929699"/>
                </a:solidFill>
                <a:latin typeface="Calibri"/>
                <a:ea typeface="Calibri"/>
                <a:cs typeface="Calibri"/>
              </a:rPr>
              <a:t>13</a:t>
            </a:r>
          </a:p>
        </p:txBody>
      </p:sp>
      <p:sp>
        <p:nvSpPr>
          <p:cNvPr id="4" name="Chest X-ray">
            <a:extLst xmlns:a="http://schemas.openxmlformats.org/drawingml/2006/main">
              <a:ext uri="{FF2B5EF4-FFF2-40B4-BE49-F238E27FC236}">
                <a16:creationId xmlns:a16="http://schemas.microsoft.com/office/drawing/2014/main" id="{3186B1C2-EFF4-4026-9277-BE2024667A5F}"/>
              </a:ext>
            </a:extLst>
          </p:cNvPr>
          <p:cNvSpPr>
            <a:spLocks xmlns:a="http://schemas.openxmlformats.org/drawingml/2006/main" noGrp="1"/>
          </p:cNvSpPr>
          <p:nvPr/>
        </p:nvSpPr>
        <p:spPr>
          <a:xfrm xmlns:a="http://schemas.openxmlformats.org/drawingml/2006/main">
            <a:off x="638175" y="1438275"/>
            <a:ext cx="2343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124"/>
                </a:solidFill>
                <a:latin typeface="Calibri"/>
                <a:ea typeface="Calibri"/>
                <a:cs typeface="Calibri"/>
              </a:defRPr>
            </a:defPPr>
          </a:lstStyle>
          <a:p xmlns:a="http://schemas.openxmlformats.org/drawingml/2006/main">
            <a:pPr algn="l">
              <a:defRPr sz="1875" b="1">
                <a:solidFill>
                  <a:srgbClr val="202124"/>
                </a:solidFill>
                <a:latin typeface="Calibri"/>
                <a:ea typeface="Calibri"/>
                <a:cs typeface="Calibri"/>
              </a:defRPr>
            </a:pPr>
            <a:r>
              <a:rPr sz="1875" b="1">
                <a:solidFill>
                  <a:srgbClr val="202124"/>
                </a:solidFill>
                <a:latin typeface="Calibri"/>
                <a:ea typeface="Calibri"/>
                <a:cs typeface="Calibri"/>
              </a:rPr>
              <a:t>Chest X-ray</a:t>
            </a:r>
          </a:p>
        </p:txBody>
      </p:sp>
      <p:sp>
        <p:nvSpPr>
          <p:cNvPr id="5" name="Ground truth">
            <a:extLst xmlns:a="http://schemas.openxmlformats.org/drawingml/2006/main">
              <a:ext uri="{FF2B5EF4-FFF2-40B4-BE49-F238E27FC236}">
                <a16:creationId xmlns:a16="http://schemas.microsoft.com/office/drawing/2014/main" id="{D188352F-C8B5-48AF-A4F3-A8BF68F2AB53}"/>
              </a:ext>
            </a:extLst>
          </p:cNvPr>
          <p:cNvSpPr>
            <a:spLocks xmlns:a="http://schemas.openxmlformats.org/drawingml/2006/main" noGrp="1"/>
          </p:cNvSpPr>
          <p:nvPr/>
        </p:nvSpPr>
        <p:spPr>
          <a:xfrm xmlns:a="http://schemas.openxmlformats.org/drawingml/2006/main">
            <a:off x="3467100" y="1438275"/>
            <a:ext cx="2343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124"/>
                </a:solidFill>
                <a:latin typeface="Calibri"/>
                <a:ea typeface="Calibri"/>
                <a:cs typeface="Calibri"/>
              </a:defRPr>
            </a:defPPr>
          </a:lstStyle>
          <a:p xmlns:a="http://schemas.openxmlformats.org/drawingml/2006/main">
            <a:pPr algn="l">
              <a:defRPr sz="1875" b="1">
                <a:solidFill>
                  <a:srgbClr val="202124"/>
                </a:solidFill>
                <a:latin typeface="Calibri"/>
                <a:ea typeface="Calibri"/>
                <a:cs typeface="Calibri"/>
              </a:defRPr>
            </a:pPr>
            <a:r>
              <a:rPr sz="1875" b="1">
                <a:solidFill>
                  <a:srgbClr val="202124"/>
                </a:solidFill>
                <a:latin typeface="Calibri"/>
                <a:ea typeface="Calibri"/>
                <a:cs typeface="Calibri"/>
              </a:rPr>
              <a:t>Ground truth</a:t>
            </a:r>
          </a:p>
        </p:txBody>
      </p:sp>
      <p:sp>
        <p:nvSpPr>
          <p:cNvPr id="6" name="PLAM + RACE">
            <a:extLst xmlns:a="http://schemas.openxmlformats.org/drawingml/2006/main">
              <a:ext uri="{FF2B5EF4-FFF2-40B4-BE49-F238E27FC236}">
                <a16:creationId xmlns:a16="http://schemas.microsoft.com/office/drawing/2014/main" id="{12BCC6EC-89FA-4A0E-B8EB-9E1DF4804369}"/>
              </a:ext>
            </a:extLst>
          </p:cNvPr>
          <p:cNvSpPr>
            <a:spLocks xmlns:a="http://schemas.openxmlformats.org/drawingml/2006/main" noGrp="1"/>
          </p:cNvSpPr>
          <p:nvPr/>
        </p:nvSpPr>
        <p:spPr>
          <a:xfrm xmlns:a="http://schemas.openxmlformats.org/drawingml/2006/main">
            <a:off x="6296025" y="1438275"/>
            <a:ext cx="2343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124"/>
                </a:solidFill>
                <a:latin typeface="Calibri"/>
                <a:ea typeface="Calibri"/>
                <a:cs typeface="Calibri"/>
              </a:defRPr>
            </a:defPPr>
          </a:lstStyle>
          <a:p xmlns:a="http://schemas.openxmlformats.org/drawingml/2006/main">
            <a:pPr algn="l">
              <a:defRPr sz="1875" b="1">
                <a:solidFill>
                  <a:srgbClr val="202124"/>
                </a:solidFill>
                <a:latin typeface="Calibri"/>
                <a:ea typeface="Calibri"/>
                <a:cs typeface="Calibri"/>
              </a:defRPr>
            </a:pPr>
            <a:r>
              <a:rPr sz="1875" b="1">
                <a:solidFill>
                  <a:srgbClr val="202124"/>
                </a:solidFill>
                <a:latin typeface="Calibri"/>
                <a:ea typeface="Calibri"/>
                <a:cs typeface="Calibri"/>
              </a:rPr>
              <a:t>PLAM + RACE</a:t>
            </a:r>
          </a:p>
        </p:txBody>
      </p:sp>
      <p:sp>
        <p:nvSpPr>
          <p:cNvPr id="7" name="FSDR + RACE">
            <a:extLst xmlns:a="http://schemas.openxmlformats.org/drawingml/2006/main">
              <a:ext uri="{FF2B5EF4-FFF2-40B4-BE49-F238E27FC236}">
                <a16:creationId xmlns:a16="http://schemas.microsoft.com/office/drawing/2014/main" id="{5D0B4CF2-05C2-4A05-A172-14BA3A381C6B}"/>
              </a:ext>
            </a:extLst>
          </p:cNvPr>
          <p:cNvSpPr>
            <a:spLocks xmlns:a="http://schemas.openxmlformats.org/drawingml/2006/main" noGrp="1"/>
          </p:cNvSpPr>
          <p:nvPr/>
        </p:nvSpPr>
        <p:spPr>
          <a:xfrm xmlns:a="http://schemas.openxmlformats.org/drawingml/2006/main">
            <a:off x="9124950" y="1438275"/>
            <a:ext cx="2343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124"/>
                </a:solidFill>
                <a:latin typeface="Calibri"/>
                <a:ea typeface="Calibri"/>
                <a:cs typeface="Calibri"/>
              </a:defRPr>
            </a:defPPr>
          </a:lstStyle>
          <a:p xmlns:a="http://schemas.openxmlformats.org/drawingml/2006/main">
            <a:pPr algn="l">
              <a:defRPr sz="1875" b="1">
                <a:solidFill>
                  <a:srgbClr val="202124"/>
                </a:solidFill>
                <a:latin typeface="Calibri"/>
                <a:ea typeface="Calibri"/>
                <a:cs typeface="Calibri"/>
              </a:defRPr>
            </a:pPr>
            <a:r>
              <a:rPr sz="1875" b="1">
                <a:solidFill>
                  <a:srgbClr val="202124"/>
                </a:solidFill>
                <a:latin typeface="Calibri"/>
                <a:ea typeface="Calibri"/>
                <a:cs typeface="Calibri"/>
              </a:rPr>
              <a:t>FSDR + RACE</a:t>
            </a:r>
          </a:p>
        </p:txBody>
      </p:sp>
      <p:pic>
        <p:nvPicPr>
          <p:cNvPr id="8" name="">
            <a:extLst xmlns:a="http://schemas.openxmlformats.org/drawingml/2006/main">
              <a:ext uri="{FF2B5EF4-FFF2-40B4-BE49-F238E27FC236}">
                <a16:creationId xmlns:a16="http://schemas.microsoft.com/office/drawing/2014/main" id="{BF636642-46F5-4604-8678-37C65872BEAA}"/>
              </a:ext>
            </a:extLst>
          </p:cNvPr>
          <p:cNvPicPr>
            <a:picLocks xmlns:a="http://schemas.openxmlformats.org/drawingml/2006/main" noChangeAspect="1"/>
          </p:cNvPicPr>
          <p:nvPr/>
        </p:nvPicPr>
        <p:blipFill>
          <a:blip xmlns:r="http://schemas.openxmlformats.org/officeDocument/2006/relationships" xmlns:a="http://schemas.openxmlformats.org/drawingml/2006/main" r:embed="R3a3012d2153e4d21"/>
          <a:srcRect xmlns:a="http://schemas.openxmlformats.org/drawingml/2006/main" l="0" t="0" r="0" b="0"/>
          <a:stretch xmlns:a="http://schemas.openxmlformats.org/drawingml/2006/main">
            <a:fillRect l="0" t="0" r="0" b="0"/>
          </a:stretch>
        </p:blipFill>
        <p:spPr>
          <a:xfrm xmlns:a="http://schemas.openxmlformats.org/drawingml/2006/main">
            <a:off x="638175" y="1905000"/>
            <a:ext cx="2333625" cy="2333625"/>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6565AD2-D269-4FAA-8AA1-C00FAA6675D7}"/>
              </a:ext>
            </a:extLst>
          </p:cNvPr>
          <p:cNvPicPr>
            <a:picLocks xmlns:a="http://schemas.openxmlformats.org/drawingml/2006/main" noChangeAspect="1"/>
          </p:cNvPicPr>
          <p:nvPr/>
        </p:nvPicPr>
        <p:blipFill>
          <a:blip xmlns:r="http://schemas.openxmlformats.org/officeDocument/2006/relationships" xmlns:a="http://schemas.openxmlformats.org/drawingml/2006/main" r:embed="Rbd125e26618f456d"/>
          <a:srcRect xmlns:a="http://schemas.openxmlformats.org/drawingml/2006/main" l="0" t="0" r="0" b="0"/>
          <a:stretch xmlns:a="http://schemas.openxmlformats.org/drawingml/2006/main">
            <a:fillRect l="0" t="0" r="0" b="0"/>
          </a:stretch>
        </p:blipFill>
        <p:spPr>
          <a:xfrm xmlns:a="http://schemas.openxmlformats.org/drawingml/2006/main">
            <a:off x="3467100" y="1905000"/>
            <a:ext cx="2333625" cy="233362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759AA505-DD9D-4C11-A56F-024C76D2D0AE}"/>
              </a:ext>
            </a:extLst>
          </p:cNvPr>
          <p:cNvPicPr>
            <a:picLocks xmlns:a="http://schemas.openxmlformats.org/drawingml/2006/main" noChangeAspect="1"/>
          </p:cNvPicPr>
          <p:nvPr/>
        </p:nvPicPr>
        <p:blipFill>
          <a:blip xmlns:r="http://schemas.openxmlformats.org/officeDocument/2006/relationships" xmlns:a="http://schemas.openxmlformats.org/drawingml/2006/main" r:embed="Raeb132fbe5f84404"/>
          <a:srcRect xmlns:a="http://schemas.openxmlformats.org/drawingml/2006/main" l="67059" t="56865" r="17255" b="8541"/>
          <a:stretch xmlns:a="http://schemas.openxmlformats.org/drawingml/2006/main"/>
        </p:blipFill>
        <p:spPr>
          <a:xfrm xmlns:a="http://schemas.openxmlformats.org/drawingml/2006/main">
            <a:off x="6296025" y="1905000"/>
            <a:ext cx="2333625" cy="23336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EE2F57AE-0C73-4E8B-93B0-E5B5EC0C50E1}"/>
              </a:ext>
            </a:extLst>
          </p:cNvPr>
          <p:cNvPicPr>
            <a:picLocks xmlns:a="http://schemas.openxmlformats.org/drawingml/2006/main" noChangeAspect="1"/>
          </p:cNvPicPr>
          <p:nvPr/>
        </p:nvPicPr>
        <p:blipFill>
          <a:blip xmlns:r="http://schemas.openxmlformats.org/officeDocument/2006/relationships" xmlns:a="http://schemas.openxmlformats.org/drawingml/2006/main" r:embed="Rfd2b5ecd466d49de"/>
          <a:srcRect xmlns:a="http://schemas.openxmlformats.org/drawingml/2006/main" l="83529" t="56865" r="784" b="8541"/>
          <a:stretch xmlns:a="http://schemas.openxmlformats.org/drawingml/2006/main"/>
        </p:blipFill>
        <p:spPr>
          <a:xfrm xmlns:a="http://schemas.openxmlformats.org/drawingml/2006/main">
            <a:off x="9124950" y="1905000"/>
            <a:ext cx="2333625" cy="2333625"/>
          </a:xfrm>
          <a:prstGeom xmlns:a="http://schemas.openxmlformats.org/drawingml/2006/main" prst="rect">
            <a:avLst/>
          </a:prstGeom>
        </p:spPr>
      </p:pic>
      <p:sp>
        <p:nvSpPr>
          <p:cNvPr id="12" name="IoU 81.29%">
            <a:extLst xmlns:a="http://schemas.openxmlformats.org/drawingml/2006/main">
              <a:ext uri="{FF2B5EF4-FFF2-40B4-BE49-F238E27FC236}">
                <a16:creationId xmlns:a16="http://schemas.microsoft.com/office/drawing/2014/main" id="{920400BF-D24D-46C0-B32E-6C41E43DB95A}"/>
              </a:ext>
            </a:extLst>
          </p:cNvPr>
          <p:cNvSpPr>
            <a:spLocks xmlns:a="http://schemas.openxmlformats.org/drawingml/2006/main" noGrp="1"/>
          </p:cNvSpPr>
          <p:nvPr/>
        </p:nvSpPr>
        <p:spPr>
          <a:xfrm xmlns:a="http://schemas.openxmlformats.org/drawingml/2006/main">
            <a:off x="6296025" y="4305300"/>
            <a:ext cx="233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124"/>
                </a:solidFill>
                <a:latin typeface="Calibri"/>
                <a:ea typeface="Calibri"/>
                <a:cs typeface="Calibri"/>
              </a:defRPr>
            </a:defPPr>
          </a:lstStyle>
          <a:p xmlns:a="http://schemas.openxmlformats.org/drawingml/2006/main">
            <a:pPr algn="l">
              <a:defRPr sz="1875" b="1">
                <a:solidFill>
                  <a:srgbClr val="202124"/>
                </a:solidFill>
                <a:latin typeface="Calibri"/>
                <a:ea typeface="Calibri"/>
                <a:cs typeface="Calibri"/>
              </a:defRPr>
            </a:pPr>
            <a:r>
              <a:rPr sz="1875" b="1">
                <a:solidFill>
                  <a:srgbClr val="202124"/>
                </a:solidFill>
                <a:latin typeface="Calibri"/>
                <a:ea typeface="Calibri"/>
                <a:cs typeface="Calibri"/>
              </a:rPr>
              <a:t>IoU 81.29%</a:t>
            </a:r>
          </a:p>
        </p:txBody>
      </p:sp>
      <p:sp>
        <p:nvSpPr>
          <p:cNvPr id="13" name="IoU 78.30%">
            <a:extLst xmlns:a="http://schemas.openxmlformats.org/drawingml/2006/main">
              <a:ext uri="{FF2B5EF4-FFF2-40B4-BE49-F238E27FC236}">
                <a16:creationId xmlns:a16="http://schemas.microsoft.com/office/drawing/2014/main" id="{A9122EAF-5618-4E20-9170-0DA26478842E}"/>
              </a:ext>
            </a:extLst>
          </p:cNvPr>
          <p:cNvSpPr>
            <a:spLocks xmlns:a="http://schemas.openxmlformats.org/drawingml/2006/main" noGrp="1"/>
          </p:cNvSpPr>
          <p:nvPr/>
        </p:nvSpPr>
        <p:spPr>
          <a:xfrm xmlns:a="http://schemas.openxmlformats.org/drawingml/2006/main">
            <a:off x="9124950" y="4305300"/>
            <a:ext cx="233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124"/>
                </a:solidFill>
                <a:latin typeface="Calibri"/>
                <a:ea typeface="Calibri"/>
                <a:cs typeface="Calibri"/>
              </a:defRPr>
            </a:defPPr>
          </a:lstStyle>
          <a:p xmlns:a="http://schemas.openxmlformats.org/drawingml/2006/main">
            <a:pPr algn="l">
              <a:defRPr sz="1875" b="1">
                <a:solidFill>
                  <a:srgbClr val="202124"/>
                </a:solidFill>
                <a:latin typeface="Calibri"/>
                <a:ea typeface="Calibri"/>
                <a:cs typeface="Calibri"/>
              </a:defRPr>
            </a:pPr>
            <a:r>
              <a:rPr sz="1875" b="1">
                <a:solidFill>
                  <a:srgbClr val="202124"/>
                </a:solidFill>
                <a:latin typeface="Calibri"/>
                <a:ea typeface="Calibri"/>
                <a:cs typeface="Calibri"/>
              </a:rPr>
              <a:t>IoU 78.30%</a:t>
            </a:r>
          </a:p>
        </p:txBody>
      </p:sp>
      <p:sp>
        <p:nvSpPr>
          <p:cNvPr id="14" name="">
            <a:extLst xmlns:a="http://schemas.openxmlformats.org/drawingml/2006/main">
              <a:ext uri="{FF2B5EF4-FFF2-40B4-BE49-F238E27FC236}">
                <a16:creationId xmlns:a16="http://schemas.microsoft.com/office/drawing/2014/main" id="{45F9ABBC-955F-4B7B-8EFB-8BD33A9D7723}"/>
              </a:ext>
            </a:extLst>
          </p:cNvPr>
          <p:cNvSpPr>
            <a:spLocks xmlns:a="http://schemas.openxmlformats.org/drawingml/2006/main" noGrp="1"/>
          </p:cNvSpPr>
          <p:nvPr/>
        </p:nvSpPr>
        <p:spPr>
          <a:xfrm xmlns:a="http://schemas.openxmlformats.org/drawingml/2006/main">
            <a:off x="638175" y="4857750"/>
            <a:ext cx="209550" cy="209550"/>
          </a:xfrm>
          <a:prstGeom xmlns:a="http://schemas.openxmlformats.org/drawingml/2006/main" prst="roundRect">
            <a:avLst>
              <a:gd name="adj" fmla="val 36364"/>
            </a:avLst>
          </a:prstGeom>
          <a:solidFill xmlns:a="http://schemas.openxmlformats.org/drawingml/2006/main">
            <a:srgbClr val="32BF6B"/>
          </a:solidFill>
          <a:ln xmlns:a="http://schemas.openxmlformats.org/drawingml/2006/main" w="12383">
            <a:solidFill>
              <a:srgbClr val="32BF6B"/>
            </a:solidFill>
          </a:ln>
        </p:spPr>
        <p:txBody>
          <a:bodyPr xmlns:a="http://schemas.openxmlformats.org/drawingml/2006/main" wrap="square" lIns="66675" tIns="28575" rIns="66675" bIns="28575" anchor="ctr">
            <a:noAutofit/>
          </a:bodyPr>
          <a:lstStyle xmlns:a="http://schemas.openxmlformats.org/drawingml/2006/main">
            <a:defPPr algn="ctr">
              <a:defRPr sz="750">
                <a:solidFill>
                  <a:srgbClr val="202124"/>
                </a:solidFill>
                <a:latin typeface="Calibri"/>
                <a:ea typeface="Calibri"/>
                <a:cs typeface="Calibri"/>
              </a:defRPr>
            </a:defPPr>
          </a:lstStyle>
          <a:p xmlns:a="http://schemas.openxmlformats.org/drawingml/2006/main">
            <a:r>
              <a:t/>
            </a:r>
          </a:p>
        </p:txBody>
      </p:sp>
      <p:sp>
        <p:nvSpPr>
          <p:cNvPr id="15" name="TP">
            <a:extLst xmlns:a="http://schemas.openxmlformats.org/drawingml/2006/main">
              <a:ext uri="{FF2B5EF4-FFF2-40B4-BE49-F238E27FC236}">
                <a16:creationId xmlns:a16="http://schemas.microsoft.com/office/drawing/2014/main" id="{9D34CE56-D8FB-4943-B13D-521F434286B8}"/>
              </a:ext>
            </a:extLst>
          </p:cNvPr>
          <p:cNvSpPr>
            <a:spLocks xmlns:a="http://schemas.openxmlformats.org/drawingml/2006/main" noGrp="1"/>
          </p:cNvSpPr>
          <p:nvPr/>
        </p:nvSpPr>
        <p:spPr>
          <a:xfrm xmlns:a="http://schemas.openxmlformats.org/drawingml/2006/main">
            <a:off x="952500" y="4800600"/>
            <a:ext cx="714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202124"/>
                </a:solidFill>
                <a:latin typeface="Calibri"/>
                <a:ea typeface="Calibri"/>
                <a:cs typeface="Calibri"/>
              </a:defRPr>
            </a:defPPr>
          </a:lstStyle>
          <a:p xmlns:a="http://schemas.openxmlformats.org/drawingml/2006/main">
            <a:pPr algn="l">
              <a:defRPr sz="1650" b="0">
                <a:solidFill>
                  <a:srgbClr val="202124"/>
                </a:solidFill>
                <a:latin typeface="Calibri"/>
                <a:ea typeface="Calibri"/>
                <a:cs typeface="Calibri"/>
              </a:defRPr>
            </a:pPr>
            <a:r>
              <a:rPr sz="1650" b="0">
                <a:solidFill>
                  <a:srgbClr val="202124"/>
                </a:solidFill>
                <a:latin typeface="Calibri"/>
                <a:ea typeface="Calibri"/>
                <a:cs typeface="Calibri"/>
              </a:rPr>
              <a:t>TP</a:t>
            </a:r>
          </a:p>
        </p:txBody>
      </p:sp>
      <p:sp>
        <p:nvSpPr>
          <p:cNvPr id="16" name="">
            <a:extLst xmlns:a="http://schemas.openxmlformats.org/drawingml/2006/main">
              <a:ext uri="{FF2B5EF4-FFF2-40B4-BE49-F238E27FC236}">
                <a16:creationId xmlns:a16="http://schemas.microsoft.com/office/drawing/2014/main" id="{C73E2A88-CA7E-4188-A584-28A4BCC4519C}"/>
              </a:ext>
            </a:extLst>
          </p:cNvPr>
          <p:cNvSpPr>
            <a:spLocks xmlns:a="http://schemas.openxmlformats.org/drawingml/2006/main" noGrp="1"/>
          </p:cNvSpPr>
          <p:nvPr/>
        </p:nvSpPr>
        <p:spPr>
          <a:xfrm xmlns:a="http://schemas.openxmlformats.org/drawingml/2006/main">
            <a:off x="1905000" y="4857750"/>
            <a:ext cx="209550" cy="209550"/>
          </a:xfrm>
          <a:prstGeom xmlns:a="http://schemas.openxmlformats.org/drawingml/2006/main" prst="roundRect">
            <a:avLst>
              <a:gd name="adj" fmla="val 36364"/>
            </a:avLst>
          </a:prstGeom>
          <a:solidFill xmlns:a="http://schemas.openxmlformats.org/drawingml/2006/main">
            <a:srgbClr val="FF454F"/>
          </a:solidFill>
          <a:ln xmlns:a="http://schemas.openxmlformats.org/drawingml/2006/main" w="12383">
            <a:solidFill>
              <a:srgbClr val="FF454F"/>
            </a:solidFill>
          </a:ln>
        </p:spPr>
        <p:txBody>
          <a:bodyPr xmlns:a="http://schemas.openxmlformats.org/drawingml/2006/main" wrap="square" lIns="66675" tIns="28575" rIns="66675" bIns="28575" anchor="ctr">
            <a:noAutofit/>
          </a:bodyPr>
          <a:lstStyle xmlns:a="http://schemas.openxmlformats.org/drawingml/2006/main">
            <a:defPPr algn="ctr">
              <a:defRPr sz="750">
                <a:solidFill>
                  <a:srgbClr val="202124"/>
                </a:solidFill>
                <a:latin typeface="Calibri"/>
                <a:ea typeface="Calibri"/>
                <a:cs typeface="Calibri"/>
              </a:defRPr>
            </a:defPPr>
          </a:lstStyle>
          <a:p xmlns:a="http://schemas.openxmlformats.org/drawingml/2006/main">
            <a:r>
              <a:t/>
            </a:r>
          </a:p>
        </p:txBody>
      </p:sp>
      <p:sp>
        <p:nvSpPr>
          <p:cNvPr id="17" name="FP">
            <a:extLst xmlns:a="http://schemas.openxmlformats.org/drawingml/2006/main">
              <a:ext uri="{FF2B5EF4-FFF2-40B4-BE49-F238E27FC236}">
                <a16:creationId xmlns:a16="http://schemas.microsoft.com/office/drawing/2014/main" id="{292837CD-448F-4760-A8DE-C3C662AFD860}"/>
              </a:ext>
            </a:extLst>
          </p:cNvPr>
          <p:cNvSpPr>
            <a:spLocks xmlns:a="http://schemas.openxmlformats.org/drawingml/2006/main" noGrp="1"/>
          </p:cNvSpPr>
          <p:nvPr/>
        </p:nvSpPr>
        <p:spPr>
          <a:xfrm xmlns:a="http://schemas.openxmlformats.org/drawingml/2006/main">
            <a:off x="2219325" y="4800600"/>
            <a:ext cx="714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202124"/>
                </a:solidFill>
                <a:latin typeface="Calibri"/>
                <a:ea typeface="Calibri"/>
                <a:cs typeface="Calibri"/>
              </a:defRPr>
            </a:defPPr>
          </a:lstStyle>
          <a:p xmlns:a="http://schemas.openxmlformats.org/drawingml/2006/main">
            <a:pPr algn="l">
              <a:defRPr sz="1650" b="0">
                <a:solidFill>
                  <a:srgbClr val="202124"/>
                </a:solidFill>
                <a:latin typeface="Calibri"/>
                <a:ea typeface="Calibri"/>
                <a:cs typeface="Calibri"/>
              </a:defRPr>
            </a:pPr>
            <a:r>
              <a:rPr sz="1650" b="0">
                <a:solidFill>
                  <a:srgbClr val="202124"/>
                </a:solidFill>
                <a:latin typeface="Calibri"/>
                <a:ea typeface="Calibri"/>
                <a:cs typeface="Calibri"/>
              </a:rPr>
              <a:t>FP</a:t>
            </a:r>
          </a:p>
        </p:txBody>
      </p:sp>
      <p:sp>
        <p:nvSpPr>
          <p:cNvPr id="18" name="">
            <a:extLst xmlns:a="http://schemas.openxmlformats.org/drawingml/2006/main">
              <a:ext uri="{FF2B5EF4-FFF2-40B4-BE49-F238E27FC236}">
                <a16:creationId xmlns:a16="http://schemas.microsoft.com/office/drawing/2014/main" id="{8EAAB20F-6FF1-493B-8E57-339274C018F3}"/>
              </a:ext>
            </a:extLst>
          </p:cNvPr>
          <p:cNvSpPr>
            <a:spLocks xmlns:a="http://schemas.openxmlformats.org/drawingml/2006/main" noGrp="1"/>
          </p:cNvSpPr>
          <p:nvPr/>
        </p:nvSpPr>
        <p:spPr>
          <a:xfrm xmlns:a="http://schemas.openxmlformats.org/drawingml/2006/main">
            <a:off x="3171825" y="4857750"/>
            <a:ext cx="209550" cy="209550"/>
          </a:xfrm>
          <a:prstGeom xmlns:a="http://schemas.openxmlformats.org/drawingml/2006/main" prst="roundRect">
            <a:avLst>
              <a:gd name="adj" fmla="val 36364"/>
            </a:avLst>
          </a:prstGeom>
          <a:solidFill xmlns:a="http://schemas.openxmlformats.org/drawingml/2006/main">
            <a:srgbClr val="418BFE"/>
          </a:solidFill>
          <a:ln xmlns:a="http://schemas.openxmlformats.org/drawingml/2006/main" w="12383">
            <a:solidFill>
              <a:srgbClr val="418BFE"/>
            </a:solidFill>
          </a:ln>
        </p:spPr>
        <p:txBody>
          <a:bodyPr xmlns:a="http://schemas.openxmlformats.org/drawingml/2006/main" wrap="square" lIns="66675" tIns="28575" rIns="66675" bIns="28575" anchor="ctr">
            <a:noAutofit/>
          </a:bodyPr>
          <a:lstStyle xmlns:a="http://schemas.openxmlformats.org/drawingml/2006/main">
            <a:defPPr algn="ctr">
              <a:defRPr sz="750">
                <a:solidFill>
                  <a:srgbClr val="202124"/>
                </a:solidFill>
                <a:latin typeface="Calibri"/>
                <a:ea typeface="Calibri"/>
                <a:cs typeface="Calibri"/>
              </a:defRPr>
            </a:defPPr>
          </a:lstStyle>
          <a:p xmlns:a="http://schemas.openxmlformats.org/drawingml/2006/main">
            <a:r>
              <a:t/>
            </a:r>
          </a:p>
        </p:txBody>
      </p:sp>
      <p:sp>
        <p:nvSpPr>
          <p:cNvPr id="19" name="FN">
            <a:extLst xmlns:a="http://schemas.openxmlformats.org/drawingml/2006/main">
              <a:ext uri="{FF2B5EF4-FFF2-40B4-BE49-F238E27FC236}">
                <a16:creationId xmlns:a16="http://schemas.microsoft.com/office/drawing/2014/main" id="{0420295C-1711-440E-8CEA-5F7222C3715D}"/>
              </a:ext>
            </a:extLst>
          </p:cNvPr>
          <p:cNvSpPr>
            <a:spLocks xmlns:a="http://schemas.openxmlformats.org/drawingml/2006/main" noGrp="1"/>
          </p:cNvSpPr>
          <p:nvPr/>
        </p:nvSpPr>
        <p:spPr>
          <a:xfrm xmlns:a="http://schemas.openxmlformats.org/drawingml/2006/main">
            <a:off x="3486150" y="4800600"/>
            <a:ext cx="714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202124"/>
                </a:solidFill>
                <a:latin typeface="Calibri"/>
                <a:ea typeface="Calibri"/>
                <a:cs typeface="Calibri"/>
              </a:defRPr>
            </a:defPPr>
          </a:lstStyle>
          <a:p xmlns:a="http://schemas.openxmlformats.org/drawingml/2006/main">
            <a:pPr algn="l">
              <a:defRPr sz="1650" b="0">
                <a:solidFill>
                  <a:srgbClr val="202124"/>
                </a:solidFill>
                <a:latin typeface="Calibri"/>
                <a:ea typeface="Calibri"/>
                <a:cs typeface="Calibri"/>
              </a:defRPr>
            </a:pPr>
            <a:r>
              <a:rPr sz="1650" b="0">
                <a:solidFill>
                  <a:srgbClr val="202124"/>
                </a:solidFill>
                <a:latin typeface="Calibri"/>
                <a:ea typeface="Calibri"/>
                <a:cs typeface="Calibri"/>
              </a:rPr>
              <a:t>FN</a:t>
            </a:r>
          </a:p>
        </p:txBody>
      </p:sp>
      <p:sp>
        <p:nvSpPr>
          <p:cNvPr id="20" name="The combined model still oversegments the boundary.">
            <a:extLst xmlns:a="http://schemas.openxmlformats.org/drawingml/2006/main">
              <a:ext uri="{FF2B5EF4-FFF2-40B4-BE49-F238E27FC236}">
                <a16:creationId xmlns:a16="http://schemas.microsoft.com/office/drawing/2014/main" id="{4D5E282D-7E91-4761-B443-84AF67DE36C2}"/>
              </a:ext>
            </a:extLst>
          </p:cNvPr>
          <p:cNvSpPr>
            <a:spLocks xmlns:a="http://schemas.openxmlformats.org/drawingml/2006/main" noGrp="1"/>
          </p:cNvSpPr>
          <p:nvPr/>
        </p:nvSpPr>
        <p:spPr>
          <a:xfrm xmlns:a="http://schemas.openxmlformats.org/drawingml/2006/main">
            <a:off x="638175" y="5276850"/>
            <a:ext cx="50006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02124"/>
                </a:solidFill>
                <a:latin typeface="Calibri"/>
                <a:ea typeface="Calibri"/>
                <a:cs typeface="Calibri"/>
              </a:defRPr>
            </a:defPPr>
          </a:lstStyle>
          <a:p xmlns:a="http://schemas.openxmlformats.org/drawingml/2006/main">
            <a:pPr algn="l">
              <a:defRPr sz="2025" b="1">
                <a:solidFill>
                  <a:srgbClr val="202124"/>
                </a:solidFill>
                <a:latin typeface="Calibri"/>
                <a:ea typeface="Calibri"/>
                <a:cs typeface="Calibri"/>
              </a:defRPr>
            </a:pPr>
            <a:r>
              <a:rPr sz="2025" b="1">
                <a:solidFill>
                  <a:srgbClr val="202124"/>
                </a:solidFill>
                <a:latin typeface="Calibri"/>
                <a:ea typeface="Calibri"/>
                <a:cs typeface="Calibri"/>
              </a:rPr>
              <a:t>The combined model still oversegments the boundary.</a:t>
            </a:r>
          </a:p>
        </p:txBody>
      </p:sp>
      <p:pic>
        <p:nvPicPr>
          <p:cNvPr id="21" name="">
            <a:extLst xmlns:a="http://schemas.openxmlformats.org/drawingml/2006/main">
              <a:ext uri="{FF2B5EF4-FFF2-40B4-BE49-F238E27FC236}">
                <a16:creationId xmlns:a16="http://schemas.microsoft.com/office/drawing/2014/main" id="{DA7C0E93-5984-41D6-A3EC-A5CBAE877D5E}"/>
              </a:ext>
            </a:extLst>
          </p:cNvPr>
          <p:cNvPicPr>
            <a:picLocks xmlns:a="http://schemas.openxmlformats.org/drawingml/2006/main" noChangeAspect="1"/>
          </p:cNvPicPr>
          <p:nvPr/>
        </p:nvPicPr>
        <p:blipFill>
          <a:blip xmlns:r="http://schemas.openxmlformats.org/officeDocument/2006/relationships" xmlns:a="http://schemas.openxmlformats.org/drawingml/2006/main" r:embed="Raf3d73327fbf4c67"/>
          <a:srcRect xmlns:a="http://schemas.openxmlformats.org/drawingml/2006/main" l="76471" t="63438" r="17255" b="22724"/>
          <a:stretch xmlns:a="http://schemas.openxmlformats.org/drawingml/2006/main"/>
        </p:blipFill>
        <p:spPr>
          <a:xfrm xmlns:a="http://schemas.openxmlformats.org/drawingml/2006/main">
            <a:off x="6438900" y="4838700"/>
            <a:ext cx="1524000" cy="1524000"/>
          </a:xfrm>
          <a:prstGeom xmlns:a="http://schemas.openxmlformats.org/drawingml/2006/main" prst="rect">
            <a:avLst/>
          </a:prstGeom>
        </p:spPr>
      </p:pic>
      <p:pic>
        <p:nvPicPr>
          <p:cNvPr id="22" name="">
            <a:extLst xmlns:a="http://schemas.openxmlformats.org/drawingml/2006/main">
              <a:ext uri="{FF2B5EF4-FFF2-40B4-BE49-F238E27FC236}">
                <a16:creationId xmlns:a16="http://schemas.microsoft.com/office/drawing/2014/main" id="{1790B39A-510D-400A-B78F-9C0AB630E4DD}"/>
              </a:ext>
            </a:extLst>
          </p:cNvPr>
          <p:cNvPicPr>
            <a:picLocks xmlns:a="http://schemas.openxmlformats.org/drawingml/2006/main" noChangeAspect="1"/>
          </p:cNvPicPr>
          <p:nvPr/>
        </p:nvPicPr>
        <p:blipFill>
          <a:blip xmlns:r="http://schemas.openxmlformats.org/officeDocument/2006/relationships" xmlns:a="http://schemas.openxmlformats.org/drawingml/2006/main" r:embed="R6ceb71910a4c410a"/>
          <a:srcRect xmlns:a="http://schemas.openxmlformats.org/drawingml/2006/main" l="92941" t="63438" r="784" b="22724"/>
          <a:stretch xmlns:a="http://schemas.openxmlformats.org/drawingml/2006/main"/>
        </p:blipFill>
        <p:spPr>
          <a:xfrm xmlns:a="http://schemas.openxmlformats.org/drawingml/2006/main">
            <a:off x="9696450" y="4838700"/>
            <a:ext cx="1524000" cy="1524000"/>
          </a:xfrm>
          <a:prstGeom xmlns:a="http://schemas.openxmlformats.org/drawingml/2006/main" prst="rect">
            <a:avLst/>
          </a:prstGeom>
        </p:spPr>
      </p:pic>
      <p:sp>
        <p:nvSpPr>
          <p:cNvPr id="23" name="Same region&#10;Detail view">
            <a:extLst xmlns:a="http://schemas.openxmlformats.org/drawingml/2006/main">
              <a:ext uri="{FF2B5EF4-FFF2-40B4-BE49-F238E27FC236}">
                <a16:creationId xmlns:a16="http://schemas.microsoft.com/office/drawing/2014/main" id="{DE9A9820-F697-4FB8-B4D7-7FBC0F339506}"/>
              </a:ext>
            </a:extLst>
          </p:cNvPr>
          <p:cNvSpPr>
            <a:spLocks xmlns:a="http://schemas.openxmlformats.org/drawingml/2006/main" noGrp="1"/>
          </p:cNvSpPr>
          <p:nvPr/>
        </p:nvSpPr>
        <p:spPr>
          <a:xfrm xmlns:a="http://schemas.openxmlformats.org/drawingml/2006/main">
            <a:off x="8210550" y="5229225"/>
            <a:ext cx="123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62686C"/>
                </a:solidFill>
                <a:latin typeface="Calibri"/>
                <a:ea typeface="Calibri"/>
                <a:cs typeface="Calibri"/>
              </a:defRPr>
            </a:defPPr>
          </a:lstStyle>
          <a:p xmlns:a="http://schemas.openxmlformats.org/drawingml/2006/main">
            <a:pPr algn="ctr">
              <a:defRPr sz="1725" b="0">
                <a:solidFill>
                  <a:srgbClr val="62686C"/>
                </a:solidFill>
                <a:latin typeface="Calibri"/>
                <a:ea typeface="Calibri"/>
                <a:cs typeface="Calibri"/>
              </a:defRPr>
            </a:pPr>
            <a:r>
              <a:rPr sz="1725" b="0">
                <a:solidFill>
                  <a:srgbClr val="62686C"/>
                </a:solidFill>
                <a:latin typeface="Calibri"/>
                <a:ea typeface="Calibri"/>
                <a:cs typeface="Calibri"/>
              </a:rPr>
              <a:t>Same region</a:t>
            </a:r>
          </a:p>
          <a:p xmlns:a="http://schemas.openxmlformats.org/drawingml/2006/main">
            <a:pPr algn="ctr">
              <a:defRPr sz="1725" b="0">
                <a:solidFill>
                  <a:srgbClr val="62686C"/>
                </a:solidFill>
                <a:latin typeface="Calibri"/>
                <a:ea typeface="Calibri"/>
                <a:cs typeface="Calibri"/>
              </a:defRPr>
            </a:pPr>
            <a:r>
              <a:rPr sz="1725" b="0">
                <a:solidFill>
                  <a:srgbClr val="62686C"/>
                </a:solidFill>
                <a:latin typeface="Calibri"/>
                <a:ea typeface="Calibri"/>
                <a:cs typeface="Calibri"/>
              </a:rPr>
              <a:t>Detail view</a:t>
            </a:r>
          </a:p>
        </p:txBody>
      </p:sp>
      <p:sp>
        <p:nvSpPr>
          <p:cNvPr id="24" name="">
            <a:extLst xmlns:a="http://schemas.openxmlformats.org/drawingml/2006/main">
              <a:ext uri="{FF2B5EF4-FFF2-40B4-BE49-F238E27FC236}">
                <a16:creationId xmlns:a16="http://schemas.microsoft.com/office/drawing/2014/main" id="{EB1E7AB6-9B7D-4AE5-B382-1FF326FABAF6}"/>
              </a:ext>
            </a:extLst>
          </p:cNvPr>
          <p:cNvSpPr>
            <a:spLocks xmlns:a="http://schemas.openxmlformats.org/drawingml/2006/main" noGrp="1"/>
          </p:cNvSpPr>
          <p:nvPr/>
        </p:nvSpPr>
        <p:spPr>
          <a:xfrm xmlns:a="http://schemas.openxmlformats.org/drawingml/2006/main">
            <a:off x="7696200" y="2348389"/>
            <a:ext cx="933450" cy="933450"/>
          </a:xfrm>
          <a:prstGeom xmlns:a="http://schemas.openxmlformats.org/drawingml/2006/main" prst="rect">
            <a:avLst/>
          </a:prstGeom>
          <a:noFill xmlns:a="http://schemas.openxmlformats.org/drawingml/2006/main"/>
          <a:ln xmlns:a="http://schemas.openxmlformats.org/drawingml/2006/main" w="17145">
            <a:solidFill>
              <a:srgbClr val="FFFFFF"/>
            </a:solidFill>
            <a:prstDash val="dash"/>
          </a:ln>
        </p:spPr>
      </p:sp>
      <p:sp>
        <p:nvSpPr>
          <p:cNvPr id="25" name="">
            <a:extLst xmlns:a="http://schemas.openxmlformats.org/drawingml/2006/main">
              <a:ext uri="{FF2B5EF4-FFF2-40B4-BE49-F238E27FC236}">
                <a16:creationId xmlns:a16="http://schemas.microsoft.com/office/drawing/2014/main" id="{35D7531D-535E-48AA-8355-0C8322CD4A03}"/>
              </a:ext>
            </a:extLst>
          </p:cNvPr>
          <p:cNvSpPr>
            <a:spLocks xmlns:a="http://schemas.openxmlformats.org/drawingml/2006/main" noGrp="1"/>
          </p:cNvSpPr>
          <p:nvPr/>
        </p:nvSpPr>
        <p:spPr>
          <a:xfrm xmlns:a="http://schemas.openxmlformats.org/drawingml/2006/main">
            <a:off x="10525125" y="2348389"/>
            <a:ext cx="933450" cy="933450"/>
          </a:xfrm>
          <a:prstGeom xmlns:a="http://schemas.openxmlformats.org/drawingml/2006/main" prst="rect">
            <a:avLst/>
          </a:prstGeom>
          <a:noFill xmlns:a="http://schemas.openxmlformats.org/drawingml/2006/main"/>
          <a:ln xmlns:a="http://schemas.openxmlformats.org/drawingml/2006/main" w="17145">
            <a:solidFill>
              <a:srgbClr val="FFFFFF"/>
            </a:solidFill>
            <a:prstDash val="dash"/>
          </a:ln>
        </p:spPr>
      </p:sp>
    </p:spTree>
    <p:extLst>
      <p:ext uri="{BB962C8B-B14F-4D97-AF65-F5344CB8AC3E}">
        <p14:creationId xmlns:p14="http://schemas.microsoft.com/office/powerpoint/2010/main" val="17385357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Conclusions">
            <a:extLst xmlns:a="http://schemas.openxmlformats.org/drawingml/2006/main">
              <a:ext uri="{FF2B5EF4-FFF2-40B4-BE49-F238E27FC236}">
                <a16:creationId xmlns:a16="http://schemas.microsoft.com/office/drawing/2014/main" id="{9A3AE9C7-8918-4DFB-B93E-C30C82CF7034}"/>
              </a:ext>
            </a:extLst>
          </p:cNvPr>
          <p:cNvSpPr>
            <a:spLocks xmlns:a="http://schemas.openxmlformats.org/drawingml/2006/main" noGrp="1"/>
          </p:cNvSpPr>
          <p:nvPr/>
        </p:nvSpPr>
        <p:spPr>
          <a:xfrm xmlns:a="http://schemas.openxmlformats.org/drawingml/2006/main">
            <a:off x="638175" y="361950"/>
            <a:ext cx="10915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02124"/>
                </a:solidFill>
                <a:latin typeface="Cambria"/>
                <a:ea typeface="Cambria"/>
                <a:cs typeface="Cambria"/>
              </a:defRPr>
            </a:defPPr>
          </a:lstStyle>
          <a:p xmlns:a="http://schemas.openxmlformats.org/drawingml/2006/main">
            <a:pPr algn="l">
              <a:defRPr sz="3000" b="1">
                <a:solidFill>
                  <a:srgbClr val="202124"/>
                </a:solidFill>
                <a:latin typeface="Cambria"/>
                <a:ea typeface="Cambria"/>
                <a:cs typeface="Cambria"/>
              </a:defRPr>
            </a:pPr>
            <a:r>
              <a:rPr sz="3000" b="1">
                <a:solidFill>
                  <a:srgbClr val="202124"/>
                </a:solidFill>
                <a:latin typeface="Cambria"/>
                <a:ea typeface="Cambria"/>
                <a:cs typeface="Cambria"/>
              </a:rPr>
              <a:t>Conclusions</a:t>
            </a:r>
          </a:p>
        </p:txBody>
      </p:sp>
      <p:sp>
        <p:nvSpPr>
          <p:cNvPr id="2" name="Primary evidence: four configurations × three seeds · T">
            <a:extLst xmlns:a="http://schemas.openxmlformats.org/drawingml/2006/main">
              <a:ext uri="{FF2B5EF4-FFF2-40B4-BE49-F238E27FC236}">
                <a16:creationId xmlns:a16="http://schemas.microsoft.com/office/drawing/2014/main" id="{92F575D9-B44A-4352-89A4-16EBA940843F}"/>
              </a:ext>
            </a:extLst>
          </p:cNvPr>
          <p:cNvSpPr>
            <a:spLocks xmlns:a="http://schemas.openxmlformats.org/drawingml/2006/main" noGrp="1"/>
          </p:cNvSpPr>
          <p:nvPr/>
        </p:nvSpPr>
        <p:spPr>
          <a:xfrm xmlns:a="http://schemas.openxmlformats.org/drawingml/2006/main">
            <a:off x="638175" y="6477000"/>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929699"/>
                </a:solidFill>
                <a:latin typeface="Calibri"/>
                <a:ea typeface="Calibri"/>
                <a:cs typeface="Calibri"/>
              </a:defRPr>
            </a:defPPr>
          </a:lstStyle>
          <a:p xmlns:a="http://schemas.openxmlformats.org/drawingml/2006/main">
            <a:pPr algn="l">
              <a:defRPr sz="900" b="0">
                <a:solidFill>
                  <a:srgbClr val="929699"/>
                </a:solidFill>
                <a:latin typeface="Calibri"/>
                <a:ea typeface="Calibri"/>
                <a:cs typeface="Calibri"/>
              </a:defRPr>
            </a:pPr>
            <a:r>
              <a:rPr sz="900" b="0">
                <a:solidFill>
                  <a:srgbClr val="929699"/>
                </a:solidFill>
                <a:latin typeface="Calibri"/>
                <a:ea typeface="Calibri"/>
                <a:cs typeface="Calibri"/>
              </a:rPr>
              <a:t>Primary evidence: four configurations × three seeds · Test macro metrics</a:t>
            </a:r>
          </a:p>
        </p:txBody>
      </p:sp>
      <p:sp>
        <p:nvSpPr>
          <p:cNvPr id="3" name="14">
            <a:extLst xmlns:a="http://schemas.openxmlformats.org/drawingml/2006/main">
              <a:ext uri="{FF2B5EF4-FFF2-40B4-BE49-F238E27FC236}">
                <a16:creationId xmlns:a16="http://schemas.microsoft.com/office/drawing/2014/main" id="{889D4500-55E6-4E3A-B596-8DBD86B08102}"/>
              </a:ext>
            </a:extLst>
          </p:cNvPr>
          <p:cNvSpPr>
            <a:spLocks xmlns:a="http://schemas.openxmlformats.org/drawingml/2006/main" noGrp="1"/>
          </p:cNvSpPr>
          <p:nvPr/>
        </p:nvSpPr>
        <p:spPr>
          <a:xfrm xmlns:a="http://schemas.openxmlformats.org/drawingml/2006/main">
            <a:off x="11144250" y="6477000"/>
            <a:ext cx="4095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929699"/>
                </a:solidFill>
                <a:latin typeface="Calibri"/>
                <a:ea typeface="Calibri"/>
                <a:cs typeface="Calibri"/>
              </a:defRPr>
            </a:defPPr>
          </a:lstStyle>
          <a:p xmlns:a="http://schemas.openxmlformats.org/drawingml/2006/main">
            <a:pPr algn="r">
              <a:defRPr sz="900" b="0">
                <a:solidFill>
                  <a:srgbClr val="929699"/>
                </a:solidFill>
                <a:latin typeface="Calibri"/>
                <a:ea typeface="Calibri"/>
                <a:cs typeface="Calibri"/>
              </a:defRPr>
            </a:pPr>
            <a:r>
              <a:rPr sz="900" b="0">
                <a:solidFill>
                  <a:srgbClr val="929699"/>
                </a:solidFill>
                <a:latin typeface="Calibri"/>
                <a:ea typeface="Calibri"/>
                <a:cs typeface="Calibri"/>
              </a:rPr>
              <a:t>14</a:t>
            </a:r>
          </a:p>
        </p:txBody>
      </p:sp>
      <p:sp>
        <p:nvSpPr>
          <p:cNvPr id="4" name="FSDR preserves source-specific information during fusio">
            <a:extLst xmlns:a="http://schemas.openxmlformats.org/drawingml/2006/main">
              <a:ext uri="{FF2B5EF4-FFF2-40B4-BE49-F238E27FC236}">
                <a16:creationId xmlns:a16="http://schemas.microsoft.com/office/drawing/2014/main" id="{F71869C0-E74B-4915-9E30-D152E0B72CEA}"/>
              </a:ext>
            </a:extLst>
          </p:cNvPr>
          <p:cNvSpPr>
            <a:spLocks xmlns:a="http://schemas.openxmlformats.org/drawingml/2006/main" noGrp="1"/>
          </p:cNvSpPr>
          <p:nvPr/>
        </p:nvSpPr>
        <p:spPr>
          <a:xfrm xmlns:a="http://schemas.openxmlformats.org/drawingml/2006/main">
            <a:off x="638175" y="160972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78974E"/>
                </a:solidFill>
                <a:latin typeface="Calibri"/>
                <a:ea typeface="Calibri"/>
                <a:cs typeface="Calibri"/>
              </a:defRPr>
            </a:defPPr>
          </a:lstStyle>
          <a:p xmlns:a="http://schemas.openxmlformats.org/drawingml/2006/main">
            <a:pPr algn="l">
              <a:defRPr sz="2250" b="1">
                <a:solidFill>
                  <a:srgbClr val="78974E"/>
                </a:solidFill>
                <a:latin typeface="Calibri"/>
                <a:ea typeface="Calibri"/>
                <a:cs typeface="Calibri"/>
              </a:defRPr>
            </a:pPr>
            <a:r>
              <a:rPr sz="2250" b="1">
                <a:solidFill>
                  <a:srgbClr val="78974E"/>
                </a:solidFill>
                <a:latin typeface="Calibri"/>
                <a:ea typeface="Calibri"/>
                <a:cs typeface="Calibri"/>
              </a:rPr>
              <a:t>FSDR preserves source-specific information during fusion.</a:t>
            </a:r>
          </a:p>
        </p:txBody>
      </p:sp>
      <p:sp>
        <p:nvSpPr>
          <p:cNvPr id="5" name="+0.51 pp mean IoU over matched PLAM.">
            <a:extLst xmlns:a="http://schemas.openxmlformats.org/drawingml/2006/main">
              <a:ext uri="{FF2B5EF4-FFF2-40B4-BE49-F238E27FC236}">
                <a16:creationId xmlns:a16="http://schemas.microsoft.com/office/drawing/2014/main" id="{F26080D1-AA62-47EC-8E60-11DA87B944AE}"/>
              </a:ext>
            </a:extLst>
          </p:cNvPr>
          <p:cNvSpPr>
            <a:spLocks xmlns:a="http://schemas.openxmlformats.org/drawingml/2006/main" noGrp="1"/>
          </p:cNvSpPr>
          <p:nvPr/>
        </p:nvSpPr>
        <p:spPr>
          <a:xfrm xmlns:a="http://schemas.openxmlformats.org/drawingml/2006/main">
            <a:off x="638175" y="2190750"/>
            <a:ext cx="109156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202124"/>
                </a:solidFill>
                <a:latin typeface="Calibri"/>
                <a:ea typeface="Calibri"/>
                <a:cs typeface="Calibri"/>
              </a:defRPr>
            </a:defPPr>
          </a:lstStyle>
          <a:p xmlns:a="http://schemas.openxmlformats.org/drawingml/2006/main">
            <a:pPr algn="l">
              <a:defRPr sz="2100" b="0">
                <a:solidFill>
                  <a:srgbClr val="202124"/>
                </a:solidFill>
                <a:latin typeface="Calibri"/>
                <a:ea typeface="Calibri"/>
                <a:cs typeface="Calibri"/>
              </a:defRPr>
            </a:pPr>
            <a:r>
              <a:rPr sz="2100" b="0">
                <a:solidFill>
                  <a:srgbClr val="202124"/>
                </a:solidFill>
                <a:latin typeface="Calibri"/>
                <a:ea typeface="Calibri"/>
                <a:cs typeface="Calibri"/>
              </a:rPr>
              <a:t>+0.51 pp mean IoU over matched PLAM.</a:t>
            </a:r>
          </a:p>
        </p:txBody>
      </p:sp>
      <p:sp>
        <p:nvSpPr>
          <p:cNvPr id="6" name="Complete RACE adds report–image agreement to skip refin">
            <a:extLst xmlns:a="http://schemas.openxmlformats.org/drawingml/2006/main">
              <a:ext uri="{FF2B5EF4-FFF2-40B4-BE49-F238E27FC236}">
                <a16:creationId xmlns:a16="http://schemas.microsoft.com/office/drawing/2014/main" id="{64409271-A2CF-4F41-BEE3-9691778E818C}"/>
              </a:ext>
            </a:extLst>
          </p:cNvPr>
          <p:cNvSpPr>
            <a:spLocks xmlns:a="http://schemas.openxmlformats.org/drawingml/2006/main" noGrp="1"/>
          </p:cNvSpPr>
          <p:nvPr/>
        </p:nvSpPr>
        <p:spPr>
          <a:xfrm xmlns:a="http://schemas.openxmlformats.org/drawingml/2006/main">
            <a:off x="638175" y="3000375"/>
            <a:ext cx="10915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CA863D"/>
                </a:solidFill>
                <a:latin typeface="Calibri"/>
                <a:ea typeface="Calibri"/>
                <a:cs typeface="Calibri"/>
              </a:defRPr>
            </a:defPPr>
          </a:lstStyle>
          <a:p xmlns:a="http://schemas.openxmlformats.org/drawingml/2006/main">
            <a:pPr algn="l">
              <a:defRPr sz="2250" b="1">
                <a:solidFill>
                  <a:srgbClr val="CA863D"/>
                </a:solidFill>
                <a:latin typeface="Calibri"/>
                <a:ea typeface="Calibri"/>
                <a:cs typeface="Calibri"/>
              </a:defRPr>
            </a:pPr>
            <a:r>
              <a:rPr sz="2250" b="1">
                <a:solidFill>
                  <a:srgbClr val="CA863D"/>
                </a:solidFill>
                <a:latin typeface="Calibri"/>
                <a:ea typeface="Calibri"/>
                <a:cs typeface="Calibri"/>
              </a:rPr>
              <a:t>Complete RACE adds report–image agreement to skip refinement.</a:t>
            </a:r>
          </a:p>
        </p:txBody>
      </p:sp>
      <p:sp>
        <p:nvSpPr>
          <p:cNvPr id="7" name="+0.24 pp when added to FSDR; routing alone needs repeat">
            <a:extLst xmlns:a="http://schemas.openxmlformats.org/drawingml/2006/main">
              <a:ext uri="{FF2B5EF4-FFF2-40B4-BE49-F238E27FC236}">
                <a16:creationId xmlns:a16="http://schemas.microsoft.com/office/drawing/2014/main" id="{3DEF41DE-3888-4E51-8F19-E310FEF0583A}"/>
              </a:ext>
            </a:extLst>
          </p:cNvPr>
          <p:cNvSpPr>
            <a:spLocks xmlns:a="http://schemas.openxmlformats.org/drawingml/2006/main" noGrp="1"/>
          </p:cNvSpPr>
          <p:nvPr/>
        </p:nvSpPr>
        <p:spPr>
          <a:xfrm xmlns:a="http://schemas.openxmlformats.org/drawingml/2006/main">
            <a:off x="638175" y="3581400"/>
            <a:ext cx="109156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202124"/>
                </a:solidFill>
                <a:latin typeface="Calibri"/>
                <a:ea typeface="Calibri"/>
                <a:cs typeface="Calibri"/>
              </a:defRPr>
            </a:defPPr>
          </a:lstStyle>
          <a:p xmlns:a="http://schemas.openxmlformats.org/drawingml/2006/main">
            <a:pPr algn="l">
              <a:defRPr sz="2100" b="0">
                <a:solidFill>
                  <a:srgbClr val="202124"/>
                </a:solidFill>
                <a:latin typeface="Calibri"/>
                <a:ea typeface="Calibri"/>
                <a:cs typeface="Calibri"/>
              </a:defRPr>
            </a:pPr>
            <a:r>
              <a:rPr sz="2100" b="0">
                <a:solidFill>
                  <a:srgbClr val="202124"/>
                </a:solidFill>
                <a:latin typeface="Calibri"/>
                <a:ea typeface="Calibri"/>
                <a:cs typeface="Calibri"/>
              </a:rPr>
              <a:t>+0.24 pp when added to FSDR; routing alone needs repeated controls.</a:t>
            </a:r>
          </a:p>
        </p:txBody>
      </p:sp>
      <p:sp>
        <p:nvSpPr>
          <p:cNvPr id="8" name="">
            <a:extLst xmlns:a="http://schemas.openxmlformats.org/drawingml/2006/main">
              <a:ext uri="{FF2B5EF4-FFF2-40B4-BE49-F238E27FC236}">
                <a16:creationId xmlns:a16="http://schemas.microsoft.com/office/drawing/2014/main" id="{55DF6655-21DC-431D-A68F-D1B6E6FAFAEC}"/>
              </a:ext>
            </a:extLst>
          </p:cNvPr>
          <p:cNvSpPr>
            <a:spLocks xmlns:a="http://schemas.openxmlformats.org/drawingml/2006/main" noGrp="1"/>
          </p:cNvSpPr>
          <p:nvPr/>
        </p:nvSpPr>
        <p:spPr>
          <a:xfrm xmlns:a="http://schemas.openxmlformats.org/drawingml/2006/main">
            <a:off x="638175" y="4429125"/>
            <a:ext cx="10915650" cy="0"/>
          </a:xfrm>
          <a:prstGeom xmlns:a="http://schemas.openxmlformats.org/drawingml/2006/main" prst="line">
            <a:avLst/>
          </a:prstGeom>
          <a:noFill xmlns:a="http://schemas.openxmlformats.org/drawingml/2006/main"/>
          <a:ln xmlns:a="http://schemas.openxmlformats.org/drawingml/2006/main" w="13335">
            <a:solidFill>
              <a:srgbClr val="C9CDCF"/>
            </a:solidFill>
            <a:prstDash val="solid"/>
          </a:ln>
        </p:spPr>
      </p:sp>
      <p:sp>
        <p:nvSpPr>
          <p:cNvPr id="9" name="76.23% Test IoU · 84.71% Dice">
            <a:extLst xmlns:a="http://schemas.openxmlformats.org/drawingml/2006/main">
              <a:ext uri="{FF2B5EF4-FFF2-40B4-BE49-F238E27FC236}">
                <a16:creationId xmlns:a16="http://schemas.microsoft.com/office/drawing/2014/main" id="{BEDA0173-F2D1-40BD-B8EE-3C32FE3671BE}"/>
              </a:ext>
            </a:extLst>
          </p:cNvPr>
          <p:cNvSpPr>
            <a:spLocks xmlns:a="http://schemas.openxmlformats.org/drawingml/2006/main" noGrp="1"/>
          </p:cNvSpPr>
          <p:nvPr/>
        </p:nvSpPr>
        <p:spPr>
          <a:xfrm xmlns:a="http://schemas.openxmlformats.org/drawingml/2006/main">
            <a:off x="638175" y="4695825"/>
            <a:ext cx="109156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202124"/>
                </a:solidFill>
                <a:latin typeface="Calibri"/>
                <a:ea typeface="Calibri"/>
                <a:cs typeface="Calibri"/>
              </a:defRPr>
            </a:defPPr>
          </a:lstStyle>
          <a:p xmlns:a="http://schemas.openxmlformats.org/drawingml/2006/main">
            <a:pPr algn="l">
              <a:defRPr sz="3225" b="1">
                <a:solidFill>
                  <a:srgbClr val="202124"/>
                </a:solidFill>
                <a:latin typeface="Calibri"/>
                <a:ea typeface="Calibri"/>
                <a:cs typeface="Calibri"/>
              </a:defRPr>
            </a:pPr>
            <a:r>
              <a:rPr sz="3225" b="1">
                <a:solidFill>
                  <a:srgbClr val="202124"/>
                </a:solidFill>
                <a:latin typeface="Calibri"/>
                <a:ea typeface="Calibri"/>
                <a:cs typeface="Calibri"/>
              </a:rPr>
              <a:t>76.23% Test IoU · 84.71% Dice</a:t>
            </a:r>
          </a:p>
        </p:txBody>
      </p:sp>
      <p:sp>
        <p:nvSpPr>
          <p:cNvPr id="10" name="+0.75 pp IoU over matched PLAM, with a positive gain in">
            <a:extLst xmlns:a="http://schemas.openxmlformats.org/drawingml/2006/main">
              <a:ext uri="{FF2B5EF4-FFF2-40B4-BE49-F238E27FC236}">
                <a16:creationId xmlns:a16="http://schemas.microsoft.com/office/drawing/2014/main" id="{10A5FEAC-7C2E-492E-96BC-2AEA98D0BCE2}"/>
              </a:ext>
            </a:extLst>
          </p:cNvPr>
          <p:cNvSpPr>
            <a:spLocks xmlns:a="http://schemas.openxmlformats.org/drawingml/2006/main" noGrp="1"/>
          </p:cNvSpPr>
          <p:nvPr/>
        </p:nvSpPr>
        <p:spPr>
          <a:xfrm xmlns:a="http://schemas.openxmlformats.org/drawingml/2006/main">
            <a:off x="638175" y="5419725"/>
            <a:ext cx="10915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202124"/>
                </a:solidFill>
                <a:latin typeface="Calibri"/>
                <a:ea typeface="Calibri"/>
                <a:cs typeface="Calibri"/>
              </a:defRPr>
            </a:defPPr>
          </a:lstStyle>
          <a:p xmlns:a="http://schemas.openxmlformats.org/drawingml/2006/main">
            <a:pPr algn="l">
              <a:defRPr sz="2100" b="0">
                <a:solidFill>
                  <a:srgbClr val="202124"/>
                </a:solidFill>
                <a:latin typeface="Calibri"/>
                <a:ea typeface="Calibri"/>
                <a:cs typeface="Calibri"/>
              </a:defRPr>
            </a:pPr>
            <a:r>
              <a:rPr sz="2100" b="0">
                <a:solidFill>
                  <a:srgbClr val="202124"/>
                </a:solidFill>
                <a:latin typeface="Calibri"/>
                <a:ea typeface="Calibri"/>
                <a:cs typeface="Calibri"/>
              </a:rPr>
              <a:t>+0.75 pp IoU over matched PLAM, with a positive gain in every seed.</a:t>
            </a:r>
          </a:p>
        </p:txBody>
      </p:sp>
      <p:sp>
        <p:nvSpPr>
          <p:cNvPr id="11" name="Next: independent-cohort evaluation and repeated routin">
            <a:extLst xmlns:a="http://schemas.openxmlformats.org/drawingml/2006/main">
              <a:ext uri="{FF2B5EF4-FFF2-40B4-BE49-F238E27FC236}">
                <a16:creationId xmlns:a16="http://schemas.microsoft.com/office/drawing/2014/main" id="{A27370F0-1936-4E07-A8F7-30128A3ECAA7}"/>
              </a:ext>
            </a:extLst>
          </p:cNvPr>
          <p:cNvSpPr>
            <a:spLocks xmlns:a="http://schemas.openxmlformats.org/drawingml/2006/main" noGrp="1"/>
          </p:cNvSpPr>
          <p:nvPr/>
        </p:nvSpPr>
        <p:spPr>
          <a:xfrm xmlns:a="http://schemas.openxmlformats.org/drawingml/2006/main">
            <a:off x="638175" y="6067425"/>
            <a:ext cx="10915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62686C"/>
                </a:solidFill>
                <a:latin typeface="Calibri"/>
                <a:ea typeface="Calibri"/>
                <a:cs typeface="Calibri"/>
              </a:defRPr>
            </a:defPPr>
          </a:lstStyle>
          <a:p xmlns:a="http://schemas.openxmlformats.org/drawingml/2006/main">
            <a:pPr algn="l">
              <a:defRPr sz="1725" b="0">
                <a:solidFill>
                  <a:srgbClr val="62686C"/>
                </a:solidFill>
                <a:latin typeface="Calibri"/>
                <a:ea typeface="Calibri"/>
                <a:cs typeface="Calibri"/>
              </a:defRPr>
            </a:pPr>
            <a:r>
              <a:rPr sz="1725" b="0">
                <a:solidFill>
                  <a:srgbClr val="62686C"/>
                </a:solidFill>
                <a:latin typeface="Calibri"/>
                <a:ea typeface="Calibri"/>
                <a:cs typeface="Calibri"/>
              </a:rPr>
              <a:t>Next: independent-cohort evaluation and repeated routing-versus-auxiliary controls.</a:t>
            </a:r>
          </a:p>
        </p:txBody>
      </p:sp>
    </p:spTree>
    <p:extLst>
      <p:ext uri="{BB962C8B-B14F-4D97-AF65-F5344CB8AC3E}">
        <p14:creationId xmlns:p14="http://schemas.microsoft.com/office/powerpoint/2010/main" val="246714432"/>
      </p:ext>
    </p:extLst>
  </p:cSld>
</p:sld>
</file>

<file path=ppt/slides/slide15.xml><?xml version="1.0" encoding="utf-8"?>
<p:sld xmlns:p="http://schemas.openxmlformats.org/presentationml/2006/main">
  <p:cSld>
    <p:bg>
      <p:bgPr>
        <a:solidFill xmlns:a="http://schemas.openxmlformats.org/drawingml/2006/main">
          <a:srgbClr val="12121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9952FFB-621F-4F4A-822B-574E85752AF7}"/>
              </a:ext>
            </a:extLst>
          </p:cNvPr>
          <p:cNvSpPr>
            <a:spLocks xmlns:a="http://schemas.openxmlformats.org/drawingml/2006/main" noGrp="1"/>
          </p:cNvSpPr>
          <p:nvPr/>
        </p:nvSpPr>
        <p:spPr>
          <a:xfrm xmlns:a="http://schemas.openxmlformats.org/drawingml/2006/main">
            <a:off x="640080" y="2468880"/>
            <a:ext cx="10058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200" b="1">
                <a:solidFill>
                  <a:srgbClr val="FFFFFF"/>
                </a:solidFill>
                <a:latin typeface="Cambria"/>
                <a:ea typeface="Cambria"/>
                <a:cs typeface="Cambria"/>
              </a:rPr>
              <a:t>Thank you</a:t>
            </a:r>
            <a:endParaRPr sz="4200"/>
          </a:p>
        </p:txBody>
      </p:sp>
      <p:sp>
        <p:nvSpPr>
          <p:cNvPr id="3" name="Text 1">
            <a:extLst xmlns:a="http://schemas.openxmlformats.org/drawingml/2006/main">
              <a:ext uri="{FF2B5EF4-FFF2-40B4-BE49-F238E27FC236}">
                <a16:creationId xmlns:a16="http://schemas.microsoft.com/office/drawing/2014/main" id="{DA889A4C-F966-4B0E-BC38-BF4928C85913}"/>
              </a:ext>
            </a:extLst>
          </p:cNvPr>
          <p:cNvSpPr>
            <a:spLocks xmlns:a="http://schemas.openxmlformats.org/drawingml/2006/main" noGrp="1"/>
          </p:cNvSpPr>
          <p:nvPr/>
        </p:nvSpPr>
        <p:spPr>
          <a:xfrm xmlns:a="http://schemas.openxmlformats.org/drawingml/2006/main">
            <a:off x="640080" y="3474720"/>
            <a:ext cx="10058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8B8B8"/>
                </a:solidFill>
                <a:latin typeface="Calibri"/>
                <a:ea typeface="Calibri"/>
                <a:cs typeface="Calibri"/>
              </a:rPr>
              <a:t>Questions welcome. Backup material follows.</a:t>
            </a:r>
            <a:endParaRPr sz="1600"/>
          </a:p>
        </p:txBody>
      </p:sp>
      <p:sp>
        <p:nvSpPr>
          <p:cNvPr id="4" name="Text 2">
            <a:extLst xmlns:a="http://schemas.openxmlformats.org/drawingml/2006/main">
              <a:ext uri="{FF2B5EF4-FFF2-40B4-BE49-F238E27FC236}">
                <a16:creationId xmlns:a16="http://schemas.microsoft.com/office/drawing/2014/main" id="{586FF9BE-58B4-41D2-A13C-EA73A6331790}"/>
              </a:ext>
            </a:extLst>
          </p:cNvPr>
          <p:cNvSpPr>
            <a:spLocks xmlns:a="http://schemas.openxmlformats.org/drawingml/2006/main" noGrp="1"/>
          </p:cNvSpPr>
          <p:nvPr/>
        </p:nvSpPr>
        <p:spPr>
          <a:xfrm xmlns:a="http://schemas.openxmlformats.org/drawingml/2006/main">
            <a:off x="640080" y="5943600"/>
            <a:ext cx="10058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767676"/>
                </a:solidFill>
                <a:latin typeface="Calibri"/>
                <a:ea typeface="Calibri"/>
                <a:cs typeface="Calibri"/>
              </a:rPr>
              <a:t>Ruoheng (Ramos) Wang   ·   ELEC5223 Dissertation B   ·   Supervisor: Prof. Yonghui Li</a:t>
            </a:r>
            <a:endParaRPr sz="1200"/>
          </a:p>
        </p:txBody>
      </p:sp>
    </p:spTree>
    <p:extLst>
      <p:ext uri="{BB962C8B-B14F-4D97-AF65-F5344CB8AC3E}">
        <p14:creationId xmlns:p14="http://schemas.microsoft.com/office/powerpoint/2010/main" val="950191753"/>
      </p:ext>
    </p:extLst>
  </p:cSld>
</p:sld>
</file>

<file path=ppt/slides/slide16.xml><?xml version="1.0" encoding="utf-8"?>
<p:sld xmlns:p="http://schemas.openxmlformats.org/presentationml/2006/main">
  <p:cSld>
    <p:bg>
      <p:bgPr>
        <a:solidFill xmlns:a="http://schemas.openxmlformats.org/drawingml/2006/main">
          <a:srgbClr val="12121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E6B08CD-29EB-40DB-9B06-4A364AE68AF1}"/>
              </a:ext>
            </a:extLst>
          </p:cNvPr>
          <p:cNvSpPr>
            <a:spLocks xmlns:a="http://schemas.openxmlformats.org/drawingml/2006/main" noGrp="1"/>
          </p:cNvSpPr>
          <p:nvPr/>
        </p:nvSpPr>
        <p:spPr>
          <a:xfrm xmlns:a="http://schemas.openxmlformats.org/drawingml/2006/main">
            <a:off x="640080" y="2743200"/>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mbria"/>
                <a:ea typeface="Cambria"/>
                <a:cs typeface="Cambria"/>
              </a:rPr>
              <a:t>Backup slides</a:t>
            </a:r>
            <a:endParaRPr sz="3400"/>
          </a:p>
        </p:txBody>
      </p:sp>
      <p:sp>
        <p:nvSpPr>
          <p:cNvPr id="3" name="Text 1">
            <a:extLst xmlns:a="http://schemas.openxmlformats.org/drawingml/2006/main">
              <a:ext uri="{FF2B5EF4-FFF2-40B4-BE49-F238E27FC236}">
                <a16:creationId xmlns:a16="http://schemas.microsoft.com/office/drawing/2014/main" id="{33ED6595-77E2-4AC4-B288-97108AD879EC}"/>
              </a:ext>
            </a:extLst>
          </p:cNvPr>
          <p:cNvSpPr>
            <a:spLocks xmlns:a="http://schemas.openxmlformats.org/drawingml/2006/main" noGrp="1"/>
          </p:cNvSpPr>
          <p:nvPr/>
        </p:nvSpPr>
        <p:spPr>
          <a:xfrm xmlns:a="http://schemas.openxmlformats.org/drawingml/2006/main">
            <a:off x="640080" y="3611880"/>
            <a:ext cx="10058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800">
                <a:solidFill>
                  <a:srgbClr val="BEBEBE"/>
                </a:solidFill>
                <a:latin typeface="Calibri"/>
                <a:ea typeface="Calibri"/>
                <a:cs typeface="Calibri"/>
              </a:defRPr>
            </a:pPr>
            <a:r>
              <a:rPr sz="1800">
                <a:solidFill>
                  <a:srgbClr val="BEBEBE"/>
                </a:solidFill>
                <a:latin typeface="Calibri"/>
                <a:ea typeface="Calibri"/>
                <a:cs typeface="Calibri"/>
              </a:rPr>
              <a:t>Results, formulation, protocol and supporting evidence</a:t>
            </a:r>
            <a:endParaRPr sz="1500"/>
          </a:p>
        </p:txBody>
      </p:sp>
    </p:spTree>
    <p:extLst>
      <p:ext uri="{BB962C8B-B14F-4D97-AF65-F5344CB8AC3E}">
        <p14:creationId xmlns:p14="http://schemas.microsoft.com/office/powerpoint/2010/main" val="137961107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矩形 5">
            <a:extLst xmlns:a="http://schemas.openxmlformats.org/drawingml/2006/main">
              <a:ext uri="{FF2B5EF4-FFF2-40B4-BE49-F238E27FC236}">
                <a16:creationId xmlns:a16="http://schemas.microsoft.com/office/drawing/2014/main" id="{B309FD39-219D-4BB8-B9B6-A4ED3AF8B024}"/>
              </a:ext>
            </a:extLst>
          </p:cNvPr>
          <p:cNvSpPr>
            <a:spLocks xmlns:a="http://schemas.openxmlformats.org/drawingml/2006/main" noGrp="1"/>
          </p:cNvSpPr>
          <p:nvPr/>
        </p:nvSpPr>
        <p:spPr>
          <a:xfrm xmlns:a="http://schemas.openxmlformats.org/drawingml/2006/main">
            <a:off x="640080" y="361950"/>
            <a:ext cx="10915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11111"/>
                </a:solidFill>
                <a:latin typeface="Cambria"/>
                <a:ea typeface="Cambria"/>
                <a:cs typeface="Cambria"/>
              </a:defRPr>
            </a:pPr>
            <a:r>
              <a:rPr sz="3000" b="1">
                <a:solidFill>
                  <a:srgbClr val="111111"/>
                </a:solidFill>
                <a:latin typeface="Cambria"/>
                <a:ea typeface="Cambria"/>
                <a:cs typeface="Cambria"/>
              </a:rPr>
              <a:t>All primary runs: Test results</a:t>
            </a:r>
          </a:p>
        </p:txBody>
      </p:sp>
      <p:sp>
        <p:nvSpPr>
          <p:cNvPr id="2" name="矩形 1">
            <a:extLst xmlns:a="http://schemas.openxmlformats.org/drawingml/2006/main">
              <a:ext uri="{FF2B5EF4-FFF2-40B4-BE49-F238E27FC236}">
                <a16:creationId xmlns:a16="http://schemas.microsoft.com/office/drawing/2014/main" id="{F6F2A7DB-4E56-458B-A2CA-69A90FFB37EA}"/>
              </a:ext>
            </a:extLst>
          </p:cNvPr>
          <p:cNvSpPr>
            <a:spLocks xmlns:a="http://schemas.openxmlformats.org/drawingml/2006/main" noGrp="1"/>
          </p:cNvSpPr>
          <p:nvPr/>
        </p:nvSpPr>
        <p:spPr>
          <a:xfrm xmlns:a="http://schemas.openxmlformats.org/drawingml/2006/main">
            <a:off x="638175" y="646747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Backup: all 12 primary models</a:t>
            </a:r>
          </a:p>
        </p:txBody>
      </p:sp>
      <p:sp>
        <p:nvSpPr>
          <p:cNvPr id="3" name="矩形 2">
            <a:extLst xmlns:a="http://schemas.openxmlformats.org/drawingml/2006/main">
              <a:ext uri="{FF2B5EF4-FFF2-40B4-BE49-F238E27FC236}">
                <a16:creationId xmlns:a16="http://schemas.microsoft.com/office/drawing/2014/main" id="{0D4E6F63-2A83-4898-A77B-37974EF2E177}"/>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17</a:t>
            </a:r>
          </a:p>
        </p:txBody>
      </p:sp>
      <p:graphicFrame>
        <p:nvGraphicFramePr>
          <p:cNvPr id="9" name="表格 8">
            <a:extLst xmlns:a="http://schemas.openxmlformats.org/drawingml/2006/main">
              <a:ext uri="{FF2B5EF4-FFF2-40B4-BE49-F238E27FC236}">
                <a16:creationId xmlns:a16="http://schemas.microsoft.com/office/drawing/2014/main" id="{C9A263C3-2C7E-428D-B1DE-CF2BAF8BE6C2}"/>
              </a:ext>
            </a:extLst>
          </p:cNvPr>
          <p:cNvGraphicFramePr/>
          <p:nvPr/>
        </p:nvGraphicFramePr>
        <p:xfrm>
          <a:off xmlns:a="http://schemas.openxmlformats.org/drawingml/2006/main" x="638175" y="1466850"/>
          <a:ext xmlns:a="http://schemas.openxmlformats.org/drawingml/2006/main" cx="10915650" cy="4476750"/>
        </p:xfrm>
        <a:graphic xmlns:a="http://schemas.openxmlformats.org/drawingml/2006/main">
          <a:graphicData uri="http://schemas.openxmlformats.org/drawingml/2006/table">
            <a:tbl>
              <a:tblPr/>
              <a:tblGrid>
                <a:gridCol w="4143375"/>
                <a:gridCol w="1143000"/>
                <a:gridCol w="1628775"/>
                <a:gridCol w="2000250"/>
                <a:gridCol w="2000250"/>
              </a:tblGrid>
              <a:tr h="344365">
                <a:tc>
                  <a:txBody>
                    <a:bodyPr/>
                    <a:lstStyle/>
                    <a:p>
                      <a:r>
                        <a:rPr sz="1575" b="1">
                          <a:solidFill>
                            <a:srgbClr val="FFFFFF"/>
                          </a:solidFill>
                          <a:latin typeface="Calibri"/>
                          <a:ea typeface="Calibri"/>
                          <a:cs typeface="Calibri"/>
                        </a:rPr>
                        <a:t>Configuration</a:t>
                      </a:r>
                    </a:p>
                  </a:txBody>
                  <a:tcPr marL="114300" marR="95250" marT="9525" marB="9525" anchor="ctr">
                    <a:solidFill>
                      <a:srgbClr val="111111"/>
                    </a:solidFill>
                  </a:tcPr>
                </a:tc>
                <a:tc>
                  <a:txBody>
                    <a:bodyPr/>
                    <a:lstStyle/>
                    <a:p>
                      <a:r>
                        <a:rPr sz="1575" b="1">
                          <a:solidFill>
                            <a:srgbClr val="FFFFFF"/>
                          </a:solidFill>
                          <a:latin typeface="Calibri"/>
                          <a:ea typeface="Calibri"/>
                          <a:cs typeface="Calibri"/>
                        </a:rPr>
                        <a:t>Seed</a:t>
                      </a:r>
                    </a:p>
                  </a:txBody>
                  <a:tcPr marL="114300" marR="95250" marT="9525" marB="9525" anchor="ctr">
                    <a:solidFill>
                      <a:srgbClr val="111111"/>
                    </a:solidFill>
                  </a:tcPr>
                </a:tc>
                <a:tc>
                  <a:txBody>
                    <a:bodyPr/>
                    <a:lstStyle/>
                    <a:p>
                      <a:r>
                        <a:rPr sz="1575" b="1">
                          <a:solidFill>
                            <a:srgbClr val="FFFFFF"/>
                          </a:solidFill>
                          <a:latin typeface="Calibri"/>
                          <a:ea typeface="Calibri"/>
                          <a:cs typeface="Calibri"/>
                        </a:rPr>
                        <a:t>Best epoch</a:t>
                      </a:r>
                    </a:p>
                  </a:txBody>
                  <a:tcPr marL="114300" marR="95250" marT="9525" marB="9525" anchor="ctr">
                    <a:solidFill>
                      <a:srgbClr val="111111"/>
                    </a:solidFill>
                  </a:tcPr>
                </a:tc>
                <a:tc>
                  <a:txBody>
                    <a:bodyPr/>
                    <a:lstStyle/>
                    <a:p>
                      <a:r>
                        <a:rPr sz="1575" b="1">
                          <a:solidFill>
                            <a:srgbClr val="FFFFFF"/>
                          </a:solidFill>
                          <a:latin typeface="Calibri"/>
                          <a:ea typeface="Calibri"/>
                          <a:cs typeface="Calibri"/>
                        </a:rPr>
                        <a:t>Test IoU (%)</a:t>
                      </a:r>
                    </a:p>
                  </a:txBody>
                  <a:tcPr marL="114300" marR="95250" marT="9525" marB="9525" anchor="ctr">
                    <a:solidFill>
                      <a:srgbClr val="111111"/>
                    </a:solidFill>
                  </a:tcPr>
                </a:tc>
                <a:tc>
                  <a:txBody>
                    <a:bodyPr/>
                    <a:lstStyle/>
                    <a:p>
                      <a:r>
                        <a:rPr sz="1575" b="1">
                          <a:solidFill>
                            <a:srgbClr val="FFFFFF"/>
                          </a:solidFill>
                          <a:latin typeface="Calibri"/>
                          <a:ea typeface="Calibri"/>
                          <a:cs typeface="Calibri"/>
                        </a:rPr>
                        <a:t>Test Dice (%)</a:t>
                      </a:r>
                    </a:p>
                  </a:txBody>
                  <a:tcPr marL="114300" marR="95250" marT="9525" marB="9525" anchor="ctr">
                    <a:solidFill>
                      <a:srgbClr val="111111"/>
                    </a:solidFill>
                  </a:tcPr>
                </a:tc>
              </a:tr>
              <a:tr h="344365">
                <a:tc>
                  <a:txBody>
                    <a:bodyPr/>
                    <a:lstStyle/>
                    <a:p>
                      <a:r>
                        <a:rPr sz="1575" b="0">
                          <a:solidFill>
                            <a:srgbClr val="111111"/>
                          </a:solidFill>
                          <a:latin typeface="Calibri"/>
                          <a:ea typeface="Calibri"/>
                          <a:cs typeface="Calibri"/>
                        </a:rPr>
                        <a:t>LViT-PLAM</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1219</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61</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75.5675</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84.0604</a:t>
                      </a:r>
                    </a:p>
                  </a:txBody>
                  <a:tcPr marL="114300" marR="95250" marT="9525" marB="9525" anchor="ctr">
                    <a:solidFill>
                      <a:srgbClr val="FFFFFF"/>
                    </a:solidFill>
                  </a:tcPr>
                </a:tc>
              </a:tr>
              <a:tr h="344365">
                <a:tc>
                  <a:txBody>
                    <a:bodyPr/>
                    <a:lstStyle/>
                    <a:p>
                      <a:r>
                        <a:rPr sz="1575" b="0">
                          <a:solidFill>
                            <a:srgbClr val="111111"/>
                          </a:solidFill>
                          <a:latin typeface="Calibri"/>
                          <a:ea typeface="Calibri"/>
                          <a:cs typeface="Calibri"/>
                        </a:rPr>
                        <a:t>LViT-PLAM</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2027</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72</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75.4668</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84.0771</a:t>
                      </a:r>
                    </a:p>
                  </a:txBody>
                  <a:tcPr marL="114300" marR="95250" marT="9525" marB="9525" anchor="ctr">
                    <a:solidFill>
                      <a:srgbClr val="F3F3F3"/>
                    </a:solidFill>
                  </a:tcPr>
                </a:tc>
              </a:tr>
              <a:tr h="344365">
                <a:tc>
                  <a:txBody>
                    <a:bodyPr/>
                    <a:lstStyle/>
                    <a:p>
                      <a:r>
                        <a:rPr sz="1575" b="0">
                          <a:solidFill>
                            <a:srgbClr val="111111"/>
                          </a:solidFill>
                          <a:latin typeface="Calibri"/>
                          <a:ea typeface="Calibri"/>
                          <a:cs typeface="Calibri"/>
                        </a:rPr>
                        <a:t>LViT-PLAM</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3407</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74</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75.3983</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83.9379</a:t>
                      </a:r>
                    </a:p>
                  </a:txBody>
                  <a:tcPr marL="114300" marR="95250" marT="9525" marB="9525" anchor="ctr">
                    <a:solidFill>
                      <a:srgbClr val="FFFFFF"/>
                    </a:solidFill>
                  </a:tcPr>
                </a:tc>
              </a:tr>
              <a:tr h="344365">
                <a:tc>
                  <a:txBody>
                    <a:bodyPr/>
                    <a:lstStyle/>
                    <a:p>
                      <a:r>
                        <a:rPr sz="1575" b="0">
                          <a:solidFill>
                            <a:srgbClr val="111111"/>
                          </a:solidFill>
                          <a:latin typeface="Calibri"/>
                          <a:ea typeface="Calibri"/>
                          <a:cs typeface="Calibri"/>
                        </a:rPr>
                        <a:t>FSDR only</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1219</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67</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75.8098</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84.4236</a:t>
                      </a:r>
                    </a:p>
                  </a:txBody>
                  <a:tcPr marL="114300" marR="95250" marT="9525" marB="9525" anchor="ctr">
                    <a:solidFill>
                      <a:srgbClr val="F3F3F3"/>
                    </a:solidFill>
                  </a:tcPr>
                </a:tc>
              </a:tr>
              <a:tr h="344365">
                <a:tc>
                  <a:txBody>
                    <a:bodyPr/>
                    <a:lstStyle/>
                    <a:p>
                      <a:r>
                        <a:rPr sz="1575" b="0">
                          <a:solidFill>
                            <a:srgbClr val="111111"/>
                          </a:solidFill>
                          <a:latin typeface="Calibri"/>
                          <a:ea typeface="Calibri"/>
                          <a:cs typeface="Calibri"/>
                        </a:rPr>
                        <a:t>FSDR only</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2027</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68</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76.0859</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84.5739</a:t>
                      </a:r>
                    </a:p>
                  </a:txBody>
                  <a:tcPr marL="114300" marR="95250" marT="9525" marB="9525" anchor="ctr">
                    <a:solidFill>
                      <a:srgbClr val="FFFFFF"/>
                    </a:solidFill>
                  </a:tcPr>
                </a:tc>
              </a:tr>
              <a:tr h="344365">
                <a:tc>
                  <a:txBody>
                    <a:bodyPr/>
                    <a:lstStyle/>
                    <a:p>
                      <a:r>
                        <a:rPr sz="1575" b="0">
                          <a:solidFill>
                            <a:srgbClr val="111111"/>
                          </a:solidFill>
                          <a:latin typeface="Calibri"/>
                          <a:ea typeface="Calibri"/>
                          <a:cs typeface="Calibri"/>
                        </a:rPr>
                        <a:t>FSDR only</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3407</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75</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76.0544</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84.5117</a:t>
                      </a:r>
                    </a:p>
                  </a:txBody>
                  <a:tcPr marL="114300" marR="95250" marT="9525" marB="9525" anchor="ctr">
                    <a:solidFill>
                      <a:srgbClr val="F3F3F3"/>
                    </a:solidFill>
                  </a:tcPr>
                </a:tc>
              </a:tr>
              <a:tr h="344365">
                <a:tc>
                  <a:txBody>
                    <a:bodyPr/>
                    <a:lstStyle/>
                    <a:p>
                      <a:r>
                        <a:rPr sz="1575" b="0">
                          <a:solidFill>
                            <a:srgbClr val="111111"/>
                          </a:solidFill>
                          <a:latin typeface="Calibri"/>
                          <a:ea typeface="Calibri"/>
                          <a:cs typeface="Calibri"/>
                        </a:rPr>
                        <a:t>PLAM + complete RACE</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1219</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78</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75.8189</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84.2712</a:t>
                      </a:r>
                    </a:p>
                  </a:txBody>
                  <a:tcPr marL="114300" marR="95250" marT="9525" marB="9525" anchor="ctr">
                    <a:solidFill>
                      <a:srgbClr val="FFFFFF"/>
                    </a:solidFill>
                  </a:tcPr>
                </a:tc>
              </a:tr>
              <a:tr h="344365">
                <a:tc>
                  <a:txBody>
                    <a:bodyPr/>
                    <a:lstStyle/>
                    <a:p>
                      <a:r>
                        <a:rPr sz="1575" b="0">
                          <a:solidFill>
                            <a:srgbClr val="111111"/>
                          </a:solidFill>
                          <a:latin typeface="Calibri"/>
                          <a:ea typeface="Calibri"/>
                          <a:cs typeface="Calibri"/>
                        </a:rPr>
                        <a:t>PLAM + complete RACE</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2027</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72</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75.6458</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84.1648</a:t>
                      </a:r>
                    </a:p>
                  </a:txBody>
                  <a:tcPr marL="114300" marR="95250" marT="9525" marB="9525" anchor="ctr">
                    <a:solidFill>
                      <a:srgbClr val="F3F3F3"/>
                    </a:solidFill>
                  </a:tcPr>
                </a:tc>
              </a:tr>
              <a:tr h="344365">
                <a:tc>
                  <a:txBody>
                    <a:bodyPr/>
                    <a:lstStyle/>
                    <a:p>
                      <a:r>
                        <a:rPr sz="1575" b="0">
                          <a:solidFill>
                            <a:srgbClr val="111111"/>
                          </a:solidFill>
                          <a:latin typeface="Calibri"/>
                          <a:ea typeface="Calibri"/>
                          <a:cs typeface="Calibri"/>
                        </a:rPr>
                        <a:t>PLAM + complete RACE</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3407</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66</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75.6239</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84.1425</a:t>
                      </a:r>
                    </a:p>
                  </a:txBody>
                  <a:tcPr marL="114300" marR="95250" marT="9525" marB="9525" anchor="ctr">
                    <a:solidFill>
                      <a:srgbClr val="FFFFFF"/>
                    </a:solidFill>
                  </a:tcPr>
                </a:tc>
              </a:tr>
              <a:tr h="344365">
                <a:tc>
                  <a:txBody>
                    <a:bodyPr/>
                    <a:lstStyle/>
                    <a:p>
                      <a:r>
                        <a:rPr sz="1575" b="1">
                          <a:solidFill>
                            <a:srgbClr val="111111"/>
                          </a:solidFill>
                          <a:latin typeface="Calibri"/>
                          <a:ea typeface="Calibri"/>
                          <a:cs typeface="Calibri"/>
                        </a:rPr>
                        <a:t>FSDR + complete RACE</a:t>
                      </a:r>
                    </a:p>
                  </a:txBody>
                  <a:tcPr marL="114300" marR="95250" marT="9525" marB="9525" anchor="ctr">
                    <a:solidFill>
                      <a:srgbClr val="F3F3F3"/>
                    </a:solidFill>
                  </a:tcPr>
                </a:tc>
                <a:tc>
                  <a:txBody>
                    <a:bodyPr/>
                    <a:lstStyle/>
                    <a:p>
                      <a:r>
                        <a:rPr sz="1575" b="1">
                          <a:solidFill>
                            <a:srgbClr val="111111"/>
                          </a:solidFill>
                          <a:latin typeface="Calibri"/>
                          <a:ea typeface="Calibri"/>
                          <a:cs typeface="Calibri"/>
                        </a:rPr>
                        <a:t>1219</a:t>
                      </a:r>
                    </a:p>
                  </a:txBody>
                  <a:tcPr marL="114300" marR="95250" marT="9525" marB="9525" anchor="ctr">
                    <a:solidFill>
                      <a:srgbClr val="F3F3F3"/>
                    </a:solidFill>
                  </a:tcPr>
                </a:tc>
                <a:tc>
                  <a:txBody>
                    <a:bodyPr/>
                    <a:lstStyle/>
                    <a:p>
                      <a:r>
                        <a:rPr sz="1575" b="1">
                          <a:solidFill>
                            <a:srgbClr val="111111"/>
                          </a:solidFill>
                          <a:latin typeface="Calibri"/>
                          <a:ea typeface="Calibri"/>
                          <a:cs typeface="Calibri"/>
                        </a:rPr>
                        <a:t>75</a:t>
                      </a:r>
                    </a:p>
                  </a:txBody>
                  <a:tcPr marL="114300" marR="95250" marT="9525" marB="9525" anchor="ctr">
                    <a:solidFill>
                      <a:srgbClr val="F3F3F3"/>
                    </a:solidFill>
                  </a:tcPr>
                </a:tc>
                <a:tc>
                  <a:txBody>
                    <a:bodyPr/>
                    <a:lstStyle/>
                    <a:p>
                      <a:r>
                        <a:rPr sz="1575" b="1">
                          <a:solidFill>
                            <a:srgbClr val="111111"/>
                          </a:solidFill>
                          <a:latin typeface="Calibri"/>
                          <a:ea typeface="Calibri"/>
                          <a:cs typeface="Calibri"/>
                        </a:rPr>
                        <a:t>76.2485</a:t>
                      </a:r>
                    </a:p>
                  </a:txBody>
                  <a:tcPr marL="114300" marR="95250" marT="9525" marB="9525" anchor="ctr">
                    <a:solidFill>
                      <a:srgbClr val="F3F3F3"/>
                    </a:solidFill>
                  </a:tcPr>
                </a:tc>
                <a:tc>
                  <a:txBody>
                    <a:bodyPr/>
                    <a:lstStyle/>
                    <a:p>
                      <a:r>
                        <a:rPr sz="1575" b="1">
                          <a:solidFill>
                            <a:srgbClr val="111111"/>
                          </a:solidFill>
                          <a:latin typeface="Calibri"/>
                          <a:ea typeface="Calibri"/>
                          <a:cs typeface="Calibri"/>
                        </a:rPr>
                        <a:t>84.7097</a:t>
                      </a:r>
                    </a:p>
                  </a:txBody>
                  <a:tcPr marL="114300" marR="95250" marT="9525" marB="9525" anchor="ctr">
                    <a:solidFill>
                      <a:srgbClr val="F3F3F3"/>
                    </a:solidFill>
                  </a:tcPr>
                </a:tc>
              </a:tr>
              <a:tr h="344365">
                <a:tc>
                  <a:txBody>
                    <a:bodyPr/>
                    <a:lstStyle/>
                    <a:p>
                      <a:r>
                        <a:rPr sz="1575" b="1">
                          <a:solidFill>
                            <a:srgbClr val="111111"/>
                          </a:solidFill>
                          <a:latin typeface="Calibri"/>
                          <a:ea typeface="Calibri"/>
                          <a:cs typeface="Calibri"/>
                        </a:rPr>
                        <a:t>FSDR + complete RACE</a:t>
                      </a:r>
                    </a:p>
                  </a:txBody>
                  <a:tcPr marL="114300" marR="95250" marT="9525" marB="9525" anchor="ctr">
                    <a:solidFill>
                      <a:srgbClr val="FFFFFF"/>
                    </a:solidFill>
                  </a:tcPr>
                </a:tc>
                <a:tc>
                  <a:txBody>
                    <a:bodyPr/>
                    <a:lstStyle/>
                    <a:p>
                      <a:r>
                        <a:rPr sz="1575" b="1">
                          <a:solidFill>
                            <a:srgbClr val="111111"/>
                          </a:solidFill>
                          <a:latin typeface="Calibri"/>
                          <a:ea typeface="Calibri"/>
                          <a:cs typeface="Calibri"/>
                        </a:rPr>
                        <a:t>2027</a:t>
                      </a:r>
                    </a:p>
                  </a:txBody>
                  <a:tcPr marL="114300" marR="95250" marT="9525" marB="9525" anchor="ctr">
                    <a:solidFill>
                      <a:srgbClr val="FFFFFF"/>
                    </a:solidFill>
                  </a:tcPr>
                </a:tc>
                <a:tc>
                  <a:txBody>
                    <a:bodyPr/>
                    <a:lstStyle/>
                    <a:p>
                      <a:r>
                        <a:rPr sz="1575" b="1">
                          <a:solidFill>
                            <a:srgbClr val="111111"/>
                          </a:solidFill>
                          <a:latin typeface="Calibri"/>
                          <a:ea typeface="Calibri"/>
                          <a:cs typeface="Calibri"/>
                        </a:rPr>
                        <a:t>78</a:t>
                      </a:r>
                    </a:p>
                  </a:txBody>
                  <a:tcPr marL="114300" marR="95250" marT="9525" marB="9525" anchor="ctr">
                    <a:solidFill>
                      <a:srgbClr val="FFFFFF"/>
                    </a:solidFill>
                  </a:tcPr>
                </a:tc>
                <a:tc>
                  <a:txBody>
                    <a:bodyPr/>
                    <a:lstStyle/>
                    <a:p>
                      <a:r>
                        <a:rPr sz="1575" b="1">
                          <a:solidFill>
                            <a:srgbClr val="111111"/>
                          </a:solidFill>
                          <a:latin typeface="Calibri"/>
                          <a:ea typeface="Calibri"/>
                          <a:cs typeface="Calibri"/>
                        </a:rPr>
                        <a:t>76.2562</a:t>
                      </a:r>
                    </a:p>
                  </a:txBody>
                  <a:tcPr marL="114300" marR="95250" marT="9525" marB="9525" anchor="ctr">
                    <a:solidFill>
                      <a:srgbClr val="FFFFFF"/>
                    </a:solidFill>
                  </a:tcPr>
                </a:tc>
                <a:tc>
                  <a:txBody>
                    <a:bodyPr/>
                    <a:lstStyle/>
                    <a:p>
                      <a:r>
                        <a:rPr sz="1575" b="1">
                          <a:solidFill>
                            <a:srgbClr val="111111"/>
                          </a:solidFill>
                          <a:latin typeface="Calibri"/>
                          <a:ea typeface="Calibri"/>
                          <a:cs typeface="Calibri"/>
                        </a:rPr>
                        <a:t>84.7468</a:t>
                      </a:r>
                    </a:p>
                  </a:txBody>
                  <a:tcPr marL="114300" marR="95250" marT="9525" marB="9525" anchor="ctr">
                    <a:solidFill>
                      <a:srgbClr val="FFFFFF"/>
                    </a:solidFill>
                  </a:tcPr>
                </a:tc>
              </a:tr>
              <a:tr h="344365">
                <a:tc>
                  <a:txBody>
                    <a:bodyPr/>
                    <a:lstStyle/>
                    <a:p>
                      <a:r>
                        <a:rPr sz="1575" b="1">
                          <a:solidFill>
                            <a:srgbClr val="111111"/>
                          </a:solidFill>
                          <a:latin typeface="Calibri"/>
                          <a:ea typeface="Calibri"/>
                          <a:cs typeface="Calibri"/>
                        </a:rPr>
                        <a:t>FSDR + complete RACE</a:t>
                      </a:r>
                    </a:p>
                  </a:txBody>
                  <a:tcPr marL="114300" marR="95250" marT="9525" marB="9525" anchor="ctr">
                    <a:solidFill>
                      <a:srgbClr val="F3F3F3"/>
                    </a:solidFill>
                  </a:tcPr>
                </a:tc>
                <a:tc>
                  <a:txBody>
                    <a:bodyPr/>
                    <a:lstStyle/>
                    <a:p>
                      <a:r>
                        <a:rPr sz="1575" b="1">
                          <a:solidFill>
                            <a:srgbClr val="111111"/>
                          </a:solidFill>
                          <a:latin typeface="Calibri"/>
                          <a:ea typeface="Calibri"/>
                          <a:cs typeface="Calibri"/>
                        </a:rPr>
                        <a:t>3407</a:t>
                      </a:r>
                    </a:p>
                  </a:txBody>
                  <a:tcPr marL="114300" marR="95250" marT="9525" marB="9525" anchor="ctr">
                    <a:solidFill>
                      <a:srgbClr val="F3F3F3"/>
                    </a:solidFill>
                  </a:tcPr>
                </a:tc>
                <a:tc>
                  <a:txBody>
                    <a:bodyPr/>
                    <a:lstStyle/>
                    <a:p>
                      <a:r>
                        <a:rPr sz="1575" b="1">
                          <a:solidFill>
                            <a:srgbClr val="111111"/>
                          </a:solidFill>
                          <a:latin typeface="Calibri"/>
                          <a:ea typeface="Calibri"/>
                          <a:cs typeface="Calibri"/>
                        </a:rPr>
                        <a:t>70</a:t>
                      </a:r>
                    </a:p>
                  </a:txBody>
                  <a:tcPr marL="114300" marR="95250" marT="9525" marB="9525" anchor="ctr">
                    <a:solidFill>
                      <a:srgbClr val="F3F3F3"/>
                    </a:solidFill>
                  </a:tcPr>
                </a:tc>
                <a:tc>
                  <a:txBody>
                    <a:bodyPr/>
                    <a:lstStyle/>
                    <a:p>
                      <a:r>
                        <a:rPr sz="1575" b="1">
                          <a:solidFill>
                            <a:srgbClr val="111111"/>
                          </a:solidFill>
                          <a:latin typeface="Calibri"/>
                          <a:ea typeface="Calibri"/>
                          <a:cs typeface="Calibri"/>
                        </a:rPr>
                        <a:t>76.1738</a:t>
                      </a:r>
                    </a:p>
                  </a:txBody>
                  <a:tcPr marL="114300" marR="95250" marT="9525" marB="9525" anchor="ctr">
                    <a:solidFill>
                      <a:srgbClr val="F3F3F3"/>
                    </a:solidFill>
                  </a:tcPr>
                </a:tc>
                <a:tc>
                  <a:txBody>
                    <a:bodyPr/>
                    <a:lstStyle/>
                    <a:p>
                      <a:r>
                        <a:rPr sz="1575" b="1">
                          <a:solidFill>
                            <a:srgbClr val="111111"/>
                          </a:solidFill>
                          <a:latin typeface="Calibri"/>
                          <a:ea typeface="Calibri"/>
                          <a:cs typeface="Calibri"/>
                        </a:rPr>
                        <a:t>84.6773</a:t>
                      </a:r>
                    </a:p>
                  </a:txBody>
                  <a:tcPr marL="114300" marR="95250" marT="9525" marB="9525" anchor="ctr">
                    <a:solidFill>
                      <a:srgbClr val="F3F3F3"/>
                    </a:solidFill>
                  </a:tcPr>
                </a:tc>
              </a:tr>
            </a:tbl>
          </a:graphicData>
        </a:graphic>
      </p:graphicFrame>
      <p:sp>
        <p:nvSpPr>
          <p:cNvPr id="5" name="矩形 4">
            <a:extLst xmlns:a="http://schemas.openxmlformats.org/drawingml/2006/main">
              <a:ext uri="{FF2B5EF4-FFF2-40B4-BE49-F238E27FC236}">
                <a16:creationId xmlns:a16="http://schemas.microsoft.com/office/drawing/2014/main" id="{510C4BB6-5FFC-4D65-A849-11EF3D124D3A}"/>
              </a:ext>
            </a:extLst>
          </p:cNvPr>
          <p:cNvSpPr>
            <a:spLocks xmlns:a="http://schemas.openxmlformats.org/drawingml/2006/main" noGrp="1"/>
          </p:cNvSpPr>
          <p:nvPr/>
        </p:nvSpPr>
        <p:spPr>
          <a:xfrm xmlns:a="http://schemas.openxmlformats.org/drawingml/2006/main">
            <a:off x="638175" y="6076950"/>
            <a:ext cx="10915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606060"/>
                </a:solidFill>
                <a:latin typeface="Calibri"/>
                <a:ea typeface="Calibri"/>
                <a:cs typeface="Calibri"/>
              </a:defRPr>
            </a:pPr>
            <a:r>
              <a:rPr sz="1650" b="0">
                <a:solidFill>
                  <a:srgbClr val="606060"/>
                </a:solidFill>
                <a:latin typeface="Calibri"/>
                <a:ea typeface="Calibri"/>
                <a:cs typeface="Calibri"/>
              </a:rPr>
              <a:t>Each run selects Best by Val macro IoU. Every configuration uses all three seeds.</a:t>
            </a:r>
          </a:p>
        </p:txBody>
      </p:sp>
    </p:spTree>
    <p:extLst>
      <p:ext uri="{BB962C8B-B14F-4D97-AF65-F5344CB8AC3E}">
        <p14:creationId xmlns:p14="http://schemas.microsoft.com/office/powerpoint/2010/main" val="189705477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5C2109B9-3051-4C03-BFF8-B17404B55CCF}"/>
              </a:ext>
            </a:extLst>
          </p:cNvPr>
          <p:cNvCxnSpPr>
            <a:stCxn xmlns:a="http://schemas.openxmlformats.org/drawingml/2006/main" id="12" idx="5"/>
            <a:endCxn xmlns:a="http://schemas.openxmlformats.org/drawingml/2006/main" id="14" idx="1"/>
          </p:cNvCxnSpPr>
          <p:nvPr/>
        </p:nvCxnSpPr>
        <p:spPr>
          <a:xfrm xmlns:a="http://schemas.openxmlformats.org/drawingml/2006/main">
            <a:off x="7391400" y="4348163"/>
            <a:ext cx="904875" cy="80963"/>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7CB8ED36-4240-4412-B31A-E6F2E8AB0246}"/>
              </a:ext>
            </a:extLst>
          </p:cNvPr>
          <p:cNvCxnSpPr>
            <a:stCxn xmlns:a="http://schemas.openxmlformats.org/drawingml/2006/main" id="11" idx="5"/>
            <a:endCxn xmlns:a="http://schemas.openxmlformats.org/drawingml/2006/main" id="13" idx="1"/>
          </p:cNvCxnSpPr>
          <p:nvPr/>
        </p:nvCxnSpPr>
        <p:spPr>
          <a:xfrm xmlns:a="http://schemas.openxmlformats.org/drawingml/2006/main">
            <a:off x="1495425" y="4348163"/>
            <a:ext cx="866775" cy="80963"/>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48086E09-1C2D-4987-8251-7DC73B347B13}"/>
              </a:ext>
            </a:extLst>
          </p:cNvPr>
          <p:cNvCxnSpPr>
            <a:stCxn xmlns:a="http://schemas.openxmlformats.org/drawingml/2006/main" id="8" idx="2"/>
            <a:endCxn xmlns:a="http://schemas.openxmlformats.org/drawingml/2006/main" id="14" idx="0"/>
          </p:cNvCxnSpPr>
          <p:nvPr/>
        </p:nvCxnSpPr>
        <p:spPr>
          <a:xfrm xmlns:a="http://schemas.openxmlformats.org/drawingml/2006/main">
            <a:off x="9515475" y="3619500"/>
            <a:ext cx="0" cy="428625"/>
          </a:xfrm>
          <a:prstGeom xmlns:a="http://schemas.openxmlformats.org/drawingml/2006/main" prst="straightConnector1">
            <a:avLst/>
          </a:prstGeom>
          <a:ln xmlns:a="http://schemas.openxmlformats.org/drawingml/2006/main" w="17145">
            <a:solidFill>
              <a:srgbClr val="CA863D"/>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848011A9-66D1-489F-B63D-CD9BDF439D1B}"/>
              </a:ext>
            </a:extLst>
          </p:cNvPr>
          <p:cNvCxnSpPr>
            <a:stCxn xmlns:a="http://schemas.openxmlformats.org/drawingml/2006/main" id="7" idx="2"/>
            <a:endCxn xmlns:a="http://schemas.openxmlformats.org/drawingml/2006/main" id="13" idx="0"/>
          </p:cNvCxnSpPr>
          <p:nvPr/>
        </p:nvCxnSpPr>
        <p:spPr>
          <a:xfrm xmlns:a="http://schemas.openxmlformats.org/drawingml/2006/main">
            <a:off x="3581400" y="3619500"/>
            <a:ext cx="0" cy="428625"/>
          </a:xfrm>
          <a:prstGeom xmlns:a="http://schemas.openxmlformats.org/drawingml/2006/main" prst="straightConnector1">
            <a:avLst/>
          </a:prstGeom>
          <a:ln xmlns:a="http://schemas.openxmlformats.org/drawingml/2006/main" w="17145">
            <a:solidFill>
              <a:srgbClr val="4F82AF"/>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72705FB7-CB46-46E5-B9FF-6C7C44CD048B}"/>
              </a:ext>
            </a:extLst>
          </p:cNvPr>
          <p:cNvCxnSpPr>
            <a:stCxn xmlns:a="http://schemas.openxmlformats.org/drawingml/2006/main" id="5" idx="2"/>
            <a:endCxn xmlns:a="http://schemas.openxmlformats.org/drawingml/2006/main" id="8" idx="0"/>
          </p:cNvCxnSpPr>
          <p:nvPr/>
        </p:nvCxnSpPr>
        <p:spPr>
          <a:xfrm xmlns:a="http://schemas.openxmlformats.org/drawingml/2006/main">
            <a:off x="5976938" y="2181225"/>
            <a:ext cx="3538538" cy="742950"/>
          </a:xfrm>
          <a:prstGeom xmlns:a="http://schemas.openxmlformats.org/drawingml/2006/main" prst="bentConnector4">
            <a:avLst>
              <a:gd name="adj1" fmla="val 0"/>
              <a:gd name="adj2" fmla="val 50000"/>
            </a:avLst>
          </a:prstGeom>
          <a:ln xmlns:a="http://schemas.openxmlformats.org/drawingml/2006/main" w="17145">
            <a:solidFill>
              <a:srgbClr val="CA863D"/>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8658A5DD-AFAF-47F8-8B60-88878DAB4162}"/>
              </a:ext>
            </a:extLst>
          </p:cNvPr>
          <p:cNvCxnSpPr>
            <a:stCxn xmlns:a="http://schemas.openxmlformats.org/drawingml/2006/main" id="5" idx="2"/>
            <a:endCxn xmlns:a="http://schemas.openxmlformats.org/drawingml/2006/main" id="7" idx="0"/>
          </p:cNvCxnSpPr>
          <p:nvPr/>
        </p:nvCxnSpPr>
        <p:spPr>
          <a:xfrm xmlns:a="http://schemas.openxmlformats.org/drawingml/2006/main" flipH="1">
            <a:off x="3581400" y="2181225"/>
            <a:ext cx="2395538" cy="742950"/>
          </a:xfrm>
          <a:prstGeom xmlns:a="http://schemas.openxmlformats.org/drawingml/2006/main" prst="bentConnector4">
            <a:avLst>
              <a:gd name="adj1" fmla="val 0"/>
              <a:gd name="adj2" fmla="val 50000"/>
            </a:avLst>
          </a:prstGeom>
          <a:ln xmlns:a="http://schemas.openxmlformats.org/drawingml/2006/main" w="17145">
            <a:solidFill>
              <a:srgbClr val="4F82AF"/>
            </a:solidFill>
            <a:prstDash val="solid"/>
            <a:tailEnd type="triangle" w="sm" len="sm"/>
          </a:ln>
        </p:spPr>
      </p:cxnSp>
      <p:cxnSp>
        <p:nvCxnSpPr>
          <p:cNvPr id="6" name="">
            <a:extLst xmlns:a="http://schemas.openxmlformats.org/drawingml/2006/main">
              <a:ext uri="{FF2B5EF4-FFF2-40B4-BE49-F238E27FC236}">
                <a16:creationId xmlns:a16="http://schemas.microsoft.com/office/drawing/2014/main" id="{AA82B6E5-01F7-459D-A8E8-6A622631C2DB}"/>
              </a:ext>
            </a:extLst>
          </p:cNvPr>
          <p:cNvCxnSpPr>
            <a:stCxn xmlns:a="http://schemas.openxmlformats.org/drawingml/2006/main" id="4" idx="3"/>
            <a:endCxn xmlns:a="http://schemas.openxmlformats.org/drawingml/2006/main" id="5" idx="1"/>
          </p:cNvCxnSpPr>
          <p:nvPr/>
        </p:nvCxnSpPr>
        <p:spPr>
          <a:xfrm xmlns:a="http://schemas.openxmlformats.org/drawingml/2006/main">
            <a:off x="3438525" y="1890713"/>
            <a:ext cx="1352550" cy="0"/>
          </a:xfrm>
          <a:prstGeom xmlns:a="http://schemas.openxmlformats.org/drawingml/2006/main" prst="straightConnector1">
            <a:avLst/>
          </a:prstGeom>
          <a:ln xmlns:a="http://schemas.openxmlformats.org/drawingml/2006/main" w="17145">
            <a:solidFill>
              <a:srgbClr val="62686C"/>
            </a:solidFill>
            <a:prstDash val="solid"/>
            <a:tailEnd type="triangle" w="sm" len="sm"/>
          </a:ln>
        </p:spPr>
      </p:cxnSp>
      <p:sp>
        <p:nvSpPr>
          <p:cNvPr id="22" name="FSDR: adaptive frequency refinement">
            <a:extLst xmlns:a="http://schemas.openxmlformats.org/drawingml/2006/main">
              <a:ext uri="{FF2B5EF4-FFF2-40B4-BE49-F238E27FC236}">
                <a16:creationId xmlns:a16="http://schemas.microsoft.com/office/drawing/2014/main" id="{C9E8425A-C33B-4452-9A52-291DA616BB8B}"/>
              </a:ext>
            </a:extLst>
          </p:cNvPr>
          <p:cNvSpPr>
            <a:spLocks xmlns:a="http://schemas.openxmlformats.org/drawingml/2006/main" noGrp="1"/>
          </p:cNvSpPr>
          <p:nvPr/>
        </p:nvSpPr>
        <p:spPr>
          <a:xfrm xmlns:a="http://schemas.openxmlformats.org/drawingml/2006/main">
            <a:off x="638175" y="361950"/>
            <a:ext cx="10915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02124"/>
                </a:solidFill>
                <a:latin typeface="Cambria"/>
                <a:ea typeface="Cambria"/>
                <a:cs typeface="Cambria"/>
              </a:defRPr>
            </a:defPPr>
          </a:lstStyle>
          <a:p xmlns:a="http://schemas.openxmlformats.org/drawingml/2006/main">
            <a:pPr algn="l">
              <a:defRPr sz="3000" b="1">
                <a:solidFill>
                  <a:srgbClr val="202124"/>
                </a:solidFill>
                <a:latin typeface="Cambria"/>
                <a:ea typeface="Cambria"/>
                <a:cs typeface="Cambria"/>
              </a:defRPr>
            </a:pPr>
            <a:r>
              <a:rPr sz="3000" b="1">
                <a:solidFill>
                  <a:srgbClr val="202124"/>
                </a:solidFill>
                <a:latin typeface="Cambria"/>
                <a:ea typeface="Cambria"/>
                <a:cs typeface="Cambria"/>
              </a:rPr>
              <a:t>FSDR: adaptive frequency refinement</a:t>
            </a:r>
          </a:p>
        </p:txBody>
      </p:sp>
      <p:sp>
        <p:nvSpPr>
          <p:cNvPr id="2" name="Backup · up4 / up3 only · at up2 / up1: D′ = D and Rada">
            <a:extLst xmlns:a="http://schemas.openxmlformats.org/drawingml/2006/main">
              <a:ext uri="{FF2B5EF4-FFF2-40B4-BE49-F238E27FC236}">
                <a16:creationId xmlns:a16="http://schemas.microsoft.com/office/drawing/2014/main" id="{36BA60F2-C831-4A4B-A414-AA09D54769D9}"/>
              </a:ext>
            </a:extLst>
          </p:cNvPr>
          <p:cNvSpPr>
            <a:spLocks xmlns:a="http://schemas.openxmlformats.org/drawingml/2006/main" noGrp="1"/>
          </p:cNvSpPr>
          <p:nvPr/>
        </p:nvSpPr>
        <p:spPr>
          <a:xfrm xmlns:a="http://schemas.openxmlformats.org/drawingml/2006/main">
            <a:off x="638175" y="6477000"/>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929699"/>
                </a:solidFill>
                <a:latin typeface="Calibri"/>
                <a:ea typeface="Calibri"/>
                <a:cs typeface="Calibri"/>
              </a:defRPr>
            </a:defPPr>
          </a:lstStyle>
          <a:p xmlns:a="http://schemas.openxmlformats.org/drawingml/2006/main">
            <a:pPr algn="l">
              <a:defRPr sz="900" b="0">
                <a:solidFill>
                  <a:srgbClr val="929699"/>
                </a:solidFill>
                <a:latin typeface="Calibri"/>
                <a:ea typeface="Calibri"/>
                <a:cs typeface="Calibri"/>
              </a:defRPr>
            </a:pPr>
            <a:r>
              <a:rPr sz="900" b="0">
                <a:solidFill>
                  <a:srgbClr val="929699"/>
                </a:solidFill>
                <a:latin typeface="Calibri"/>
                <a:ea typeface="Calibri"/>
                <a:cs typeface="Calibri"/>
              </a:rPr>
              <a:t>Backup · up4 / up3 only · at up2 / up1: D′ = D and Radapt = 0</a:t>
            </a:r>
          </a:p>
        </p:txBody>
      </p:sp>
      <p:sp>
        <p:nvSpPr>
          <p:cNvPr id="3" name="18">
            <a:extLst xmlns:a="http://schemas.openxmlformats.org/drawingml/2006/main">
              <a:ext uri="{FF2B5EF4-FFF2-40B4-BE49-F238E27FC236}">
                <a16:creationId xmlns:a16="http://schemas.microsoft.com/office/drawing/2014/main" id="{C801E1B2-5B9D-4707-A9F4-606E3645E0B1}"/>
              </a:ext>
            </a:extLst>
          </p:cNvPr>
          <p:cNvSpPr>
            <a:spLocks xmlns:a="http://schemas.openxmlformats.org/drawingml/2006/main" noGrp="1"/>
          </p:cNvSpPr>
          <p:nvPr/>
        </p:nvSpPr>
        <p:spPr>
          <a:xfrm xmlns:a="http://schemas.openxmlformats.org/drawingml/2006/main">
            <a:off x="11144250" y="6477000"/>
            <a:ext cx="4095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929699"/>
                </a:solidFill>
                <a:latin typeface="Calibri"/>
                <a:ea typeface="Calibri"/>
                <a:cs typeface="Calibri"/>
              </a:defRPr>
            </a:defPPr>
          </a:lstStyle>
          <a:p xmlns:a="http://schemas.openxmlformats.org/drawingml/2006/main">
            <a:pPr algn="r">
              <a:defRPr sz="900" b="0">
                <a:solidFill>
                  <a:srgbClr val="929699"/>
                </a:solidFill>
                <a:latin typeface="Calibri"/>
                <a:ea typeface="Calibri"/>
                <a:cs typeface="Calibri"/>
              </a:defRPr>
            </a:pPr>
            <a:r>
              <a:rPr sz="900" b="0">
                <a:solidFill>
                  <a:srgbClr val="929699"/>
                </a:solidFill>
                <a:latin typeface="Calibri"/>
                <a:ea typeface="Calibri"/>
                <a:cs typeface="Calibri"/>
              </a:rPr>
              <a:t>18</a:t>
            </a:r>
          </a:p>
        </p:txBody>
      </p:sp>
      <p:sp>
        <p:nvSpPr>
          <p:cNvPr id="4" name="Clow, Vlow, Dlow">
            <a:extLst xmlns:a="http://schemas.openxmlformats.org/drawingml/2006/main">
              <a:ext uri="{FF2B5EF4-FFF2-40B4-BE49-F238E27FC236}">
                <a16:creationId xmlns:a16="http://schemas.microsoft.com/office/drawing/2014/main" id="{2A21A3DC-8E43-471A-95CE-CADBFDD71BAA}"/>
              </a:ext>
            </a:extLst>
          </p:cNvPr>
          <p:cNvSpPr>
            <a:spLocks xmlns:a="http://schemas.openxmlformats.org/drawingml/2006/main" noGrp="1"/>
          </p:cNvSpPr>
          <p:nvPr/>
        </p:nvSpPr>
        <p:spPr>
          <a:xfrm xmlns:a="http://schemas.openxmlformats.org/drawingml/2006/main">
            <a:off x="638175" y="1600200"/>
            <a:ext cx="2800350" cy="581025"/>
          </a:xfrm>
          <a:prstGeom xmlns:a="http://schemas.openxmlformats.org/drawingml/2006/main" prst="roundRect">
            <a:avLst>
              <a:gd name="adj" fmla="val 13115"/>
            </a:avLst>
          </a:prstGeom>
          <a:solidFill xmlns:a="http://schemas.openxmlformats.org/drawingml/2006/main">
            <a:srgbClr val="D5E5F4"/>
          </a:solidFill>
          <a:ln xmlns:a="http://schemas.openxmlformats.org/drawingml/2006/main" w="12383">
            <a:solidFill>
              <a:srgbClr val="4F82AF"/>
            </a:solidFill>
          </a:ln>
        </p:spPr>
        <p:txBody>
          <a:bodyPr xmlns:a="http://schemas.openxmlformats.org/drawingml/2006/main" wrap="square" lIns="66675" tIns="28575" rIns="66675" bIns="28575" anchor="ctr">
            <a:noAutofit/>
          </a:bodyPr>
          <a:lstStyle xmlns:a="http://schemas.openxmlformats.org/drawingml/2006/main">
            <a:defPPr algn="ctr">
              <a:defRPr sz="1950">
                <a:solidFill>
                  <a:srgbClr val="202124"/>
                </a:solidFill>
                <a:latin typeface="Calibri"/>
                <a:ea typeface="Calibri"/>
                <a:cs typeface="Calibri"/>
              </a:defRPr>
            </a:defPPr>
          </a:lstStyle>
          <a:p xmlns:a="http://schemas.openxmlformats.org/drawingml/2006/main">
            <a:pPr algn="ctr">
              <a:defRPr sz="1950">
                <a:solidFill>
                  <a:srgbClr val="202124"/>
                </a:solidFill>
                <a:latin typeface="Calibri"/>
                <a:ea typeface="Calibri"/>
                <a:cs typeface="Calibri"/>
              </a:defRPr>
            </a:pPr>
            <a:r>
              <a:rPr sz="1950">
                <a:solidFill>
                  <a:srgbClr val="202124"/>
                </a:solidFill>
                <a:latin typeface="Calibri"/>
                <a:ea typeface="Calibri"/>
                <a:cs typeface="Calibri"/>
              </a:rPr>
              <a:t>Clow, Vlow, Dlow</a:t>
            </a:r>
          </a:p>
        </p:txBody>
      </p:sp>
      <p:sp>
        <p:nvSpPr>
          <p:cNvPr id="5" name="Context fusion">
            <a:extLst xmlns:a="http://schemas.openxmlformats.org/drawingml/2006/main">
              <a:ext uri="{FF2B5EF4-FFF2-40B4-BE49-F238E27FC236}">
                <a16:creationId xmlns:a16="http://schemas.microsoft.com/office/drawing/2014/main" id="{CB3B02E4-4645-4462-BD57-CB19FEF5C0B9}"/>
              </a:ext>
            </a:extLst>
          </p:cNvPr>
          <p:cNvSpPr>
            <a:spLocks xmlns:a="http://schemas.openxmlformats.org/drawingml/2006/main" noGrp="1"/>
          </p:cNvSpPr>
          <p:nvPr/>
        </p:nvSpPr>
        <p:spPr>
          <a:xfrm xmlns:a="http://schemas.openxmlformats.org/drawingml/2006/main">
            <a:off x="4791075" y="1600200"/>
            <a:ext cx="2371725" cy="581025"/>
          </a:xfrm>
          <a:prstGeom xmlns:a="http://schemas.openxmlformats.org/drawingml/2006/main" prst="roundRect">
            <a:avLst>
              <a:gd name="adj" fmla="val 13115"/>
            </a:avLst>
          </a:prstGeom>
          <a:solidFill xmlns:a="http://schemas.openxmlformats.org/drawingml/2006/main">
            <a:srgbClr val="D5E5F4"/>
          </a:solidFill>
          <a:ln xmlns:a="http://schemas.openxmlformats.org/drawingml/2006/main" w="12383">
            <a:solidFill>
              <a:srgbClr val="4F82AF"/>
            </a:solidFill>
          </a:ln>
        </p:spPr>
        <p:txBody>
          <a:bodyPr xmlns:a="http://schemas.openxmlformats.org/drawingml/2006/main" wrap="square" lIns="66675" tIns="28575" rIns="66675" bIns="28575" anchor="ctr">
            <a:noAutofit/>
          </a:bodyPr>
          <a:lstStyle xmlns:a="http://schemas.openxmlformats.org/drawingml/2006/main">
            <a:defPPr algn="ctr">
              <a:defRPr sz="1950">
                <a:solidFill>
                  <a:srgbClr val="202124"/>
                </a:solidFill>
                <a:latin typeface="Calibri"/>
                <a:ea typeface="Calibri"/>
                <a:cs typeface="Calibri"/>
              </a:defRPr>
            </a:defPPr>
          </a:lstStyle>
          <a:p xmlns:a="http://schemas.openxmlformats.org/drawingml/2006/main">
            <a:pPr algn="ctr">
              <a:defRPr sz="1950">
                <a:solidFill>
                  <a:srgbClr val="202124"/>
                </a:solidFill>
                <a:latin typeface="Calibri"/>
                <a:ea typeface="Calibri"/>
                <a:cs typeface="Calibri"/>
              </a:defRPr>
            </a:pPr>
            <a:r>
              <a:rPr sz="1950">
                <a:solidFill>
                  <a:srgbClr val="202124"/>
                </a:solidFill>
                <a:latin typeface="Calibri"/>
                <a:ea typeface="Calibri"/>
                <a:cs typeface="Calibri"/>
              </a:rPr>
              <a:t>Context fusion</a:t>
            </a:r>
          </a:p>
        </p:txBody>
      </p:sp>
      <p:sp>
        <p:nvSpPr>
          <p:cNvPr id="7" name="Conv → Softmax&#10;wlow">
            <a:extLst xmlns:a="http://schemas.openxmlformats.org/drawingml/2006/main">
              <a:ext uri="{FF2B5EF4-FFF2-40B4-BE49-F238E27FC236}">
                <a16:creationId xmlns:a16="http://schemas.microsoft.com/office/drawing/2014/main" id="{ED249A56-B71F-4F9C-9535-0EC4DB07E374}"/>
              </a:ext>
            </a:extLst>
          </p:cNvPr>
          <p:cNvSpPr>
            <a:spLocks xmlns:a="http://schemas.openxmlformats.org/drawingml/2006/main" noGrp="1"/>
          </p:cNvSpPr>
          <p:nvPr/>
        </p:nvSpPr>
        <p:spPr>
          <a:xfrm xmlns:a="http://schemas.openxmlformats.org/drawingml/2006/main">
            <a:off x="2362200" y="2924175"/>
            <a:ext cx="2438400" cy="695325"/>
          </a:xfrm>
          <a:prstGeom xmlns:a="http://schemas.openxmlformats.org/drawingml/2006/main" prst="roundRect">
            <a:avLst>
              <a:gd name="adj" fmla="val 10959"/>
            </a:avLst>
          </a:prstGeom>
          <a:solidFill xmlns:a="http://schemas.openxmlformats.org/drawingml/2006/main">
            <a:srgbClr val="D5E5F4"/>
          </a:solidFill>
          <a:ln xmlns:a="http://schemas.openxmlformats.org/drawingml/2006/main" w="12383">
            <a:solidFill>
              <a:srgbClr val="4F82AF"/>
            </a:solidFill>
          </a:ln>
        </p:spPr>
        <p:txBody>
          <a:bodyPr xmlns:a="http://schemas.openxmlformats.org/drawingml/2006/main" wrap="square" lIns="66675" tIns="28575" rIns="66675" bIns="28575" anchor="ctr">
            <a:noAutofit/>
          </a:bodyPr>
          <a:lstStyle xmlns:a="http://schemas.openxmlformats.org/drawingml/2006/main">
            <a:defPPr algn="ctr">
              <a:defRPr sz="1950">
                <a:solidFill>
                  <a:srgbClr val="202124"/>
                </a:solidFill>
                <a:latin typeface="Calibri"/>
                <a:ea typeface="Calibri"/>
                <a:cs typeface="Calibri"/>
              </a:defRPr>
            </a:defPPr>
          </a:lstStyle>
          <a:p xmlns:a="http://schemas.openxmlformats.org/drawingml/2006/main">
            <a:pPr algn="ctr">
              <a:defRPr sz="1950">
                <a:solidFill>
                  <a:srgbClr val="202124"/>
                </a:solidFill>
                <a:latin typeface="Calibri"/>
                <a:ea typeface="Calibri"/>
                <a:cs typeface="Calibri"/>
              </a:defRPr>
            </a:pPr>
            <a:r>
              <a:rPr sz="1950">
                <a:solidFill>
                  <a:srgbClr val="202124"/>
                </a:solidFill>
                <a:latin typeface="Calibri"/>
                <a:ea typeface="Calibri"/>
                <a:cs typeface="Calibri"/>
              </a:rPr>
              <a:t>Conv → Softmax</a:t>
            </a:r>
          </a:p>
          <a:p xmlns:a="http://schemas.openxmlformats.org/drawingml/2006/main">
            <a:pPr algn="ctr">
              <a:defRPr sz="1950">
                <a:solidFill>
                  <a:srgbClr val="202124"/>
                </a:solidFill>
                <a:latin typeface="Calibri"/>
                <a:ea typeface="Calibri"/>
                <a:cs typeface="Calibri"/>
              </a:defRPr>
            </a:pPr>
            <a:r>
              <a:rPr sz="1950">
                <a:solidFill>
                  <a:srgbClr val="202124"/>
                </a:solidFill>
                <a:latin typeface="Calibri"/>
                <a:ea typeface="Calibri"/>
                <a:cs typeface="Calibri"/>
              </a:rPr>
              <a:t>wlow</a:t>
            </a:r>
          </a:p>
        </p:txBody>
      </p:sp>
      <p:sp>
        <p:nvSpPr>
          <p:cNvPr id="8" name="Conv → Softmax&#10;whigh">
            <a:extLst xmlns:a="http://schemas.openxmlformats.org/drawingml/2006/main">
              <a:ext uri="{FF2B5EF4-FFF2-40B4-BE49-F238E27FC236}">
                <a16:creationId xmlns:a16="http://schemas.microsoft.com/office/drawing/2014/main" id="{E573633B-CD23-4008-94B9-F4230051F133}"/>
              </a:ext>
            </a:extLst>
          </p:cNvPr>
          <p:cNvSpPr>
            <a:spLocks xmlns:a="http://schemas.openxmlformats.org/drawingml/2006/main" noGrp="1"/>
          </p:cNvSpPr>
          <p:nvPr/>
        </p:nvSpPr>
        <p:spPr>
          <a:xfrm xmlns:a="http://schemas.openxmlformats.org/drawingml/2006/main">
            <a:off x="8296275" y="2924175"/>
            <a:ext cx="2438400" cy="695325"/>
          </a:xfrm>
          <a:prstGeom xmlns:a="http://schemas.openxmlformats.org/drawingml/2006/main" prst="roundRect">
            <a:avLst>
              <a:gd name="adj" fmla="val 10959"/>
            </a:avLst>
          </a:prstGeom>
          <a:solidFill xmlns:a="http://schemas.openxmlformats.org/drawingml/2006/main">
            <a:srgbClr val="F9DFC1"/>
          </a:solidFill>
          <a:ln xmlns:a="http://schemas.openxmlformats.org/drawingml/2006/main" w="12383">
            <a:solidFill>
              <a:srgbClr val="CA863D"/>
            </a:solidFill>
          </a:ln>
        </p:spPr>
        <p:txBody>
          <a:bodyPr xmlns:a="http://schemas.openxmlformats.org/drawingml/2006/main" wrap="square" lIns="66675" tIns="28575" rIns="66675" bIns="28575" anchor="ctr">
            <a:noAutofit/>
          </a:bodyPr>
          <a:lstStyle xmlns:a="http://schemas.openxmlformats.org/drawingml/2006/main">
            <a:defPPr algn="ctr">
              <a:defRPr sz="1950">
                <a:solidFill>
                  <a:srgbClr val="202124"/>
                </a:solidFill>
                <a:latin typeface="Calibri"/>
                <a:ea typeface="Calibri"/>
                <a:cs typeface="Calibri"/>
              </a:defRPr>
            </a:defPPr>
          </a:lstStyle>
          <a:p xmlns:a="http://schemas.openxmlformats.org/drawingml/2006/main">
            <a:pPr algn="ctr">
              <a:defRPr sz="1950">
                <a:solidFill>
                  <a:srgbClr val="202124"/>
                </a:solidFill>
                <a:latin typeface="Calibri"/>
                <a:ea typeface="Calibri"/>
                <a:cs typeface="Calibri"/>
              </a:defRPr>
            </a:pPr>
            <a:r>
              <a:rPr sz="1950">
                <a:solidFill>
                  <a:srgbClr val="202124"/>
                </a:solidFill>
                <a:latin typeface="Calibri"/>
                <a:ea typeface="Calibri"/>
                <a:cs typeface="Calibri"/>
              </a:rPr>
              <a:t>Conv → Softmax</a:t>
            </a:r>
          </a:p>
          <a:p xmlns:a="http://schemas.openxmlformats.org/drawingml/2006/main">
            <a:pPr algn="ctr">
              <a:defRPr sz="1950">
                <a:solidFill>
                  <a:srgbClr val="202124"/>
                </a:solidFill>
                <a:latin typeface="Calibri"/>
                <a:ea typeface="Calibri"/>
                <a:cs typeface="Calibri"/>
              </a:defRPr>
            </a:pPr>
            <a:r>
              <a:rPr sz="1950">
                <a:solidFill>
                  <a:srgbClr val="202124"/>
                </a:solidFill>
                <a:latin typeface="Calibri"/>
                <a:ea typeface="Calibri"/>
                <a:cs typeface="Calibri"/>
              </a:rPr>
              <a:t>whigh</a:t>
            </a:r>
          </a:p>
        </p:txBody>
      </p:sp>
      <p:sp>
        <p:nvSpPr>
          <p:cNvPr id="11" name="D">
            <a:extLst xmlns:a="http://schemas.openxmlformats.org/drawingml/2006/main">
              <a:ext uri="{FF2B5EF4-FFF2-40B4-BE49-F238E27FC236}">
                <a16:creationId xmlns:a16="http://schemas.microsoft.com/office/drawing/2014/main" id="{4E5FDE0C-5592-443C-ADA0-C91913EC6D73}"/>
              </a:ext>
            </a:extLst>
          </p:cNvPr>
          <p:cNvSpPr>
            <a:spLocks xmlns:a="http://schemas.openxmlformats.org/drawingml/2006/main" noGrp="1"/>
          </p:cNvSpPr>
          <p:nvPr/>
        </p:nvSpPr>
        <p:spPr>
          <a:xfrm xmlns:a="http://schemas.openxmlformats.org/drawingml/2006/main">
            <a:off x="638175" y="4133850"/>
            <a:ext cx="857250" cy="571500"/>
          </a:xfrm>
          <a:prstGeom xmlns:a="http://schemas.openxmlformats.org/drawingml/2006/main" prst="cube">
            <a:avLst/>
          </a:prstGeom>
          <a:solidFill xmlns:a="http://schemas.openxmlformats.org/drawingml/2006/main">
            <a:srgbClr val="DCDDF0"/>
          </a:solidFill>
          <a:ln xmlns:a="http://schemas.openxmlformats.org/drawingml/2006/main" w="12383">
            <a:solidFill>
              <a:srgbClr val="8586B7"/>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D</a:t>
            </a:r>
          </a:p>
        </p:txBody>
      </p:sp>
      <p:sp>
        <p:nvSpPr>
          <p:cNvPr id="12" name="C*">
            <a:extLst xmlns:a="http://schemas.openxmlformats.org/drawingml/2006/main">
              <a:ext uri="{FF2B5EF4-FFF2-40B4-BE49-F238E27FC236}">
                <a16:creationId xmlns:a16="http://schemas.microsoft.com/office/drawing/2014/main" id="{1B911EA9-5E7D-407B-969E-A771043134D5}"/>
              </a:ext>
            </a:extLst>
          </p:cNvPr>
          <p:cNvSpPr>
            <a:spLocks xmlns:a="http://schemas.openxmlformats.org/drawingml/2006/main" noGrp="1"/>
          </p:cNvSpPr>
          <p:nvPr/>
        </p:nvSpPr>
        <p:spPr>
          <a:xfrm xmlns:a="http://schemas.openxmlformats.org/drawingml/2006/main">
            <a:off x="6534150" y="4133850"/>
            <a:ext cx="857250" cy="571500"/>
          </a:xfrm>
          <a:prstGeom xmlns:a="http://schemas.openxmlformats.org/drawingml/2006/main" prst="cube">
            <a:avLst/>
          </a:prstGeom>
          <a:solidFill xmlns:a="http://schemas.openxmlformats.org/drawingml/2006/main">
            <a:srgbClr val="DCDDF0"/>
          </a:solidFill>
          <a:ln xmlns:a="http://schemas.openxmlformats.org/drawingml/2006/main" w="12383">
            <a:solidFill>
              <a:srgbClr val="8586B7"/>
            </a:solidFill>
          </a:ln>
        </p:spPr>
        <p:txBody>
          <a:bodyPr xmlns:a="http://schemas.openxmlformats.org/drawingml/2006/main" wrap="square" lIns="66675" tIns="28575" rIns="66675" bIns="28575" anchor="ctr">
            <a:noAutofit/>
          </a:bodyPr>
          <a:lstStyle xmlns:a="http://schemas.openxmlformats.org/drawingml/2006/main">
            <a:defPPr algn="ctr">
              <a:defRPr sz="1650">
                <a:solidFill>
                  <a:srgbClr val="202124"/>
                </a:solidFill>
                <a:latin typeface="Calibri"/>
                <a:ea typeface="Calibri"/>
                <a:cs typeface="Calibri"/>
              </a:defRPr>
            </a:defPPr>
          </a:lstStyle>
          <a:p xmlns:a="http://schemas.openxmlformats.org/drawingml/2006/main">
            <a:pPr algn="ctr">
              <a:defRPr sz="1650">
                <a:solidFill>
                  <a:srgbClr val="202124"/>
                </a:solidFill>
                <a:latin typeface="Calibri"/>
                <a:ea typeface="Calibri"/>
                <a:cs typeface="Calibri"/>
              </a:defRPr>
            </a:pPr>
            <a:r>
              <a:rPr sz="1650">
                <a:solidFill>
                  <a:srgbClr val="202124"/>
                </a:solidFill>
                <a:latin typeface="Calibri"/>
                <a:ea typeface="Calibri"/>
                <a:cs typeface="Calibri"/>
              </a:rPr>
              <a:t>C*</a:t>
            </a:r>
          </a:p>
        </p:txBody>
      </p:sp>
      <p:sp>
        <p:nvSpPr>
          <p:cNvPr id="13" name="Filter bank&#10;LPlow(D)">
            <a:extLst xmlns:a="http://schemas.openxmlformats.org/drawingml/2006/main">
              <a:ext uri="{FF2B5EF4-FFF2-40B4-BE49-F238E27FC236}">
                <a16:creationId xmlns:a16="http://schemas.microsoft.com/office/drawing/2014/main" id="{7227E42D-7A1A-4759-A8F9-D6BF3E739925}"/>
              </a:ext>
            </a:extLst>
          </p:cNvPr>
          <p:cNvSpPr>
            <a:spLocks xmlns:a="http://schemas.openxmlformats.org/drawingml/2006/main" noGrp="1"/>
          </p:cNvSpPr>
          <p:nvPr/>
        </p:nvSpPr>
        <p:spPr>
          <a:xfrm xmlns:a="http://schemas.openxmlformats.org/drawingml/2006/main">
            <a:off x="2362200" y="4048125"/>
            <a:ext cx="2438400" cy="762000"/>
          </a:xfrm>
          <a:prstGeom xmlns:a="http://schemas.openxmlformats.org/drawingml/2006/main" prst="roundRect">
            <a:avLst>
              <a:gd name="adj" fmla="val 10000"/>
            </a:avLst>
          </a:prstGeom>
          <a:solidFill xmlns:a="http://schemas.openxmlformats.org/drawingml/2006/main">
            <a:srgbClr val="D5E5F4"/>
          </a:solidFill>
          <a:ln xmlns:a="http://schemas.openxmlformats.org/drawingml/2006/main" w="12383">
            <a:solidFill>
              <a:srgbClr val="4F82AF"/>
            </a:solidFill>
          </a:ln>
        </p:spPr>
        <p:txBody>
          <a:bodyPr xmlns:a="http://schemas.openxmlformats.org/drawingml/2006/main" wrap="square" lIns="66675" tIns="28575" rIns="66675" bIns="28575" anchor="ctr">
            <a:noAutofit/>
          </a:bodyPr>
          <a:lstStyle xmlns:a="http://schemas.openxmlformats.org/drawingml/2006/main">
            <a:defPPr algn="ctr">
              <a:defRPr sz="1950">
                <a:solidFill>
                  <a:srgbClr val="202124"/>
                </a:solidFill>
                <a:latin typeface="Calibri"/>
                <a:ea typeface="Calibri"/>
                <a:cs typeface="Calibri"/>
              </a:defRPr>
            </a:defPPr>
          </a:lstStyle>
          <a:p xmlns:a="http://schemas.openxmlformats.org/drawingml/2006/main">
            <a:pPr algn="ctr">
              <a:defRPr sz="1950">
                <a:solidFill>
                  <a:srgbClr val="202124"/>
                </a:solidFill>
                <a:latin typeface="Calibri"/>
                <a:ea typeface="Calibri"/>
                <a:cs typeface="Calibri"/>
              </a:defRPr>
            </a:pPr>
            <a:r>
              <a:rPr sz="1950">
                <a:solidFill>
                  <a:srgbClr val="202124"/>
                </a:solidFill>
                <a:latin typeface="Calibri"/>
                <a:ea typeface="Calibri"/>
                <a:cs typeface="Calibri"/>
              </a:rPr>
              <a:t>Filter bank</a:t>
            </a:r>
          </a:p>
          <a:p xmlns:a="http://schemas.openxmlformats.org/drawingml/2006/main">
            <a:pPr algn="ctr">
              <a:defRPr sz="1950">
                <a:solidFill>
                  <a:srgbClr val="202124"/>
                </a:solidFill>
                <a:latin typeface="Calibri"/>
                <a:ea typeface="Calibri"/>
                <a:cs typeface="Calibri"/>
              </a:defRPr>
            </a:pPr>
            <a:r>
              <a:rPr sz="1950">
                <a:solidFill>
                  <a:srgbClr val="202124"/>
                </a:solidFill>
                <a:latin typeface="Calibri"/>
                <a:ea typeface="Calibri"/>
                <a:cs typeface="Calibri"/>
              </a:rPr>
              <a:t>LPlow(D)</a:t>
            </a:r>
          </a:p>
        </p:txBody>
      </p:sp>
      <p:sp>
        <p:nvSpPr>
          <p:cNvPr id="14" name="Filter bank&#10;LPhigh(C*)">
            <a:extLst xmlns:a="http://schemas.openxmlformats.org/drawingml/2006/main">
              <a:ext uri="{FF2B5EF4-FFF2-40B4-BE49-F238E27FC236}">
                <a16:creationId xmlns:a16="http://schemas.microsoft.com/office/drawing/2014/main" id="{8631C201-4016-4538-B1B9-29008454D8F9}"/>
              </a:ext>
            </a:extLst>
          </p:cNvPr>
          <p:cNvSpPr>
            <a:spLocks xmlns:a="http://schemas.openxmlformats.org/drawingml/2006/main" noGrp="1"/>
          </p:cNvSpPr>
          <p:nvPr/>
        </p:nvSpPr>
        <p:spPr>
          <a:xfrm xmlns:a="http://schemas.openxmlformats.org/drawingml/2006/main">
            <a:off x="8296275" y="4048125"/>
            <a:ext cx="2438400" cy="762000"/>
          </a:xfrm>
          <a:prstGeom xmlns:a="http://schemas.openxmlformats.org/drawingml/2006/main" prst="roundRect">
            <a:avLst>
              <a:gd name="adj" fmla="val 10000"/>
            </a:avLst>
          </a:prstGeom>
          <a:solidFill xmlns:a="http://schemas.openxmlformats.org/drawingml/2006/main">
            <a:srgbClr val="F9DFC1"/>
          </a:solidFill>
          <a:ln xmlns:a="http://schemas.openxmlformats.org/drawingml/2006/main" w="12383">
            <a:solidFill>
              <a:srgbClr val="CA863D"/>
            </a:solidFill>
          </a:ln>
        </p:spPr>
        <p:txBody>
          <a:bodyPr xmlns:a="http://schemas.openxmlformats.org/drawingml/2006/main" wrap="square" lIns="66675" tIns="28575" rIns="66675" bIns="28575" anchor="ctr">
            <a:noAutofit/>
          </a:bodyPr>
          <a:lstStyle xmlns:a="http://schemas.openxmlformats.org/drawingml/2006/main">
            <a:defPPr algn="ctr">
              <a:defRPr sz="1950">
                <a:solidFill>
                  <a:srgbClr val="202124"/>
                </a:solidFill>
                <a:latin typeface="Calibri"/>
                <a:ea typeface="Calibri"/>
                <a:cs typeface="Calibri"/>
              </a:defRPr>
            </a:defPPr>
          </a:lstStyle>
          <a:p xmlns:a="http://schemas.openxmlformats.org/drawingml/2006/main">
            <a:pPr algn="ctr">
              <a:defRPr sz="1950">
                <a:solidFill>
                  <a:srgbClr val="202124"/>
                </a:solidFill>
                <a:latin typeface="Calibri"/>
                <a:ea typeface="Calibri"/>
                <a:cs typeface="Calibri"/>
              </a:defRPr>
            </a:pPr>
            <a:r>
              <a:rPr sz="1950">
                <a:solidFill>
                  <a:srgbClr val="202124"/>
                </a:solidFill>
                <a:latin typeface="Calibri"/>
                <a:ea typeface="Calibri"/>
                <a:cs typeface="Calibri"/>
              </a:rPr>
              <a:t>Filter bank</a:t>
            </a:r>
          </a:p>
          <a:p xmlns:a="http://schemas.openxmlformats.org/drawingml/2006/main">
            <a:pPr algn="ctr">
              <a:defRPr sz="1950">
                <a:solidFill>
                  <a:srgbClr val="202124"/>
                </a:solidFill>
                <a:latin typeface="Calibri"/>
                <a:ea typeface="Calibri"/>
                <a:cs typeface="Calibri"/>
              </a:defRPr>
            </a:pPr>
            <a:r>
              <a:rPr sz="1950">
                <a:solidFill>
                  <a:srgbClr val="202124"/>
                </a:solidFill>
                <a:latin typeface="Calibri"/>
                <a:ea typeface="Calibri"/>
                <a:cs typeface="Calibri"/>
              </a:rPr>
              <a:t>LPhigh(C*)</a:t>
            </a:r>
          </a:p>
        </p:txBody>
      </p:sp>
      <p:sp>
        <p:nvSpPr>
          <p:cNvPr id="19" name="D′ = D + α [LPlow(D) − D]">
            <a:extLst xmlns:a="http://schemas.openxmlformats.org/drawingml/2006/main">
              <a:ext uri="{FF2B5EF4-FFF2-40B4-BE49-F238E27FC236}">
                <a16:creationId xmlns:a16="http://schemas.microsoft.com/office/drawing/2014/main" id="{25C4298E-2F69-4D39-9ECA-19B01C30376D}"/>
              </a:ext>
            </a:extLst>
          </p:cNvPr>
          <p:cNvSpPr>
            <a:spLocks xmlns:a="http://schemas.openxmlformats.org/drawingml/2006/main" noGrp="1"/>
          </p:cNvSpPr>
          <p:nvPr/>
        </p:nvSpPr>
        <p:spPr>
          <a:xfrm xmlns:a="http://schemas.openxmlformats.org/drawingml/2006/main">
            <a:off x="638175" y="5191125"/>
            <a:ext cx="5191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4F82AF"/>
                </a:solidFill>
                <a:latin typeface="Calibri"/>
                <a:ea typeface="Calibri"/>
                <a:cs typeface="Calibri"/>
              </a:defRPr>
            </a:defPPr>
          </a:lstStyle>
          <a:p xmlns:a="http://schemas.openxmlformats.org/drawingml/2006/main">
            <a:pPr algn="l">
              <a:defRPr sz="2175" b="1">
                <a:solidFill>
                  <a:srgbClr val="4F82AF"/>
                </a:solidFill>
                <a:latin typeface="Calibri"/>
                <a:ea typeface="Calibri"/>
                <a:cs typeface="Calibri"/>
              </a:defRPr>
            </a:pPr>
            <a:r>
              <a:rPr sz="2175" b="1">
                <a:solidFill>
                  <a:srgbClr val="4F82AF"/>
                </a:solidFill>
                <a:latin typeface="Calibri"/>
                <a:ea typeface="Calibri"/>
                <a:cs typeface="Calibri"/>
              </a:rPr>
              <a:t>D′ = D + α [LPlow(D) − D]</a:t>
            </a:r>
          </a:p>
        </p:txBody>
      </p:sp>
      <p:sp>
        <p:nvSpPr>
          <p:cNvPr id="20" name="Radapt = β [C* − LPhigh(C*)]">
            <a:extLst xmlns:a="http://schemas.openxmlformats.org/drawingml/2006/main">
              <a:ext uri="{FF2B5EF4-FFF2-40B4-BE49-F238E27FC236}">
                <a16:creationId xmlns:a16="http://schemas.microsoft.com/office/drawing/2014/main" id="{F24898B7-9117-4CE4-A1BC-E93DF221A350}"/>
              </a:ext>
            </a:extLst>
          </p:cNvPr>
          <p:cNvSpPr>
            <a:spLocks xmlns:a="http://schemas.openxmlformats.org/drawingml/2006/main" noGrp="1"/>
          </p:cNvSpPr>
          <p:nvPr/>
        </p:nvSpPr>
        <p:spPr>
          <a:xfrm xmlns:a="http://schemas.openxmlformats.org/drawingml/2006/main">
            <a:off x="6534150" y="5191125"/>
            <a:ext cx="5019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CA863D"/>
                </a:solidFill>
                <a:latin typeface="Calibri"/>
                <a:ea typeface="Calibri"/>
                <a:cs typeface="Calibri"/>
              </a:defRPr>
            </a:defPPr>
          </a:lstStyle>
          <a:p xmlns:a="http://schemas.openxmlformats.org/drawingml/2006/main">
            <a:pPr algn="l">
              <a:defRPr sz="2175" b="1">
                <a:solidFill>
                  <a:srgbClr val="CA863D"/>
                </a:solidFill>
                <a:latin typeface="Calibri"/>
                <a:ea typeface="Calibri"/>
                <a:cs typeface="Calibri"/>
              </a:defRPr>
            </a:pPr>
            <a:r>
              <a:rPr sz="2175" b="1">
                <a:solidFill>
                  <a:srgbClr val="CA863D"/>
                </a:solidFill>
                <a:latin typeface="Calibri"/>
                <a:ea typeface="Calibri"/>
                <a:cs typeface="Calibri"/>
              </a:rPr>
              <a:t>Radapt = β [C* − LPhigh(C*)]</a:t>
            </a:r>
          </a:p>
        </p:txBody>
      </p:sp>
      <p:sp>
        <p:nvSpPr>
          <p:cNvPr id="21" name="Each bank mixes identity, 3×3 blur and 5×5 blur with sp">
            <a:extLst xmlns:a="http://schemas.openxmlformats.org/drawingml/2006/main">
              <a:ext uri="{FF2B5EF4-FFF2-40B4-BE49-F238E27FC236}">
                <a16:creationId xmlns:a16="http://schemas.microsoft.com/office/drawing/2014/main" id="{0E8B484D-F410-4FEB-9986-02902A63D3AC}"/>
              </a:ext>
            </a:extLst>
          </p:cNvPr>
          <p:cNvSpPr>
            <a:spLocks xmlns:a="http://schemas.openxmlformats.org/drawingml/2006/main" noGrp="1"/>
          </p:cNvSpPr>
          <p:nvPr/>
        </p:nvSpPr>
        <p:spPr>
          <a:xfrm xmlns:a="http://schemas.openxmlformats.org/drawingml/2006/main">
            <a:off x="638175" y="5962650"/>
            <a:ext cx="10915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202124"/>
                </a:solidFill>
                <a:latin typeface="Calibri"/>
                <a:ea typeface="Calibri"/>
                <a:cs typeface="Calibri"/>
              </a:defRPr>
            </a:defPPr>
          </a:lstStyle>
          <a:p xmlns:a="http://schemas.openxmlformats.org/drawingml/2006/main">
            <a:pPr algn="l">
              <a:defRPr sz="1875" b="0">
                <a:solidFill>
                  <a:srgbClr val="202124"/>
                </a:solidFill>
                <a:latin typeface="Calibri"/>
                <a:ea typeface="Calibri"/>
                <a:cs typeface="Calibri"/>
              </a:defRPr>
            </a:pPr>
            <a:r>
              <a:rPr sz="1875" b="0">
                <a:solidFill>
                  <a:srgbClr val="202124"/>
                </a:solidFill>
                <a:latin typeface="Calibri"/>
                <a:ea typeface="Calibri"/>
                <a:cs typeface="Calibri"/>
              </a:rPr>
              <a:t>Each bank mixes identity, 3×3 blur and 5×5 blur with spatially varying weights.</a:t>
            </a:r>
          </a:p>
        </p:txBody>
      </p:sp>
    </p:spTree>
    <p:extLst>
      <p:ext uri="{BB962C8B-B14F-4D97-AF65-F5344CB8AC3E}">
        <p14:creationId xmlns:p14="http://schemas.microsoft.com/office/powerpoint/2010/main" val="160446591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矩形 6">
            <a:extLst xmlns:a="http://schemas.openxmlformats.org/drawingml/2006/main">
              <a:ext uri="{FF2B5EF4-FFF2-40B4-BE49-F238E27FC236}">
                <a16:creationId xmlns:a16="http://schemas.microsoft.com/office/drawing/2014/main" id="{7AF08B09-7A22-47D9-9201-62EFAEA8EF8D}"/>
              </a:ext>
            </a:extLst>
          </p:cNvPr>
          <p:cNvSpPr>
            <a:spLocks xmlns:a="http://schemas.openxmlformats.org/drawingml/2006/main" noGrp="1"/>
          </p:cNvSpPr>
          <p:nvPr/>
        </p:nvSpPr>
        <p:spPr>
          <a:xfrm xmlns:a="http://schemas.openxmlformats.org/drawingml/2006/main">
            <a:off x="640080" y="361950"/>
            <a:ext cx="10915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11111"/>
                </a:solidFill>
                <a:latin typeface="Cambria"/>
                <a:ea typeface="Cambria"/>
                <a:cs typeface="Cambria"/>
              </a:defRPr>
            </a:pPr>
            <a:r>
              <a:rPr sz="3000" b="1">
                <a:solidFill>
                  <a:srgbClr val="111111"/>
                </a:solidFill>
                <a:latin typeface="Cambria"/>
                <a:ea typeface="Cambria"/>
                <a:cs typeface="Cambria"/>
              </a:rPr>
              <a:t>RACE: routing and auxiliary training</a:t>
            </a:r>
          </a:p>
        </p:txBody>
      </p:sp>
      <p:sp>
        <p:nvSpPr>
          <p:cNvPr id="2" name="矩形 1">
            <a:extLst xmlns:a="http://schemas.openxmlformats.org/drawingml/2006/main">
              <a:ext uri="{FF2B5EF4-FFF2-40B4-BE49-F238E27FC236}">
                <a16:creationId xmlns:a16="http://schemas.microsoft.com/office/drawing/2014/main" id="{5443F980-202B-4D1A-B27F-C8328498CBE7}"/>
              </a:ext>
            </a:extLst>
          </p:cNvPr>
          <p:cNvSpPr>
            <a:spLocks xmlns:a="http://schemas.openxmlformats.org/drawingml/2006/main" noGrp="1"/>
          </p:cNvSpPr>
          <p:nvPr/>
        </p:nvSpPr>
        <p:spPr>
          <a:xfrm xmlns:a="http://schemas.openxmlformats.org/drawingml/2006/main">
            <a:off x="638175" y="646747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Backup: matched single-cycle comparison, seed 1219</a:t>
            </a:r>
          </a:p>
        </p:txBody>
      </p:sp>
      <p:sp>
        <p:nvSpPr>
          <p:cNvPr id="3" name="矩形 2">
            <a:extLst xmlns:a="http://schemas.openxmlformats.org/drawingml/2006/main">
              <a:ext uri="{FF2B5EF4-FFF2-40B4-BE49-F238E27FC236}">
                <a16:creationId xmlns:a16="http://schemas.microsoft.com/office/drawing/2014/main" id="{806A354D-BE71-407F-A3CF-B71D0D0A685B}"/>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19</a:t>
            </a:r>
          </a:p>
        </p:txBody>
      </p:sp>
      <p:graphicFrame>
        <p:nvGraphicFramePr>
          <p:cNvPr id="10" name="表格 9">
            <a:extLst xmlns:a="http://schemas.openxmlformats.org/drawingml/2006/main">
              <a:ext uri="{FF2B5EF4-FFF2-40B4-BE49-F238E27FC236}">
                <a16:creationId xmlns:a16="http://schemas.microsoft.com/office/drawing/2014/main" id="{DF23521A-6A8E-4471-A632-DDAE4E5C1238}"/>
              </a:ext>
            </a:extLst>
          </p:cNvPr>
          <p:cNvGraphicFramePr/>
          <p:nvPr/>
        </p:nvGraphicFramePr>
        <p:xfrm>
          <a:off xmlns:a="http://schemas.openxmlformats.org/drawingml/2006/main" x="638175" y="1724025"/>
          <a:ext xmlns:a="http://schemas.openxmlformats.org/drawingml/2006/main" cx="10915650" cy="3162300"/>
        </p:xfrm>
        <a:graphic xmlns:a="http://schemas.openxmlformats.org/drawingml/2006/main">
          <a:graphicData uri="http://schemas.openxmlformats.org/drawingml/2006/table">
            <a:tbl>
              <a:tblPr/>
              <a:tblGrid>
                <a:gridCol w="4810125"/>
                <a:gridCol w="2724150"/>
                <a:gridCol w="3381375"/>
              </a:tblGrid>
              <a:tr h="790575">
                <a:tc>
                  <a:txBody>
                    <a:bodyPr/>
                    <a:lstStyle/>
                    <a:p>
                      <a:r>
                        <a:rPr sz="1875" b="1">
                          <a:solidFill>
                            <a:srgbClr val="FFFFFF"/>
                          </a:solidFill>
                          <a:latin typeface="Calibri"/>
                          <a:ea typeface="Calibri"/>
                          <a:cs typeface="Calibri"/>
                        </a:rPr>
                        <a:t>Change from FSDR</a:t>
                      </a:r>
                    </a:p>
                  </a:txBody>
                  <a:tcPr marL="114300" marR="95250" marT="47625" marB="47625" anchor="ctr">
                    <a:solidFill>
                      <a:srgbClr val="111111"/>
                    </a:solidFill>
                  </a:tcPr>
                </a:tc>
                <a:tc>
                  <a:txBody>
                    <a:bodyPr/>
                    <a:lstStyle/>
                    <a:p>
                      <a:r>
                        <a:rPr sz="1875" b="1">
                          <a:solidFill>
                            <a:srgbClr val="FFFFFF"/>
                          </a:solidFill>
                          <a:latin typeface="Calibri"/>
                          <a:ea typeface="Calibri"/>
                          <a:cs typeface="Calibri"/>
                        </a:rPr>
                        <a:t>Δ Test IoU (pp)</a:t>
                      </a:r>
                    </a:p>
                  </a:txBody>
                  <a:tcPr marL="114300" marR="95250" marT="47625" marB="47625" anchor="ctr">
                    <a:solidFill>
                      <a:srgbClr val="111111"/>
                    </a:solidFill>
                  </a:tcPr>
                </a:tc>
                <a:tc>
                  <a:txBody>
                    <a:bodyPr/>
                    <a:lstStyle/>
                    <a:p>
                      <a:r>
                        <a:rPr sz="1875" b="1">
                          <a:solidFill>
                            <a:srgbClr val="FFFFFF"/>
                          </a:solidFill>
                          <a:latin typeface="Calibri"/>
                          <a:ea typeface="Calibri"/>
                          <a:cs typeface="Calibri"/>
                        </a:rPr>
                        <a:t>Image-paired 95% CI</a:t>
                      </a:r>
                    </a:p>
                  </a:txBody>
                  <a:tcPr marL="114300" marR="95250" marT="47625" marB="47625" anchor="ctr">
                    <a:solidFill>
                      <a:srgbClr val="111111"/>
                    </a:solidFill>
                  </a:tcPr>
                </a:tc>
              </a:tr>
              <a:tr h="790575">
                <a:tc>
                  <a:txBody>
                    <a:bodyPr/>
                    <a:lstStyle/>
                    <a:p>
                      <a:r>
                        <a:rPr sz="1875" b="0">
                          <a:solidFill>
                            <a:srgbClr val="111111"/>
                          </a:solidFill>
                          <a:latin typeface="Calibri"/>
                          <a:ea typeface="Calibri"/>
                          <a:cs typeface="Calibri"/>
                        </a:rPr>
                        <a:t>Auxiliary training only</a:t>
                      </a:r>
                    </a:p>
                  </a:txBody>
                  <a:tcPr marL="114300" marR="95250" marT="47625" marB="47625" anchor="ctr">
                    <a:solidFill>
                      <a:srgbClr val="FFFFFF"/>
                    </a:solidFill>
                  </a:tcPr>
                </a:tc>
                <a:tc>
                  <a:txBody>
                    <a:bodyPr/>
                    <a:lstStyle/>
                    <a:p>
                      <a:r>
                        <a:rPr sz="1875" b="0">
                          <a:solidFill>
                            <a:srgbClr val="111111"/>
                          </a:solidFill>
                          <a:latin typeface="Calibri"/>
                          <a:ea typeface="Calibri"/>
                          <a:cs typeface="Calibri"/>
                        </a:rPr>
                        <a:t>+0.1915</a:t>
                      </a:r>
                    </a:p>
                  </a:txBody>
                  <a:tcPr marL="114300" marR="95250" marT="47625" marB="47625" anchor="ctr">
                    <a:solidFill>
                      <a:srgbClr val="FFFFFF"/>
                    </a:solidFill>
                  </a:tcPr>
                </a:tc>
                <a:tc>
                  <a:txBody>
                    <a:bodyPr/>
                    <a:lstStyle/>
                    <a:p>
                      <a:r>
                        <a:rPr sz="1875" b="0">
                          <a:solidFill>
                            <a:srgbClr val="111111"/>
                          </a:solidFill>
                          <a:latin typeface="Calibri"/>
                          <a:ea typeface="Calibri"/>
                          <a:cs typeface="Calibri"/>
                        </a:rPr>
                        <a:t>[−0.0498, +0.4340]</a:t>
                      </a:r>
                    </a:p>
                  </a:txBody>
                  <a:tcPr marL="114300" marR="95250" marT="47625" marB="47625" anchor="ctr">
                    <a:solidFill>
                      <a:srgbClr val="FFFFFF"/>
                    </a:solidFill>
                  </a:tcPr>
                </a:tc>
              </a:tr>
              <a:tr h="790575">
                <a:tc>
                  <a:txBody>
                    <a:bodyPr/>
                    <a:lstStyle/>
                    <a:p>
                      <a:r>
                        <a:rPr sz="1875" b="0">
                          <a:solidFill>
                            <a:srgbClr val="111111"/>
                          </a:solidFill>
                          <a:latin typeface="Calibri"/>
                          <a:ea typeface="Calibri"/>
                          <a:cs typeface="Calibri"/>
                        </a:rPr>
                        <a:t>Routing with auxiliary fixed</a:t>
                      </a:r>
                    </a:p>
                  </a:txBody>
                  <a:tcPr marL="114300" marR="95250" marT="47625" marB="47625" anchor="ctr">
                    <a:solidFill>
                      <a:srgbClr val="F3F3F3"/>
                    </a:solidFill>
                  </a:tcPr>
                </a:tc>
                <a:tc>
                  <a:txBody>
                    <a:bodyPr/>
                    <a:lstStyle/>
                    <a:p>
                      <a:r>
                        <a:rPr sz="1875" b="0">
                          <a:solidFill>
                            <a:srgbClr val="111111"/>
                          </a:solidFill>
                          <a:latin typeface="Calibri"/>
                          <a:ea typeface="Calibri"/>
                          <a:cs typeface="Calibri"/>
                        </a:rPr>
                        <a:t>+0.2472</a:t>
                      </a:r>
                    </a:p>
                  </a:txBody>
                  <a:tcPr marL="114300" marR="95250" marT="47625" marB="47625" anchor="ctr">
                    <a:solidFill>
                      <a:srgbClr val="F3F3F3"/>
                    </a:solidFill>
                  </a:tcPr>
                </a:tc>
                <a:tc>
                  <a:txBody>
                    <a:bodyPr/>
                    <a:lstStyle/>
                    <a:p>
                      <a:r>
                        <a:rPr sz="1875" b="0">
                          <a:solidFill>
                            <a:srgbClr val="111111"/>
                          </a:solidFill>
                          <a:latin typeface="Calibri"/>
                          <a:ea typeface="Calibri"/>
                          <a:cs typeface="Calibri"/>
                        </a:rPr>
                        <a:t>[−0.0348, +0.5211]</a:t>
                      </a:r>
                    </a:p>
                  </a:txBody>
                  <a:tcPr marL="114300" marR="95250" marT="47625" marB="47625" anchor="ctr">
                    <a:solidFill>
                      <a:srgbClr val="F3F3F3"/>
                    </a:solidFill>
                  </a:tcPr>
                </a:tc>
              </a:tr>
              <a:tr h="790575">
                <a:tc>
                  <a:txBody>
                    <a:bodyPr/>
                    <a:lstStyle/>
                    <a:p>
                      <a:r>
                        <a:rPr sz="1875" b="0">
                          <a:solidFill>
                            <a:srgbClr val="111111"/>
                          </a:solidFill>
                          <a:latin typeface="Calibri"/>
                          <a:ea typeface="Calibri"/>
                          <a:cs typeface="Calibri"/>
                        </a:rPr>
                        <a:t>Complete RACE</a:t>
                      </a:r>
                    </a:p>
                  </a:txBody>
                  <a:tcPr marL="114300" marR="95250" marT="47625" marB="47625" anchor="ctr">
                    <a:solidFill>
                      <a:srgbClr val="FFFFFF"/>
                    </a:solidFill>
                  </a:tcPr>
                </a:tc>
                <a:tc>
                  <a:txBody>
                    <a:bodyPr/>
                    <a:lstStyle/>
                    <a:p>
                      <a:r>
                        <a:rPr sz="1875" b="0">
                          <a:solidFill>
                            <a:srgbClr val="111111"/>
                          </a:solidFill>
                          <a:latin typeface="Calibri"/>
                          <a:ea typeface="Calibri"/>
                          <a:cs typeface="Calibri"/>
                        </a:rPr>
                        <a:t>+0.4387</a:t>
                      </a:r>
                    </a:p>
                  </a:txBody>
                  <a:tcPr marL="114300" marR="95250" marT="47625" marB="47625" anchor="ctr">
                    <a:solidFill>
                      <a:srgbClr val="FFFFFF"/>
                    </a:solidFill>
                  </a:tcPr>
                </a:tc>
                <a:tc>
                  <a:txBody>
                    <a:bodyPr/>
                    <a:lstStyle/>
                    <a:p>
                      <a:r>
                        <a:rPr sz="1875" b="0">
                          <a:solidFill>
                            <a:srgbClr val="111111"/>
                          </a:solidFill>
                          <a:latin typeface="Calibri"/>
                          <a:ea typeface="Calibri"/>
                          <a:cs typeface="Calibri"/>
                        </a:rPr>
                        <a:t>[+0.1405, +0.7276]</a:t>
                      </a:r>
                    </a:p>
                  </a:txBody>
                  <a:tcPr marL="114300" marR="95250" marT="47625" marB="47625" anchor="ctr">
                    <a:solidFill>
                      <a:srgbClr val="FFFFFF"/>
                    </a:solidFill>
                  </a:tcPr>
                </a:tc>
              </a:tr>
            </a:tbl>
          </a:graphicData>
        </a:graphic>
      </p:graphicFrame>
      <p:sp>
        <p:nvSpPr>
          <p:cNvPr id="5" name="矩形 4">
            <a:extLst xmlns:a="http://schemas.openxmlformats.org/drawingml/2006/main">
              <a:ext uri="{FF2B5EF4-FFF2-40B4-BE49-F238E27FC236}">
                <a16:creationId xmlns:a16="http://schemas.microsoft.com/office/drawing/2014/main" id="{CE7D5A47-E452-4315-9DE8-BD8AB780C7C9}"/>
              </a:ext>
            </a:extLst>
          </p:cNvPr>
          <p:cNvSpPr>
            <a:spLocks xmlns:a="http://schemas.openxmlformats.org/drawingml/2006/main" noGrp="1"/>
          </p:cNvSpPr>
          <p:nvPr/>
        </p:nvSpPr>
        <p:spPr>
          <a:xfrm xmlns:a="http://schemas.openxmlformats.org/drawingml/2006/main">
            <a:off x="638175" y="5248275"/>
            <a:ext cx="10915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1">
                <a:solidFill>
                  <a:srgbClr val="111111"/>
                </a:solidFill>
                <a:latin typeface="Calibri"/>
                <a:ea typeface="Calibri"/>
                <a:cs typeface="Calibri"/>
              </a:defRPr>
            </a:pPr>
            <a:r>
              <a:rPr sz="1950" b="1">
                <a:solidFill>
                  <a:srgbClr val="111111"/>
                </a:solidFill>
                <a:latin typeface="Calibri"/>
                <a:ea typeface="Calibri"/>
                <a:cs typeface="Calibri"/>
              </a:rPr>
              <a:t>Routing has a positive point estimate, but its interval crosses zero.</a:t>
            </a:r>
          </a:p>
        </p:txBody>
      </p:sp>
      <p:sp>
        <p:nvSpPr>
          <p:cNvPr id="6" name="矩形 5">
            <a:extLst xmlns:a="http://schemas.openxmlformats.org/drawingml/2006/main">
              <a:ext uri="{FF2B5EF4-FFF2-40B4-BE49-F238E27FC236}">
                <a16:creationId xmlns:a16="http://schemas.microsoft.com/office/drawing/2014/main" id="{17602991-EFA0-40CD-9C13-D8A67890C78B}"/>
              </a:ext>
            </a:extLst>
          </p:cNvPr>
          <p:cNvSpPr>
            <a:spLocks xmlns:a="http://schemas.openxmlformats.org/drawingml/2006/main" noGrp="1"/>
          </p:cNvSpPr>
          <p:nvPr/>
        </p:nvSpPr>
        <p:spPr>
          <a:xfrm xmlns:a="http://schemas.openxmlformats.org/drawingml/2006/main">
            <a:off x="638175" y="5762625"/>
            <a:ext cx="10915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Single seed. These intervals describe image-level uncertainty.</a:t>
            </a:r>
          </a:p>
          <a:p xmlns:a="http://schemas.openxmlformats.org/drawingml/2006/main">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The three-seed main study evaluates complete RACE as one module.</a:t>
            </a:r>
          </a:p>
        </p:txBody>
      </p:sp>
    </p:spTree>
    <p:extLst>
      <p:ext uri="{BB962C8B-B14F-4D97-AF65-F5344CB8AC3E}">
        <p14:creationId xmlns:p14="http://schemas.microsoft.com/office/powerpoint/2010/main" val="149266661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矩形 6">
            <a:extLst xmlns:a="http://schemas.openxmlformats.org/drawingml/2006/main">
              <a:ext uri="{FF2B5EF4-FFF2-40B4-BE49-F238E27FC236}">
                <a16:creationId xmlns:a16="http://schemas.microsoft.com/office/drawing/2014/main" id="{9A552AF6-ABBF-45FB-82E9-4E8AD8A715C9}"/>
              </a:ext>
            </a:extLst>
          </p:cNvPr>
          <p:cNvSpPr>
            <a:spLocks xmlns:a="http://schemas.openxmlformats.org/drawingml/2006/main" noGrp="1"/>
          </p:cNvSpPr>
          <p:nvPr/>
        </p:nvSpPr>
        <p:spPr>
          <a:xfrm xmlns:a="http://schemas.openxmlformats.org/drawingml/2006/main">
            <a:off x="640080" y="361950"/>
            <a:ext cx="10915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11111"/>
                </a:solidFill>
                <a:latin typeface="Cambria"/>
                <a:ea typeface="Cambria"/>
                <a:cs typeface="Cambria"/>
              </a:defRPr>
            </a:pPr>
            <a:r>
              <a:rPr sz="3000" b="1">
                <a:solidFill>
                  <a:srgbClr val="111111"/>
                </a:solidFill>
                <a:latin typeface="Cambria"/>
                <a:ea typeface="Cambria"/>
                <a:cs typeface="Cambria"/>
              </a:rPr>
              <a:t>Validation and Test under the single-cycle recipe</a:t>
            </a:r>
          </a:p>
        </p:txBody>
      </p:sp>
      <p:sp>
        <p:nvSpPr>
          <p:cNvPr id="2" name="矩形 1">
            <a:extLst xmlns:a="http://schemas.openxmlformats.org/drawingml/2006/main">
              <a:ext uri="{FF2B5EF4-FFF2-40B4-BE49-F238E27FC236}">
                <a16:creationId xmlns:a16="http://schemas.microsoft.com/office/drawing/2014/main" id="{F6C52E25-E7A7-437E-AFC2-219DDA89A8CF}"/>
              </a:ext>
            </a:extLst>
          </p:cNvPr>
          <p:cNvSpPr>
            <a:spLocks xmlns:a="http://schemas.openxmlformats.org/drawingml/2006/main" noGrp="1"/>
          </p:cNvSpPr>
          <p:nvPr/>
        </p:nvSpPr>
        <p:spPr>
          <a:xfrm xmlns:a="http://schemas.openxmlformats.org/drawingml/2006/main">
            <a:off x="638175" y="646747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Backup: three-seed means</a:t>
            </a:r>
          </a:p>
        </p:txBody>
      </p:sp>
      <p:sp>
        <p:nvSpPr>
          <p:cNvPr id="3" name="矩形 2">
            <a:extLst xmlns:a="http://schemas.openxmlformats.org/drawingml/2006/main">
              <a:ext uri="{FF2B5EF4-FFF2-40B4-BE49-F238E27FC236}">
                <a16:creationId xmlns:a16="http://schemas.microsoft.com/office/drawing/2014/main" id="{8E865F65-F1C6-4D99-BE70-432BE19AFE15}"/>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20</a:t>
            </a:r>
          </a:p>
        </p:txBody>
      </p:sp>
      <p:graphicFrame>
        <p:nvGraphicFramePr>
          <p:cNvPr id="10" name="表格 9">
            <a:extLst xmlns:a="http://schemas.openxmlformats.org/drawingml/2006/main">
              <a:ext uri="{FF2B5EF4-FFF2-40B4-BE49-F238E27FC236}">
                <a16:creationId xmlns:a16="http://schemas.microsoft.com/office/drawing/2014/main" id="{414A96A9-B4DB-4E1F-8C9E-98CAEEC86CA9}"/>
              </a:ext>
            </a:extLst>
          </p:cNvPr>
          <p:cNvGraphicFramePr/>
          <p:nvPr/>
        </p:nvGraphicFramePr>
        <p:xfrm>
          <a:off xmlns:a="http://schemas.openxmlformats.org/drawingml/2006/main" x="638175" y="1724025"/>
          <a:ext xmlns:a="http://schemas.openxmlformats.org/drawingml/2006/main" cx="10915650" cy="3143250"/>
        </p:xfrm>
        <a:graphic xmlns:a="http://schemas.openxmlformats.org/drawingml/2006/main">
          <a:graphicData uri="http://schemas.openxmlformats.org/drawingml/2006/table">
            <a:tbl>
              <a:tblPr/>
              <a:tblGrid>
                <a:gridCol w="5067300"/>
                <a:gridCol w="2924175"/>
                <a:gridCol w="2924175"/>
              </a:tblGrid>
              <a:tr h="628650">
                <a:tc>
                  <a:txBody>
                    <a:bodyPr/>
                    <a:lstStyle/>
                    <a:p>
                      <a:r>
                        <a:rPr sz="1875" b="1">
                          <a:solidFill>
                            <a:srgbClr val="FFFFFF"/>
                          </a:solidFill>
                          <a:latin typeface="Calibri"/>
                          <a:ea typeface="Calibri"/>
                          <a:cs typeface="Calibri"/>
                        </a:rPr>
                        <a:t>Configuration</a:t>
                      </a:r>
                    </a:p>
                  </a:txBody>
                  <a:tcPr marL="114300" marR="95250" marT="47625" marB="47625" anchor="ctr">
                    <a:solidFill>
                      <a:srgbClr val="111111"/>
                    </a:solidFill>
                  </a:tcPr>
                </a:tc>
                <a:tc>
                  <a:txBody>
                    <a:bodyPr/>
                    <a:lstStyle/>
                    <a:p>
                      <a:r>
                        <a:rPr sz="1875" b="1">
                          <a:solidFill>
                            <a:srgbClr val="FFFFFF"/>
                          </a:solidFill>
                          <a:latin typeface="Calibri"/>
                          <a:ea typeface="Calibri"/>
                          <a:cs typeface="Calibri"/>
                        </a:rPr>
                        <a:t>Val IoU (%)</a:t>
                      </a:r>
                    </a:p>
                  </a:txBody>
                  <a:tcPr marL="114300" marR="95250" marT="47625" marB="47625" anchor="ctr">
                    <a:solidFill>
                      <a:srgbClr val="111111"/>
                    </a:solidFill>
                  </a:tcPr>
                </a:tc>
                <a:tc>
                  <a:txBody>
                    <a:bodyPr/>
                    <a:lstStyle/>
                    <a:p>
                      <a:r>
                        <a:rPr sz="1875" b="1">
                          <a:solidFill>
                            <a:srgbClr val="FFFFFF"/>
                          </a:solidFill>
                          <a:latin typeface="Calibri"/>
                          <a:ea typeface="Calibri"/>
                          <a:cs typeface="Calibri"/>
                        </a:rPr>
                        <a:t>Test IoU (%)</a:t>
                      </a:r>
                    </a:p>
                  </a:txBody>
                  <a:tcPr marL="114300" marR="95250" marT="47625" marB="47625" anchor="ctr">
                    <a:solidFill>
                      <a:srgbClr val="111111"/>
                    </a:solidFill>
                  </a:tcPr>
                </a:tc>
              </a:tr>
              <a:tr h="628650">
                <a:tc>
                  <a:txBody>
                    <a:bodyPr/>
                    <a:lstStyle/>
                    <a:p>
                      <a:r>
                        <a:rPr sz="1875" b="0">
                          <a:solidFill>
                            <a:srgbClr val="111111"/>
                          </a:solidFill>
                          <a:latin typeface="Calibri"/>
                          <a:ea typeface="Calibri"/>
                          <a:cs typeface="Calibri"/>
                        </a:rPr>
                        <a:t>LViT-PLAM</a:t>
                      </a:r>
                    </a:p>
                  </a:txBody>
                  <a:tcPr marL="114300" marR="95250" marT="47625" marB="47625" anchor="ctr">
                    <a:solidFill>
                      <a:srgbClr val="FFFFFF"/>
                    </a:solidFill>
                  </a:tcPr>
                </a:tc>
                <a:tc>
                  <a:txBody>
                    <a:bodyPr/>
                    <a:lstStyle/>
                    <a:p>
                      <a:r>
                        <a:rPr sz="1875" b="0">
                          <a:solidFill>
                            <a:srgbClr val="111111"/>
                          </a:solidFill>
                          <a:latin typeface="Calibri"/>
                          <a:ea typeface="Calibri"/>
                          <a:cs typeface="Calibri"/>
                        </a:rPr>
                        <a:t>72.3228 ± 0.0550</a:t>
                      </a:r>
                    </a:p>
                  </a:txBody>
                  <a:tcPr marL="114300" marR="95250" marT="47625" marB="47625" anchor="ctr">
                    <a:solidFill>
                      <a:srgbClr val="FFFFFF"/>
                    </a:solidFill>
                  </a:tcPr>
                </a:tc>
                <a:tc>
                  <a:txBody>
                    <a:bodyPr/>
                    <a:lstStyle/>
                    <a:p>
                      <a:r>
                        <a:rPr sz="1875" b="0">
                          <a:solidFill>
                            <a:srgbClr val="111111"/>
                          </a:solidFill>
                          <a:latin typeface="Calibri"/>
                          <a:ea typeface="Calibri"/>
                          <a:cs typeface="Calibri"/>
                        </a:rPr>
                        <a:t>75.4775 ± 0.0851</a:t>
                      </a:r>
                    </a:p>
                  </a:txBody>
                  <a:tcPr marL="114300" marR="95250" marT="47625" marB="47625" anchor="ctr">
                    <a:solidFill>
                      <a:srgbClr val="FFFFFF"/>
                    </a:solidFill>
                  </a:tcPr>
                </a:tc>
              </a:tr>
              <a:tr h="628650">
                <a:tc>
                  <a:txBody>
                    <a:bodyPr/>
                    <a:lstStyle/>
                    <a:p>
                      <a:r>
                        <a:rPr sz="1875" b="0">
                          <a:solidFill>
                            <a:srgbClr val="111111"/>
                          </a:solidFill>
                          <a:latin typeface="Calibri"/>
                          <a:ea typeface="Calibri"/>
                          <a:cs typeface="Calibri"/>
                        </a:rPr>
                        <a:t>FSDR only</a:t>
                      </a:r>
                    </a:p>
                  </a:txBody>
                  <a:tcPr marL="114300" marR="95250" marT="47625" marB="47625" anchor="ctr">
                    <a:solidFill>
                      <a:srgbClr val="F3F3F3"/>
                    </a:solidFill>
                  </a:tcPr>
                </a:tc>
                <a:tc>
                  <a:txBody>
                    <a:bodyPr/>
                    <a:lstStyle/>
                    <a:p>
                      <a:r>
                        <a:rPr sz="1875" b="0">
                          <a:solidFill>
                            <a:srgbClr val="111111"/>
                          </a:solidFill>
                          <a:latin typeface="Calibri"/>
                          <a:ea typeface="Calibri"/>
                          <a:cs typeface="Calibri"/>
                        </a:rPr>
                        <a:t>72.7873 ± 0.2260</a:t>
                      </a:r>
                    </a:p>
                  </a:txBody>
                  <a:tcPr marL="114300" marR="95250" marT="47625" marB="47625" anchor="ctr">
                    <a:solidFill>
                      <a:srgbClr val="F3F3F3"/>
                    </a:solidFill>
                  </a:tcPr>
                </a:tc>
                <a:tc>
                  <a:txBody>
                    <a:bodyPr/>
                    <a:lstStyle/>
                    <a:p>
                      <a:r>
                        <a:rPr sz="1875" b="0">
                          <a:solidFill>
                            <a:srgbClr val="111111"/>
                          </a:solidFill>
                          <a:latin typeface="Calibri"/>
                          <a:ea typeface="Calibri"/>
                          <a:cs typeface="Calibri"/>
                        </a:rPr>
                        <a:t>75.9833 ± 0.1511</a:t>
                      </a:r>
                    </a:p>
                  </a:txBody>
                  <a:tcPr marL="114300" marR="95250" marT="47625" marB="47625" anchor="ctr">
                    <a:solidFill>
                      <a:srgbClr val="F3F3F3"/>
                    </a:solidFill>
                  </a:tcPr>
                </a:tc>
              </a:tr>
              <a:tr h="628650">
                <a:tc>
                  <a:txBody>
                    <a:bodyPr/>
                    <a:lstStyle/>
                    <a:p>
                      <a:r>
                        <a:rPr sz="1875" b="0">
                          <a:solidFill>
                            <a:srgbClr val="111111"/>
                          </a:solidFill>
                          <a:latin typeface="Calibri"/>
                          <a:ea typeface="Calibri"/>
                          <a:cs typeface="Calibri"/>
                        </a:rPr>
                        <a:t>PLAM + complete RACE</a:t>
                      </a:r>
                    </a:p>
                  </a:txBody>
                  <a:tcPr marL="114300" marR="95250" marT="47625" marB="47625" anchor="ctr">
                    <a:solidFill>
                      <a:srgbClr val="FFFFFF"/>
                    </a:solidFill>
                  </a:tcPr>
                </a:tc>
                <a:tc>
                  <a:txBody>
                    <a:bodyPr/>
                    <a:lstStyle/>
                    <a:p>
                      <a:r>
                        <a:rPr sz="1875" b="0">
                          <a:solidFill>
                            <a:srgbClr val="111111"/>
                          </a:solidFill>
                          <a:latin typeface="Calibri"/>
                          <a:ea typeface="Calibri"/>
                          <a:cs typeface="Calibri"/>
                        </a:rPr>
                        <a:t>72.5443 ± 0.0694</a:t>
                      </a:r>
                    </a:p>
                  </a:txBody>
                  <a:tcPr marL="114300" marR="95250" marT="47625" marB="47625" anchor="ctr">
                    <a:solidFill>
                      <a:srgbClr val="FFFFFF"/>
                    </a:solidFill>
                  </a:tcPr>
                </a:tc>
                <a:tc>
                  <a:txBody>
                    <a:bodyPr/>
                    <a:lstStyle/>
                    <a:p>
                      <a:r>
                        <a:rPr sz="1875" b="0">
                          <a:solidFill>
                            <a:srgbClr val="111111"/>
                          </a:solidFill>
                          <a:latin typeface="Calibri"/>
                          <a:ea typeface="Calibri"/>
                          <a:cs typeface="Calibri"/>
                        </a:rPr>
                        <a:t>75.6962 ± 0.1068</a:t>
                      </a:r>
                    </a:p>
                  </a:txBody>
                  <a:tcPr marL="114300" marR="95250" marT="47625" marB="47625" anchor="ctr">
                    <a:solidFill>
                      <a:srgbClr val="FFFFFF"/>
                    </a:solidFill>
                  </a:tcPr>
                </a:tc>
              </a:tr>
              <a:tr h="628650">
                <a:tc>
                  <a:txBody>
                    <a:bodyPr/>
                    <a:lstStyle/>
                    <a:p>
                      <a:r>
                        <a:rPr sz="1875" b="1">
                          <a:solidFill>
                            <a:srgbClr val="111111"/>
                          </a:solidFill>
                          <a:latin typeface="Calibri"/>
                          <a:ea typeface="Calibri"/>
                          <a:cs typeface="Calibri"/>
                        </a:rPr>
                        <a:t>FSDR + complete RACE</a:t>
                      </a:r>
                    </a:p>
                  </a:txBody>
                  <a:tcPr marL="114300" marR="95250" marT="47625" marB="47625" anchor="ctr">
                    <a:solidFill>
                      <a:srgbClr val="F3F3F3"/>
                    </a:solidFill>
                  </a:tcPr>
                </a:tc>
                <a:tc>
                  <a:txBody>
                    <a:bodyPr/>
                    <a:lstStyle/>
                    <a:p>
                      <a:r>
                        <a:rPr sz="1875" b="1">
                          <a:solidFill>
                            <a:srgbClr val="111111"/>
                          </a:solidFill>
                          <a:latin typeface="Calibri"/>
                          <a:ea typeface="Calibri"/>
                          <a:cs typeface="Calibri"/>
                        </a:rPr>
                        <a:t>72.9832 ± 0.2229</a:t>
                      </a:r>
                    </a:p>
                  </a:txBody>
                  <a:tcPr marL="114300" marR="95250" marT="47625" marB="47625" anchor="ctr">
                    <a:solidFill>
                      <a:srgbClr val="F3F3F3"/>
                    </a:solidFill>
                  </a:tcPr>
                </a:tc>
                <a:tc>
                  <a:txBody>
                    <a:bodyPr/>
                    <a:lstStyle/>
                    <a:p>
                      <a:r>
                        <a:rPr sz="1875" b="1">
                          <a:solidFill>
                            <a:srgbClr val="111111"/>
                          </a:solidFill>
                          <a:latin typeface="Calibri"/>
                          <a:ea typeface="Calibri"/>
                          <a:cs typeface="Calibri"/>
                        </a:rPr>
                        <a:t>76.2262 ± 0.0456</a:t>
                      </a:r>
                    </a:p>
                  </a:txBody>
                  <a:tcPr marL="114300" marR="95250" marT="47625" marB="47625" anchor="ctr">
                    <a:solidFill>
                      <a:srgbClr val="F3F3F3"/>
                    </a:solidFill>
                  </a:tcPr>
                </a:tc>
              </a:tr>
            </a:tbl>
          </a:graphicData>
        </a:graphic>
      </p:graphicFrame>
      <p:sp>
        <p:nvSpPr>
          <p:cNvPr id="5" name="矩形 4">
            <a:extLst xmlns:a="http://schemas.openxmlformats.org/drawingml/2006/main">
              <a:ext uri="{FF2B5EF4-FFF2-40B4-BE49-F238E27FC236}">
                <a16:creationId xmlns:a16="http://schemas.microsoft.com/office/drawing/2014/main" id="{2B77B0B9-5866-4A14-A17F-BF15DEF16DFE}"/>
              </a:ext>
            </a:extLst>
          </p:cNvPr>
          <p:cNvSpPr>
            <a:spLocks xmlns:a="http://schemas.openxmlformats.org/drawingml/2006/main" noGrp="1"/>
          </p:cNvSpPr>
          <p:nvPr/>
        </p:nvSpPr>
        <p:spPr>
          <a:xfrm xmlns:a="http://schemas.openxmlformats.org/drawingml/2006/main">
            <a:off x="638175" y="5257800"/>
            <a:ext cx="10915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1">
                <a:solidFill>
                  <a:srgbClr val="111111"/>
                </a:solidFill>
                <a:latin typeface="Calibri"/>
                <a:ea typeface="Calibri"/>
                <a:cs typeface="Calibri"/>
              </a:defRPr>
            </a:pPr>
            <a:r>
              <a:rPr sz="1950" b="1">
                <a:solidFill>
                  <a:srgbClr val="111111"/>
                </a:solidFill>
                <a:latin typeface="Calibri"/>
                <a:ea typeface="Calibri"/>
                <a:cs typeface="Calibri"/>
              </a:rPr>
              <a:t>Validation chooses the checkpoint. Test supplies the final reported result.</a:t>
            </a:r>
          </a:p>
        </p:txBody>
      </p:sp>
      <p:sp>
        <p:nvSpPr>
          <p:cNvPr id="6" name="矩形 5">
            <a:extLst xmlns:a="http://schemas.openxmlformats.org/drawingml/2006/main">
              <a:ext uri="{FF2B5EF4-FFF2-40B4-BE49-F238E27FC236}">
                <a16:creationId xmlns:a16="http://schemas.microsoft.com/office/drawing/2014/main" id="{3AFC53DF-4183-4EC5-A1ED-BAA6E01EC061}"/>
              </a:ext>
            </a:extLst>
          </p:cNvPr>
          <p:cNvSpPr>
            <a:spLocks xmlns:a="http://schemas.openxmlformats.org/drawingml/2006/main" noGrp="1"/>
          </p:cNvSpPr>
          <p:nvPr/>
        </p:nvSpPr>
        <p:spPr>
          <a:xfrm xmlns:a="http://schemas.openxmlformats.org/drawingml/2006/main">
            <a:off x="638175" y="5791200"/>
            <a:ext cx="10915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Mean ± sample SD across the same three seeds.</a:t>
            </a:r>
          </a:p>
          <a:p xmlns:a="http://schemas.openxmlformats.org/drawingml/2006/main">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The result applies to the current split and shared training recipe.</a:t>
            </a:r>
          </a:p>
        </p:txBody>
      </p:sp>
    </p:spTree>
    <p:extLst>
      <p:ext uri="{BB962C8B-B14F-4D97-AF65-F5344CB8AC3E}">
        <p14:creationId xmlns:p14="http://schemas.microsoft.com/office/powerpoint/2010/main" val="92628824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282A81-28B7-41C3-8AEB-48E4FB38D647}"/>
              </a:ext>
            </a:extLst>
          </p:cNvPr>
          <p:cNvSpPr>
            <a:spLocks xmlns:a="http://schemas.openxmlformats.org/drawingml/2006/main" noGrp="1"/>
          </p:cNvSpPr>
          <p:nvPr/>
        </p:nvSpPr>
        <p:spPr>
          <a:xfrm xmlns:a="http://schemas.openxmlformats.org/drawingml/2006/main">
            <a:off x="640080" y="361950"/>
            <a:ext cx="10382250" cy="9525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000" b="1">
                <a:solidFill>
                  <a:srgbClr val="111111"/>
                </a:solidFill>
                <a:latin typeface="Cambria"/>
                <a:ea typeface="Cambria"/>
                <a:cs typeface="Cambria"/>
              </a:defRPr>
            </a:pPr>
            <a:r>
              <a:rPr sz="3000" b="1">
                <a:solidFill>
                  <a:srgbClr val="111111"/>
                </a:solidFill>
                <a:latin typeface="Cambria"/>
                <a:ea typeface="Cambria"/>
                <a:cs typeface="Cambria"/>
              </a:rPr>
              <a:t>Evaluation protocol</a:t>
            </a:r>
            <a:endParaRPr sz="2800"/>
          </a:p>
        </p:txBody>
      </p:sp>
      <p:graphicFrame>
        <p:nvGraphicFramePr>
          <p:cNvPr id="15" name="表格 14">
            <a:extLst xmlns:a="http://schemas.openxmlformats.org/drawingml/2006/main">
              <a:ext uri="{FF2B5EF4-FFF2-40B4-BE49-F238E27FC236}">
                <a16:creationId xmlns:a16="http://schemas.microsoft.com/office/drawing/2014/main" id="{29B46389-A11D-45E7-902E-A15C573F829B}"/>
              </a:ext>
            </a:extLst>
          </p:cNvPr>
          <p:cNvGraphicFramePr/>
          <p:nvPr/>
        </p:nvGraphicFramePr>
        <p:xfrm>
          <a:off xmlns:a="http://schemas.openxmlformats.org/drawingml/2006/main" x="638175" y="1657350"/>
          <a:ext xmlns:a="http://schemas.openxmlformats.org/drawingml/2006/main" cx="10915650" cy="2590800"/>
        </p:xfrm>
        <a:graphic xmlns:a="http://schemas.openxmlformats.org/drawingml/2006/main">
          <a:graphicData uri="http://schemas.openxmlformats.org/drawingml/2006/table">
            <a:tbl>
              <a:tblPr/>
              <a:tblGrid>
                <a:gridCol w="2524125"/>
                <a:gridCol w="2047875"/>
                <a:gridCol w="6343650"/>
              </a:tblGrid>
              <a:tr h="647700">
                <a:tc>
                  <a:txBody>
                    <a:bodyPr/>
                    <a:lstStyle/>
                    <a:p>
                      <a:r>
                        <a:rPr sz="1875" b="1">
                          <a:solidFill>
                            <a:srgbClr val="FFFFFF"/>
                          </a:solidFill>
                          <a:latin typeface="Calibri"/>
                          <a:ea typeface="Calibri"/>
                          <a:cs typeface="Calibri"/>
                        </a:rPr>
                        <a:t>Split</a:t>
                      </a:r>
                    </a:p>
                  </a:txBody>
                  <a:tcPr marL="114300" marR="95250" marT="66675" marB="47625" anchor="ctr">
                    <a:solidFill>
                      <a:srgbClr val="111111"/>
                    </a:solidFill>
                  </a:tcPr>
                </a:tc>
                <a:tc>
                  <a:txBody>
                    <a:bodyPr/>
                    <a:lstStyle/>
                    <a:p>
                      <a:r>
                        <a:rPr sz="1875" b="1">
                          <a:solidFill>
                            <a:srgbClr val="FFFFFF"/>
                          </a:solidFill>
                          <a:latin typeface="Calibri"/>
                          <a:ea typeface="Calibri"/>
                          <a:cs typeface="Calibri"/>
                        </a:rPr>
                        <a:t>Images</a:t>
                      </a:r>
                    </a:p>
                  </a:txBody>
                  <a:tcPr marL="114300" marR="95250" marT="66675" marB="47625" anchor="ctr">
                    <a:solidFill>
                      <a:srgbClr val="111111"/>
                    </a:solidFill>
                  </a:tcPr>
                </a:tc>
                <a:tc>
                  <a:txBody>
                    <a:bodyPr/>
                    <a:lstStyle/>
                    <a:p>
                      <a:r>
                        <a:rPr sz="1875" b="1">
                          <a:solidFill>
                            <a:srgbClr val="FFFFFF"/>
                          </a:solidFill>
                          <a:latin typeface="Calibri"/>
                          <a:ea typeface="Calibri"/>
                          <a:cs typeface="Calibri"/>
                        </a:rPr>
                        <a:t>Role</a:t>
                      </a:r>
                    </a:p>
                  </a:txBody>
                  <a:tcPr marL="114300" marR="95250" marT="66675" marB="47625" anchor="ctr">
                    <a:solidFill>
                      <a:srgbClr val="111111"/>
                    </a:solidFill>
                  </a:tcPr>
                </a:tc>
              </a:tr>
              <a:tr h="647700">
                <a:tc>
                  <a:txBody>
                    <a:bodyPr/>
                    <a:lstStyle/>
                    <a:p>
                      <a:r>
                        <a:rPr sz="1875" b="0">
                          <a:solidFill>
                            <a:srgbClr val="111111"/>
                          </a:solidFill>
                          <a:latin typeface="Calibri"/>
                          <a:ea typeface="Calibri"/>
                          <a:cs typeface="Calibri"/>
                        </a:rPr>
                        <a:t>Train</a:t>
                      </a:r>
                    </a:p>
                  </a:txBody>
                  <a:tcPr marL="114300" marR="95250" marT="66675" marB="47625" anchor="ctr">
                    <a:solidFill>
                      <a:srgbClr val="FFFFFF"/>
                    </a:solidFill>
                  </a:tcPr>
                </a:tc>
                <a:tc>
                  <a:txBody>
                    <a:bodyPr/>
                    <a:lstStyle/>
                    <a:p>
                      <a:r>
                        <a:rPr sz="1875" b="0">
                          <a:solidFill>
                            <a:srgbClr val="111111"/>
                          </a:solidFill>
                          <a:latin typeface="Calibri"/>
                          <a:ea typeface="Calibri"/>
                          <a:cs typeface="Calibri"/>
                        </a:rPr>
                        <a:t>5,716</a:t>
                      </a:r>
                    </a:p>
                  </a:txBody>
                  <a:tcPr marL="114300" marR="95250" marT="66675" marB="47625" anchor="ctr">
                    <a:solidFill>
                      <a:srgbClr val="FFFFFF"/>
                    </a:solidFill>
                  </a:tcPr>
                </a:tc>
                <a:tc>
                  <a:txBody>
                    <a:bodyPr/>
                    <a:lstStyle/>
                    <a:p>
                      <a:r>
                        <a:rPr sz="1875" b="0">
                          <a:solidFill>
                            <a:srgbClr val="111111"/>
                          </a:solidFill>
                          <a:latin typeface="Calibri"/>
                          <a:ea typeface="Calibri"/>
                          <a:cs typeface="Calibri"/>
                        </a:rPr>
                        <a:t>Parameter updates</a:t>
                      </a:r>
                    </a:p>
                  </a:txBody>
                  <a:tcPr marL="114300" marR="95250" marT="66675" marB="47625" anchor="ctr">
                    <a:solidFill>
                      <a:srgbClr val="FFFFFF"/>
                    </a:solidFill>
                  </a:tcPr>
                </a:tc>
              </a:tr>
              <a:tr h="647700">
                <a:tc>
                  <a:txBody>
                    <a:bodyPr/>
                    <a:lstStyle/>
                    <a:p>
                      <a:r>
                        <a:rPr sz="1875" b="0">
                          <a:solidFill>
                            <a:srgbClr val="111111"/>
                          </a:solidFill>
                          <a:latin typeface="Calibri"/>
                          <a:ea typeface="Calibri"/>
                          <a:cs typeface="Calibri"/>
                        </a:rPr>
                        <a:t>Validation</a:t>
                      </a:r>
                    </a:p>
                  </a:txBody>
                  <a:tcPr marL="114300" marR="95250" marT="66675" marB="47625" anchor="ctr">
                    <a:solidFill>
                      <a:srgbClr val="F3F3F3"/>
                    </a:solidFill>
                  </a:tcPr>
                </a:tc>
                <a:tc>
                  <a:txBody>
                    <a:bodyPr/>
                    <a:lstStyle/>
                    <a:p>
                      <a:r>
                        <a:rPr sz="1875" b="0">
                          <a:solidFill>
                            <a:srgbClr val="111111"/>
                          </a:solidFill>
                          <a:latin typeface="Calibri"/>
                          <a:ea typeface="Calibri"/>
                          <a:cs typeface="Calibri"/>
                        </a:rPr>
                        <a:t>1,429</a:t>
                      </a:r>
                    </a:p>
                  </a:txBody>
                  <a:tcPr marL="114300" marR="95250" marT="66675" marB="47625" anchor="ctr">
                    <a:solidFill>
                      <a:srgbClr val="F3F3F3"/>
                    </a:solidFill>
                  </a:tcPr>
                </a:tc>
                <a:tc>
                  <a:txBody>
                    <a:bodyPr/>
                    <a:lstStyle/>
                    <a:p>
                      <a:r>
                        <a:rPr sz="1875" b="0">
                          <a:solidFill>
                            <a:srgbClr val="111111"/>
                          </a:solidFill>
                          <a:latin typeface="Calibri"/>
                          <a:ea typeface="Calibri"/>
                          <a:cs typeface="Calibri"/>
                        </a:rPr>
                        <a:t>Checkpoint selection and diagnosis</a:t>
                      </a:r>
                    </a:p>
                  </a:txBody>
                  <a:tcPr marL="114300" marR="95250" marT="66675" marB="47625" anchor="ctr">
                    <a:solidFill>
                      <a:srgbClr val="F3F3F3"/>
                    </a:solidFill>
                  </a:tcPr>
                </a:tc>
              </a:tr>
              <a:tr h="647700">
                <a:tc>
                  <a:txBody>
                    <a:bodyPr/>
                    <a:lstStyle/>
                    <a:p>
                      <a:r>
                        <a:rPr sz="1875" b="0">
                          <a:solidFill>
                            <a:srgbClr val="111111"/>
                          </a:solidFill>
                          <a:latin typeface="Calibri"/>
                          <a:ea typeface="Calibri"/>
                          <a:cs typeface="Calibri"/>
                        </a:rPr>
                        <a:t>Test</a:t>
                      </a:r>
                    </a:p>
                  </a:txBody>
                  <a:tcPr marL="114300" marR="95250" marT="66675" marB="47625" anchor="ctr">
                    <a:solidFill>
                      <a:srgbClr val="FFFFFF"/>
                    </a:solidFill>
                  </a:tcPr>
                </a:tc>
                <a:tc>
                  <a:txBody>
                    <a:bodyPr/>
                    <a:lstStyle/>
                    <a:p>
                      <a:r>
                        <a:rPr sz="1875" b="0">
                          <a:solidFill>
                            <a:srgbClr val="111111"/>
                          </a:solidFill>
                          <a:latin typeface="Calibri"/>
                          <a:ea typeface="Calibri"/>
                          <a:cs typeface="Calibri"/>
                        </a:rPr>
                        <a:t>2,113</a:t>
                      </a:r>
                    </a:p>
                  </a:txBody>
                  <a:tcPr marL="114300" marR="95250" marT="66675" marB="47625" anchor="ctr">
                    <a:solidFill>
                      <a:srgbClr val="FFFFFF"/>
                    </a:solidFill>
                  </a:tcPr>
                </a:tc>
                <a:tc>
                  <a:txBody>
                    <a:bodyPr/>
                    <a:lstStyle/>
                    <a:p>
                      <a:r>
                        <a:rPr sz="1875" b="0">
                          <a:solidFill>
                            <a:srgbClr val="111111"/>
                          </a:solidFill>
                          <a:latin typeface="Calibri"/>
                          <a:ea typeface="Calibri"/>
                          <a:cs typeface="Calibri"/>
                        </a:rPr>
                        <a:t>Evaluation of selected checkpoints</a:t>
                      </a:r>
                    </a:p>
                  </a:txBody>
                  <a:tcPr marL="114300" marR="95250" marT="66675" marB="47625" anchor="ctr">
                    <a:solidFill>
                      <a:srgbClr val="FFFFFF"/>
                    </a:solidFill>
                  </a:tcPr>
                </a:tc>
              </a:tr>
            </a:tbl>
          </a:graphicData>
        </a:graphic>
      </p:graphicFrame>
      <p:sp>
        <p:nvSpPr>
          <p:cNvPr id="8" name="Inputs: 224 × 224. IoU and Dice are averaged per image.&#10;All ">
            <a:extLst xmlns:a="http://schemas.openxmlformats.org/drawingml/2006/main">
              <a:ext uri="{FF2B5EF4-FFF2-40B4-BE49-F238E27FC236}">
                <a16:creationId xmlns:a16="http://schemas.microsoft.com/office/drawing/2014/main" id="{A88D7FB4-ED95-4D7D-BED2-771DFF8828E8}"/>
              </a:ext>
            </a:extLst>
          </p:cNvPr>
          <p:cNvSpPr>
            <a:spLocks xmlns:a="http://schemas.openxmlformats.org/drawingml/2006/main" noGrp="1"/>
          </p:cNvSpPr>
          <p:nvPr/>
        </p:nvSpPr>
        <p:spPr>
          <a:xfrm xmlns:a="http://schemas.openxmlformats.org/drawingml/2006/main">
            <a:off x="638175" y="4552950"/>
            <a:ext cx="109156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224 × 224 inputs. Per-image macro IoU and Dice. Fixed probability &gt; 0.5.</a:t>
            </a:r>
          </a:p>
          <a:p xmlns:a="http://schemas.openxmlformats.org/drawingml/2006/main">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Val macro IoU selects Best. Test has prior research access.</a:t>
            </a:r>
          </a:p>
        </p:txBody>
      </p:sp>
      <p:sp>
        <p:nvSpPr>
          <p:cNvPr id="9" name="Current 80-epoch studies select the best checkpoint by valid">
            <a:extLst xmlns:a="http://schemas.openxmlformats.org/drawingml/2006/main">
              <a:ext uri="{FF2B5EF4-FFF2-40B4-BE49-F238E27FC236}">
                <a16:creationId xmlns:a16="http://schemas.microsoft.com/office/drawing/2014/main" id="{5B37CFF2-9FCF-4707-841C-8227C740B98D}"/>
              </a:ext>
            </a:extLst>
          </p:cNvPr>
          <p:cNvSpPr>
            <a:spLocks xmlns:a="http://schemas.openxmlformats.org/drawingml/2006/main" noGrp="1"/>
          </p:cNvSpPr>
          <p:nvPr/>
        </p:nvSpPr>
        <p:spPr>
          <a:xfrm xmlns:a="http://schemas.openxmlformats.org/drawingml/2006/main">
            <a:off x="638175" y="5534025"/>
            <a:ext cx="109156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Train/Val share 434 recoverable patient IDs. No recoverable Test overlap was found.</a:t>
            </a:r>
          </a:p>
          <a:p xmlns:a="http://schemas.openxmlformats.org/drawingml/2006/main">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Anonymous cases prevent a claim of fully patient-independent splits.</a:t>
            </a:r>
          </a:p>
        </p:txBody>
      </p:sp>
      <p:sp>
        <p:nvSpPr>
          <p:cNvPr id="11" name="Backup: evaluation protocol">
            <a:extLst xmlns:a="http://schemas.openxmlformats.org/drawingml/2006/main">
              <a:ext uri="{FF2B5EF4-FFF2-40B4-BE49-F238E27FC236}">
                <a16:creationId xmlns:a16="http://schemas.microsoft.com/office/drawing/2014/main" id="{2E00FCE5-B248-48B7-9C9A-6A79F7914177}"/>
              </a:ext>
            </a:extLst>
          </p:cNvPr>
          <p:cNvSpPr>
            <a:spLocks xmlns:a="http://schemas.openxmlformats.org/drawingml/2006/main" noGrp="1"/>
          </p:cNvSpPr>
          <p:nvPr/>
        </p:nvSpPr>
        <p:spPr>
          <a:xfrm xmlns:a="http://schemas.openxmlformats.org/drawingml/2006/main">
            <a:off x="638175" y="646747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Backup: evaluation protocol</a:t>
            </a:r>
          </a:p>
        </p:txBody>
      </p:sp>
      <p:sp>
        <p:nvSpPr>
          <p:cNvPr id="12" name="18">
            <a:extLst xmlns:a="http://schemas.openxmlformats.org/drawingml/2006/main">
              <a:ext uri="{FF2B5EF4-FFF2-40B4-BE49-F238E27FC236}">
                <a16:creationId xmlns:a16="http://schemas.microsoft.com/office/drawing/2014/main" id="{563A123F-692E-4844-95A6-B70631C7CBAA}"/>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21</a:t>
            </a:r>
          </a:p>
        </p:txBody>
      </p:sp>
    </p:spTree>
    <p:extLst>
      <p:ext uri="{BB962C8B-B14F-4D97-AF65-F5344CB8AC3E}">
        <p14:creationId xmlns:p14="http://schemas.microsoft.com/office/powerpoint/2010/main" val="165487190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矩形 5">
            <a:extLst xmlns:a="http://schemas.openxmlformats.org/drawingml/2006/main">
              <a:ext uri="{FF2B5EF4-FFF2-40B4-BE49-F238E27FC236}">
                <a16:creationId xmlns:a16="http://schemas.microsoft.com/office/drawing/2014/main" id="{66670848-EDF9-4962-83E3-D284658277C8}"/>
              </a:ext>
            </a:extLst>
          </p:cNvPr>
          <p:cNvSpPr>
            <a:spLocks xmlns:a="http://schemas.openxmlformats.org/drawingml/2006/main" noGrp="1"/>
          </p:cNvSpPr>
          <p:nvPr/>
        </p:nvSpPr>
        <p:spPr>
          <a:xfrm xmlns:a="http://schemas.openxmlformats.org/drawingml/2006/main">
            <a:off x="640080" y="361950"/>
            <a:ext cx="10915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11111"/>
                </a:solidFill>
                <a:latin typeface="Cambria"/>
                <a:ea typeface="Cambria"/>
                <a:cs typeface="Cambria"/>
              </a:defRPr>
            </a:pPr>
            <a:r>
              <a:rPr sz="3000" b="1">
                <a:solidFill>
                  <a:srgbClr val="111111"/>
                </a:solidFill>
                <a:latin typeface="Cambria"/>
                <a:ea typeface="Cambria"/>
                <a:cs typeface="Cambria"/>
              </a:rPr>
              <a:t>Reproducibility of completed comparisons</a:t>
            </a:r>
          </a:p>
        </p:txBody>
      </p:sp>
      <p:sp>
        <p:nvSpPr>
          <p:cNvPr id="2" name="矩形 1">
            <a:extLst xmlns:a="http://schemas.openxmlformats.org/drawingml/2006/main">
              <a:ext uri="{FF2B5EF4-FFF2-40B4-BE49-F238E27FC236}">
                <a16:creationId xmlns:a16="http://schemas.microsoft.com/office/drawing/2014/main" id="{8925D9B7-5DED-40C2-9BB9-4B5C3ADC026B}"/>
              </a:ext>
            </a:extLst>
          </p:cNvPr>
          <p:cNvSpPr>
            <a:spLocks xmlns:a="http://schemas.openxmlformats.org/drawingml/2006/main" noGrp="1"/>
          </p:cNvSpPr>
          <p:nvPr/>
        </p:nvSpPr>
        <p:spPr>
          <a:xfrm xmlns:a="http://schemas.openxmlformats.org/drawingml/2006/main">
            <a:off x="638175" y="646747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Backup: implementation and result provenance</a:t>
            </a:r>
          </a:p>
        </p:txBody>
      </p:sp>
      <p:sp>
        <p:nvSpPr>
          <p:cNvPr id="3" name="矩形 2">
            <a:extLst xmlns:a="http://schemas.openxmlformats.org/drawingml/2006/main">
              <a:ext uri="{FF2B5EF4-FFF2-40B4-BE49-F238E27FC236}">
                <a16:creationId xmlns:a16="http://schemas.microsoft.com/office/drawing/2014/main" id="{4E33CE02-043D-4D0D-BEB9-50A1B36F42CE}"/>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22</a:t>
            </a:r>
          </a:p>
        </p:txBody>
      </p:sp>
      <p:graphicFrame>
        <p:nvGraphicFramePr>
          <p:cNvPr id="9" name="表格 8">
            <a:extLst xmlns:a="http://schemas.openxmlformats.org/drawingml/2006/main">
              <a:ext uri="{FF2B5EF4-FFF2-40B4-BE49-F238E27FC236}">
                <a16:creationId xmlns:a16="http://schemas.microsoft.com/office/drawing/2014/main" id="{89DD83C8-C6AE-4335-9F46-3FEDC3FE624C}"/>
              </a:ext>
            </a:extLst>
          </p:cNvPr>
          <p:cNvGraphicFramePr/>
          <p:nvPr/>
        </p:nvGraphicFramePr>
        <p:xfrm>
          <a:off xmlns:a="http://schemas.openxmlformats.org/drawingml/2006/main" x="638175" y="1685925"/>
          <a:ext xmlns:a="http://schemas.openxmlformats.org/drawingml/2006/main" cx="10915650" cy="3971925"/>
        </p:xfrm>
        <a:graphic xmlns:a="http://schemas.openxmlformats.org/drawingml/2006/main">
          <a:graphicData uri="http://schemas.openxmlformats.org/drawingml/2006/table">
            <a:tbl>
              <a:tblPr/>
              <a:tblGrid>
                <a:gridCol w="3619500"/>
                <a:gridCol w="7296150"/>
              </a:tblGrid>
              <a:tr h="661988">
                <a:tc>
                  <a:txBody>
                    <a:bodyPr/>
                    <a:lstStyle/>
                    <a:p>
                      <a:r>
                        <a:rPr sz="1800" b="1">
                          <a:solidFill>
                            <a:srgbClr val="FFFFFF"/>
                          </a:solidFill>
                          <a:latin typeface="Calibri"/>
                          <a:ea typeface="Calibri"/>
                          <a:cs typeface="Calibri"/>
                        </a:rPr>
                        <a:t>Evidence</a:t>
                      </a:r>
                    </a:p>
                  </a:txBody>
                  <a:tcPr marL="114300" marR="95250" marT="47625" marB="47625" anchor="ctr">
                    <a:solidFill>
                      <a:srgbClr val="111111"/>
                    </a:solidFill>
                  </a:tcPr>
                </a:tc>
                <a:tc>
                  <a:txBody>
                    <a:bodyPr/>
                    <a:lstStyle/>
                    <a:p>
                      <a:r>
                        <a:rPr sz="1800" b="1">
                          <a:solidFill>
                            <a:srgbClr val="FFFFFF"/>
                          </a:solidFill>
                          <a:latin typeface="Calibri"/>
                          <a:ea typeface="Calibri"/>
                          <a:cs typeface="Calibri"/>
                        </a:rPr>
                        <a:t>Completed record</a:t>
                      </a:r>
                    </a:p>
                  </a:txBody>
                  <a:tcPr marL="114300" marR="95250" marT="47625" marB="47625" anchor="ctr">
                    <a:solidFill>
                      <a:srgbClr val="111111"/>
                    </a:solidFill>
                  </a:tcPr>
                </a:tc>
              </a:tr>
              <a:tr h="661988">
                <a:tc>
                  <a:txBody>
                    <a:bodyPr/>
                    <a:lstStyle/>
                    <a:p>
                      <a:r>
                        <a:rPr sz="1800" b="0">
                          <a:solidFill>
                            <a:srgbClr val="111111"/>
                          </a:solidFill>
                          <a:latin typeface="Calibri"/>
                          <a:ea typeface="Calibri"/>
                          <a:cs typeface="Calibri"/>
                        </a:rPr>
                        <a:t>Primary module ablation</a:t>
                      </a:r>
                    </a:p>
                  </a:txBody>
                  <a:tcPr marL="114300" marR="95250" marT="47625" marB="47625" anchor="ctr">
                    <a:solidFill>
                      <a:srgbClr val="FFFFFF"/>
                    </a:solidFill>
                  </a:tcPr>
                </a:tc>
                <a:tc>
                  <a:txBody>
                    <a:bodyPr/>
                    <a:lstStyle/>
                    <a:p>
                      <a:r>
                        <a:rPr sz="1800" b="0">
                          <a:solidFill>
                            <a:srgbClr val="111111"/>
                          </a:solidFill>
                          <a:latin typeface="Calibri"/>
                          <a:ea typeface="Calibri"/>
                          <a:cs typeface="Calibri"/>
                        </a:rPr>
                        <a:t>4 configurations × 3 seeds, all Val and Test results</a:t>
                      </a:r>
                    </a:p>
                  </a:txBody>
                  <a:tcPr marL="114300" marR="95250" marT="47625" marB="47625" anchor="ctr">
                    <a:solidFill>
                      <a:srgbClr val="FFFFFF"/>
                    </a:solidFill>
                  </a:tcPr>
                </a:tc>
              </a:tr>
              <a:tr h="661988">
                <a:tc>
                  <a:txBody>
                    <a:bodyPr/>
                    <a:lstStyle/>
                    <a:p>
                      <a:r>
                        <a:rPr sz="1800" b="0">
                          <a:solidFill>
                            <a:srgbClr val="111111"/>
                          </a:solidFill>
                          <a:latin typeface="Calibri"/>
                          <a:ea typeface="Calibri"/>
                          <a:cs typeface="Calibri"/>
                        </a:rPr>
                        <a:t>Matched training protocol</a:t>
                      </a:r>
                    </a:p>
                  </a:txBody>
                  <a:tcPr marL="114300" marR="95250" marT="47625" marB="47625" anchor="ctr">
                    <a:solidFill>
                      <a:srgbClr val="F3F3F3"/>
                    </a:solidFill>
                  </a:tcPr>
                </a:tc>
                <a:tc>
                  <a:txBody>
                    <a:bodyPr/>
                    <a:lstStyle/>
                    <a:p>
                      <a:r>
                        <a:rPr sz="1800" b="0">
                          <a:solidFill>
                            <a:srgbClr val="111111"/>
                          </a:solidFill>
                          <a:latin typeface="Calibri"/>
                          <a:ea typeface="Calibri"/>
                          <a:cs typeface="Calibri"/>
                        </a:rPr>
                        <a:t>Single-cycle cosine, frozen text, no LoRA, 80 epochs</a:t>
                      </a:r>
                    </a:p>
                  </a:txBody>
                  <a:tcPr marL="114300" marR="95250" marT="47625" marB="47625" anchor="ctr">
                    <a:solidFill>
                      <a:srgbClr val="F3F3F3"/>
                    </a:solidFill>
                  </a:tcPr>
                </a:tc>
              </a:tr>
              <a:tr h="661988">
                <a:tc>
                  <a:txBody>
                    <a:bodyPr/>
                    <a:lstStyle/>
                    <a:p>
                      <a:r>
                        <a:rPr sz="1800" b="0">
                          <a:solidFill>
                            <a:srgbClr val="111111"/>
                          </a:solidFill>
                          <a:latin typeface="Calibri"/>
                          <a:ea typeface="Calibri"/>
                          <a:cs typeface="Calibri"/>
                        </a:rPr>
                        <a:t>External methods</a:t>
                      </a:r>
                    </a:p>
                  </a:txBody>
                  <a:tcPr marL="114300" marR="95250" marT="47625" marB="47625" anchor="ctr">
                    <a:solidFill>
                      <a:srgbClr val="FFFFFF"/>
                    </a:solidFill>
                  </a:tcPr>
                </a:tc>
                <a:tc>
                  <a:txBody>
                    <a:bodyPr/>
                    <a:lstStyle/>
                    <a:p>
                      <a:r>
                        <a:rPr sz="1800" b="0">
                          <a:solidFill>
                            <a:srgbClr val="111111"/>
                          </a:solidFill>
                          <a:latin typeface="Calibri"/>
                          <a:ea typeface="Calibri"/>
                          <a:cs typeface="Calibri"/>
                        </a:rPr>
                        <a:t>MMI-UNet, GuideDecoder and DD-CMD full Test outputs</a:t>
                      </a:r>
                    </a:p>
                  </a:txBody>
                  <a:tcPr marL="114300" marR="95250" marT="47625" marB="47625" anchor="ctr">
                    <a:solidFill>
                      <a:srgbClr val="FFFFFF"/>
                    </a:solidFill>
                  </a:tcPr>
                </a:tc>
              </a:tr>
              <a:tr h="661988">
                <a:tc>
                  <a:txBody>
                    <a:bodyPr/>
                    <a:lstStyle/>
                    <a:p>
                      <a:r>
                        <a:rPr sz="1800" b="0">
                          <a:solidFill>
                            <a:srgbClr val="111111"/>
                          </a:solidFill>
                          <a:latin typeface="Calibri"/>
                          <a:ea typeface="Calibri"/>
                          <a:cs typeface="Calibri"/>
                        </a:rPr>
                        <a:t>Runtime provenance</a:t>
                      </a:r>
                    </a:p>
                  </a:txBody>
                  <a:tcPr marL="114300" marR="95250" marT="47625" marB="47625" anchor="ctr">
                    <a:solidFill>
                      <a:srgbClr val="F3F3F3"/>
                    </a:solidFill>
                  </a:tcPr>
                </a:tc>
                <a:tc>
                  <a:txBody>
                    <a:bodyPr/>
                    <a:lstStyle/>
                    <a:p>
                      <a:r>
                        <a:rPr sz="1800" b="0">
                          <a:solidFill>
                            <a:srgbClr val="111111"/>
                          </a:solidFill>
                          <a:latin typeface="Calibri"/>
                          <a:ea typeface="Calibri"/>
                          <a:cs typeface="Calibri"/>
                        </a:rPr>
                        <a:t>Per-run source SHA, experiment tag and checkpoint hash</a:t>
                      </a:r>
                    </a:p>
                  </a:txBody>
                  <a:tcPr marL="114300" marR="95250" marT="47625" marB="47625" anchor="ctr">
                    <a:solidFill>
                      <a:srgbClr val="F3F3F3"/>
                    </a:solidFill>
                  </a:tcPr>
                </a:tc>
              </a:tr>
              <a:tr h="661988">
                <a:tc>
                  <a:txBody>
                    <a:bodyPr/>
                    <a:lstStyle/>
                    <a:p>
                      <a:r>
                        <a:rPr sz="1800" b="0">
                          <a:solidFill>
                            <a:srgbClr val="111111"/>
                          </a:solidFill>
                          <a:latin typeface="Calibri"/>
                          <a:ea typeface="Calibri"/>
                          <a:cs typeface="Calibri"/>
                        </a:rPr>
                        <a:t>Integrated paper snapshot</a:t>
                      </a:r>
                    </a:p>
                  </a:txBody>
                  <a:tcPr marL="114300" marR="95250" marT="47625" marB="47625" anchor="ctr">
                    <a:solidFill>
                      <a:srgbClr val="FFFFFF"/>
                    </a:solidFill>
                  </a:tcPr>
                </a:tc>
                <a:tc>
                  <a:txBody>
                    <a:bodyPr/>
                    <a:lstStyle/>
                    <a:p>
                      <a:r>
                        <a:rPr sz="1800" b="0">
                          <a:solidFill>
                            <a:srgbClr val="111111"/>
                          </a:solidFill>
                          <a:latin typeface="Calibri"/>
                          <a:ea typeface="Calibri"/>
                          <a:cs typeface="Calibri"/>
                        </a:rPr>
                        <a:t>FSDR + complete RACE source and archived result JSON</a:t>
                      </a:r>
                    </a:p>
                  </a:txBody>
                  <a:tcPr marL="114300" marR="95250" marT="47625" marB="47625" anchor="ctr">
                    <a:solidFill>
                      <a:srgbClr val="FFFFFF"/>
                    </a:solidFill>
                  </a:tcPr>
                </a:tc>
              </a:tr>
            </a:tbl>
          </a:graphicData>
        </a:graphic>
      </p:graphicFrame>
      <p:sp>
        <p:nvSpPr>
          <p:cNvPr id="5" name="矩形 4">
            <a:extLst xmlns:a="http://schemas.openxmlformats.org/drawingml/2006/main">
              <a:ext uri="{FF2B5EF4-FFF2-40B4-BE49-F238E27FC236}">
                <a16:creationId xmlns:a16="http://schemas.microsoft.com/office/drawing/2014/main" id="{B73D75D5-DD24-4797-B963-FBD6FA26E676}"/>
              </a:ext>
            </a:extLst>
          </p:cNvPr>
          <p:cNvSpPr>
            <a:spLocks xmlns:a="http://schemas.openxmlformats.org/drawingml/2006/main" noGrp="1"/>
          </p:cNvSpPr>
          <p:nvPr/>
        </p:nvSpPr>
        <p:spPr>
          <a:xfrm xmlns:a="http://schemas.openxmlformats.org/drawingml/2006/main">
            <a:off x="638175" y="5915025"/>
            <a:ext cx="1091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606060"/>
                </a:solidFill>
                <a:latin typeface="Calibri"/>
                <a:ea typeface="Calibri"/>
                <a:cs typeface="Calibri"/>
              </a:defRPr>
            </a:pPr>
            <a:r>
              <a:rPr sz="1725" b="0">
                <a:solidFill>
                  <a:srgbClr val="606060"/>
                </a:solidFill>
                <a:latin typeface="Calibri"/>
                <a:ea typeface="Calibri"/>
                <a:cs typeface="Calibri"/>
              </a:rPr>
              <a:t>Archived runtime commits identify the experiments. Integration preserves their original provenance.</a:t>
            </a:r>
          </a:p>
        </p:txBody>
      </p:sp>
    </p:spTree>
    <p:extLst>
      <p:ext uri="{BB962C8B-B14F-4D97-AF65-F5344CB8AC3E}">
        <p14:creationId xmlns:p14="http://schemas.microsoft.com/office/powerpoint/2010/main" val="196429002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E3FD9A6-3036-490C-908C-7AD6F44BFACB}"/>
              </a:ext>
            </a:extLst>
          </p:cNvPr>
          <p:cNvSpPr>
            <a:spLocks xmlns:a="http://schemas.openxmlformats.org/drawingml/2006/main" noGrp="1"/>
          </p:cNvSpPr>
          <p:nvPr/>
        </p:nvSpPr>
        <p:spPr>
          <a:xfrm xmlns:a="http://schemas.openxmlformats.org/drawingml/2006/main">
            <a:off x="640080" y="361950"/>
            <a:ext cx="10915650" cy="9525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2925" b="1">
                <a:solidFill>
                  <a:srgbClr val="111111"/>
                </a:solidFill>
                <a:latin typeface="Cambria"/>
                <a:ea typeface="Cambria"/>
                <a:cs typeface="Cambria"/>
              </a:defRPr>
            </a:pPr>
            <a:r>
              <a:rPr sz="2925" b="1">
                <a:solidFill>
                  <a:srgbClr val="111111"/>
                </a:solidFill>
                <a:latin typeface="Cambria"/>
                <a:ea typeface="Cambria"/>
                <a:cs typeface="Cambria"/>
              </a:rPr>
              <a:t>Earlier RACE: report-target binding comparison</a:t>
            </a:r>
            <a:endParaRPr sz="2800"/>
          </a:p>
        </p:txBody>
      </p:sp>
      <p:graphicFrame>
        <p:nvGraphicFramePr>
          <p:cNvPr id="10" name="表格 9">
            <a:extLst xmlns:a="http://schemas.openxmlformats.org/drawingml/2006/main">
              <a:ext uri="{FF2B5EF4-FFF2-40B4-BE49-F238E27FC236}">
                <a16:creationId xmlns:a16="http://schemas.microsoft.com/office/drawing/2014/main" id="{B90AA095-E9F9-4DC8-A64F-02847B300CDD}"/>
              </a:ext>
            </a:extLst>
          </p:cNvPr>
          <p:cNvGraphicFramePr/>
          <p:nvPr/>
        </p:nvGraphicFramePr>
        <p:xfrm>
          <a:off xmlns:a="http://schemas.openxmlformats.org/drawingml/2006/main" x="638175" y="1714500"/>
          <a:ext xmlns:a="http://schemas.openxmlformats.org/drawingml/2006/main" cx="10915650" cy="3048000"/>
        </p:xfrm>
        <a:graphic xmlns:a="http://schemas.openxmlformats.org/drawingml/2006/main">
          <a:graphicData uri="http://schemas.openxmlformats.org/drawingml/2006/table">
            <a:tbl>
              <a:tblPr/>
              <a:tblGrid>
                <a:gridCol w="5581650"/>
                <a:gridCol w="2667000"/>
                <a:gridCol w="2667000"/>
              </a:tblGrid>
              <a:tr h="762000">
                <a:tc>
                  <a:txBody>
                    <a:bodyPr/>
                    <a:lstStyle/>
                    <a:p>
                      <a:r>
                        <a:rPr sz="2025" b="1">
                          <a:solidFill>
                            <a:srgbClr val="FFFFFF"/>
                          </a:solidFill>
                          <a:latin typeface="Calibri"/>
                          <a:ea typeface="Calibri"/>
                          <a:cs typeface="Calibri"/>
                        </a:rPr>
                        <a:t>Configuration</a:t>
                      </a:r>
                    </a:p>
                  </a:txBody>
                  <a:tcPr marL="114300" marR="95250" marT="66675" marB="47625" anchor="ctr">
                    <a:solidFill>
                      <a:srgbClr val="111111"/>
                    </a:solidFill>
                  </a:tcPr>
                </a:tc>
                <a:tc>
                  <a:txBody>
                    <a:bodyPr/>
                    <a:lstStyle/>
                    <a:p>
                      <a:r>
                        <a:rPr sz="2025" b="1">
                          <a:solidFill>
                            <a:srgbClr val="FFFFFF"/>
                          </a:solidFill>
                          <a:latin typeface="Calibri"/>
                          <a:ea typeface="Calibri"/>
                          <a:cs typeface="Calibri"/>
                        </a:rPr>
                        <a:t>Test IoU</a:t>
                      </a:r>
                    </a:p>
                  </a:txBody>
                  <a:tcPr marL="114300" marR="95250" marT="66675" marB="47625" anchor="ctr">
                    <a:solidFill>
                      <a:srgbClr val="111111"/>
                    </a:solidFill>
                  </a:tcPr>
                </a:tc>
                <a:tc>
                  <a:txBody>
                    <a:bodyPr/>
                    <a:lstStyle/>
                    <a:p>
                      <a:r>
                        <a:rPr sz="2025" b="1">
                          <a:solidFill>
                            <a:srgbClr val="FFFFFF"/>
                          </a:solidFill>
                          <a:latin typeface="Calibri"/>
                          <a:ea typeface="Calibri"/>
                          <a:cs typeface="Calibri"/>
                        </a:rPr>
                        <a:t>Test Dice</a:t>
                      </a:r>
                    </a:p>
                  </a:txBody>
                  <a:tcPr marL="114300" marR="95250" marT="66675" marB="47625" anchor="ctr">
                    <a:solidFill>
                      <a:srgbClr val="111111"/>
                    </a:solidFill>
                  </a:tcPr>
                </a:tc>
              </a:tr>
              <a:tr h="762000">
                <a:tc>
                  <a:txBody>
                    <a:bodyPr/>
                    <a:lstStyle/>
                    <a:p>
                      <a:r>
                        <a:rPr sz="2025" b="0">
                          <a:solidFill>
                            <a:srgbClr val="111111"/>
                          </a:solidFill>
                          <a:latin typeface="Calibri"/>
                          <a:ea typeface="Calibri"/>
                          <a:cs typeface="Calibri"/>
                        </a:rPr>
                        <a:t>FSDR control</a:t>
                      </a:r>
                    </a:p>
                  </a:txBody>
                  <a:tcPr marL="114300" marR="95250" marT="66675" marB="47625" anchor="ctr">
                    <a:solidFill>
                      <a:srgbClr val="FFFFFF"/>
                    </a:solidFill>
                  </a:tcPr>
                </a:tc>
                <a:tc>
                  <a:txBody>
                    <a:bodyPr/>
                    <a:lstStyle/>
                    <a:p>
                      <a:r>
                        <a:rPr sz="2025" b="0">
                          <a:solidFill>
                            <a:srgbClr val="111111"/>
                          </a:solidFill>
                          <a:latin typeface="Calibri"/>
                          <a:ea typeface="Calibri"/>
                          <a:cs typeface="Calibri"/>
                        </a:rPr>
                        <a:t>75.8098%</a:t>
                      </a:r>
                    </a:p>
                  </a:txBody>
                  <a:tcPr marL="114300" marR="95250" marT="66675" marB="47625" anchor="ctr">
                    <a:solidFill>
                      <a:srgbClr val="FFFFFF"/>
                    </a:solidFill>
                  </a:tcPr>
                </a:tc>
                <a:tc>
                  <a:txBody>
                    <a:bodyPr/>
                    <a:lstStyle/>
                    <a:p>
                      <a:r>
                        <a:rPr sz="2025" b="0">
                          <a:solidFill>
                            <a:srgbClr val="111111"/>
                          </a:solidFill>
                          <a:latin typeface="Calibri"/>
                          <a:ea typeface="Calibri"/>
                          <a:cs typeface="Calibri"/>
                        </a:rPr>
                        <a:t>84.4236%</a:t>
                      </a:r>
                    </a:p>
                  </a:txBody>
                  <a:tcPr marL="114300" marR="95250" marT="66675" marB="47625" anchor="ctr">
                    <a:solidFill>
                      <a:srgbClr val="FFFFFF"/>
                    </a:solidFill>
                  </a:tcPr>
                </a:tc>
              </a:tr>
              <a:tr h="762000">
                <a:tc>
                  <a:txBody>
                    <a:bodyPr/>
                    <a:lstStyle/>
                    <a:p>
                      <a:r>
                        <a:rPr sz="2025" b="0">
                          <a:solidFill>
                            <a:srgbClr val="111111"/>
                          </a:solidFill>
                          <a:latin typeface="Calibri"/>
                          <a:ea typeface="Calibri"/>
                          <a:cs typeface="Calibri"/>
                        </a:rPr>
                        <a:t>RACE · original target binding</a:t>
                      </a:r>
                    </a:p>
                  </a:txBody>
                  <a:tcPr marL="114300" marR="95250" marT="66675" marB="47625" anchor="ctr">
                    <a:solidFill>
                      <a:srgbClr val="F3F3F3"/>
                    </a:solidFill>
                  </a:tcPr>
                </a:tc>
                <a:tc>
                  <a:txBody>
                    <a:bodyPr/>
                    <a:lstStyle/>
                    <a:p>
                      <a:r>
                        <a:rPr sz="2025" b="0">
                          <a:solidFill>
                            <a:srgbClr val="111111"/>
                          </a:solidFill>
                          <a:latin typeface="Calibri"/>
                          <a:ea typeface="Calibri"/>
                          <a:cs typeface="Calibri"/>
                        </a:rPr>
                        <a:t>75.9505%</a:t>
                      </a:r>
                    </a:p>
                  </a:txBody>
                  <a:tcPr marL="114300" marR="95250" marT="66675" marB="47625" anchor="ctr">
                    <a:solidFill>
                      <a:srgbClr val="F3F3F3"/>
                    </a:solidFill>
                  </a:tcPr>
                </a:tc>
                <a:tc>
                  <a:txBody>
                    <a:bodyPr/>
                    <a:lstStyle/>
                    <a:p>
                      <a:r>
                        <a:rPr sz="2025" b="0">
                          <a:solidFill>
                            <a:srgbClr val="111111"/>
                          </a:solidFill>
                          <a:latin typeface="Calibri"/>
                          <a:ea typeface="Calibri"/>
                          <a:cs typeface="Calibri"/>
                        </a:rPr>
                        <a:t>84.5237%</a:t>
                      </a:r>
                    </a:p>
                  </a:txBody>
                  <a:tcPr marL="114300" marR="95250" marT="66675" marB="47625" anchor="ctr">
                    <a:solidFill>
                      <a:srgbClr val="F3F3F3"/>
                    </a:solidFill>
                  </a:tcPr>
                </a:tc>
              </a:tr>
              <a:tr h="762000">
                <a:tc>
                  <a:txBody>
                    <a:bodyPr/>
                    <a:lstStyle/>
                    <a:p>
                      <a:r>
                        <a:rPr sz="2025" b="0">
                          <a:solidFill>
                            <a:srgbClr val="111111"/>
                          </a:solidFill>
                          <a:latin typeface="Calibri"/>
                          <a:ea typeface="Calibri"/>
                          <a:cs typeface="Calibri"/>
                        </a:rPr>
                        <a:t>RACE · corrected target binding</a:t>
                      </a:r>
                    </a:p>
                  </a:txBody>
                  <a:tcPr marL="114300" marR="95250" marT="66675" marB="47625" anchor="ctr">
                    <a:solidFill>
                      <a:srgbClr val="FFFFFF"/>
                    </a:solidFill>
                  </a:tcPr>
                </a:tc>
                <a:tc>
                  <a:txBody>
                    <a:bodyPr/>
                    <a:lstStyle/>
                    <a:p>
                      <a:r>
                        <a:rPr sz="2025" b="0">
                          <a:solidFill>
                            <a:srgbClr val="111111"/>
                          </a:solidFill>
                          <a:latin typeface="Calibri"/>
                          <a:ea typeface="Calibri"/>
                          <a:cs typeface="Calibri"/>
                        </a:rPr>
                        <a:t>76.2485%</a:t>
                      </a:r>
                    </a:p>
                  </a:txBody>
                  <a:tcPr marL="114300" marR="95250" marT="66675" marB="47625" anchor="ctr">
                    <a:solidFill>
                      <a:srgbClr val="FFFFFF"/>
                    </a:solidFill>
                  </a:tcPr>
                </a:tc>
                <a:tc>
                  <a:txBody>
                    <a:bodyPr/>
                    <a:lstStyle/>
                    <a:p>
                      <a:r>
                        <a:rPr sz="2025" b="0">
                          <a:solidFill>
                            <a:srgbClr val="111111"/>
                          </a:solidFill>
                          <a:latin typeface="Calibri"/>
                          <a:ea typeface="Calibri"/>
                          <a:cs typeface="Calibri"/>
                        </a:rPr>
                        <a:t>84.7097%</a:t>
                      </a:r>
                    </a:p>
                  </a:txBody>
                  <a:tcPr marL="114300" marR="95250" marT="66675" marB="47625" anchor="ctr">
                    <a:solidFill>
                      <a:srgbClr val="FFFFFF"/>
                    </a:solidFill>
                  </a:tcPr>
                </a:tc>
              </a:tr>
            </a:tbl>
          </a:graphicData>
        </a:graphic>
      </p:graphicFrame>
      <p:sp>
        <p:nvSpPr>
          <p:cNvPr id="4" name="Corrected vs original binding: Test IoU +0.2981 pp">
            <a:extLst xmlns:a="http://schemas.openxmlformats.org/drawingml/2006/main">
              <a:ext uri="{FF2B5EF4-FFF2-40B4-BE49-F238E27FC236}">
                <a16:creationId xmlns:a16="http://schemas.microsoft.com/office/drawing/2014/main" id="{4A7807E6-5C57-4BBF-B80F-7C8C1571F95E}"/>
              </a:ext>
            </a:extLst>
          </p:cNvPr>
          <p:cNvSpPr>
            <a:spLocks xmlns:a="http://schemas.openxmlformats.org/drawingml/2006/main" noGrp="1"/>
          </p:cNvSpPr>
          <p:nvPr/>
        </p:nvSpPr>
        <p:spPr>
          <a:xfrm xmlns:a="http://schemas.openxmlformats.org/drawingml/2006/main">
            <a:off x="638175" y="5048250"/>
            <a:ext cx="109156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11111"/>
                </a:solidFill>
                <a:latin typeface="Calibri"/>
                <a:ea typeface="Calibri"/>
                <a:cs typeface="Calibri"/>
              </a:defRPr>
            </a:pPr>
            <a:r>
              <a:rPr sz="1875" b="1">
                <a:solidFill>
                  <a:srgbClr val="111111"/>
                </a:solidFill>
                <a:latin typeface="Calibri"/>
                <a:ea typeface="Calibri"/>
                <a:cs typeface="Calibri"/>
              </a:rPr>
              <a:t>Corrected vs original binding: Test IoU +0.2981 pp; image 95% CI [+0.0538, +0.5404].</a:t>
            </a:r>
          </a:p>
        </p:txBody>
      </p:sp>
      <p:sp>
        <p:nvSpPr>
          <p:cNvPr id="5" name="Validation difference: −0.1107 pp (interval crosse">
            <a:extLst xmlns:a="http://schemas.openxmlformats.org/drawingml/2006/main">
              <a:ext uri="{FF2B5EF4-FFF2-40B4-BE49-F238E27FC236}">
                <a16:creationId xmlns:a16="http://schemas.microsoft.com/office/drawing/2014/main" id="{EFFBCCF0-9DD9-441F-BA22-FCB7BD8AF9EE}"/>
              </a:ext>
            </a:extLst>
          </p:cNvPr>
          <p:cNvSpPr>
            <a:spLocks xmlns:a="http://schemas.openxmlformats.org/drawingml/2006/main" noGrp="1"/>
          </p:cNvSpPr>
          <p:nvPr/>
        </p:nvSpPr>
        <p:spPr>
          <a:xfrm xmlns:a="http://schemas.openxmlformats.org/drawingml/2006/main">
            <a:off x="638175" y="5667375"/>
            <a:ext cx="10915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Validation difference: −0.1107 pp (interval crosses zero).</a:t>
            </a:r>
          </a:p>
          <a:p xmlns:a="http://schemas.openxmlformats.org/drawingml/2006/main">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Binding repair improves target assignment; it is not the architectural contribution.</a:t>
            </a:r>
          </a:p>
        </p:txBody>
      </p:sp>
      <p:sp>
        <p:nvSpPr>
          <p:cNvPr id="6" name="Backup: binding comparison">
            <a:extLst xmlns:a="http://schemas.openxmlformats.org/drawingml/2006/main">
              <a:ext uri="{FF2B5EF4-FFF2-40B4-BE49-F238E27FC236}">
                <a16:creationId xmlns:a16="http://schemas.microsoft.com/office/drawing/2014/main" id="{9EE7FE15-B3F9-412F-828C-4CE89DC5B2CA}"/>
              </a:ext>
            </a:extLst>
          </p:cNvPr>
          <p:cNvSpPr>
            <a:spLocks xmlns:a="http://schemas.openxmlformats.org/drawingml/2006/main" noGrp="1"/>
          </p:cNvSpPr>
          <p:nvPr/>
        </p:nvSpPr>
        <p:spPr>
          <a:xfrm xmlns:a="http://schemas.openxmlformats.org/drawingml/2006/main">
            <a:off x="638175" y="6467475"/>
            <a:ext cx="990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Backup: binding comparison, seed 1219</a:t>
            </a:r>
          </a:p>
        </p:txBody>
      </p:sp>
      <p:sp>
        <p:nvSpPr>
          <p:cNvPr id="7" name="20">
            <a:extLst xmlns:a="http://schemas.openxmlformats.org/drawingml/2006/main">
              <a:ext uri="{FF2B5EF4-FFF2-40B4-BE49-F238E27FC236}">
                <a16:creationId xmlns:a16="http://schemas.microsoft.com/office/drawing/2014/main" id="{FB950C35-0FC9-4A89-9DAC-2762C51838ED}"/>
              </a:ext>
            </a:extLst>
          </p:cNvPr>
          <p:cNvSpPr>
            <a:spLocks xmlns:a="http://schemas.openxmlformats.org/drawingml/2006/main" noGrp="1"/>
          </p:cNvSpPr>
          <p:nvPr/>
        </p:nvSpPr>
        <p:spPr>
          <a:xfrm xmlns:a="http://schemas.openxmlformats.org/drawingml/2006/main">
            <a:off x="11144250" y="6467475"/>
            <a:ext cx="4095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23</a:t>
            </a:r>
          </a:p>
        </p:txBody>
      </p:sp>
    </p:spTree>
    <p:extLst>
      <p:ext uri="{BB962C8B-B14F-4D97-AF65-F5344CB8AC3E}">
        <p14:creationId xmlns:p14="http://schemas.microsoft.com/office/powerpoint/2010/main" val="67028552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Paired-seed gains: full precision">
            <a:extLst xmlns:a="http://schemas.openxmlformats.org/drawingml/2006/main">
              <a:ext uri="{FF2B5EF4-FFF2-40B4-BE49-F238E27FC236}">
                <a16:creationId xmlns:a16="http://schemas.microsoft.com/office/drawing/2014/main" id="{45F11E19-7949-4300-B5B2-AF19CF08D6F2}"/>
              </a:ext>
            </a:extLst>
          </p:cNvPr>
          <p:cNvSpPr>
            <a:spLocks xmlns:a="http://schemas.openxmlformats.org/drawingml/2006/main" noGrp="1"/>
          </p:cNvSpPr>
          <p:nvPr/>
        </p:nvSpPr>
        <p:spPr>
          <a:xfrm xmlns:a="http://schemas.openxmlformats.org/drawingml/2006/main">
            <a:off x="638175" y="361950"/>
            <a:ext cx="10915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02124"/>
                </a:solidFill>
                <a:latin typeface="Cambria"/>
                <a:ea typeface="Cambria"/>
                <a:cs typeface="Cambria"/>
              </a:defRPr>
            </a:defPPr>
          </a:lstStyle>
          <a:p xmlns:a="http://schemas.openxmlformats.org/drawingml/2006/main">
            <a:pPr algn="l">
              <a:defRPr sz="3000" b="1">
                <a:solidFill>
                  <a:srgbClr val="202124"/>
                </a:solidFill>
                <a:latin typeface="Cambria"/>
                <a:ea typeface="Cambria"/>
                <a:cs typeface="Cambria"/>
              </a:defRPr>
            </a:pPr>
            <a:r>
              <a:rPr sz="3000" b="1">
                <a:solidFill>
                  <a:srgbClr val="202124"/>
                </a:solidFill>
                <a:latin typeface="Cambria"/>
                <a:ea typeface="Cambria"/>
                <a:cs typeface="Cambria"/>
              </a:rPr>
              <a:t>Paired-seed gains: full precision</a:t>
            </a:r>
          </a:p>
        </p:txBody>
      </p:sp>
      <p:sp>
        <p:nvSpPr>
          <p:cNvPr id="2" name="Backup · Test macro IoU gain in percentage points · sam">
            <a:extLst xmlns:a="http://schemas.openxmlformats.org/drawingml/2006/main">
              <a:ext uri="{FF2B5EF4-FFF2-40B4-BE49-F238E27FC236}">
                <a16:creationId xmlns:a16="http://schemas.microsoft.com/office/drawing/2014/main" id="{AC3C7873-A687-4BD1-9957-DA28826BF1DF}"/>
              </a:ext>
            </a:extLst>
          </p:cNvPr>
          <p:cNvSpPr>
            <a:spLocks xmlns:a="http://schemas.openxmlformats.org/drawingml/2006/main" noGrp="1"/>
          </p:cNvSpPr>
          <p:nvPr/>
        </p:nvSpPr>
        <p:spPr>
          <a:xfrm xmlns:a="http://schemas.openxmlformats.org/drawingml/2006/main">
            <a:off x="638175" y="6477000"/>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929699"/>
                </a:solidFill>
                <a:latin typeface="Calibri"/>
                <a:ea typeface="Calibri"/>
                <a:cs typeface="Calibri"/>
              </a:defRPr>
            </a:defPPr>
          </a:lstStyle>
          <a:p xmlns:a="http://schemas.openxmlformats.org/drawingml/2006/main">
            <a:pPr algn="l">
              <a:defRPr sz="900" b="0">
                <a:solidFill>
                  <a:srgbClr val="929699"/>
                </a:solidFill>
                <a:latin typeface="Calibri"/>
                <a:ea typeface="Calibri"/>
                <a:cs typeface="Calibri"/>
              </a:defRPr>
            </a:pPr>
            <a:r>
              <a:rPr sz="900" b="0">
                <a:solidFill>
                  <a:srgbClr val="929699"/>
                </a:solidFill>
                <a:latin typeface="Calibri"/>
                <a:ea typeface="Calibri"/>
                <a:cs typeface="Calibri"/>
              </a:rPr>
              <a:t>Backup · Test macro IoU gain in percentage points · same-seed differences</a:t>
            </a:r>
          </a:p>
        </p:txBody>
      </p:sp>
      <p:sp>
        <p:nvSpPr>
          <p:cNvPr id="3" name="24">
            <a:extLst xmlns:a="http://schemas.openxmlformats.org/drawingml/2006/main">
              <a:ext uri="{FF2B5EF4-FFF2-40B4-BE49-F238E27FC236}">
                <a16:creationId xmlns:a16="http://schemas.microsoft.com/office/drawing/2014/main" id="{9D04B701-DB9D-4620-BD40-26CADC9C3F5D}"/>
              </a:ext>
            </a:extLst>
          </p:cNvPr>
          <p:cNvSpPr>
            <a:spLocks xmlns:a="http://schemas.openxmlformats.org/drawingml/2006/main" noGrp="1"/>
          </p:cNvSpPr>
          <p:nvPr/>
        </p:nvSpPr>
        <p:spPr>
          <a:xfrm xmlns:a="http://schemas.openxmlformats.org/drawingml/2006/main">
            <a:off x="11144250" y="6477000"/>
            <a:ext cx="4095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929699"/>
                </a:solidFill>
                <a:latin typeface="Calibri"/>
                <a:ea typeface="Calibri"/>
                <a:cs typeface="Calibri"/>
              </a:defRPr>
            </a:defPPr>
          </a:lstStyle>
          <a:p xmlns:a="http://schemas.openxmlformats.org/drawingml/2006/main">
            <a:pPr algn="r">
              <a:defRPr sz="900" b="0">
                <a:solidFill>
                  <a:srgbClr val="929699"/>
                </a:solidFill>
                <a:latin typeface="Calibri"/>
                <a:ea typeface="Calibri"/>
                <a:cs typeface="Calibri"/>
              </a:defRPr>
            </a:pPr>
            <a:r>
              <a:rPr sz="900" b="0">
                <a:solidFill>
                  <a:srgbClr val="929699"/>
                </a:solidFill>
                <a:latin typeface="Calibri"/>
                <a:ea typeface="Calibri"/>
                <a:cs typeface="Calibri"/>
              </a:rPr>
              <a:t>24</a:t>
            </a:r>
          </a:p>
        </p:txBody>
      </p:sp>
      <p:graphicFrame>
        <p:nvGraphicFramePr>
          <p:cNvPr id="4" name="">
            <a:extLst xmlns:a="http://schemas.openxmlformats.org/drawingml/2006/main">
              <a:ext uri="{FF2B5EF4-FFF2-40B4-BE49-F238E27FC236}">
                <a16:creationId xmlns:a16="http://schemas.microsoft.com/office/drawing/2014/main" id="{56259921-D19A-4321-B12C-D9A583149301}"/>
              </a:ext>
            </a:extLst>
          </p:cNvPr>
          <p:cNvGraphicFramePr/>
          <p:nvPr/>
        </p:nvGraphicFramePr>
        <p:xfrm>
          <a:off xmlns:a="http://schemas.openxmlformats.org/drawingml/2006/main" x="638175" y="1676400"/>
          <a:ext xmlns:a="http://schemas.openxmlformats.org/drawingml/2006/main" cx="10915650" cy="3362325"/>
        </p:xfrm>
        <a:graphic xmlns:a="http://schemas.openxmlformats.org/drawingml/2006/main">
          <a:graphicData uri="http://schemas.openxmlformats.org/drawingml/2006/table">
            <a:tbl>
              <a:tblPr/>
              <a:tblGrid>
                <a:gridCol w="4438650"/>
                <a:gridCol w="1619250"/>
                <a:gridCol w="1619250"/>
                <a:gridCol w="1619250"/>
                <a:gridCol w="1619250"/>
              </a:tblGrid>
              <a:tr h="560388">
                <a:tc>
                  <a:txBody>
                    <a:bodyPr>
                      <a:noAutofit/>
                    </a:bodyPr>
                    <a:lstStyle/>
                    <a:p>
                      <a:r>
                        <a:rPr sz="1800" b="1">
                          <a:solidFill>
                            <a:srgbClr val="FFFFFF"/>
                          </a:solidFill>
                          <a:latin typeface="Calibri"/>
                          <a:ea typeface="Calibri"/>
                          <a:cs typeface="Calibri"/>
                        </a:rPr>
                        <a:t>Contrast</a:t>
                      </a:r>
                    </a:p>
                  </a:txBody>
                  <a:tcPr marL="114300" marR="95250" marT="38100" marB="38100" anchor="ctr">
                    <a:lnL w="7620">
                      <a:solidFill>
                        <a:srgbClr val="B8BFC3"/>
                      </a:solidFill>
                      <a:prstDash val="solid"/>
                    </a:lnL>
                    <a:lnR w="7620">
                      <a:solidFill>
                        <a:srgbClr val="B8BFC3"/>
                      </a:solidFill>
                      <a:prstDash val="solid"/>
                    </a:lnR>
                    <a:lnT w="7620">
                      <a:solidFill>
                        <a:srgbClr val="B8BFC3"/>
                      </a:solidFill>
                      <a:prstDash val="solid"/>
                    </a:lnT>
                    <a:lnB w="7620">
                      <a:solidFill>
                        <a:srgbClr val="B8BFC3"/>
                      </a:solidFill>
                      <a:prstDash val="solid"/>
                    </a:lnB>
                    <a:solidFill>
                      <a:srgbClr val="202124"/>
                    </a:solidFill>
                  </a:tcPr>
                </a:tc>
                <a:tc>
                  <a:txBody>
                    <a:bodyPr>
                      <a:noAutofit/>
                    </a:bodyPr>
                    <a:lstStyle/>
                    <a:p>
                      <a:r>
                        <a:rPr sz="1800" b="1">
                          <a:solidFill>
                            <a:srgbClr val="FFFFFF"/>
                          </a:solidFill>
                          <a:latin typeface="Calibri"/>
                          <a:ea typeface="Calibri"/>
                          <a:cs typeface="Calibri"/>
                        </a:rPr>
                        <a:t>1219</a:t>
                      </a:r>
                    </a:p>
                  </a:txBody>
                  <a:tcPr marL="114300" marR="95250" marT="38100" marB="38100" anchor="ctr">
                    <a:lnR w="7620">
                      <a:solidFill>
                        <a:srgbClr val="B8BFC3"/>
                      </a:solidFill>
                      <a:prstDash val="solid"/>
                    </a:lnR>
                    <a:lnT w="7620">
                      <a:solidFill>
                        <a:srgbClr val="B8BFC3"/>
                      </a:solidFill>
                      <a:prstDash val="solid"/>
                    </a:lnT>
                    <a:lnB w="7620">
                      <a:solidFill>
                        <a:srgbClr val="B8BFC3"/>
                      </a:solidFill>
                      <a:prstDash val="solid"/>
                    </a:lnB>
                    <a:solidFill>
                      <a:srgbClr val="202124"/>
                    </a:solidFill>
                  </a:tcPr>
                </a:tc>
                <a:tc>
                  <a:txBody>
                    <a:bodyPr>
                      <a:noAutofit/>
                    </a:bodyPr>
                    <a:lstStyle/>
                    <a:p>
                      <a:r>
                        <a:rPr sz="1800" b="1">
                          <a:solidFill>
                            <a:srgbClr val="FFFFFF"/>
                          </a:solidFill>
                          <a:latin typeface="Calibri"/>
                          <a:ea typeface="Calibri"/>
                          <a:cs typeface="Calibri"/>
                        </a:rPr>
                        <a:t>2027</a:t>
                      </a:r>
                    </a:p>
                  </a:txBody>
                  <a:tcPr marL="114300" marR="95250" marT="38100" marB="38100" anchor="ctr">
                    <a:lnR w="7620">
                      <a:solidFill>
                        <a:srgbClr val="B8BFC3"/>
                      </a:solidFill>
                      <a:prstDash val="solid"/>
                    </a:lnR>
                    <a:lnT w="7620">
                      <a:solidFill>
                        <a:srgbClr val="B8BFC3"/>
                      </a:solidFill>
                      <a:prstDash val="solid"/>
                    </a:lnT>
                    <a:lnB w="7620">
                      <a:solidFill>
                        <a:srgbClr val="B8BFC3"/>
                      </a:solidFill>
                      <a:prstDash val="solid"/>
                    </a:lnB>
                    <a:solidFill>
                      <a:srgbClr val="202124"/>
                    </a:solidFill>
                  </a:tcPr>
                </a:tc>
                <a:tc>
                  <a:txBody>
                    <a:bodyPr>
                      <a:noAutofit/>
                    </a:bodyPr>
                    <a:lstStyle/>
                    <a:p>
                      <a:r>
                        <a:rPr sz="1800" b="1">
                          <a:solidFill>
                            <a:srgbClr val="FFFFFF"/>
                          </a:solidFill>
                          <a:latin typeface="Calibri"/>
                          <a:ea typeface="Calibri"/>
                          <a:cs typeface="Calibri"/>
                        </a:rPr>
                        <a:t>3407</a:t>
                      </a:r>
                    </a:p>
                  </a:txBody>
                  <a:tcPr marL="114300" marR="95250" marT="38100" marB="38100" anchor="ctr">
                    <a:lnR w="7620">
                      <a:solidFill>
                        <a:srgbClr val="B8BFC3"/>
                      </a:solidFill>
                      <a:prstDash val="solid"/>
                    </a:lnR>
                    <a:lnT w="7620">
                      <a:solidFill>
                        <a:srgbClr val="B8BFC3"/>
                      </a:solidFill>
                      <a:prstDash val="solid"/>
                    </a:lnT>
                    <a:lnB w="7620">
                      <a:solidFill>
                        <a:srgbClr val="B8BFC3"/>
                      </a:solidFill>
                      <a:prstDash val="solid"/>
                    </a:lnB>
                    <a:solidFill>
                      <a:srgbClr val="202124"/>
                    </a:solidFill>
                  </a:tcPr>
                </a:tc>
                <a:tc>
                  <a:txBody>
                    <a:bodyPr>
                      <a:noAutofit/>
                    </a:bodyPr>
                    <a:lstStyle/>
                    <a:p>
                      <a:r>
                        <a:rPr sz="1800" b="1">
                          <a:solidFill>
                            <a:srgbClr val="FFFFFF"/>
                          </a:solidFill>
                          <a:latin typeface="Calibri"/>
                          <a:ea typeface="Calibri"/>
                          <a:cs typeface="Calibri"/>
                        </a:rPr>
                        <a:t>Mean</a:t>
                      </a:r>
                    </a:p>
                  </a:txBody>
                  <a:tcPr marL="114300" marR="95250" marT="38100" marB="38100" anchor="ctr">
                    <a:lnR w="7620">
                      <a:solidFill>
                        <a:srgbClr val="B8BFC3"/>
                      </a:solidFill>
                      <a:prstDash val="solid"/>
                    </a:lnR>
                    <a:lnT w="7620">
                      <a:solidFill>
                        <a:srgbClr val="B8BFC3"/>
                      </a:solidFill>
                      <a:prstDash val="solid"/>
                    </a:lnT>
                    <a:lnB w="7620">
                      <a:solidFill>
                        <a:srgbClr val="B8BFC3"/>
                      </a:solidFill>
                      <a:prstDash val="solid"/>
                    </a:lnB>
                    <a:solidFill>
                      <a:srgbClr val="202124"/>
                    </a:solidFill>
                  </a:tcPr>
                </a:tc>
              </a:tr>
              <a:tr h="560388">
                <a:tc>
                  <a:txBody>
                    <a:bodyPr>
                      <a:noAutofit/>
                    </a:bodyPr>
                    <a:lstStyle/>
                    <a:p>
                      <a:r>
                        <a:rPr sz="1800" b="0">
                          <a:solidFill>
                            <a:srgbClr val="202124"/>
                          </a:solidFill>
                          <a:latin typeface="Calibri"/>
                          <a:ea typeface="Calibri"/>
                          <a:cs typeface="Calibri"/>
                        </a:rPr>
                        <a:t>FSDR − PLAM</a:t>
                      </a:r>
                    </a:p>
                  </a:txBody>
                  <a:tcPr marL="114300" marR="95250" marT="38100" marB="38100" anchor="ctr">
                    <a:lnL w="7620">
                      <a:solidFill>
                        <a:srgbClr val="B8BFC3"/>
                      </a:solidFill>
                      <a:prstDash val="solid"/>
                    </a:lnL>
                    <a:lnR w="7620">
                      <a:solidFill>
                        <a:srgbClr val="B8BFC3"/>
                      </a:solidFill>
                      <a:prstDash val="solid"/>
                    </a:lnR>
                    <a:lnB w="7620">
                      <a:solidFill>
                        <a:srgbClr val="B8BFC3"/>
                      </a:solidFill>
                      <a:prstDash val="solid"/>
                    </a:lnB>
                    <a:solidFill>
                      <a:srgbClr val="FFFFFF"/>
                    </a:solidFill>
                  </a:tcPr>
                </a:tc>
                <a:tc>
                  <a:txBody>
                    <a:bodyPr>
                      <a:noAutofit/>
                    </a:bodyPr>
                    <a:lstStyle/>
                    <a:p>
                      <a:r>
                        <a:rPr sz="1800" b="0">
                          <a:solidFill>
                            <a:srgbClr val="202124"/>
                          </a:solidFill>
                          <a:latin typeface="Calibri"/>
                          <a:ea typeface="Calibri"/>
                          <a:cs typeface="Calibri"/>
                        </a:rPr>
                        <a:t>+0.2423</a:t>
                      </a:r>
                    </a:p>
                  </a:txBody>
                  <a:tcPr marL="114300" marR="95250" marT="38100" marB="38100" anchor="ctr">
                    <a:lnR w="7620">
                      <a:solidFill>
                        <a:srgbClr val="B8BFC3"/>
                      </a:solidFill>
                      <a:prstDash val="solid"/>
                    </a:lnR>
                    <a:lnB w="7620">
                      <a:solidFill>
                        <a:srgbClr val="B8BFC3"/>
                      </a:solidFill>
                      <a:prstDash val="solid"/>
                    </a:lnB>
                    <a:solidFill>
                      <a:srgbClr val="FFFFFF"/>
                    </a:solidFill>
                  </a:tcPr>
                </a:tc>
                <a:tc>
                  <a:txBody>
                    <a:bodyPr>
                      <a:noAutofit/>
                    </a:bodyPr>
                    <a:lstStyle/>
                    <a:p>
                      <a:r>
                        <a:rPr sz="1800" b="0">
                          <a:solidFill>
                            <a:srgbClr val="202124"/>
                          </a:solidFill>
                          <a:latin typeface="Calibri"/>
                          <a:ea typeface="Calibri"/>
                          <a:cs typeface="Calibri"/>
                        </a:rPr>
                        <a:t>+0.6191</a:t>
                      </a:r>
                    </a:p>
                  </a:txBody>
                  <a:tcPr marL="114300" marR="95250" marT="38100" marB="38100" anchor="ctr">
                    <a:lnR w="7620">
                      <a:solidFill>
                        <a:srgbClr val="B8BFC3"/>
                      </a:solidFill>
                      <a:prstDash val="solid"/>
                    </a:lnR>
                    <a:lnB w="7620">
                      <a:solidFill>
                        <a:srgbClr val="B8BFC3"/>
                      </a:solidFill>
                      <a:prstDash val="solid"/>
                    </a:lnB>
                    <a:solidFill>
                      <a:srgbClr val="FFFFFF"/>
                    </a:solidFill>
                  </a:tcPr>
                </a:tc>
                <a:tc>
                  <a:txBody>
                    <a:bodyPr>
                      <a:noAutofit/>
                    </a:bodyPr>
                    <a:lstStyle/>
                    <a:p>
                      <a:r>
                        <a:rPr sz="1800" b="0">
                          <a:solidFill>
                            <a:srgbClr val="202124"/>
                          </a:solidFill>
                          <a:latin typeface="Calibri"/>
                          <a:ea typeface="Calibri"/>
                          <a:cs typeface="Calibri"/>
                        </a:rPr>
                        <a:t>+0.6561</a:t>
                      </a:r>
                    </a:p>
                  </a:txBody>
                  <a:tcPr marL="114300" marR="95250" marT="38100" marB="38100" anchor="ctr">
                    <a:lnR w="7620">
                      <a:solidFill>
                        <a:srgbClr val="B8BFC3"/>
                      </a:solidFill>
                      <a:prstDash val="solid"/>
                    </a:lnR>
                    <a:lnB w="7620">
                      <a:solidFill>
                        <a:srgbClr val="B8BFC3"/>
                      </a:solidFill>
                      <a:prstDash val="solid"/>
                    </a:lnB>
                    <a:solidFill>
                      <a:srgbClr val="FFFFFF"/>
                    </a:solidFill>
                  </a:tcPr>
                </a:tc>
                <a:tc>
                  <a:txBody>
                    <a:bodyPr>
                      <a:noAutofit/>
                    </a:bodyPr>
                    <a:lstStyle/>
                    <a:p>
                      <a:r>
                        <a:rPr sz="1800" b="0">
                          <a:solidFill>
                            <a:srgbClr val="202124"/>
                          </a:solidFill>
                          <a:latin typeface="Calibri"/>
                          <a:ea typeface="Calibri"/>
                          <a:cs typeface="Calibri"/>
                        </a:rPr>
                        <a:t>+0.5058</a:t>
                      </a:r>
                    </a:p>
                  </a:txBody>
                  <a:tcPr marL="114300" marR="95250" marT="38100" marB="38100" anchor="ctr">
                    <a:lnR w="7620">
                      <a:solidFill>
                        <a:srgbClr val="B8BFC3"/>
                      </a:solidFill>
                      <a:prstDash val="solid"/>
                    </a:lnR>
                    <a:lnB w="7620">
                      <a:solidFill>
                        <a:srgbClr val="B8BFC3"/>
                      </a:solidFill>
                      <a:prstDash val="solid"/>
                    </a:lnB>
                    <a:solidFill>
                      <a:srgbClr val="FFFFFF"/>
                    </a:solidFill>
                  </a:tcPr>
                </a:tc>
              </a:tr>
              <a:tr h="560388">
                <a:tc>
                  <a:txBody>
                    <a:bodyPr>
                      <a:noAutofit/>
                    </a:bodyPr>
                    <a:lstStyle/>
                    <a:p>
                      <a:r>
                        <a:rPr sz="1800" b="0">
                          <a:solidFill>
                            <a:srgbClr val="202124"/>
                          </a:solidFill>
                          <a:latin typeface="Calibri"/>
                          <a:ea typeface="Calibri"/>
                          <a:cs typeface="Calibri"/>
                        </a:rPr>
                        <a:t>PLAM + RACE − PLAM</a:t>
                      </a:r>
                    </a:p>
                  </a:txBody>
                  <a:tcPr marL="114300" marR="95250" marT="38100" marB="38100" anchor="ctr">
                    <a:lnL w="7620">
                      <a:solidFill>
                        <a:srgbClr val="B8BFC3"/>
                      </a:solidFill>
                      <a:prstDash val="solid"/>
                    </a:lnL>
                    <a:lnR w="7620">
                      <a:solidFill>
                        <a:srgbClr val="B8BFC3"/>
                      </a:solidFill>
                      <a:prstDash val="solid"/>
                    </a:lnR>
                    <a:lnB w="7620">
                      <a:solidFill>
                        <a:srgbClr val="B8BFC3"/>
                      </a:solidFill>
                      <a:prstDash val="solid"/>
                    </a:lnB>
                    <a:solidFill>
                      <a:srgbClr val="F4F5F5"/>
                    </a:solidFill>
                  </a:tcPr>
                </a:tc>
                <a:tc>
                  <a:txBody>
                    <a:bodyPr>
                      <a:noAutofit/>
                    </a:bodyPr>
                    <a:lstStyle/>
                    <a:p>
                      <a:r>
                        <a:rPr sz="1800" b="0">
                          <a:solidFill>
                            <a:srgbClr val="202124"/>
                          </a:solidFill>
                          <a:latin typeface="Calibri"/>
                          <a:ea typeface="Calibri"/>
                          <a:cs typeface="Calibri"/>
                        </a:rPr>
                        <a:t>+0.2514</a:t>
                      </a:r>
                    </a:p>
                  </a:txBody>
                  <a:tcPr marL="114300" marR="95250" marT="38100" marB="38100" anchor="ctr">
                    <a:lnR w="7620">
                      <a:solidFill>
                        <a:srgbClr val="B8BFC3"/>
                      </a:solidFill>
                      <a:prstDash val="solid"/>
                    </a:lnR>
                    <a:lnB w="7620">
                      <a:solidFill>
                        <a:srgbClr val="B8BFC3"/>
                      </a:solidFill>
                      <a:prstDash val="solid"/>
                    </a:lnB>
                    <a:solidFill>
                      <a:srgbClr val="F4F5F5"/>
                    </a:solidFill>
                  </a:tcPr>
                </a:tc>
                <a:tc>
                  <a:txBody>
                    <a:bodyPr>
                      <a:noAutofit/>
                    </a:bodyPr>
                    <a:lstStyle/>
                    <a:p>
                      <a:r>
                        <a:rPr sz="1800" b="0">
                          <a:solidFill>
                            <a:srgbClr val="202124"/>
                          </a:solidFill>
                          <a:latin typeface="Calibri"/>
                          <a:ea typeface="Calibri"/>
                          <a:cs typeface="Calibri"/>
                        </a:rPr>
                        <a:t>+0.1790</a:t>
                      </a:r>
                    </a:p>
                  </a:txBody>
                  <a:tcPr marL="114300" marR="95250" marT="38100" marB="38100" anchor="ctr">
                    <a:lnR w="7620">
                      <a:solidFill>
                        <a:srgbClr val="B8BFC3"/>
                      </a:solidFill>
                      <a:prstDash val="solid"/>
                    </a:lnR>
                    <a:lnB w="7620">
                      <a:solidFill>
                        <a:srgbClr val="B8BFC3"/>
                      </a:solidFill>
                      <a:prstDash val="solid"/>
                    </a:lnB>
                    <a:solidFill>
                      <a:srgbClr val="F4F5F5"/>
                    </a:solidFill>
                  </a:tcPr>
                </a:tc>
                <a:tc>
                  <a:txBody>
                    <a:bodyPr>
                      <a:noAutofit/>
                    </a:bodyPr>
                    <a:lstStyle/>
                    <a:p>
                      <a:r>
                        <a:rPr sz="1800" b="0">
                          <a:solidFill>
                            <a:srgbClr val="202124"/>
                          </a:solidFill>
                          <a:latin typeface="Calibri"/>
                          <a:ea typeface="Calibri"/>
                          <a:cs typeface="Calibri"/>
                        </a:rPr>
                        <a:t>+0.2257</a:t>
                      </a:r>
                    </a:p>
                  </a:txBody>
                  <a:tcPr marL="114300" marR="95250" marT="38100" marB="38100" anchor="ctr">
                    <a:lnR w="7620">
                      <a:solidFill>
                        <a:srgbClr val="B8BFC3"/>
                      </a:solidFill>
                      <a:prstDash val="solid"/>
                    </a:lnR>
                    <a:lnB w="7620">
                      <a:solidFill>
                        <a:srgbClr val="B8BFC3"/>
                      </a:solidFill>
                      <a:prstDash val="solid"/>
                    </a:lnB>
                    <a:solidFill>
                      <a:srgbClr val="F4F5F5"/>
                    </a:solidFill>
                  </a:tcPr>
                </a:tc>
                <a:tc>
                  <a:txBody>
                    <a:bodyPr>
                      <a:noAutofit/>
                    </a:bodyPr>
                    <a:lstStyle/>
                    <a:p>
                      <a:r>
                        <a:rPr sz="1800" b="0">
                          <a:solidFill>
                            <a:srgbClr val="202124"/>
                          </a:solidFill>
                          <a:latin typeface="Calibri"/>
                          <a:ea typeface="Calibri"/>
                          <a:cs typeface="Calibri"/>
                        </a:rPr>
                        <a:t>+0.2187</a:t>
                      </a:r>
                    </a:p>
                  </a:txBody>
                  <a:tcPr marL="114300" marR="95250" marT="38100" marB="38100" anchor="ctr">
                    <a:lnR w="7620">
                      <a:solidFill>
                        <a:srgbClr val="B8BFC3"/>
                      </a:solidFill>
                      <a:prstDash val="solid"/>
                    </a:lnR>
                    <a:lnB w="7620">
                      <a:solidFill>
                        <a:srgbClr val="B8BFC3"/>
                      </a:solidFill>
                      <a:prstDash val="solid"/>
                    </a:lnB>
                    <a:solidFill>
                      <a:srgbClr val="F4F5F5"/>
                    </a:solidFill>
                  </a:tcPr>
                </a:tc>
              </a:tr>
              <a:tr h="560388">
                <a:tc>
                  <a:txBody>
                    <a:bodyPr>
                      <a:noAutofit/>
                    </a:bodyPr>
                    <a:lstStyle/>
                    <a:p>
                      <a:r>
                        <a:rPr sz="1800" b="0">
                          <a:solidFill>
                            <a:srgbClr val="202124"/>
                          </a:solidFill>
                          <a:latin typeface="Calibri"/>
                          <a:ea typeface="Calibri"/>
                          <a:cs typeface="Calibri"/>
                        </a:rPr>
                        <a:t>Combined − FSDR</a:t>
                      </a:r>
                    </a:p>
                  </a:txBody>
                  <a:tcPr marL="114300" marR="95250" marT="38100" marB="38100" anchor="ctr">
                    <a:lnL w="7620">
                      <a:solidFill>
                        <a:srgbClr val="B8BFC3"/>
                      </a:solidFill>
                      <a:prstDash val="solid"/>
                    </a:lnL>
                    <a:lnR w="7620">
                      <a:solidFill>
                        <a:srgbClr val="B8BFC3"/>
                      </a:solidFill>
                      <a:prstDash val="solid"/>
                    </a:lnR>
                    <a:lnB w="7620">
                      <a:solidFill>
                        <a:srgbClr val="B8BFC3"/>
                      </a:solidFill>
                      <a:prstDash val="solid"/>
                    </a:lnB>
                    <a:solidFill>
                      <a:srgbClr val="FFFFFF"/>
                    </a:solidFill>
                  </a:tcPr>
                </a:tc>
                <a:tc>
                  <a:txBody>
                    <a:bodyPr>
                      <a:noAutofit/>
                    </a:bodyPr>
                    <a:lstStyle/>
                    <a:p>
                      <a:r>
                        <a:rPr sz="1800" b="0">
                          <a:solidFill>
                            <a:srgbClr val="202124"/>
                          </a:solidFill>
                          <a:latin typeface="Calibri"/>
                          <a:ea typeface="Calibri"/>
                          <a:cs typeface="Calibri"/>
                        </a:rPr>
                        <a:t>+0.4387</a:t>
                      </a:r>
                    </a:p>
                  </a:txBody>
                  <a:tcPr marL="114300" marR="95250" marT="38100" marB="38100" anchor="ctr">
                    <a:lnR w="7620">
                      <a:solidFill>
                        <a:srgbClr val="B8BFC3"/>
                      </a:solidFill>
                      <a:prstDash val="solid"/>
                    </a:lnR>
                    <a:lnB w="7620">
                      <a:solidFill>
                        <a:srgbClr val="B8BFC3"/>
                      </a:solidFill>
                      <a:prstDash val="solid"/>
                    </a:lnB>
                    <a:solidFill>
                      <a:srgbClr val="FFFFFF"/>
                    </a:solidFill>
                  </a:tcPr>
                </a:tc>
                <a:tc>
                  <a:txBody>
                    <a:bodyPr>
                      <a:noAutofit/>
                    </a:bodyPr>
                    <a:lstStyle/>
                    <a:p>
                      <a:r>
                        <a:rPr sz="1800" b="0">
                          <a:solidFill>
                            <a:srgbClr val="202124"/>
                          </a:solidFill>
                          <a:latin typeface="Calibri"/>
                          <a:ea typeface="Calibri"/>
                          <a:cs typeface="Calibri"/>
                        </a:rPr>
                        <a:t>+0.1704</a:t>
                      </a:r>
                    </a:p>
                  </a:txBody>
                  <a:tcPr marL="114300" marR="95250" marT="38100" marB="38100" anchor="ctr">
                    <a:lnR w="7620">
                      <a:solidFill>
                        <a:srgbClr val="B8BFC3"/>
                      </a:solidFill>
                      <a:prstDash val="solid"/>
                    </a:lnR>
                    <a:lnB w="7620">
                      <a:solidFill>
                        <a:srgbClr val="B8BFC3"/>
                      </a:solidFill>
                      <a:prstDash val="solid"/>
                    </a:lnB>
                    <a:solidFill>
                      <a:srgbClr val="FFFFFF"/>
                    </a:solidFill>
                  </a:tcPr>
                </a:tc>
                <a:tc>
                  <a:txBody>
                    <a:bodyPr>
                      <a:noAutofit/>
                    </a:bodyPr>
                    <a:lstStyle/>
                    <a:p>
                      <a:r>
                        <a:rPr sz="1800" b="0">
                          <a:solidFill>
                            <a:srgbClr val="202124"/>
                          </a:solidFill>
                          <a:latin typeface="Calibri"/>
                          <a:ea typeface="Calibri"/>
                          <a:cs typeface="Calibri"/>
                        </a:rPr>
                        <a:t>+0.1194</a:t>
                      </a:r>
                    </a:p>
                  </a:txBody>
                  <a:tcPr marL="114300" marR="95250" marT="38100" marB="38100" anchor="ctr">
                    <a:lnR w="7620">
                      <a:solidFill>
                        <a:srgbClr val="B8BFC3"/>
                      </a:solidFill>
                      <a:prstDash val="solid"/>
                    </a:lnR>
                    <a:lnB w="7620">
                      <a:solidFill>
                        <a:srgbClr val="B8BFC3"/>
                      </a:solidFill>
                      <a:prstDash val="solid"/>
                    </a:lnB>
                    <a:solidFill>
                      <a:srgbClr val="FFFFFF"/>
                    </a:solidFill>
                  </a:tcPr>
                </a:tc>
                <a:tc>
                  <a:txBody>
                    <a:bodyPr>
                      <a:noAutofit/>
                    </a:bodyPr>
                    <a:lstStyle/>
                    <a:p>
                      <a:r>
                        <a:rPr sz="1800" b="0">
                          <a:solidFill>
                            <a:srgbClr val="202124"/>
                          </a:solidFill>
                          <a:latin typeface="Calibri"/>
                          <a:ea typeface="Calibri"/>
                          <a:cs typeface="Calibri"/>
                        </a:rPr>
                        <a:t>+0.2428</a:t>
                      </a:r>
                    </a:p>
                  </a:txBody>
                  <a:tcPr marL="114300" marR="95250" marT="38100" marB="38100" anchor="ctr">
                    <a:lnR w="7620">
                      <a:solidFill>
                        <a:srgbClr val="B8BFC3"/>
                      </a:solidFill>
                      <a:prstDash val="solid"/>
                    </a:lnR>
                    <a:lnB w="7620">
                      <a:solidFill>
                        <a:srgbClr val="B8BFC3"/>
                      </a:solidFill>
                      <a:prstDash val="solid"/>
                    </a:lnB>
                    <a:solidFill>
                      <a:srgbClr val="FFFFFF"/>
                    </a:solidFill>
                  </a:tcPr>
                </a:tc>
              </a:tr>
              <a:tr h="560388">
                <a:tc>
                  <a:txBody>
                    <a:bodyPr>
                      <a:noAutofit/>
                    </a:bodyPr>
                    <a:lstStyle/>
                    <a:p>
                      <a:r>
                        <a:rPr sz="1800" b="0">
                          <a:solidFill>
                            <a:srgbClr val="202124"/>
                          </a:solidFill>
                          <a:latin typeface="Calibri"/>
                          <a:ea typeface="Calibri"/>
                          <a:cs typeface="Calibri"/>
                        </a:rPr>
                        <a:t>Combined − PLAM + RACE</a:t>
                      </a:r>
                    </a:p>
                  </a:txBody>
                  <a:tcPr marL="114300" marR="95250" marT="38100" marB="38100" anchor="ctr">
                    <a:lnL w="7620">
                      <a:solidFill>
                        <a:srgbClr val="B8BFC3"/>
                      </a:solidFill>
                      <a:prstDash val="solid"/>
                    </a:lnL>
                    <a:lnR w="7620">
                      <a:solidFill>
                        <a:srgbClr val="B8BFC3"/>
                      </a:solidFill>
                      <a:prstDash val="solid"/>
                    </a:lnR>
                    <a:lnB w="7620">
                      <a:solidFill>
                        <a:srgbClr val="B8BFC3"/>
                      </a:solidFill>
                      <a:prstDash val="solid"/>
                    </a:lnB>
                    <a:solidFill>
                      <a:srgbClr val="F4F5F5"/>
                    </a:solidFill>
                  </a:tcPr>
                </a:tc>
                <a:tc>
                  <a:txBody>
                    <a:bodyPr>
                      <a:noAutofit/>
                    </a:bodyPr>
                    <a:lstStyle/>
                    <a:p>
                      <a:r>
                        <a:rPr sz="1800" b="0">
                          <a:solidFill>
                            <a:srgbClr val="202124"/>
                          </a:solidFill>
                          <a:latin typeface="Calibri"/>
                          <a:ea typeface="Calibri"/>
                          <a:cs typeface="Calibri"/>
                        </a:rPr>
                        <a:t>+0.4296</a:t>
                      </a:r>
                    </a:p>
                  </a:txBody>
                  <a:tcPr marL="114300" marR="95250" marT="38100" marB="38100" anchor="ctr">
                    <a:lnR w="7620">
                      <a:solidFill>
                        <a:srgbClr val="B8BFC3"/>
                      </a:solidFill>
                      <a:prstDash val="solid"/>
                    </a:lnR>
                    <a:lnB w="7620">
                      <a:solidFill>
                        <a:srgbClr val="B8BFC3"/>
                      </a:solidFill>
                      <a:prstDash val="solid"/>
                    </a:lnB>
                    <a:solidFill>
                      <a:srgbClr val="F4F5F5"/>
                    </a:solidFill>
                  </a:tcPr>
                </a:tc>
                <a:tc>
                  <a:txBody>
                    <a:bodyPr>
                      <a:noAutofit/>
                    </a:bodyPr>
                    <a:lstStyle/>
                    <a:p>
                      <a:r>
                        <a:rPr sz="1800" b="0">
                          <a:solidFill>
                            <a:srgbClr val="202124"/>
                          </a:solidFill>
                          <a:latin typeface="Calibri"/>
                          <a:ea typeface="Calibri"/>
                          <a:cs typeface="Calibri"/>
                        </a:rPr>
                        <a:t>+0.6104</a:t>
                      </a:r>
                    </a:p>
                  </a:txBody>
                  <a:tcPr marL="114300" marR="95250" marT="38100" marB="38100" anchor="ctr">
                    <a:lnR w="7620">
                      <a:solidFill>
                        <a:srgbClr val="B8BFC3"/>
                      </a:solidFill>
                      <a:prstDash val="solid"/>
                    </a:lnR>
                    <a:lnB w="7620">
                      <a:solidFill>
                        <a:srgbClr val="B8BFC3"/>
                      </a:solidFill>
                      <a:prstDash val="solid"/>
                    </a:lnB>
                    <a:solidFill>
                      <a:srgbClr val="F4F5F5"/>
                    </a:solidFill>
                  </a:tcPr>
                </a:tc>
                <a:tc>
                  <a:txBody>
                    <a:bodyPr>
                      <a:noAutofit/>
                    </a:bodyPr>
                    <a:lstStyle/>
                    <a:p>
                      <a:r>
                        <a:rPr sz="1800" b="0">
                          <a:solidFill>
                            <a:srgbClr val="202124"/>
                          </a:solidFill>
                          <a:latin typeface="Calibri"/>
                          <a:ea typeface="Calibri"/>
                          <a:cs typeface="Calibri"/>
                        </a:rPr>
                        <a:t>+0.5498</a:t>
                      </a:r>
                    </a:p>
                  </a:txBody>
                  <a:tcPr marL="114300" marR="95250" marT="38100" marB="38100" anchor="ctr">
                    <a:lnR w="7620">
                      <a:solidFill>
                        <a:srgbClr val="B8BFC3"/>
                      </a:solidFill>
                      <a:prstDash val="solid"/>
                    </a:lnR>
                    <a:lnB w="7620">
                      <a:solidFill>
                        <a:srgbClr val="B8BFC3"/>
                      </a:solidFill>
                      <a:prstDash val="solid"/>
                    </a:lnB>
                    <a:solidFill>
                      <a:srgbClr val="F4F5F5"/>
                    </a:solidFill>
                  </a:tcPr>
                </a:tc>
                <a:tc>
                  <a:txBody>
                    <a:bodyPr>
                      <a:noAutofit/>
                    </a:bodyPr>
                    <a:lstStyle/>
                    <a:p>
                      <a:r>
                        <a:rPr sz="1800" b="0">
                          <a:solidFill>
                            <a:srgbClr val="202124"/>
                          </a:solidFill>
                          <a:latin typeface="Calibri"/>
                          <a:ea typeface="Calibri"/>
                          <a:cs typeface="Calibri"/>
                        </a:rPr>
                        <a:t>+0.5300</a:t>
                      </a:r>
                    </a:p>
                  </a:txBody>
                  <a:tcPr marL="114300" marR="95250" marT="38100" marB="38100" anchor="ctr">
                    <a:lnR w="7620">
                      <a:solidFill>
                        <a:srgbClr val="B8BFC3"/>
                      </a:solidFill>
                      <a:prstDash val="solid"/>
                    </a:lnR>
                    <a:lnB w="7620">
                      <a:solidFill>
                        <a:srgbClr val="B8BFC3"/>
                      </a:solidFill>
                      <a:prstDash val="solid"/>
                    </a:lnB>
                    <a:solidFill>
                      <a:srgbClr val="F4F5F5"/>
                    </a:solidFill>
                  </a:tcPr>
                </a:tc>
              </a:tr>
              <a:tr h="560388">
                <a:tc>
                  <a:txBody>
                    <a:bodyPr>
                      <a:noAutofit/>
                    </a:bodyPr>
                    <a:lstStyle/>
                    <a:p>
                      <a:r>
                        <a:rPr sz="1800" b="1">
                          <a:solidFill>
                            <a:srgbClr val="202124"/>
                          </a:solidFill>
                          <a:latin typeface="Calibri"/>
                          <a:ea typeface="Calibri"/>
                          <a:cs typeface="Calibri"/>
                        </a:rPr>
                        <a:t>Combined − PLAM</a:t>
                      </a:r>
                    </a:p>
                  </a:txBody>
                  <a:tcPr marL="114300" marR="95250" marT="38100" marB="38100" anchor="ctr">
                    <a:lnL w="7620">
                      <a:solidFill>
                        <a:srgbClr val="B8BFC3"/>
                      </a:solidFill>
                      <a:prstDash val="solid"/>
                    </a:lnL>
                    <a:lnR w="7620">
                      <a:solidFill>
                        <a:srgbClr val="B8BFC3"/>
                      </a:solidFill>
                      <a:prstDash val="solid"/>
                    </a:lnR>
                    <a:lnB w="7620">
                      <a:solidFill>
                        <a:srgbClr val="B8BFC3"/>
                      </a:solidFill>
                      <a:prstDash val="solid"/>
                    </a:lnB>
                    <a:solidFill>
                      <a:srgbClr val="EDF3E7"/>
                    </a:solidFill>
                  </a:tcPr>
                </a:tc>
                <a:tc>
                  <a:txBody>
                    <a:bodyPr>
                      <a:noAutofit/>
                    </a:bodyPr>
                    <a:lstStyle/>
                    <a:p>
                      <a:r>
                        <a:rPr sz="1800" b="1">
                          <a:solidFill>
                            <a:srgbClr val="202124"/>
                          </a:solidFill>
                          <a:latin typeface="Calibri"/>
                          <a:ea typeface="Calibri"/>
                          <a:cs typeface="Calibri"/>
                        </a:rPr>
                        <a:t>+0.6810</a:t>
                      </a:r>
                    </a:p>
                  </a:txBody>
                  <a:tcPr marL="114300" marR="95250" marT="38100" marB="38100" anchor="ctr">
                    <a:lnR w="7620">
                      <a:solidFill>
                        <a:srgbClr val="B8BFC3"/>
                      </a:solidFill>
                      <a:prstDash val="solid"/>
                    </a:lnR>
                    <a:lnB w="7620">
                      <a:solidFill>
                        <a:srgbClr val="B8BFC3"/>
                      </a:solidFill>
                      <a:prstDash val="solid"/>
                    </a:lnB>
                    <a:solidFill>
                      <a:srgbClr val="EDF3E7"/>
                    </a:solidFill>
                  </a:tcPr>
                </a:tc>
                <a:tc>
                  <a:txBody>
                    <a:bodyPr>
                      <a:noAutofit/>
                    </a:bodyPr>
                    <a:lstStyle/>
                    <a:p>
                      <a:r>
                        <a:rPr sz="1800" b="1">
                          <a:solidFill>
                            <a:srgbClr val="202124"/>
                          </a:solidFill>
                          <a:latin typeface="Calibri"/>
                          <a:ea typeface="Calibri"/>
                          <a:cs typeface="Calibri"/>
                        </a:rPr>
                        <a:t>+0.7895</a:t>
                      </a:r>
                    </a:p>
                  </a:txBody>
                  <a:tcPr marL="114300" marR="95250" marT="38100" marB="38100" anchor="ctr">
                    <a:lnR w="7620">
                      <a:solidFill>
                        <a:srgbClr val="B8BFC3"/>
                      </a:solidFill>
                      <a:prstDash val="solid"/>
                    </a:lnR>
                    <a:lnB w="7620">
                      <a:solidFill>
                        <a:srgbClr val="B8BFC3"/>
                      </a:solidFill>
                      <a:prstDash val="solid"/>
                    </a:lnB>
                    <a:solidFill>
                      <a:srgbClr val="EDF3E7"/>
                    </a:solidFill>
                  </a:tcPr>
                </a:tc>
                <a:tc>
                  <a:txBody>
                    <a:bodyPr>
                      <a:noAutofit/>
                    </a:bodyPr>
                    <a:lstStyle/>
                    <a:p>
                      <a:r>
                        <a:rPr sz="1800" b="1">
                          <a:solidFill>
                            <a:srgbClr val="202124"/>
                          </a:solidFill>
                          <a:latin typeface="Calibri"/>
                          <a:ea typeface="Calibri"/>
                          <a:cs typeface="Calibri"/>
                        </a:rPr>
                        <a:t>+0.7755</a:t>
                      </a:r>
                    </a:p>
                  </a:txBody>
                  <a:tcPr marL="114300" marR="95250" marT="38100" marB="38100" anchor="ctr">
                    <a:lnR w="7620">
                      <a:solidFill>
                        <a:srgbClr val="B8BFC3"/>
                      </a:solidFill>
                      <a:prstDash val="solid"/>
                    </a:lnR>
                    <a:lnB w="7620">
                      <a:solidFill>
                        <a:srgbClr val="B8BFC3"/>
                      </a:solidFill>
                      <a:prstDash val="solid"/>
                    </a:lnB>
                    <a:solidFill>
                      <a:srgbClr val="EDF3E7"/>
                    </a:solidFill>
                  </a:tcPr>
                </a:tc>
                <a:tc>
                  <a:txBody>
                    <a:bodyPr>
                      <a:noAutofit/>
                    </a:bodyPr>
                    <a:lstStyle/>
                    <a:p>
                      <a:r>
                        <a:rPr sz="1800" b="1">
                          <a:solidFill>
                            <a:srgbClr val="202124"/>
                          </a:solidFill>
                          <a:latin typeface="Calibri"/>
                          <a:ea typeface="Calibri"/>
                          <a:cs typeface="Calibri"/>
                        </a:rPr>
                        <a:t>+0.7487</a:t>
                      </a:r>
                    </a:p>
                  </a:txBody>
                  <a:tcPr marL="114300" marR="95250" marT="38100" marB="38100" anchor="ctr">
                    <a:lnR w="7620">
                      <a:solidFill>
                        <a:srgbClr val="B8BFC3"/>
                      </a:solidFill>
                      <a:prstDash val="solid"/>
                    </a:lnR>
                    <a:lnB w="7620">
                      <a:solidFill>
                        <a:srgbClr val="B8BFC3"/>
                      </a:solidFill>
                      <a:prstDash val="solid"/>
                    </a:lnB>
                    <a:solidFill>
                      <a:srgbClr val="EDF3E7"/>
                    </a:solidFill>
                  </a:tcPr>
                </a:tc>
              </a:tr>
            </a:tbl>
          </a:graphicData>
        </a:graphic>
      </p:graphicFrame>
      <p:sp>
        <p:nvSpPr>
          <p:cNvPr id="5" name="Combined mean ± SD: IoU 76.2262 ± 0.0456% · Dice 84.711">
            <a:extLst xmlns:a="http://schemas.openxmlformats.org/drawingml/2006/main">
              <a:ext uri="{FF2B5EF4-FFF2-40B4-BE49-F238E27FC236}">
                <a16:creationId xmlns:a16="http://schemas.microsoft.com/office/drawing/2014/main" id="{689B0D5F-186B-4760-8A96-3F4CE0AC095B}"/>
              </a:ext>
            </a:extLst>
          </p:cNvPr>
          <p:cNvSpPr>
            <a:spLocks xmlns:a="http://schemas.openxmlformats.org/drawingml/2006/main" noGrp="1"/>
          </p:cNvSpPr>
          <p:nvPr/>
        </p:nvSpPr>
        <p:spPr>
          <a:xfrm xmlns:a="http://schemas.openxmlformats.org/drawingml/2006/main">
            <a:off x="638175" y="541020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202124"/>
                </a:solidFill>
                <a:latin typeface="Calibri"/>
                <a:ea typeface="Calibri"/>
                <a:cs typeface="Calibri"/>
              </a:defRPr>
            </a:defPPr>
          </a:lstStyle>
          <a:p xmlns:a="http://schemas.openxmlformats.org/drawingml/2006/main">
            <a:pPr algn="l">
              <a:defRPr sz="1950" b="1">
                <a:solidFill>
                  <a:srgbClr val="202124"/>
                </a:solidFill>
                <a:latin typeface="Calibri"/>
                <a:ea typeface="Calibri"/>
                <a:cs typeface="Calibri"/>
              </a:defRPr>
            </a:pPr>
            <a:r>
              <a:rPr sz="1950" b="1">
                <a:solidFill>
                  <a:srgbClr val="202124"/>
                </a:solidFill>
                <a:latin typeface="Calibri"/>
                <a:ea typeface="Calibri"/>
                <a:cs typeface="Calibri"/>
              </a:rPr>
              <a:t>Combined mean ± SD: IoU 76.2262 ± 0.0456% · Dice 84.7112 ± 0.0348%</a:t>
            </a:r>
          </a:p>
        </p:txBody>
      </p:sp>
      <p:sp>
        <p:nvSpPr>
          <p:cNvPr id="6" name="All 12 individual runs, negative evidence and evaluatio">
            <a:extLst xmlns:a="http://schemas.openxmlformats.org/drawingml/2006/main">
              <a:ext uri="{FF2B5EF4-FFF2-40B4-BE49-F238E27FC236}">
                <a16:creationId xmlns:a16="http://schemas.microsoft.com/office/drawing/2014/main" id="{B2C2BE9F-1E87-42F2-B53F-03925C81EFCB}"/>
              </a:ext>
            </a:extLst>
          </p:cNvPr>
          <p:cNvSpPr>
            <a:spLocks xmlns:a="http://schemas.openxmlformats.org/drawingml/2006/main" noGrp="1"/>
          </p:cNvSpPr>
          <p:nvPr/>
        </p:nvSpPr>
        <p:spPr>
          <a:xfrm xmlns:a="http://schemas.openxmlformats.org/drawingml/2006/main">
            <a:off x="638175" y="6038850"/>
            <a:ext cx="10915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62686C"/>
                </a:solidFill>
                <a:latin typeface="Calibri"/>
                <a:ea typeface="Calibri"/>
                <a:cs typeface="Calibri"/>
              </a:defRPr>
            </a:defPPr>
          </a:lstStyle>
          <a:p xmlns:a="http://schemas.openxmlformats.org/drawingml/2006/main">
            <a:pPr algn="l">
              <a:defRPr sz="1725" b="0">
                <a:solidFill>
                  <a:srgbClr val="62686C"/>
                </a:solidFill>
                <a:latin typeface="Calibri"/>
                <a:ea typeface="Calibri"/>
                <a:cs typeface="Calibri"/>
              </a:defRPr>
            </a:pPr>
            <a:r>
              <a:rPr sz="1725" b="0">
                <a:solidFill>
                  <a:srgbClr val="62686C"/>
                </a:solidFill>
                <a:latin typeface="Calibri"/>
                <a:ea typeface="Calibri"/>
                <a:cs typeface="Calibri"/>
              </a:rPr>
              <a:t>All 12 individual runs, negative evidence and evaluation boundaries remain in the backup.</a:t>
            </a:r>
          </a:p>
        </p:txBody>
      </p:sp>
    </p:spTree>
    <p:extLst>
      <p:ext uri="{BB962C8B-B14F-4D97-AF65-F5344CB8AC3E}">
        <p14:creationId xmlns:p14="http://schemas.microsoft.com/office/powerpoint/2010/main" val="64482226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2026-10-13T03:33:20.0530000Z</dcterms:created>
  <dcterms:modified xsi:type="dcterms:W3CDTF">2026-10-13T03:33:20.0530000Z</dcterms:modified>
</coreProperties>
</file>