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56" r:id="rId2"/>
    <p:sldId id="277" r:id="rId3"/>
    <p:sldId id="278" r:id="rId4"/>
    <p:sldId id="279" r:id="rId5"/>
    <p:sldId id="257" r:id="rId6"/>
    <p:sldId id="258" r:id="rId7"/>
    <p:sldId id="259" r:id="rId8"/>
    <p:sldId id="260"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1" d="100"/>
          <a:sy n="101" d="100"/>
        </p:scale>
        <p:origin x="92" y="6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English speaker script</a:t>
            </a:r>
          </a:p>
          <a:p>
            <a:r>
              <a:t>Today I present FSDR and RACE for text-guided infection segmentation in chest X-rays. The two contributions are FSDR and complete RACE. The main evidence now includes four configurations and three matched training seeds, with all headline results measured on the Test split.</a:t>
            </a:r>
          </a:p>
          <a:p>
            <a:endParaRPr/>
          </a:p>
          <a:p>
            <a:r>
              <a:t>中文讲稿</a:t>
            </a:r>
          </a:p>
          <a:p>
            <a:r>
              <a:t>本次答辩介绍 FSDR and RACE 胸片感染分割。两项贡献是 FSDR 和完整 RACE。主证据已更新为四组配置、三个匹配训练种子，主要成绩均来自测试集。</a:t>
            </a:r>
          </a:p>
          <a:p>
            <a:endParaRPr/>
          </a:p>
          <a:p>
            <a:r>
              <a:t>Sources (snapshot: 22 September 2026)</a:t>
            </a:r>
          </a:p>
          <a:p>
            <a:r>
              <a:t>docs/PAPER_RESULTS.md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English speaker script</a:t>
            </a:r>
          </a:p>
          <a:p>
            <a:r>
              <a:t>FSDR separates semantic refinement from spatial detail. Complete RACE combines report-based routing with its auxiliary training objectives. The three-seed mean IoU improvements are 0.5058 percentage points for FSDR over PLAM and 0.2428 points for adding complete RACE to FSDR. The combined improvement is 0.7487 points over the matched PLAM control. These are module comparisons under one shared recipe.</a:t>
            </a:r>
          </a:p>
          <a:p>
            <a:endParaRPr/>
          </a:p>
          <a:p>
            <a:r>
              <a:t>中文讲稿</a:t>
            </a:r>
          </a:p>
          <a:p>
            <a:r>
              <a:t>FSDR 将语义和细节分开精炼。完整 RACE 包括报告引导路由及配套辅助训练目标。三种子平均 IoU 增益分别为：FSDR 相对 PLAM +0.5058 个百分点，完整 RACE 加入 FSDR +0.2428 个百分点，组合相对匹配 PLAM +0.7487 个百分点。监督是完整 RACE 的组成部分，不作为独立创新点。</a:t>
            </a:r>
          </a:p>
          <a:p>
            <a:endParaRPr/>
          </a:p>
          <a:p>
            <a:r>
              <a:t>Sources (snapshot: 22 September 2026)</a:t>
            </a:r>
          </a:p>
          <a:p>
            <a:r>
              <a:t>docs/results/stage1_overall_20260915/FINAL_REPORT.md</a:t>
            </a:r>
          </a:p>
          <a:p>
            <a:r>
              <a:t>docs/results/stage1_overall_20260915/FINAL_RESULTS.json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English speaker script</a:t>
            </a:r>
          </a:p>
          <a:p>
            <a:r>
              <a:t>The original CNN and transformer paths run first. RACE then replaces each decoder-facing CNN skip C1 to C4 with its routed version. It does not feed routed features back into the encoder or transformer. FSDR replaces PLAM inside each of up4, up3, up2 and up1. It receives the routed skip, reconstructed ViT feature, upsampled decoder feature and text. It returns Y and D-prime for concatenation and two convolutions. The first decoder stage starts from bottleneck C5, and subsequent stages use the previous decoder output.</a:t>
            </a:r>
          </a:p>
          <a:p>
            <a:endParaRPr/>
          </a:p>
          <a:p>
            <a:r>
              <a:t>中文讲稿</a:t>
            </a:r>
          </a:p>
          <a:p>
            <a:r>
              <a:t>CNN 与 Transformer 主路径先完成计算，RACE 随后精炼送往解码器的 C1–C4 跳跃特征，不将路由结果反馈进编码器或 Transformer。FSDR 位于 up4、up3、up2、up1 内部，替换 PLAM，接收路由跳跃、ViT 重建、上采样解码器与文本输入，输出 Y 与 D′ 后拼接卷积。首级由瓶颈 C5 开始，之后各级使用上一级解码器输出。</a:t>
            </a:r>
          </a:p>
          <a:p>
            <a:endParaRPr/>
          </a:p>
          <a:p>
            <a:r>
              <a:t>Sources (snapshot: 22 September 2026)</a:t>
            </a:r>
          </a:p>
          <a:p>
            <a:r>
              <a:t>nets/LViT.py:471-525</a:t>
            </a:r>
          </a:p>
          <a:p>
            <a:r>
              <a:t>nets/race_fuse.py</a:t>
            </a:r>
          </a:p>
          <a:p>
            <a:r>
              <a:t>docs/FSDR.md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English speaker script</a:t>
            </a:r>
          </a:p>
          <a:p>
            <a:r>
              <a:t>This comparison concerns the PLAM decoder fusion mechanism and the FSDR extension. The matched PLAM baseline uses our common training recipe and frozen CXR-BERT. It is not an unchanged reproduction of the entire official LViT training pipeline.</a:t>
            </a:r>
          </a:p>
          <a:p>
            <a:endParaRPr/>
          </a:p>
          <a:p>
            <a:r>
              <a:t>中文讲稿</a:t>
            </a:r>
          </a:p>
          <a:p>
            <a:r>
              <a:t>这里比较的是 PLAM 解码融合机制与 FSDR 扩展。匹配 PLAM 基线使用本项目统一训练配方和冻结 CXR-BERT，不等同于官方 LViT 整体流程原样复现。</a:t>
            </a:r>
          </a:p>
          <a:p>
            <a:endParaRPr/>
          </a:p>
          <a:p>
            <a:r>
              <a:t>Sources (snapshot: 22 September 2026)</a:t>
            </a:r>
          </a:p>
          <a:p>
            <a:r>
              <a:t>nets/LViT.py</a:t>
            </a:r>
          </a:p>
          <a:p>
            <a:r>
              <a:t>docs/FSDR.md</a:t>
            </a:r>
          </a:p>
          <a:p>
            <a:r>
              <a:t>docs/results/plam_baseline_audit_20260916/AUDIT.md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English speaker script</a:t>
            </a:r>
          </a:p>
          <a:p>
            <a:r>
              <a:t>The upper path is the PLAM decoder operation. The lower path shows the combined model: RACE first produces the CNN skip C-prime, and FSDR receives C-prime, V, D and text separately. FSDR outputs Y and D-prime, which feed concatenation and two 3 by 3 convolutions. FSDR-only experiments use the original C instead of C-prime. Only the deeper up4 and up3 stages adapt D; at up2 and up1, D-prime equals D.</a:t>
            </a:r>
          </a:p>
          <a:p>
            <a:endParaRPr/>
          </a:p>
          <a:p>
            <a:r>
              <a:t>中文讲稿</a:t>
            </a:r>
          </a:p>
          <a:p>
            <a:r>
              <a:t>上方为 PLAM 解码操作，下方为组合模型：RACE 先得到 C′，FSDR 分别接收 C′、V、D 和文本，输出 Y 与 D′ 后拼接并进行两层 3×3 卷积。仅 FSDR 对照直接使用原 C。只有 up4、up3 自适应精炼 D，up2、up1 的 D′=D。</a:t>
            </a:r>
          </a:p>
          <a:p>
            <a:endParaRPr/>
          </a:p>
          <a:p>
            <a:r>
              <a:t>Sources (snapshot: 22 September 2026)</a:t>
            </a:r>
          </a:p>
          <a:p>
            <a:r>
              <a:t>nets/LViT.py:156-166</a:t>
            </a:r>
          </a:p>
          <a:p>
            <a:r>
              <a:t>nets/LViT.py:503-525</a:t>
            </a:r>
          </a:p>
          <a:p>
            <a:r>
              <a:t>nets/eppa.py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English speaker script</a:t>
            </a:r>
          </a:p>
          <a:p>
            <a:r>
              <a:t>All four configurations use the same data split, input size, training budget and optimisation recipe. The three seeds are paired. Eight new runs and four eligible previous runs form the 12-model comparison. The learning rate decays once from 3e-4 to 1e-6. Adam weight decay is 1e-4. Dice and Focal each have weight 0.5, with Focal gamma 2. Complete RACE has auxiliary weight 0.05. Validation macro IoU selects the checkpoint, and Test uses strict probability greater than 0.5.</a:t>
            </a:r>
          </a:p>
          <a:p>
            <a:endParaRPr/>
          </a:p>
          <a:p>
            <a:r>
              <a:t>中文讲稿</a:t>
            </a:r>
          </a:p>
          <a:p>
            <a:r>
              <a:t>四组模型采用同一数据划分、输入尺寸、训练预算与优化配方，种子一一匹配。八次新增训练加四个匹配既有模型组成十二模型整体消融。学习率单周期从 3e-4 降至 1e-6，Adam 权重衰减 1e-4，Dice/Focal 各 0.5，gamma=2。完整 RACE 辅助权重 0.05。验证集 macro IoU 选 Best，测试严格使用概率 &gt;0.5。</a:t>
            </a:r>
          </a:p>
          <a:p>
            <a:endParaRPr/>
          </a:p>
          <a:p>
            <a:r>
              <a:t>Sources (snapshot: 22 September 2026)</a:t>
            </a:r>
          </a:p>
          <a:p>
            <a:r>
              <a:t>docs/results/stage1_overall_20260915/FINAL_REPORT.md</a:t>
            </a:r>
          </a:p>
          <a:p>
            <a:r>
              <a:t>docs/results/stage1_overall_20260915/FINAL_RESULTS.json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English speaker script</a:t>
            </a:r>
          </a:p>
          <a:p>
            <a:r>
              <a:t>Masked pooling of frozen text feeds the slot head. Six location probabilities combine with the aligned anatomical basis to form P. Each CNN skip generates visual evidence E and a local residual R(C). Zone pooling compares visual evidence with report slots to produce agreement A. P, E and A jointly gate a signed correction, with strength bounded by 0.15 and initial strength zero. Complete RACE includes its auxiliary training objectives, while inference uses predicted slots rather than parser targets.</a:t>
            </a:r>
          </a:p>
          <a:p>
            <a:endParaRPr/>
          </a:p>
          <a:p>
            <a:r>
              <a:t>中文讲稿</a:t>
            </a:r>
          </a:p>
          <a:p>
            <a:r>
              <a:t>冻结文本经掩码均值池化后进入槽位头，六个位置概率与对齐解剖基底生成 P。CNN 跳跃生成视觉证据 E 和残差 R(C)，区域池化比较视觉与报告槽位得到 A。P、E、A 共同控制有符号修正，强度上限 0.15、初始为零。完整 RACE 包含辅助训练目标，但推理使用预测槽位，不使用解析器目标。</a:t>
            </a:r>
          </a:p>
          <a:p>
            <a:endParaRPr/>
          </a:p>
          <a:p>
            <a:r>
              <a:t>Sources (snapshot: 22 September 2026)</a:t>
            </a:r>
          </a:p>
          <a:p>
            <a:r>
              <a:t>nets/race_fuse.py</a:t>
            </a:r>
          </a:p>
          <a:p>
            <a:r>
              <a:t>race_semantics.py</a:t>
            </a:r>
          </a:p>
          <a:p>
            <a:r>
              <a:t>docs/results/stage1_overall_20260915/FINAL_REPORT.md</a:t>
            </a:r>
          </a:p>
          <a:p>
            <a:r>
              <a:t>docs/results/stage1_overall_20260915/FINAL_RESULTS.json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English speaker script</a:t>
            </a:r>
          </a:p>
          <a:p>
            <a:r>
              <a:t>The four configurations isolate FSDR and complete RACE at the whole-module level. The combined model averages 76.2262 percent IoU and 84.7112 percent Dice. Its gains over the matched PLAM baseline are 0.7487 and 0.6861 percentage points respectively. The displayed uncertainty is sample standard deviation across three training seeds, not a confidence interval. The historical 74.8076 percent PLAM result used a different recipe and is not the baseline for these increments.</a:t>
            </a:r>
          </a:p>
          <a:p>
            <a:endParaRPr/>
          </a:p>
          <a:p>
            <a:r>
              <a:t>中文讲稿</a:t>
            </a:r>
          </a:p>
          <a:p>
            <a:r>
              <a:t>四组配置在完整模块层面分离 FSDR 与 RACE 的效果。组合模型平均 IoU 76.2262%、Dice 84.7112%，相对匹配 PLAM 分别提高 0.7487、0.6861 个百分点。± 表示三个训练种子的样本标准差，不是置信区间。历史 PLAM 74.8076% 使用不同配方，不作为本页增量基线。</a:t>
            </a:r>
          </a:p>
          <a:p>
            <a:endParaRPr/>
          </a:p>
          <a:p>
            <a:r>
              <a:t>Sources (snapshot: 22 September 2026)</a:t>
            </a:r>
          </a:p>
          <a:p>
            <a:r>
              <a:t>docs/results/stage1_overall_20260915/FINAL_REPORT.md</a:t>
            </a:r>
          </a:p>
          <a:p>
            <a:r>
              <a:t>docs/results/stage1_overall_20260915/FINAL_RESULTS.json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English speaker script</a:t>
            </a:r>
          </a:p>
          <a:p>
            <a:r>
              <a:t>Each row compares models trained with the same seed. FSDR improves PLAM both with and without complete RACE. Complete RACE improves both PLAM and FSDR. Every listed paired contrast is positive on all three seeds. This does not establish a universal effect or statistical significance. The three-seed study does not split RACE routing from auxiliary supervision, and the combined result does not prove super-additive synergy.</a:t>
            </a:r>
          </a:p>
          <a:p>
            <a:endParaRPr/>
          </a:p>
          <a:p>
            <a:r>
              <a:t>中文讲稿</a:t>
            </a:r>
          </a:p>
          <a:p>
            <a:r>
              <a:t>每行都使用同种子配对。FSDR 在有无 RACE 时均改善 PLAM；完整 RACE 在 PLAM 与 FSDR 上均带来增益。列出的五种比较在三个种子上全部为正，但不据此声称普适性或统计显著。三种子研究没有拆分 RACE 路由与辅助监督，也不声称组合具有超加性协同。</a:t>
            </a:r>
          </a:p>
          <a:p>
            <a:endParaRPr/>
          </a:p>
          <a:p>
            <a:r>
              <a:t>Sources (snapshot: 22 September 2026)</a:t>
            </a:r>
          </a:p>
          <a:p>
            <a:r>
              <a:t>docs/results/stage1_overall_20260915/FINAL_REPORT.md</a:t>
            </a:r>
          </a:p>
          <a:p>
            <a:r>
              <a:t>docs/results/stage1_overall_20260915/FINAL_RESULTS.json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English speaker script</a:t>
            </a:r>
          </a:p>
          <a:p>
            <a:r>
              <a:rPr dirty="0"/>
              <a:t>All rows report the same 2,113 Test images with per-image macro metrics and a strict 0.5 threshold. </a:t>
            </a:r>
            <a:r>
              <a:rPr dirty="0" err="1"/>
              <a:t>GuideDecoder</a:t>
            </a:r>
            <a:r>
              <a:rPr dirty="0"/>
              <a:t> is the </a:t>
            </a:r>
            <a:r>
              <a:rPr dirty="0" err="1"/>
              <a:t>LanGuideMedSeg</a:t>
            </a:r>
            <a:r>
              <a:rPr dirty="0"/>
              <a:t> implementation, retrained for 100 epochs with best epoch 26. DD-CMD was retrained for 160 epochs with best epoch 115. Each uses seed 1219 and its own principal training recipe. MMI-</a:t>
            </a:r>
            <a:r>
              <a:rPr dirty="0" err="1"/>
              <a:t>UNet</a:t>
            </a:r>
            <a:r>
              <a:rPr dirty="0"/>
              <a:t> uses the author checkpoint, whose training filename list was not independently verified, so overlap cannot be excluded. Ours is a three-seed mean. DD-CMD is slightly higher, by 0.0732 </a:t>
            </a:r>
            <a:r>
              <a:rPr dirty="0" err="1"/>
              <a:t>IoU</a:t>
            </a:r>
            <a:r>
              <a:rPr dirty="0"/>
              <a:t> percentage points. These are contextual external comparisons, not matched module ablations or proof of state-of-the-art performance.</a:t>
            </a:r>
          </a:p>
          <a:p>
            <a:endParaRPr dirty="0"/>
          </a:p>
          <a:p>
            <a:r>
              <a:rPr dirty="0" err="1"/>
              <a:t>中文讲稿</a:t>
            </a:r>
            <a:endParaRPr dirty="0"/>
          </a:p>
          <a:p>
            <a:r>
              <a:rPr dirty="0" err="1"/>
              <a:t>各行在同一</a:t>
            </a:r>
            <a:r>
              <a:rPr dirty="0"/>
              <a:t> 2113 </a:t>
            </a:r>
            <a:r>
              <a:rPr dirty="0" err="1"/>
              <a:t>张测试图上使用逐图</a:t>
            </a:r>
            <a:r>
              <a:rPr dirty="0"/>
              <a:t> macro </a:t>
            </a:r>
            <a:r>
              <a:rPr dirty="0" err="1"/>
              <a:t>指标及严格</a:t>
            </a:r>
            <a:r>
              <a:rPr dirty="0"/>
              <a:t> &gt;0.5 </a:t>
            </a:r>
            <a:r>
              <a:rPr dirty="0" err="1"/>
              <a:t>阈值。GuideDecoder</a:t>
            </a:r>
            <a:r>
              <a:rPr dirty="0"/>
              <a:t> 即 </a:t>
            </a:r>
            <a:r>
              <a:rPr dirty="0" err="1"/>
              <a:t>LanGuideMedSeg</a:t>
            </a:r>
            <a:r>
              <a:rPr dirty="0"/>
              <a:t> </a:t>
            </a:r>
            <a:r>
              <a:rPr dirty="0" err="1"/>
              <a:t>实现，训练</a:t>
            </a:r>
            <a:r>
              <a:rPr dirty="0"/>
              <a:t> 100 </a:t>
            </a:r>
            <a:r>
              <a:rPr dirty="0" err="1"/>
              <a:t>轮、Best</a:t>
            </a:r>
            <a:r>
              <a:rPr dirty="0"/>
              <a:t> 为 26；DD-CMD </a:t>
            </a:r>
            <a:r>
              <a:rPr dirty="0" err="1"/>
              <a:t>训练</a:t>
            </a:r>
            <a:r>
              <a:rPr dirty="0"/>
              <a:t> 160 </a:t>
            </a:r>
            <a:r>
              <a:rPr dirty="0" err="1"/>
              <a:t>轮、Best</a:t>
            </a:r>
            <a:r>
              <a:rPr dirty="0"/>
              <a:t> 为 115。两者使用 seed1219 </a:t>
            </a:r>
            <a:r>
              <a:rPr dirty="0" err="1"/>
              <a:t>及各自主要配方。MMI</a:t>
            </a:r>
            <a:r>
              <a:rPr dirty="0"/>
              <a:t> </a:t>
            </a:r>
            <a:r>
              <a:rPr dirty="0" err="1"/>
              <a:t>使用作者权重，其训练文件清单未独立核查，因此不能排除重叠。我们展示三种子均值。DD-CMD</a:t>
            </a:r>
            <a:r>
              <a:rPr dirty="0"/>
              <a:t> 的 </a:t>
            </a:r>
            <a:r>
              <a:rPr dirty="0" err="1"/>
              <a:t>IoU</a:t>
            </a:r>
            <a:r>
              <a:rPr dirty="0"/>
              <a:t> </a:t>
            </a:r>
            <a:r>
              <a:rPr dirty="0" err="1"/>
              <a:t>略高</a:t>
            </a:r>
            <a:r>
              <a:rPr dirty="0"/>
              <a:t> 0.0732 </a:t>
            </a:r>
            <a:r>
              <a:rPr dirty="0" err="1"/>
              <a:t>个百分点。这是外部参照，不是模块因果消融，也不据此声称</a:t>
            </a:r>
            <a:r>
              <a:rPr dirty="0"/>
              <a:t> SOTA。</a:t>
            </a:r>
          </a:p>
          <a:p>
            <a:endParaRPr dirty="0"/>
          </a:p>
          <a:p>
            <a:r>
              <a:rPr dirty="0"/>
              <a:t>Sources (snapshot: 22 September 2026)</a:t>
            </a:r>
          </a:p>
          <a:p>
            <a:r>
              <a:rPr dirty="0"/>
              <a:t>docs/results/text_guided_baselines_20260920/FINAL_REPORT.md</a:t>
            </a:r>
          </a:p>
          <a:p>
            <a:r>
              <a:rPr dirty="0"/>
              <a:t>docs/results/text_guided_baselines_20260920/</a:t>
            </a:r>
            <a:r>
              <a:rPr dirty="0" err="1"/>
              <a:t>FINAL_RESULTS.json</a:t>
            </a:r>
            <a:endParaRPr dirty="0"/>
          </a:p>
          <a:p>
            <a:r>
              <a:rPr dirty="0"/>
              <a:t>docs/results/external_methods_20260920/</a:t>
            </a:r>
            <a:r>
              <a:rPr dirty="0" err="1"/>
              <a:t>full_test</a:t>
            </a:r>
            <a:r>
              <a:rPr dirty="0"/>
              <a:t>/</a:t>
            </a:r>
            <a:r>
              <a:rPr dirty="0" err="1"/>
              <a:t>TEST_RESULTS.json</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English speaker script</a:t>
            </a:r>
          </a:p>
          <a:p>
            <a:r>
              <a:t>The completed primary study supports FSDR and complete RACE as two contributions under the shared experimental protocol. The combined model gains 0.7487 IoU percentage points over matched PLAM and all paired contrasts are positive across the three seeds. External DD-CMD remains slightly higher. Independent-cohort evaluation and repeated controls separating the RACE route from its auxiliary training remain future work.</a:t>
            </a:r>
          </a:p>
          <a:p>
            <a:endParaRPr/>
          </a:p>
          <a:p>
            <a:r>
              <a:t>中文讲稿</a:t>
            </a:r>
          </a:p>
          <a:p>
            <a:r>
              <a:t>已完成的主实验支持 FSDR 和完整 RACE 在统一协议下作为两项贡献。组合相对匹配 PLAM 提高 0.7487 个 IoU 百分点，三种子所有配对比较均为正。外部 DD-CMD 仍略高。后续需要独立队列验证，以及重复的路由/辅助监督机制对照。</a:t>
            </a:r>
          </a:p>
          <a:p>
            <a:endParaRPr/>
          </a:p>
          <a:p>
            <a:r>
              <a:t>Sources (snapshot: 22 September 2026)</a:t>
            </a:r>
          </a:p>
          <a:p>
            <a:r>
              <a:t>docs/results/stage1_overall_20260915/FINAL_REPORT.md</a:t>
            </a:r>
          </a:p>
          <a:p>
            <a:r>
              <a:t>docs/results/stage1_overall_20260915/FINAL_RESULTS.json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English speaker script</a:t>
            </a:r>
          </a:p>
          <a:p>
            <a:r>
              <a:t>Thank you. I welcome questions about the two modules, the matched ablations and the interpretation of the completed results.</a:t>
            </a:r>
          </a:p>
          <a:p>
            <a:endParaRPr/>
          </a:p>
          <a:p>
            <a:r>
              <a:t>中文讲稿</a:t>
            </a:r>
          </a:p>
          <a:p>
            <a:r>
              <a:t>谢谢。欢迎就两个模块、匹配消融及最终结果的解释提问。</a:t>
            </a:r>
          </a:p>
          <a:p>
            <a:endParaRPr/>
          </a:p>
          <a:p>
            <a:r>
              <a:t>Sources · 15 September 2026</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English speaker script</a:t>
            </a:r>
          </a:p>
          <a:p>
            <a:r>
              <a:t>The backup slides contain detailed fusion results, the FSDR formulation, the separate learning-rate study, fixed-model RACE diagnostics, evaluation protocol and report-target binding comparisons.</a:t>
            </a:r>
          </a:p>
          <a:p>
            <a:endParaRPr/>
          </a:p>
          <a:p>
            <a:r>
              <a:t>中文讲稿</a:t>
            </a:r>
          </a:p>
          <a:p>
            <a:r>
              <a:t>备用页提供详细融合成绩、FSDR 公式、独立学习率实验、RACE 固定模型诊断、评估协议及报告目标绑定对照。</a:t>
            </a:r>
          </a:p>
          <a:p>
            <a:endParaRPr/>
          </a:p>
          <a:p>
            <a:r>
              <a:t>Sources · 15 September 2026</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English speaker script</a:t>
            </a:r>
          </a:p>
          <a:p>
            <a:r>
              <a:t>This table retains all 12 primary results, including the weaker runs. The combined model achieves IoU values of 76.2485, 76.2562 and 76.1738 percent. Each Best epoch comes from validation selection. We report the mean over every seed rather than choosing a winning seed for the quantitative headline.</a:t>
            </a:r>
          </a:p>
          <a:p>
            <a:endParaRPr/>
          </a:p>
          <a:p>
            <a:r>
              <a:t>中文讲稿</a:t>
            </a:r>
          </a:p>
          <a:p>
            <a:r>
              <a:t>本页保留全部十二个主实验模型，包括较弱种子。组合模型三个 IoU 为 76.2485%、76.2562%、76.1738%。Best 轮次均由验证集选择，量化主结论使用全部种子均值，不挑选最优种子作为成绩。</a:t>
            </a:r>
          </a:p>
          <a:p>
            <a:endParaRPr/>
          </a:p>
          <a:p>
            <a:r>
              <a:t>Sources (snapshot: 22 September 2026)</a:t>
            </a:r>
          </a:p>
          <a:p>
            <a:r>
              <a:t>docs/results/stage1_overall_20260915/FINAL_REPORT.md</a:t>
            </a:r>
          </a:p>
          <a:p>
            <a:r>
              <a:t>docs/results/stage1_overall_20260915/FINAL_RESULTS.json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English speaker script</a:t>
            </a:r>
          </a:p>
          <a:p>
            <a:r>
              <a:t>This branch operates at the deeper decoder stages up4 and up3. Low-frequency CNN, reconstructed ViT and decoder features predict separate spatial mixture weights for decoder smoothing and skip high-pass correction. Each mixture selects among identity, 3 by 3 blur and 5 by 5 blur. The decoder uses a bounded residual low-pass update. The skip receives a bounded high-pass residual, added to Y. Shallow stages retain the base Haar semantic-detail branches but bypass these adaptive corrections.</a:t>
            </a:r>
          </a:p>
          <a:p>
            <a:endParaRPr/>
          </a:p>
          <a:p>
            <a:r>
              <a:t>中文讲稿</a:t>
            </a:r>
          </a:p>
          <a:p>
            <a:r>
              <a:t>此分支位于较深的 up4、up3。CNN、ViT 重建和解码器低频共同预测两组空间混合权重，分别控制解码器平滑和跳跃高通修正。滤波组由恒等、3×3 模糊、5×5 模糊组成。解码器使用受限低通残差更新，跳跃高通残差加入 Y。浅层仍保留基本 Haar 语义/细节分支，只跳过这项自适应修正。</a:t>
            </a:r>
          </a:p>
          <a:p>
            <a:endParaRPr/>
          </a:p>
          <a:p>
            <a:r>
              <a:t>Sources (snapshot: 22 September 2026)</a:t>
            </a:r>
          </a:p>
          <a:p>
            <a:r>
              <a:t>nets/eppa.py:107-314</a:t>
            </a:r>
          </a:p>
          <a:p>
            <a:r>
              <a:t>nets/eppa.py:679-777</a:t>
            </a:r>
          </a:p>
          <a:p>
            <a:r>
              <a:t>docs/FSDR.md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English speaker script</a:t>
            </a:r>
          </a:p>
          <a:p>
            <a:r>
              <a:t>This earlier single-cycle study uses seed 1219 and the matched auxiliary-only control. It separates the routing increment from auxiliary training. The route alone has a positive point estimate but an image-paired confidence interval that crosses zero. The repeated three-seed study evaluates the complete module. We do not assign its entire gain to routing.</a:t>
            </a:r>
          </a:p>
          <a:p>
            <a:endParaRPr/>
          </a:p>
          <a:p>
            <a:r>
              <a:t>中文讲稿</a:t>
            </a:r>
          </a:p>
          <a:p>
            <a:r>
              <a:t>该单周期实验使用 seed1219 及匹配的仅辅助监督对照，用来分离路由增量。路由点估计为正，但逐图配对置信区间跨零。三种子主实验评价完整模块，不能把全部增益归因于路由。</a:t>
            </a:r>
          </a:p>
          <a:p>
            <a:endParaRPr/>
          </a:p>
          <a:p>
            <a:r>
              <a:t>Sources (snapshot: 22 September 2026)</a:t>
            </a:r>
          </a:p>
          <a:p>
            <a:r>
              <a:t>Source: previous defence slide 10, original evidence notes follow.</a:t>
            </a:r>
          </a:p>
          <a:p>
            <a:r>
              <a:t>English speaker script</a:t>
            </a:r>
          </a:p>
          <a:p>
            <a:r>
              <a:t>The completed auxiliary-only control helps separate the two changes. Adding auxiliary objectives produces a Test IoU point estimate of plus 0.1915 percentage points. Enabling routing with those objectives held fixed adds 0.2472 points. Both image-paired confidence intervals cross zero. The complete configuration improves by 0.4387 points, with an interval from 0.1405 to 0.7276 points. This supports improvement of the full configuration on this split and seed. It does not establish that the route alone has a reliable positive effect, and the additive arithmetic is not a proof of independent causal contributions.</a:t>
            </a:r>
          </a:p>
          <a:p>
            <a:endParaRPr/>
          </a:p>
          <a:p>
            <a:r>
              <a:t>中文讲稿</a:t>
            </a:r>
          </a:p>
          <a:p>
            <a:r>
              <a:t>已经完成的仅辅助监督对照将两项变化分开：辅助目标的 Test IoU 点估计为 +0.1915 个百分点，固定辅助目标再开启路由为 +0.2472 个百分点。两者图像配对区间均跨零。完整配置的增益为 +0.4387 个百分点，区间为 [+0.1405,+0.7276]。因此支持该划分和种子上的完整配置改善，但路由独立贡献的证据还不充分，不能把全部提升归因于路由。</a:t>
            </a:r>
          </a:p>
          <a:p>
            <a:endParaRPr/>
          </a:p>
          <a:p>
            <a:r>
              <a:t>Evidence details</a:t>
            </a:r>
          </a:p>
          <a:p>
            <a:r>
              <a:t>10,000 paired-image bootstrap resamples; RNG seed 20260914. These are not patient-cluster or across-training-seed intervals.</a:t>
            </a:r>
          </a:p>
          <a:p>
            <a:endParaRPr/>
          </a:p>
          <a:p>
            <a:r>
              <a:t>Sources · 15 September 2026</a:t>
            </a:r>
          </a:p>
          <a:p>
            <a:r>
              <a:t>outputs/p8_binding_aux_20260915/FINAL_RESULTS.json</a:t>
            </a:r>
          </a:p>
          <a:p>
            <a:r>
              <a:t>outputs/p8_research_20260914/test_20260915/TEST_RESULTS.json</a:t>
            </a:r>
          </a:p>
          <a:p>
            <a:r>
              <a:t>outputs/p8_research_20260914/FINAL_PAIR_REPORT.md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English speaker script</a:t>
            </a:r>
          </a:p>
          <a:p>
            <a:r>
              <a:t>The combined model has the highest validation and Test means among the four matched configurations. Validation IoU selects checkpoints. The headline result is Test IoU. The standard deviations describe variation across three training seeds, and the data-split limitations still apply.</a:t>
            </a:r>
          </a:p>
          <a:p>
            <a:endParaRPr/>
          </a:p>
          <a:p>
            <a:r>
              <a:t>中文讲稿</a:t>
            </a:r>
          </a:p>
          <a:p>
            <a:r>
              <a:t>组合在四组匹配配置中具有最高验证和测试均值。验证 IoU 负责选权重，最终成绩以测试 IoU 为准。标准差表示三个训练种子之间的变化，数据划分限制仍然适用。</a:t>
            </a:r>
          </a:p>
          <a:p>
            <a:endParaRPr/>
          </a:p>
          <a:p>
            <a:r>
              <a:t>Sources (snapshot: 22 September 2026)</a:t>
            </a:r>
          </a:p>
          <a:p>
            <a:r>
              <a:t>docs/results/stage1_overall_20260915/FINAL_REPORT.md</a:t>
            </a:r>
          </a:p>
          <a:p>
            <a:r>
              <a:t>docs/results/stage1_overall_20260915/FINAL_RESULTS.json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English speaker script</a:t>
            </a:r>
          </a:p>
          <a:p>
            <a:r>
              <a:t>The dataset has 5,716 training, 1,429 validation and 2,113 Test images. The primary study selects Best by validation macro IoU and evaluates that fixed checkpoint using probability strictly greater than 0.5. The patient audit finds 434 recoverable IDs shared by Train and Val. No recoverable Test ID overlaps Train or Val, but anonymous samples prevent proving full patient independence. The Test set has prior research access, so it is not an untouched prospective evaluation.</a:t>
            </a:r>
          </a:p>
          <a:p>
            <a:endParaRPr/>
          </a:p>
          <a:p>
            <a:r>
              <a:t>中文讲稿</a:t>
            </a:r>
          </a:p>
          <a:p>
            <a:r>
              <a:t>数据划分为训练 5716、验证 1429、测试 2113。主实验由验证 macro IoU 选择 Best，再以严格 &gt;0.5 的阈值评估该固定检查点。审计发现 Train/Val 共享 434 个可恢复患者 ID；可恢复 Test ID 未发现交叉，但匿名病例使完整患者独立性无法证明。Test 曾用于研究，不能宣称完全未接触的前瞻评估。</a:t>
            </a:r>
          </a:p>
          <a:p>
            <a:endParaRPr/>
          </a:p>
          <a:p>
            <a:r>
              <a:t>Sources (snapshot: 22 September 2026)</a:t>
            </a:r>
          </a:p>
          <a:p>
            <a:r>
              <a:t>docs/results/plam_baseline_audit_20260916/AUDIT.md</a:t>
            </a:r>
          </a:p>
          <a:p>
            <a:r>
              <a:t>docs/results/stage1_overall_20260915/FINAL_REPORT.md</a:t>
            </a:r>
          </a:p>
          <a:p>
            <a:r>
              <a:t>docs/results/stage1_overall_20260915/FINAL_RESULTS.json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English speaker script</a:t>
            </a:r>
          </a:p>
          <a:p>
            <a:r>
              <a:t>The repository integrates FSDR and complete RACE source with the result snapshots. Each experiment retains its original full source commit, tag and checkpoint hash. Integration did not retrain or re-evaluate models. The primary study contains 12 single-cycle models. External comparisons have their own source and recipe metadata. Reproduction follows those per-run records.</a:t>
            </a:r>
          </a:p>
          <a:p>
            <a:endParaRPr/>
          </a:p>
          <a:p>
            <a:r>
              <a:t>中文讲稿</a:t>
            </a:r>
          </a:p>
          <a:p>
            <a:r>
              <a:t>仓库整合 FSDR 和完整 RACE 源码及结果快照。每项实验保留原始完整 SHA、标签和权重哈希，整合没有重新训练或推理。主实验为十二个单周期模型，外部对照有各自来源和配方。复现遵循每项运行记录。</a:t>
            </a:r>
          </a:p>
          <a:p>
            <a:endParaRPr/>
          </a:p>
          <a:p>
            <a:r>
              <a:t>Sources (snapshot: 22 September 2026)</a:t>
            </a:r>
          </a:p>
          <a:p>
            <a:r>
              <a:t>docs/PAPER_RESULTS.md</a:t>
            </a:r>
          </a:p>
          <a:p>
            <a:r>
              <a:t>docs/results/IMPORT_PROVENANCE.json</a:t>
            </a:r>
          </a:p>
          <a:p>
            <a:r>
              <a:t>docs/results/stage1_overall_20260915/FINAL_REPORT.md</a:t>
            </a:r>
          </a:p>
          <a:p>
            <a:r>
              <a:t>docs/results/stage1_overall_20260915/FINAL_RESULTS.json</a:t>
            </a:r>
          </a:p>
          <a:p>
            <a:r>
              <a:t>docs/results/text_guided_baselines_20260920/FINAL_RESULTS.json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Scope update (22 September 2026)</a:t>
            </a:r>
          </a:p>
          <a:p>
            <a:r>
              <a:t>Historical comparison: seed 1219 only. This binding-repair diagnostic does not replace the complete-module three-seed ablation.</a:t>
            </a:r>
          </a:p>
          <a:p>
            <a:r>
              <a:t>历史比较：仅 seed1219。绑定修复诊断不替代完整模块三种子消融。</a:t>
            </a:r>
          </a:p>
          <a:p>
            <a:endParaRPr/>
          </a:p>
          <a:p>
            <a:r>
              <a:t>English speaker script</a:t>
            </a:r>
          </a:p>
          <a:p>
            <a:r>
              <a:t>Both RACE variants completed 80 epochs and used validation-selected checkpoints at epoch 75. Corrected binding improves Test IoU relative to original binding by 0.2981 percentage points, while the validation point estimate is lower by 0.1107 points and its interval crosses zero. We retain this split difference without retuning. The main contribution is the RACE mechanism. Repairing report-target assignment is implementation correctness and must not be presented as an additional architectural innovation. Both variants are reported so the correction is not hidden.</a:t>
            </a:r>
          </a:p>
          <a:p>
            <a:endParaRPr/>
          </a:p>
          <a:p>
            <a:r>
              <a:t>中文讲稿</a:t>
            </a:r>
          </a:p>
          <a:p>
            <a:r>
              <a:t>两种 RACE 均完成 80 轮并使用 Val 选定的第 75 轮检查点。修正绑定相对原绑定的 Test IoU 增益为 0.2981 个百分点，而 Val 点估计低 0.1107 个百分点且区间跨零，两项结果同时保留，不据此回调参数。报告目标绑定修复属于实现正确性，不作为额外结构创新。</a:t>
            </a:r>
          </a:p>
          <a:p>
            <a:endParaRPr/>
          </a:p>
          <a:p>
            <a:r>
              <a:t>Sources · 15 September 2026</a:t>
            </a:r>
          </a:p>
          <a:p>
            <a:r>
              <a:t>outputs/p8_binding_aux_20260915/FINAL_RESULTS.json</a:t>
            </a:r>
          </a:p>
          <a:p>
            <a:r>
              <a:t>outputs/p8_research_20260914/test_20260915/TEST_RESULTS.json</a:t>
            </a:r>
          </a:p>
          <a:p>
            <a:r>
              <a:t>outputs/p8_research_20260914/FINAL_PAIR_REPORT.md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7C63F583-713A-442F-B7A9-949E82235146}"/>
              </a:ext>
            </a:extLst>
          </p:cNvPr>
          <p:cNvSpPr>
            <a:spLocks noGrp="1"/>
          </p:cNvSpPr>
          <p:nvPr/>
        </p:nvSpPr>
        <p:spPr>
          <a:xfrm>
            <a:off x="640080" y="3794760"/>
            <a:ext cx="10058400" cy="365760"/>
          </a:xfrm>
          <a:prstGeom prst="rect">
            <a:avLst/>
          </a:prstGeom>
          <a:noFill/>
        </p:spPr>
        <p:txBody>
          <a:bodyPr wrap="square" lIns="0" tIns="0" rIns="0" bIns="0" anchor="ctr"/>
          <a:lstStyle/>
          <a:p>
            <a:pPr marL="0" indent="0">
              <a:buNone/>
            </a:pPr>
            <a:r>
              <a:rPr sz="1700">
                <a:solidFill>
                  <a:srgbClr val="FFFFFF"/>
                </a:solidFill>
                <a:latin typeface="Calibri"/>
                <a:ea typeface="Calibri"/>
                <a:cs typeface="Calibri"/>
              </a:rPr>
              <a:t>Ramos Wang   ·   SID 550378666</a:t>
            </a:r>
            <a:endParaRPr sz="1700"/>
          </a:p>
        </p:txBody>
      </p:sp>
      <p:sp>
        <p:nvSpPr>
          <p:cNvPr id="4" name="Text 2">
            <a:extLst>
              <a:ext uri="{FF2B5EF4-FFF2-40B4-BE49-F238E27FC236}">
                <a16:creationId xmlns:a16="http://schemas.microsoft.com/office/drawing/2014/main" id="{0A45F3AC-156B-42B7-BBC4-D239DF443609}"/>
              </a:ext>
            </a:extLst>
          </p:cNvPr>
          <p:cNvSpPr>
            <a:spLocks noGrp="1"/>
          </p:cNvSpPr>
          <p:nvPr/>
        </p:nvSpPr>
        <p:spPr>
          <a:xfrm>
            <a:off x="640080" y="4251960"/>
            <a:ext cx="10058400" cy="1005840"/>
          </a:xfrm>
          <a:prstGeom prst="rect">
            <a:avLst/>
          </a:prstGeom>
          <a:noFill/>
        </p:spPr>
        <p:txBody>
          <a:bodyPr wrap="square" lIns="0" tIns="0" rIns="0" bIns="0" anchor="ctr"/>
          <a:lstStyle/>
          <a:p>
            <a:pPr marL="0" indent="0">
              <a:lnSpc>
                <a:spcPts val="1900"/>
              </a:lnSpc>
              <a:buNone/>
            </a:pPr>
            <a:r>
              <a:rPr sz="1300">
                <a:solidFill>
                  <a:srgbClr val="B8B8B8"/>
                </a:solidFill>
                <a:latin typeface="Calibri"/>
                <a:ea typeface="Calibri"/>
                <a:cs typeface="Calibri"/>
              </a:rPr>
              <a:t>Supervisor: Prof. Yonghui Li</a:t>
            </a:r>
            <a:endParaRPr sz="1300"/>
          </a:p>
          <a:p>
            <a:pPr marL="0" indent="0">
              <a:lnSpc>
                <a:spcPts val="1900"/>
              </a:lnSpc>
              <a:buNone/>
            </a:pPr>
            <a:r>
              <a:rPr sz="1300">
                <a:solidFill>
                  <a:srgbClr val="B8B8B8"/>
                </a:solidFill>
                <a:latin typeface="Calibri"/>
                <a:ea typeface="Calibri"/>
                <a:cs typeface="Calibri"/>
              </a:rPr>
              <a:t>ELEC5223 Dissertation B  ·  School of Electrical and Computer Engineering</a:t>
            </a:r>
            <a:endParaRPr sz="1300"/>
          </a:p>
          <a:p>
            <a:pPr marL="0" indent="0">
              <a:lnSpc>
                <a:spcPts val="1900"/>
              </a:lnSpc>
              <a:buNone/>
            </a:pPr>
            <a:r>
              <a:rPr sz="1300">
                <a:solidFill>
                  <a:srgbClr val="B8B8B8"/>
                </a:solidFill>
                <a:latin typeface="Calibri"/>
                <a:ea typeface="Calibri"/>
                <a:cs typeface="Calibri"/>
              </a:rPr>
              <a:t>The University of Sydney</a:t>
            </a:r>
            <a:endParaRPr sz="1300"/>
          </a:p>
        </p:txBody>
      </p:sp>
      <p:sp>
        <p:nvSpPr>
          <p:cNvPr id="5" name="Project update: 7 September 2026">
            <a:extLst>
              <a:ext uri="{FF2B5EF4-FFF2-40B4-BE49-F238E27FC236}">
                <a16:creationId xmlns:a16="http://schemas.microsoft.com/office/drawing/2014/main" id="{8560DC34-A698-4B9E-B8B4-A6E14295BC5E}"/>
              </a:ext>
            </a:extLst>
          </p:cNvPr>
          <p:cNvSpPr>
            <a:spLocks noGrp="1"/>
          </p:cNvSpPr>
          <p:nvPr/>
        </p:nvSpPr>
        <p:spPr>
          <a:xfrm>
            <a:off x="640080" y="5610225"/>
            <a:ext cx="10477500" cy="304800"/>
          </a:xfrm>
          <a:prstGeom prst="rect">
            <a:avLst/>
          </a:prstGeom>
          <a:noFill/>
          <a:ln w="0">
            <a:noFill/>
          </a:ln>
        </p:spPr>
        <p:txBody>
          <a:bodyPr wrap="square" lIns="0" tIns="0" rIns="0" bIns="0" anchor="ctr">
            <a:noAutofit/>
          </a:bodyPr>
          <a:lstStyle/>
          <a:p>
            <a:pPr algn="l">
              <a:buNone/>
              <a:defRPr sz="1800" b="0">
                <a:solidFill>
                  <a:srgbClr val="BBBBBB"/>
                </a:solidFill>
                <a:latin typeface="Calibri"/>
                <a:ea typeface="Calibri"/>
                <a:cs typeface="Calibri"/>
              </a:defRPr>
            </a:pPr>
            <a:r>
              <a:rPr sz="1800" b="0">
                <a:solidFill>
                  <a:srgbClr val="BBBBBB"/>
                </a:solidFill>
                <a:latin typeface="Calibri"/>
                <a:ea typeface="Calibri"/>
                <a:cs typeface="Calibri"/>
              </a:rPr>
              <a:t>Final defence · Updated 22 September 2026</a:t>
            </a:r>
          </a:p>
        </p:txBody>
      </p:sp>
      <p:sp>
        <p:nvSpPr>
          <p:cNvPr id="7" name="矩形 6">
            <a:extLst>
              <a:ext uri="{FF2B5EF4-FFF2-40B4-BE49-F238E27FC236}">
                <a16:creationId xmlns:a16="http://schemas.microsoft.com/office/drawing/2014/main" id="{883ED68C-619D-4C34-BD7B-097EB4A1A9C9}"/>
              </a:ext>
            </a:extLst>
          </p:cNvPr>
          <p:cNvSpPr>
            <a:spLocks noGrp="1"/>
          </p:cNvSpPr>
          <p:nvPr/>
        </p:nvSpPr>
        <p:spPr>
          <a:xfrm>
            <a:off x="640080" y="1600200"/>
            <a:ext cx="10477500" cy="1009650"/>
          </a:xfrm>
          <a:prstGeom prst="rect">
            <a:avLst/>
          </a:prstGeom>
          <a:noFill/>
          <a:ln w="0">
            <a:noFill/>
          </a:ln>
        </p:spPr>
        <p:txBody>
          <a:bodyPr wrap="square" lIns="0" tIns="0" rIns="0" bIns="0" anchor="ctr">
            <a:noAutofit/>
          </a:bodyPr>
          <a:lstStyle/>
          <a:p>
            <a:pPr algn="l">
              <a:defRPr sz="3000" b="1">
                <a:solidFill>
                  <a:srgbClr val="FFFFFF"/>
                </a:solidFill>
                <a:latin typeface="Cambria"/>
                <a:ea typeface="Cambria"/>
                <a:cs typeface="Cambria"/>
              </a:defRPr>
            </a:pPr>
            <a:r>
              <a:rPr sz="3000" b="1" dirty="0">
                <a:solidFill>
                  <a:srgbClr val="FFFFFF"/>
                </a:solidFill>
                <a:latin typeface="Cambria"/>
                <a:ea typeface="Cambria"/>
                <a:cs typeface="Cambria"/>
              </a:rPr>
              <a:t>Text-Guided Segmentation of COVID-19 Infections</a:t>
            </a:r>
          </a:p>
          <a:p>
            <a:pPr algn="l">
              <a:defRPr sz="3000" b="1">
                <a:solidFill>
                  <a:srgbClr val="FFFFFF"/>
                </a:solidFill>
                <a:latin typeface="Cambria"/>
                <a:ea typeface="Cambria"/>
                <a:cs typeface="Cambria"/>
              </a:defRPr>
            </a:pPr>
            <a:r>
              <a:rPr sz="3000" b="1" dirty="0">
                <a:solidFill>
                  <a:srgbClr val="FFFFFF"/>
                </a:solidFill>
                <a:latin typeface="Cambria"/>
                <a:ea typeface="Cambria"/>
                <a:cs typeface="Cambria"/>
              </a:rPr>
              <a:t>in Chest X-rays</a:t>
            </a:r>
          </a:p>
        </p:txBody>
      </p:sp>
    </p:spTree>
    <p:extLst>
      <p:ext uri="{BB962C8B-B14F-4D97-AF65-F5344CB8AC3E}">
        <p14:creationId xmlns:p14="http://schemas.microsoft.com/office/powerpoint/2010/main" val="789633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972D0B7E-9120-3FD6-3488-694C0871F587}"/>
              </a:ext>
            </a:extLst>
          </p:cNvPr>
          <p:cNvPicPr>
            <a:picLocks noChangeAspect="1"/>
          </p:cNvPicPr>
          <p:nvPr/>
        </p:nvPicPr>
        <p:blipFill>
          <a:blip r:embed="rId2"/>
          <a:stretch>
            <a:fillRect/>
          </a:stretch>
        </p:blipFill>
        <p:spPr>
          <a:xfrm>
            <a:off x="0" y="0"/>
            <a:ext cx="2978303" cy="2419474"/>
          </a:xfrm>
          <a:prstGeom prst="rect">
            <a:avLst/>
          </a:prstGeom>
        </p:spPr>
      </p:pic>
      <p:pic>
        <p:nvPicPr>
          <p:cNvPr id="7" name="图片 6">
            <a:extLst>
              <a:ext uri="{FF2B5EF4-FFF2-40B4-BE49-F238E27FC236}">
                <a16:creationId xmlns:a16="http://schemas.microsoft.com/office/drawing/2014/main" id="{807C87AB-2DEE-C1DE-18BB-EA83FE04F03F}"/>
              </a:ext>
            </a:extLst>
          </p:cNvPr>
          <p:cNvPicPr>
            <a:picLocks noChangeAspect="1"/>
          </p:cNvPicPr>
          <p:nvPr/>
        </p:nvPicPr>
        <p:blipFill>
          <a:blip r:embed="rId3"/>
          <a:stretch>
            <a:fillRect/>
          </a:stretch>
        </p:blipFill>
        <p:spPr>
          <a:xfrm>
            <a:off x="2221222" y="50451"/>
            <a:ext cx="5969307" cy="4388076"/>
          </a:xfrm>
          <a:prstGeom prst="rect">
            <a:avLst/>
          </a:prstGeom>
        </p:spPr>
      </p:pic>
      <p:pic>
        <p:nvPicPr>
          <p:cNvPr id="9" name="图片 8">
            <a:extLst>
              <a:ext uri="{FF2B5EF4-FFF2-40B4-BE49-F238E27FC236}">
                <a16:creationId xmlns:a16="http://schemas.microsoft.com/office/drawing/2014/main" id="{98F9FD60-BC0B-1035-E173-F3080091E2CE}"/>
              </a:ext>
            </a:extLst>
          </p:cNvPr>
          <p:cNvPicPr>
            <a:picLocks noChangeAspect="1"/>
          </p:cNvPicPr>
          <p:nvPr/>
        </p:nvPicPr>
        <p:blipFill>
          <a:blip r:embed="rId4"/>
          <a:stretch>
            <a:fillRect/>
          </a:stretch>
        </p:blipFill>
        <p:spPr>
          <a:xfrm>
            <a:off x="6095999" y="50451"/>
            <a:ext cx="2863997" cy="4178515"/>
          </a:xfrm>
          <a:prstGeom prst="rect">
            <a:avLst/>
          </a:prstGeom>
        </p:spPr>
      </p:pic>
      <p:pic>
        <p:nvPicPr>
          <p:cNvPr id="11" name="图片 10">
            <a:extLst>
              <a:ext uri="{FF2B5EF4-FFF2-40B4-BE49-F238E27FC236}">
                <a16:creationId xmlns:a16="http://schemas.microsoft.com/office/drawing/2014/main" id="{83EE74F1-49DB-5A33-F669-6E3555296C27}"/>
              </a:ext>
            </a:extLst>
          </p:cNvPr>
          <p:cNvPicPr>
            <a:picLocks noChangeAspect="1"/>
          </p:cNvPicPr>
          <p:nvPr/>
        </p:nvPicPr>
        <p:blipFill>
          <a:blip r:embed="rId5"/>
          <a:stretch>
            <a:fillRect/>
          </a:stretch>
        </p:blipFill>
        <p:spPr>
          <a:xfrm>
            <a:off x="9116284" y="50451"/>
            <a:ext cx="2590933" cy="4991357"/>
          </a:xfrm>
          <a:prstGeom prst="rect">
            <a:avLst/>
          </a:prstGeom>
        </p:spPr>
      </p:pic>
    </p:spTree>
    <p:extLst>
      <p:ext uri="{BB962C8B-B14F-4D97-AF65-F5344CB8AC3E}">
        <p14:creationId xmlns:p14="http://schemas.microsoft.com/office/powerpoint/2010/main" val="30748688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4810427B-84E2-7F39-00B3-A0BE4FFA0194}"/>
              </a:ext>
            </a:extLst>
          </p:cNvPr>
          <p:cNvPicPr>
            <a:picLocks noChangeAspect="1"/>
          </p:cNvPicPr>
          <p:nvPr/>
        </p:nvPicPr>
        <p:blipFill>
          <a:blip r:embed="rId2"/>
          <a:stretch>
            <a:fillRect/>
          </a:stretch>
        </p:blipFill>
        <p:spPr>
          <a:xfrm>
            <a:off x="0" y="0"/>
            <a:ext cx="2749691" cy="4076910"/>
          </a:xfrm>
          <a:prstGeom prst="rect">
            <a:avLst/>
          </a:prstGeom>
        </p:spPr>
      </p:pic>
      <p:pic>
        <p:nvPicPr>
          <p:cNvPr id="5" name="图片 4">
            <a:extLst>
              <a:ext uri="{FF2B5EF4-FFF2-40B4-BE49-F238E27FC236}">
                <a16:creationId xmlns:a16="http://schemas.microsoft.com/office/drawing/2014/main" id="{52AC7ECD-24FC-1E66-F21F-FD414279951D}"/>
              </a:ext>
            </a:extLst>
          </p:cNvPr>
          <p:cNvPicPr>
            <a:picLocks noChangeAspect="1"/>
          </p:cNvPicPr>
          <p:nvPr/>
        </p:nvPicPr>
        <p:blipFill>
          <a:blip r:embed="rId3"/>
          <a:stretch>
            <a:fillRect/>
          </a:stretch>
        </p:blipFill>
        <p:spPr>
          <a:xfrm>
            <a:off x="2574530" y="0"/>
            <a:ext cx="3352972" cy="4140413"/>
          </a:xfrm>
          <a:prstGeom prst="rect">
            <a:avLst/>
          </a:prstGeom>
        </p:spPr>
      </p:pic>
      <p:pic>
        <p:nvPicPr>
          <p:cNvPr id="7" name="图片 6">
            <a:extLst>
              <a:ext uri="{FF2B5EF4-FFF2-40B4-BE49-F238E27FC236}">
                <a16:creationId xmlns:a16="http://schemas.microsoft.com/office/drawing/2014/main" id="{4E8CFBA4-85E8-9E24-E7C0-AD855352B966}"/>
              </a:ext>
            </a:extLst>
          </p:cNvPr>
          <p:cNvPicPr>
            <a:picLocks noChangeAspect="1"/>
          </p:cNvPicPr>
          <p:nvPr/>
        </p:nvPicPr>
        <p:blipFill>
          <a:blip r:embed="rId4"/>
          <a:stretch>
            <a:fillRect/>
          </a:stretch>
        </p:blipFill>
        <p:spPr>
          <a:xfrm>
            <a:off x="5927502" y="0"/>
            <a:ext cx="2648086" cy="2248016"/>
          </a:xfrm>
          <a:prstGeom prst="rect">
            <a:avLst/>
          </a:prstGeom>
        </p:spPr>
      </p:pic>
      <p:pic>
        <p:nvPicPr>
          <p:cNvPr id="9" name="图片 8">
            <a:extLst>
              <a:ext uri="{FF2B5EF4-FFF2-40B4-BE49-F238E27FC236}">
                <a16:creationId xmlns:a16="http://schemas.microsoft.com/office/drawing/2014/main" id="{19953C79-C4C0-7632-B14D-E252A864339B}"/>
              </a:ext>
            </a:extLst>
          </p:cNvPr>
          <p:cNvPicPr>
            <a:picLocks noChangeAspect="1"/>
          </p:cNvPicPr>
          <p:nvPr/>
        </p:nvPicPr>
        <p:blipFill>
          <a:blip r:embed="rId5"/>
          <a:stretch>
            <a:fillRect/>
          </a:stretch>
        </p:blipFill>
        <p:spPr>
          <a:xfrm>
            <a:off x="8575588" y="0"/>
            <a:ext cx="2768742" cy="1924149"/>
          </a:xfrm>
          <a:prstGeom prst="rect">
            <a:avLst/>
          </a:prstGeom>
        </p:spPr>
      </p:pic>
    </p:spTree>
    <p:extLst>
      <p:ext uri="{BB962C8B-B14F-4D97-AF65-F5344CB8AC3E}">
        <p14:creationId xmlns:p14="http://schemas.microsoft.com/office/powerpoint/2010/main" val="31755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9BBDC9E6-357F-EFF0-45F6-FDA6A7470AF4}"/>
              </a:ext>
            </a:extLst>
          </p:cNvPr>
          <p:cNvPicPr>
            <a:picLocks noChangeAspect="1"/>
          </p:cNvPicPr>
          <p:nvPr/>
        </p:nvPicPr>
        <p:blipFill>
          <a:blip r:embed="rId2"/>
          <a:stretch>
            <a:fillRect/>
          </a:stretch>
        </p:blipFill>
        <p:spPr>
          <a:xfrm>
            <a:off x="930009" y="558652"/>
            <a:ext cx="10331981" cy="5740695"/>
          </a:xfrm>
          <a:prstGeom prst="rect">
            <a:avLst/>
          </a:prstGeom>
        </p:spPr>
      </p:pic>
    </p:spTree>
    <p:extLst>
      <p:ext uri="{BB962C8B-B14F-4D97-AF65-F5344CB8AC3E}">
        <p14:creationId xmlns:p14="http://schemas.microsoft.com/office/powerpoint/2010/main" val="29533397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EF12045-597E-4B5F-8B11-069B62602951}"/>
              </a:ext>
            </a:extLst>
          </p:cNvPr>
          <p:cNvSpPr>
            <a:spLocks noGrp="1"/>
          </p:cNvSpPr>
          <p:nvPr/>
        </p:nvSpPr>
        <p:spPr>
          <a:xfrm>
            <a:off x="640080" y="361950"/>
            <a:ext cx="10915650" cy="952500"/>
          </a:xfrm>
          <a:prstGeom prst="rect">
            <a:avLst/>
          </a:prstGeom>
          <a:noFill/>
        </p:spPr>
        <p:txBody>
          <a:bodyPr wrap="square" lIns="0" tIns="0" rIns="0" bIns="0" anchor="ctr">
            <a:noAutofit/>
          </a:bodyPr>
          <a:lstStyle/>
          <a:p>
            <a:pPr marL="0" indent="0">
              <a:buNone/>
              <a:defRPr sz="3000" b="1">
                <a:solidFill>
                  <a:srgbClr val="111111"/>
                </a:solidFill>
                <a:latin typeface="Cambria"/>
                <a:ea typeface="Cambria"/>
                <a:cs typeface="Cambria"/>
              </a:defRPr>
            </a:pPr>
            <a:r>
              <a:rPr sz="3000" b="1">
                <a:solidFill>
                  <a:srgbClr val="111111"/>
                </a:solidFill>
                <a:latin typeface="Cambria"/>
                <a:ea typeface="Cambria"/>
                <a:cs typeface="Cambria"/>
              </a:rPr>
              <a:t>Project contributions</a:t>
            </a:r>
            <a:endParaRPr sz="2800"/>
          </a:p>
        </p:txBody>
      </p:sp>
      <p:sp>
        <p:nvSpPr>
          <p:cNvPr id="3" name="Task: chest X-ray + report → infection segmentatio">
            <a:extLst>
              <a:ext uri="{FF2B5EF4-FFF2-40B4-BE49-F238E27FC236}">
                <a16:creationId xmlns:a16="http://schemas.microsoft.com/office/drawing/2014/main" id="{4FCAB10B-C2B1-4CDB-B7F0-EE1E09F4E7D7}"/>
              </a:ext>
            </a:extLst>
          </p:cNvPr>
          <p:cNvSpPr>
            <a:spLocks noGrp="1"/>
          </p:cNvSpPr>
          <p:nvPr/>
        </p:nvSpPr>
        <p:spPr>
          <a:xfrm>
            <a:off x="638175" y="1495425"/>
            <a:ext cx="10915650" cy="409575"/>
          </a:xfrm>
          <a:prstGeom prst="rect">
            <a:avLst/>
          </a:prstGeom>
          <a:noFill/>
          <a:ln w="0">
            <a:noFill/>
          </a:ln>
        </p:spPr>
        <p:txBody>
          <a:bodyPr wrap="square" lIns="0" tIns="0" rIns="0" bIns="0" anchor="t">
            <a:noAutofit/>
          </a:bodyPr>
          <a:lstStyle/>
          <a:p>
            <a:pPr algn="l">
              <a:buNone/>
              <a:defRPr sz="2100" b="0">
                <a:solidFill>
                  <a:srgbClr val="606060"/>
                </a:solidFill>
                <a:latin typeface="Calibri"/>
                <a:ea typeface="Calibri"/>
                <a:cs typeface="Calibri"/>
              </a:defRPr>
            </a:pPr>
            <a:r>
              <a:rPr sz="2100" b="0">
                <a:solidFill>
                  <a:srgbClr val="606060"/>
                </a:solidFill>
                <a:latin typeface="Calibri"/>
                <a:ea typeface="Calibri"/>
                <a:cs typeface="Calibri"/>
              </a:rPr>
              <a:t>Task: chest X-ray + report → infection segmentation</a:t>
            </a:r>
          </a:p>
        </p:txBody>
      </p:sp>
      <p:sp>
        <p:nvSpPr>
          <p:cNvPr id="4" name="FSDR">
            <a:extLst>
              <a:ext uri="{FF2B5EF4-FFF2-40B4-BE49-F238E27FC236}">
                <a16:creationId xmlns:a16="http://schemas.microsoft.com/office/drawing/2014/main" id="{70DE6E54-BFA9-4D6B-AA15-5DE5FF981DBE}"/>
              </a:ext>
            </a:extLst>
          </p:cNvPr>
          <p:cNvSpPr>
            <a:spLocks noGrp="1"/>
          </p:cNvSpPr>
          <p:nvPr/>
        </p:nvSpPr>
        <p:spPr>
          <a:xfrm>
            <a:off x="638175" y="2190750"/>
            <a:ext cx="1809750" cy="457200"/>
          </a:xfrm>
          <a:prstGeom prst="rect">
            <a:avLst/>
          </a:prstGeom>
          <a:noFill/>
          <a:ln w="0">
            <a:noFill/>
          </a:ln>
        </p:spPr>
        <p:txBody>
          <a:bodyPr wrap="square" lIns="0" tIns="0" rIns="0" bIns="0" anchor="t">
            <a:noAutofit/>
          </a:bodyPr>
          <a:lstStyle/>
          <a:p>
            <a:pPr algn="l">
              <a:buNone/>
              <a:defRPr sz="2400" b="1">
                <a:solidFill>
                  <a:srgbClr val="111111"/>
                </a:solidFill>
                <a:latin typeface="Calibri"/>
                <a:ea typeface="Calibri"/>
                <a:cs typeface="Calibri"/>
              </a:defRPr>
            </a:pPr>
            <a:r>
              <a:rPr sz="2400" b="1">
                <a:solidFill>
                  <a:srgbClr val="111111"/>
                </a:solidFill>
                <a:latin typeface="Calibri"/>
                <a:ea typeface="Calibri"/>
                <a:cs typeface="Calibri"/>
              </a:rPr>
              <a:t>FSDR</a:t>
            </a:r>
          </a:p>
        </p:txBody>
      </p:sp>
      <p:sp>
        <p:nvSpPr>
          <p:cNvPr id="5" name="Frequency-aware Semantic–Detail Refinement">
            <a:extLst>
              <a:ext uri="{FF2B5EF4-FFF2-40B4-BE49-F238E27FC236}">
                <a16:creationId xmlns:a16="http://schemas.microsoft.com/office/drawing/2014/main" id="{C3B2EB3F-D03C-40CB-BC64-32A6EA541B92}"/>
              </a:ext>
            </a:extLst>
          </p:cNvPr>
          <p:cNvSpPr>
            <a:spLocks noGrp="1"/>
          </p:cNvSpPr>
          <p:nvPr/>
        </p:nvSpPr>
        <p:spPr>
          <a:xfrm>
            <a:off x="2667000" y="2190750"/>
            <a:ext cx="8886825" cy="428625"/>
          </a:xfrm>
          <a:prstGeom prst="rect">
            <a:avLst/>
          </a:prstGeom>
          <a:noFill/>
          <a:ln w="0">
            <a:noFill/>
          </a:ln>
        </p:spPr>
        <p:txBody>
          <a:bodyPr wrap="square" lIns="0" tIns="0" rIns="0" bIns="0" anchor="t">
            <a:noAutofit/>
          </a:bodyPr>
          <a:lstStyle/>
          <a:p>
            <a:pPr algn="l">
              <a:buNone/>
              <a:defRPr sz="2250" b="1">
                <a:solidFill>
                  <a:srgbClr val="111111"/>
                </a:solidFill>
                <a:latin typeface="Calibri"/>
                <a:ea typeface="Calibri"/>
                <a:cs typeface="Calibri"/>
              </a:defRPr>
            </a:pPr>
            <a:r>
              <a:rPr sz="2250" b="1">
                <a:solidFill>
                  <a:srgbClr val="111111"/>
                </a:solidFill>
                <a:latin typeface="Calibri"/>
                <a:ea typeface="Calibri"/>
                <a:cs typeface="Calibri"/>
              </a:rPr>
              <a:t>Frequency-aware Semantic–Detail Refinement</a:t>
            </a:r>
          </a:p>
        </p:txBody>
      </p:sp>
      <p:sp>
        <p:nvSpPr>
          <p:cNvPr id="6" name="Separates semantic guidance and spatial detail in ">
            <a:extLst>
              <a:ext uri="{FF2B5EF4-FFF2-40B4-BE49-F238E27FC236}">
                <a16:creationId xmlns:a16="http://schemas.microsoft.com/office/drawing/2014/main" id="{B0971180-4E39-494C-836C-55E6B6B90615}"/>
              </a:ext>
            </a:extLst>
          </p:cNvPr>
          <p:cNvSpPr>
            <a:spLocks noGrp="1"/>
          </p:cNvSpPr>
          <p:nvPr/>
        </p:nvSpPr>
        <p:spPr>
          <a:xfrm>
            <a:off x="2667000" y="2733675"/>
            <a:ext cx="8858250" cy="857250"/>
          </a:xfrm>
          <a:prstGeom prst="rect">
            <a:avLst/>
          </a:prstGeom>
          <a:noFill/>
          <a:ln w="0">
            <a:noFill/>
          </a:ln>
        </p:spPr>
        <p:txBody>
          <a:bodyPr wrap="square" lIns="0" tIns="0" rIns="0" bIns="0" anchor="ctr">
            <a:noAutofit/>
          </a:bodyPr>
          <a:lstStyle/>
          <a:p>
            <a:pPr algn="l">
              <a:buNone/>
              <a:defRPr sz="1875" b="0">
                <a:solidFill>
                  <a:srgbClr val="111111"/>
                </a:solidFill>
                <a:latin typeface="Calibri"/>
                <a:ea typeface="Calibri"/>
                <a:cs typeface="Calibri"/>
              </a:defRPr>
            </a:pPr>
            <a:r>
              <a:rPr sz="1875" b="0">
                <a:solidFill>
                  <a:srgbClr val="111111"/>
                </a:solidFill>
                <a:latin typeface="Calibri"/>
                <a:ea typeface="Calibri"/>
                <a:cs typeface="Calibri"/>
              </a:rPr>
              <a:t>Separates semantic guidance and spatial detail in LViT skip fusion.</a:t>
            </a:r>
          </a:p>
          <a:p>
            <a:pPr algn="l">
              <a:buNone/>
              <a:defRPr sz="1875" b="0">
                <a:solidFill>
                  <a:srgbClr val="111111"/>
                </a:solidFill>
                <a:latin typeface="Calibri"/>
                <a:ea typeface="Calibri"/>
                <a:cs typeface="Calibri"/>
              </a:defRPr>
            </a:pPr>
            <a:r>
              <a:rPr sz="1875" b="0">
                <a:solidFill>
                  <a:srgbClr val="111111"/>
                </a:solidFill>
                <a:latin typeface="Calibri"/>
                <a:ea typeface="Calibri"/>
                <a:cs typeface="Calibri"/>
              </a:rPr>
              <a:t>Mean Test IoU gain over matched PLAM: +0.5058 pp (three seeds).</a:t>
            </a:r>
          </a:p>
        </p:txBody>
      </p:sp>
      <p:sp>
        <p:nvSpPr>
          <p:cNvPr id="7" name="RACE">
            <a:extLst>
              <a:ext uri="{FF2B5EF4-FFF2-40B4-BE49-F238E27FC236}">
                <a16:creationId xmlns:a16="http://schemas.microsoft.com/office/drawing/2014/main" id="{95EBF312-2E72-4B08-9335-4AEF8751D2EE}"/>
              </a:ext>
            </a:extLst>
          </p:cNvPr>
          <p:cNvSpPr>
            <a:spLocks noGrp="1"/>
          </p:cNvSpPr>
          <p:nvPr/>
        </p:nvSpPr>
        <p:spPr>
          <a:xfrm>
            <a:off x="638175" y="3867150"/>
            <a:ext cx="1809750" cy="457200"/>
          </a:xfrm>
          <a:prstGeom prst="rect">
            <a:avLst/>
          </a:prstGeom>
          <a:noFill/>
          <a:ln w="0">
            <a:noFill/>
          </a:ln>
        </p:spPr>
        <p:txBody>
          <a:bodyPr wrap="square" lIns="0" tIns="0" rIns="0" bIns="0" anchor="t">
            <a:noAutofit/>
          </a:bodyPr>
          <a:lstStyle/>
          <a:p>
            <a:pPr algn="l">
              <a:buNone/>
              <a:defRPr sz="2400" b="1">
                <a:solidFill>
                  <a:srgbClr val="111111"/>
                </a:solidFill>
                <a:latin typeface="Calibri"/>
                <a:ea typeface="Calibri"/>
                <a:cs typeface="Calibri"/>
              </a:defRPr>
            </a:pPr>
            <a:r>
              <a:rPr sz="2400" b="1">
                <a:solidFill>
                  <a:srgbClr val="111111"/>
                </a:solidFill>
                <a:latin typeface="Calibri"/>
                <a:ea typeface="Calibri"/>
                <a:cs typeface="Calibri"/>
              </a:rPr>
              <a:t>RACE</a:t>
            </a:r>
          </a:p>
        </p:txBody>
      </p:sp>
      <p:sp>
        <p:nvSpPr>
          <p:cNvPr id="8" name="Report–Anatomy Consistency and Evidence Fusion">
            <a:extLst>
              <a:ext uri="{FF2B5EF4-FFF2-40B4-BE49-F238E27FC236}">
                <a16:creationId xmlns:a16="http://schemas.microsoft.com/office/drawing/2014/main" id="{262B5C1C-F288-42B3-891E-31E96F51793E}"/>
              </a:ext>
            </a:extLst>
          </p:cNvPr>
          <p:cNvSpPr>
            <a:spLocks noGrp="1"/>
          </p:cNvSpPr>
          <p:nvPr/>
        </p:nvSpPr>
        <p:spPr>
          <a:xfrm>
            <a:off x="2667000" y="3867150"/>
            <a:ext cx="8886825" cy="409575"/>
          </a:xfrm>
          <a:prstGeom prst="rect">
            <a:avLst/>
          </a:prstGeom>
          <a:noFill/>
          <a:ln w="0">
            <a:noFill/>
          </a:ln>
        </p:spPr>
        <p:txBody>
          <a:bodyPr wrap="square" lIns="0" tIns="0" rIns="0" bIns="0" anchor="t">
            <a:noAutofit/>
          </a:bodyPr>
          <a:lstStyle/>
          <a:p>
            <a:pPr algn="l">
              <a:buNone/>
              <a:defRPr sz="2175" b="1">
                <a:solidFill>
                  <a:srgbClr val="111111"/>
                </a:solidFill>
                <a:latin typeface="Calibri"/>
                <a:ea typeface="Calibri"/>
                <a:cs typeface="Calibri"/>
              </a:defRPr>
            </a:pPr>
            <a:r>
              <a:rPr sz="2175" b="1">
                <a:solidFill>
                  <a:srgbClr val="111111"/>
                </a:solidFill>
                <a:latin typeface="Calibri"/>
                <a:ea typeface="Calibri"/>
                <a:cs typeface="Calibri"/>
              </a:rPr>
              <a:t>Report–Anatomy Consistency and Evidence Fusion</a:t>
            </a:r>
          </a:p>
        </p:txBody>
      </p:sp>
      <p:sp>
        <p:nvSpPr>
          <p:cNvPr id="9" name="Combines learned report cues, anatomical regions a">
            <a:extLst>
              <a:ext uri="{FF2B5EF4-FFF2-40B4-BE49-F238E27FC236}">
                <a16:creationId xmlns:a16="http://schemas.microsoft.com/office/drawing/2014/main" id="{1A0DB4AD-C2FD-4466-95DE-D23C67E8D789}"/>
              </a:ext>
            </a:extLst>
          </p:cNvPr>
          <p:cNvSpPr>
            <a:spLocks noGrp="1"/>
          </p:cNvSpPr>
          <p:nvPr/>
        </p:nvSpPr>
        <p:spPr>
          <a:xfrm>
            <a:off x="2667000" y="4419600"/>
            <a:ext cx="8886825" cy="857250"/>
          </a:xfrm>
          <a:prstGeom prst="rect">
            <a:avLst/>
          </a:prstGeom>
          <a:noFill/>
          <a:ln w="0">
            <a:noFill/>
          </a:ln>
        </p:spPr>
        <p:txBody>
          <a:bodyPr wrap="square" lIns="0" tIns="0" rIns="0" bIns="0" anchor="ctr">
            <a:noAutofit/>
          </a:bodyPr>
          <a:lstStyle/>
          <a:p>
            <a:pPr algn="l">
              <a:buNone/>
              <a:defRPr sz="1875" b="0">
                <a:solidFill>
                  <a:srgbClr val="111111"/>
                </a:solidFill>
                <a:latin typeface="Calibri"/>
                <a:ea typeface="Calibri"/>
                <a:cs typeface="Calibri"/>
              </a:defRPr>
            </a:pPr>
            <a:r>
              <a:rPr sz="1875" b="0">
                <a:solidFill>
                  <a:srgbClr val="111111"/>
                </a:solidFill>
                <a:latin typeface="Calibri"/>
                <a:ea typeface="Calibri"/>
                <a:cs typeface="Calibri"/>
              </a:rPr>
              <a:t>Combines learned report cues, anatomical regions and visual evidence.</a:t>
            </a:r>
          </a:p>
          <a:p>
            <a:pPr algn="l">
              <a:buNone/>
              <a:defRPr sz="1875" b="0">
                <a:solidFill>
                  <a:srgbClr val="111111"/>
                </a:solidFill>
                <a:latin typeface="Calibri"/>
                <a:ea typeface="Calibri"/>
                <a:cs typeface="Calibri"/>
              </a:defRPr>
            </a:pPr>
            <a:r>
              <a:rPr sz="1875" b="0">
                <a:solidFill>
                  <a:srgbClr val="111111"/>
                </a:solidFill>
                <a:latin typeface="Calibri"/>
                <a:ea typeface="Calibri"/>
                <a:cs typeface="Calibri"/>
              </a:rPr>
              <a:t>Complete RACE adds +0.2428 pp Test IoU to FSDR (three seeds).</a:t>
            </a:r>
          </a:p>
        </p:txBody>
      </p:sp>
      <p:sp>
        <p:nvSpPr>
          <p:cNvPr id="10" name="Two complementary designs: frequency refinement an">
            <a:extLst>
              <a:ext uri="{FF2B5EF4-FFF2-40B4-BE49-F238E27FC236}">
                <a16:creationId xmlns:a16="http://schemas.microsoft.com/office/drawing/2014/main" id="{56A679C8-CE63-4E6B-BA81-B59FE2F39F55}"/>
              </a:ext>
            </a:extLst>
          </p:cNvPr>
          <p:cNvSpPr>
            <a:spLocks noGrp="1"/>
          </p:cNvSpPr>
          <p:nvPr/>
        </p:nvSpPr>
        <p:spPr>
          <a:xfrm>
            <a:off x="638175" y="5638800"/>
            <a:ext cx="10915650" cy="542925"/>
          </a:xfrm>
          <a:prstGeom prst="rect">
            <a:avLst/>
          </a:prstGeom>
          <a:solidFill>
            <a:srgbClr val="111111"/>
          </a:solidFill>
          <a:ln w="0">
            <a:noFill/>
          </a:ln>
        </p:spPr>
        <p:txBody>
          <a:bodyPr wrap="square" lIns="133350" tIns="95250" rIns="133350" bIns="66675" anchor="ctr">
            <a:noAutofit/>
          </a:bodyPr>
          <a:lstStyle/>
          <a:p>
            <a:pPr algn="l">
              <a:buNone/>
              <a:defRPr sz="1875" b="1">
                <a:solidFill>
                  <a:srgbClr val="FFFFFF"/>
                </a:solidFill>
                <a:latin typeface="Calibri"/>
                <a:ea typeface="Calibri"/>
                <a:cs typeface="Calibri"/>
              </a:defRPr>
            </a:pPr>
            <a:r>
              <a:rPr sz="1875" b="1">
                <a:solidFill>
                  <a:srgbClr val="FFFFFF"/>
                </a:solidFill>
                <a:latin typeface="Calibri"/>
                <a:ea typeface="Calibri"/>
                <a:cs typeface="Calibri"/>
              </a:rPr>
              <a:t>FSDR + complete RACE: 76.2262% Test IoU, +0.7487 pp over matched PLAM</a:t>
            </a:r>
          </a:p>
        </p:txBody>
      </p:sp>
      <p:sp>
        <p:nvSpPr>
          <p:cNvPr id="11" name="Research contributions">
            <a:extLst>
              <a:ext uri="{FF2B5EF4-FFF2-40B4-BE49-F238E27FC236}">
                <a16:creationId xmlns:a16="http://schemas.microsoft.com/office/drawing/2014/main" id="{351D38B3-6298-4BC6-8231-F6AA84F0079C}"/>
              </a:ext>
            </a:extLst>
          </p:cNvPr>
          <p:cNvSpPr>
            <a:spLocks noGrp="1"/>
          </p:cNvSpPr>
          <p:nvPr/>
        </p:nvSpPr>
        <p:spPr>
          <a:xfrm>
            <a:off x="638175" y="6467475"/>
            <a:ext cx="9906000" cy="190500"/>
          </a:xfrm>
          <a:prstGeom prst="rect">
            <a:avLst/>
          </a:prstGeom>
          <a:noFill/>
          <a:ln w="0">
            <a:noFill/>
          </a:ln>
        </p:spPr>
        <p:txBody>
          <a:bodyPr wrap="square" lIns="0" tIns="0" rIns="0" bIns="0" anchor="t">
            <a:noAutofit/>
          </a:bodyPr>
          <a:lstStyle/>
          <a:p>
            <a:pPr algn="l">
              <a:buNone/>
              <a:defRPr sz="900" b="0">
                <a:solidFill>
                  <a:srgbClr val="999999"/>
                </a:solidFill>
                <a:latin typeface="Calibri"/>
                <a:ea typeface="Calibri"/>
                <a:cs typeface="Calibri"/>
              </a:defRPr>
            </a:pPr>
            <a:r>
              <a:rPr sz="900" b="0">
                <a:solidFill>
                  <a:srgbClr val="999999"/>
                </a:solidFill>
                <a:latin typeface="Calibri"/>
                <a:ea typeface="Calibri"/>
                <a:cs typeface="Calibri"/>
              </a:rPr>
              <a:t>Research contributions</a:t>
            </a:r>
          </a:p>
        </p:txBody>
      </p:sp>
      <p:sp>
        <p:nvSpPr>
          <p:cNvPr id="12" name="2">
            <a:extLst>
              <a:ext uri="{FF2B5EF4-FFF2-40B4-BE49-F238E27FC236}">
                <a16:creationId xmlns:a16="http://schemas.microsoft.com/office/drawing/2014/main" id="{B08464F2-CEFC-4337-91A0-869BA589E4C0}"/>
              </a:ext>
            </a:extLst>
          </p:cNvPr>
          <p:cNvSpPr>
            <a:spLocks noGrp="1"/>
          </p:cNvSpPr>
          <p:nvPr/>
        </p:nvSpPr>
        <p:spPr>
          <a:xfrm>
            <a:off x="11144250" y="6467475"/>
            <a:ext cx="409575" cy="190500"/>
          </a:xfrm>
          <a:prstGeom prst="rect">
            <a:avLst/>
          </a:prstGeom>
          <a:noFill/>
          <a:ln w="0">
            <a:noFill/>
          </a:ln>
        </p:spPr>
        <p:txBody>
          <a:bodyPr wrap="square" lIns="0" tIns="0" rIns="0" bIns="0" anchor="t">
            <a:noAutofit/>
          </a:bodyPr>
          <a:lstStyle/>
          <a:p>
            <a:pPr algn="r">
              <a:buNone/>
              <a:defRPr sz="900" b="0">
                <a:solidFill>
                  <a:srgbClr val="999999"/>
                </a:solidFill>
                <a:latin typeface="Calibri"/>
                <a:ea typeface="Calibri"/>
                <a:cs typeface="Calibri"/>
              </a:defRPr>
            </a:pPr>
            <a:r>
              <a:rPr sz="900" b="0">
                <a:solidFill>
                  <a:srgbClr val="999999"/>
                </a:solidFill>
                <a:latin typeface="Calibri"/>
                <a:ea typeface="Calibri"/>
                <a:cs typeface="Calibri"/>
              </a:rPr>
              <a:t>2</a:t>
            </a:r>
          </a:p>
        </p:txBody>
      </p:sp>
    </p:spTree>
    <p:extLst>
      <p:ext uri="{BB962C8B-B14F-4D97-AF65-F5344CB8AC3E}">
        <p14:creationId xmlns:p14="http://schemas.microsoft.com/office/powerpoint/2010/main" val="14981267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31" name="矩形 30">
            <a:extLst>
              <a:ext uri="{FF2B5EF4-FFF2-40B4-BE49-F238E27FC236}">
                <a16:creationId xmlns:a16="http://schemas.microsoft.com/office/drawing/2014/main" id="{F2548CC0-5909-43D8-9DBB-0F7BBE071A42}"/>
              </a:ext>
            </a:extLst>
          </p:cNvPr>
          <p:cNvSpPr>
            <a:spLocks noGrp="1"/>
          </p:cNvSpPr>
          <p:nvPr/>
        </p:nvSpPr>
        <p:spPr>
          <a:xfrm>
            <a:off x="638175" y="381000"/>
            <a:ext cx="10915650" cy="809625"/>
          </a:xfrm>
          <a:prstGeom prst="rect">
            <a:avLst/>
          </a:prstGeom>
          <a:noFill/>
          <a:ln w="0">
            <a:noFill/>
          </a:ln>
        </p:spPr>
        <p:txBody>
          <a:bodyPr wrap="square" lIns="0" tIns="0" rIns="0" bIns="0" anchor="ctr">
            <a:noAutofit/>
          </a:bodyPr>
          <a:lstStyle/>
          <a:p>
            <a:pPr algn="l">
              <a:defRPr sz="2925" b="1">
                <a:solidFill>
                  <a:srgbClr val="F4F4F4"/>
                </a:solidFill>
                <a:latin typeface="Cambria"/>
                <a:ea typeface="Cambria"/>
                <a:cs typeface="Cambria"/>
              </a:defRPr>
            </a:pPr>
            <a:r>
              <a:rPr sz="2925" b="1">
                <a:solidFill>
                  <a:srgbClr val="F4F4F4"/>
                </a:solidFill>
                <a:latin typeface="Cambria"/>
                <a:ea typeface="Cambria"/>
                <a:cs typeface="Cambria"/>
              </a:rPr>
              <a:t>FSDR and RACE within LViT</a:t>
            </a:r>
          </a:p>
        </p:txBody>
      </p:sp>
      <p:sp>
        <p:nvSpPr>
          <p:cNvPr id="2" name="矩形 1">
            <a:extLst>
              <a:ext uri="{FF2B5EF4-FFF2-40B4-BE49-F238E27FC236}">
                <a16:creationId xmlns:a16="http://schemas.microsoft.com/office/drawing/2014/main" id="{29A66679-BAB6-424B-ACA0-09ACE77548DD}"/>
              </a:ext>
            </a:extLst>
          </p:cNvPr>
          <p:cNvSpPr>
            <a:spLocks noGrp="1"/>
          </p:cNvSpPr>
          <p:nvPr/>
        </p:nvSpPr>
        <p:spPr>
          <a:xfrm>
            <a:off x="638175" y="6467475"/>
            <a:ext cx="10382250" cy="190500"/>
          </a:xfrm>
          <a:prstGeom prst="rect">
            <a:avLst/>
          </a:prstGeom>
          <a:noFill/>
          <a:ln w="0">
            <a:noFill/>
          </a:ln>
        </p:spPr>
        <p:txBody>
          <a:bodyPr wrap="square" lIns="0" tIns="0" rIns="0" bIns="0" anchor="ctr">
            <a:noAutofit/>
          </a:bodyPr>
          <a:lstStyle/>
          <a:p>
            <a:pPr algn="l">
              <a:defRPr sz="900" b="0">
                <a:solidFill>
                  <a:srgbClr val="999999"/>
                </a:solidFill>
                <a:latin typeface="Calibri"/>
                <a:ea typeface="Calibri"/>
                <a:cs typeface="Calibri"/>
              </a:defRPr>
            </a:pPr>
            <a:r>
              <a:rPr sz="900" b="0">
                <a:solidFill>
                  <a:srgbClr val="999999"/>
                </a:solidFill>
                <a:latin typeface="Calibri"/>
                <a:ea typeface="Calibri"/>
                <a:cs typeface="Calibri"/>
              </a:rPr>
              <a:t>Placement: RACE on CNN skips, FSDR inside all four decoder stages</a:t>
            </a:r>
          </a:p>
        </p:txBody>
      </p:sp>
      <p:sp>
        <p:nvSpPr>
          <p:cNvPr id="3" name="矩形 2">
            <a:extLst>
              <a:ext uri="{FF2B5EF4-FFF2-40B4-BE49-F238E27FC236}">
                <a16:creationId xmlns:a16="http://schemas.microsoft.com/office/drawing/2014/main" id="{E1E13FED-F64D-4885-8A80-B4FD30F8D8BA}"/>
              </a:ext>
            </a:extLst>
          </p:cNvPr>
          <p:cNvSpPr>
            <a:spLocks noGrp="1"/>
          </p:cNvSpPr>
          <p:nvPr/>
        </p:nvSpPr>
        <p:spPr>
          <a:xfrm>
            <a:off x="11144250" y="6467475"/>
            <a:ext cx="409575" cy="190500"/>
          </a:xfrm>
          <a:prstGeom prst="rect">
            <a:avLst/>
          </a:prstGeom>
          <a:noFill/>
          <a:ln w="0">
            <a:noFill/>
          </a:ln>
        </p:spPr>
        <p:txBody>
          <a:bodyPr wrap="square" lIns="0" tIns="0" rIns="0" bIns="0" anchor="ctr">
            <a:noAutofit/>
          </a:bodyPr>
          <a:lstStyle/>
          <a:p>
            <a:pPr algn="r">
              <a:defRPr sz="900" b="0">
                <a:solidFill>
                  <a:srgbClr val="999999"/>
                </a:solidFill>
                <a:latin typeface="Calibri"/>
                <a:ea typeface="Calibri"/>
                <a:cs typeface="Calibri"/>
              </a:defRPr>
            </a:pPr>
            <a:r>
              <a:rPr sz="900" b="0">
                <a:solidFill>
                  <a:srgbClr val="999999"/>
                </a:solidFill>
                <a:latin typeface="Calibri"/>
                <a:ea typeface="Calibri"/>
                <a:cs typeface="Calibri"/>
              </a:rPr>
              <a:t>3</a:t>
            </a:r>
          </a:p>
        </p:txBody>
      </p:sp>
      <p:pic>
        <p:nvPicPr>
          <p:cNvPr id="16" name="图片 15">
            <a:extLst>
              <a:ext uri="{FF2B5EF4-FFF2-40B4-BE49-F238E27FC236}">
                <a16:creationId xmlns:a16="http://schemas.microsoft.com/office/drawing/2014/main" id="{8F0A5E39-7610-237C-64DE-F79A32B95CE5}"/>
              </a:ext>
            </a:extLst>
          </p:cNvPr>
          <p:cNvPicPr>
            <a:picLocks noChangeAspect="1"/>
          </p:cNvPicPr>
          <p:nvPr/>
        </p:nvPicPr>
        <p:blipFill>
          <a:blip r:embed="rId3"/>
          <a:stretch>
            <a:fillRect/>
          </a:stretch>
        </p:blipFill>
        <p:spPr>
          <a:xfrm>
            <a:off x="1728256" y="1046830"/>
            <a:ext cx="8079998" cy="5811170"/>
          </a:xfrm>
          <a:prstGeom prst="rect">
            <a:avLst/>
          </a:prstGeom>
        </p:spPr>
      </p:pic>
    </p:spTree>
    <p:extLst>
      <p:ext uri="{BB962C8B-B14F-4D97-AF65-F5344CB8AC3E}">
        <p14:creationId xmlns:p14="http://schemas.microsoft.com/office/powerpoint/2010/main" val="694801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176A35E-2F94-4AA6-A7E9-0FA0361AB1C0}"/>
              </a:ext>
            </a:extLst>
          </p:cNvPr>
          <p:cNvSpPr>
            <a:spLocks noGrp="1"/>
          </p:cNvSpPr>
          <p:nvPr/>
        </p:nvSpPr>
        <p:spPr>
          <a:xfrm>
            <a:off x="640080" y="361950"/>
            <a:ext cx="10915650" cy="952500"/>
          </a:xfrm>
          <a:prstGeom prst="rect">
            <a:avLst/>
          </a:prstGeom>
          <a:noFill/>
        </p:spPr>
        <p:txBody>
          <a:bodyPr wrap="square" lIns="0" tIns="0" rIns="0" bIns="0" anchor="ctr">
            <a:noAutofit/>
          </a:bodyPr>
          <a:lstStyle/>
          <a:p>
            <a:pPr marL="0" indent="0">
              <a:buNone/>
              <a:defRPr sz="3000" b="1">
                <a:solidFill>
                  <a:srgbClr val="111111"/>
                </a:solidFill>
                <a:latin typeface="Cambria"/>
                <a:ea typeface="Cambria"/>
                <a:cs typeface="Cambria"/>
              </a:defRPr>
            </a:pPr>
            <a:r>
              <a:rPr sz="3000" b="1" dirty="0">
                <a:solidFill>
                  <a:srgbClr val="111111"/>
                </a:solidFill>
                <a:latin typeface="Cambria"/>
                <a:ea typeface="Cambria"/>
                <a:cs typeface="Cambria"/>
              </a:rPr>
              <a:t>Original </a:t>
            </a:r>
            <a:r>
              <a:rPr sz="3000" b="1" dirty="0" err="1">
                <a:solidFill>
                  <a:srgbClr val="111111"/>
                </a:solidFill>
                <a:latin typeface="Cambria"/>
                <a:ea typeface="Cambria"/>
                <a:cs typeface="Cambria"/>
              </a:rPr>
              <a:t>LViT</a:t>
            </a:r>
            <a:r>
              <a:rPr sz="3000" b="1" dirty="0">
                <a:solidFill>
                  <a:srgbClr val="111111"/>
                </a:solidFill>
                <a:latin typeface="Cambria"/>
                <a:ea typeface="Cambria"/>
                <a:cs typeface="Cambria"/>
              </a:rPr>
              <a:t> and the FSDR extension</a:t>
            </a:r>
            <a:endParaRPr sz="2800" dirty="0"/>
          </a:p>
        </p:txBody>
      </p:sp>
      <p:graphicFrame>
        <p:nvGraphicFramePr>
          <p:cNvPr id="14" name="表格 13"/>
          <p:cNvGraphicFramePr/>
          <p:nvPr/>
        </p:nvGraphicFramePr>
        <p:xfrm>
          <a:off x="638175" y="1676400"/>
          <a:ext cx="10915650" cy="3667125"/>
        </p:xfrm>
        <a:graphic>
          <a:graphicData uri="http://schemas.openxmlformats.org/drawingml/2006/table">
            <a:tbl>
              <a:tblPr/>
              <a:tblGrid>
                <a:gridCol w="2152650">
                  <a:extLst>
                    <a:ext uri="{9D8B030D-6E8A-4147-A177-3AD203B41FA5}">
                      <a16:colId xmlns:a16="http://schemas.microsoft.com/office/drawing/2014/main" val="20000"/>
                    </a:ext>
                  </a:extLst>
                </a:gridCol>
                <a:gridCol w="4171950">
                  <a:extLst>
                    <a:ext uri="{9D8B030D-6E8A-4147-A177-3AD203B41FA5}">
                      <a16:colId xmlns:a16="http://schemas.microsoft.com/office/drawing/2014/main" val="20001"/>
                    </a:ext>
                  </a:extLst>
                </a:gridCol>
                <a:gridCol w="4591050">
                  <a:extLst>
                    <a:ext uri="{9D8B030D-6E8A-4147-A177-3AD203B41FA5}">
                      <a16:colId xmlns:a16="http://schemas.microsoft.com/office/drawing/2014/main" val="20002"/>
                    </a:ext>
                  </a:extLst>
                </a:gridCol>
              </a:tblGrid>
              <a:tr h="733425">
                <a:tc>
                  <a:txBody>
                    <a:bodyPr/>
                    <a:lstStyle/>
                    <a:p>
                      <a:r>
                        <a:rPr sz="1800" b="1">
                          <a:solidFill>
                            <a:srgbClr val="FFFFFF"/>
                          </a:solidFill>
                          <a:latin typeface="Calibri"/>
                          <a:ea typeface="Calibri"/>
                          <a:cs typeface="Calibri"/>
                        </a:rPr>
                        <a:t>Aspect</a:t>
                      </a:r>
                    </a:p>
                  </a:txBody>
                  <a:tcPr marL="114300" marR="95250" marT="66675" marB="47625" anchor="ctr">
                    <a:solidFill>
                      <a:srgbClr val="111111"/>
                    </a:solidFill>
                  </a:tcPr>
                </a:tc>
                <a:tc>
                  <a:txBody>
                    <a:bodyPr/>
                    <a:lstStyle/>
                    <a:p>
                      <a:r>
                        <a:rPr sz="1800" b="1">
                          <a:solidFill>
                            <a:srgbClr val="FFFFFF"/>
                          </a:solidFill>
                          <a:latin typeface="Calibri"/>
                          <a:ea typeface="Calibri"/>
                          <a:cs typeface="Calibri"/>
                        </a:rPr>
                        <a:t>Original LViT fusion</a:t>
                      </a:r>
                    </a:p>
                  </a:txBody>
                  <a:tcPr marL="114300" marR="95250" marT="66675" marB="47625" anchor="ctr">
                    <a:solidFill>
                      <a:srgbClr val="111111"/>
                    </a:solidFill>
                  </a:tcPr>
                </a:tc>
                <a:tc>
                  <a:txBody>
                    <a:bodyPr/>
                    <a:lstStyle/>
                    <a:p>
                      <a:r>
                        <a:rPr sz="1800" b="1">
                          <a:solidFill>
                            <a:srgbClr val="FFFFFF"/>
                          </a:solidFill>
                          <a:latin typeface="Calibri"/>
                          <a:ea typeface="Calibri"/>
                          <a:cs typeface="Calibri"/>
                        </a:rPr>
                        <a:t>FSDR extension</a:t>
                      </a:r>
                    </a:p>
                  </a:txBody>
                  <a:tcPr marL="114300" marR="95250" marT="66675" marB="47625" anchor="ctr">
                    <a:solidFill>
                      <a:srgbClr val="111111"/>
                    </a:solidFill>
                  </a:tcPr>
                </a:tc>
                <a:extLst>
                  <a:ext uri="{0D108BD9-81ED-4DB2-BD59-A6C34878D82A}">
                    <a16:rowId xmlns:a16="http://schemas.microsoft.com/office/drawing/2014/main" val="10000"/>
                  </a:ext>
                </a:extLst>
              </a:tr>
              <a:tr h="733425">
                <a:tc>
                  <a:txBody>
                    <a:bodyPr/>
                    <a:lstStyle/>
                    <a:p>
                      <a:r>
                        <a:rPr sz="1800" b="0" dirty="0">
                          <a:solidFill>
                            <a:srgbClr val="111111"/>
                          </a:solidFill>
                          <a:latin typeface="Calibri"/>
                          <a:ea typeface="Calibri"/>
                          <a:cs typeface="Calibri"/>
                        </a:rPr>
                        <a:t>Feature backbone</a:t>
                      </a:r>
                    </a:p>
                  </a:txBody>
                  <a:tcPr marL="114300" marR="95250" marT="66675" marB="47625" anchor="ctr">
                    <a:solidFill>
                      <a:srgbClr val="FFFFFF"/>
                    </a:solidFill>
                  </a:tcPr>
                </a:tc>
                <a:tc>
                  <a:txBody>
                    <a:bodyPr/>
                    <a:lstStyle/>
                    <a:p>
                      <a:r>
                        <a:rPr sz="1800" b="0" dirty="0">
                          <a:solidFill>
                            <a:srgbClr val="111111"/>
                          </a:solidFill>
                          <a:latin typeface="Calibri"/>
                          <a:ea typeface="Calibri"/>
                          <a:cs typeface="Calibri"/>
                        </a:rPr>
                        <a:t>CNN + text-aware </a:t>
                      </a:r>
                      <a:r>
                        <a:rPr sz="1800" b="0" dirty="0" err="1">
                          <a:solidFill>
                            <a:srgbClr val="111111"/>
                          </a:solidFill>
                          <a:latin typeface="Calibri"/>
                          <a:ea typeface="Calibri"/>
                          <a:cs typeface="Calibri"/>
                        </a:rPr>
                        <a:t>ViT</a:t>
                      </a:r>
                      <a:endParaRPr sz="1800" b="0" dirty="0">
                        <a:solidFill>
                          <a:srgbClr val="111111"/>
                        </a:solidFill>
                        <a:latin typeface="Calibri"/>
                        <a:ea typeface="Calibri"/>
                        <a:cs typeface="Calibri"/>
                      </a:endParaRPr>
                    </a:p>
                  </a:txBody>
                  <a:tcPr marL="114300" marR="95250" marT="66675" marB="47625" anchor="ctr">
                    <a:solidFill>
                      <a:srgbClr val="FFFFFF"/>
                    </a:solidFill>
                  </a:tcPr>
                </a:tc>
                <a:tc>
                  <a:txBody>
                    <a:bodyPr/>
                    <a:lstStyle/>
                    <a:p>
                      <a:r>
                        <a:rPr sz="1800" b="0">
                          <a:solidFill>
                            <a:srgbClr val="111111"/>
                          </a:solidFill>
                          <a:latin typeface="Calibri"/>
                          <a:ea typeface="Calibri"/>
                          <a:cs typeface="Calibri"/>
                        </a:rPr>
                        <a:t>Same hierarchical backbone</a:t>
                      </a:r>
                    </a:p>
                  </a:txBody>
                  <a:tcPr marL="114300" marR="95250" marT="66675" marB="47625" anchor="ctr">
                    <a:solidFill>
                      <a:srgbClr val="FFFFFF"/>
                    </a:solidFill>
                  </a:tcPr>
                </a:tc>
                <a:extLst>
                  <a:ext uri="{0D108BD9-81ED-4DB2-BD59-A6C34878D82A}">
                    <a16:rowId xmlns:a16="http://schemas.microsoft.com/office/drawing/2014/main" val="10001"/>
                  </a:ext>
                </a:extLst>
              </a:tr>
              <a:tr h="733425">
                <a:tc>
                  <a:txBody>
                    <a:bodyPr/>
                    <a:lstStyle/>
                    <a:p>
                      <a:r>
                        <a:rPr sz="1800" b="0">
                          <a:solidFill>
                            <a:srgbClr val="111111"/>
                          </a:solidFill>
                          <a:latin typeface="Calibri"/>
                          <a:ea typeface="Calibri"/>
                          <a:cs typeface="Calibri"/>
                        </a:rPr>
                        <a:t>Skip inputs</a:t>
                      </a:r>
                    </a:p>
                  </a:txBody>
                  <a:tcPr marL="114300" marR="95250" marT="66675" marB="47625" anchor="ctr">
                    <a:solidFill>
                      <a:srgbClr val="F3F3F3"/>
                    </a:solidFill>
                  </a:tcPr>
                </a:tc>
                <a:tc>
                  <a:txBody>
                    <a:bodyPr/>
                    <a:lstStyle/>
                    <a:p>
                      <a:r>
                        <a:rPr sz="1800" b="0" dirty="0">
                          <a:solidFill>
                            <a:srgbClr val="111111"/>
                          </a:solidFill>
                          <a:latin typeface="Calibri"/>
                          <a:ea typeface="Calibri"/>
                          <a:cs typeface="Calibri"/>
                        </a:rPr>
                        <a:t>CNN + </a:t>
                      </a:r>
                      <a:r>
                        <a:rPr sz="1800" b="0" dirty="0" err="1">
                          <a:solidFill>
                            <a:srgbClr val="111111"/>
                          </a:solidFill>
                          <a:latin typeface="Calibri"/>
                          <a:ea typeface="Calibri"/>
                          <a:cs typeface="Calibri"/>
                        </a:rPr>
                        <a:t>ViT</a:t>
                      </a:r>
                      <a:r>
                        <a:rPr sz="1800" b="0" dirty="0">
                          <a:solidFill>
                            <a:srgbClr val="111111"/>
                          </a:solidFill>
                          <a:latin typeface="Calibri"/>
                          <a:ea typeface="Calibri"/>
                          <a:cs typeface="Calibri"/>
                        </a:rPr>
                        <a:t> added first</a:t>
                      </a:r>
                    </a:p>
                  </a:txBody>
                  <a:tcPr marL="114300" marR="95250" marT="66675" marB="47625" anchor="ctr">
                    <a:solidFill>
                      <a:srgbClr val="F3F3F3"/>
                    </a:solidFill>
                  </a:tcPr>
                </a:tc>
                <a:tc>
                  <a:txBody>
                    <a:bodyPr/>
                    <a:lstStyle/>
                    <a:p>
                      <a:r>
                        <a:rPr sz="1800" b="0" dirty="0">
                          <a:solidFill>
                            <a:srgbClr val="111111"/>
                          </a:solidFill>
                          <a:latin typeface="Calibri"/>
                          <a:ea typeface="Calibri"/>
                          <a:cs typeface="Calibri"/>
                        </a:rPr>
                        <a:t>CNN, </a:t>
                      </a:r>
                      <a:r>
                        <a:rPr sz="1800" b="0" dirty="0" err="1">
                          <a:solidFill>
                            <a:srgbClr val="111111"/>
                          </a:solidFill>
                          <a:latin typeface="Calibri"/>
                          <a:ea typeface="Calibri"/>
                          <a:cs typeface="Calibri"/>
                        </a:rPr>
                        <a:t>ViT</a:t>
                      </a:r>
                      <a:r>
                        <a:rPr sz="1800" b="0" dirty="0">
                          <a:solidFill>
                            <a:srgbClr val="111111"/>
                          </a:solidFill>
                          <a:latin typeface="Calibri"/>
                          <a:ea typeface="Calibri"/>
                          <a:cs typeface="Calibri"/>
                        </a:rPr>
                        <a:t>, decoder and text kept separate</a:t>
                      </a:r>
                    </a:p>
                  </a:txBody>
                  <a:tcPr marL="114300" marR="95250" marT="66675" marB="47625" anchor="ctr">
                    <a:solidFill>
                      <a:srgbClr val="F3F3F3"/>
                    </a:solidFill>
                  </a:tcPr>
                </a:tc>
                <a:extLst>
                  <a:ext uri="{0D108BD9-81ED-4DB2-BD59-A6C34878D82A}">
                    <a16:rowId xmlns:a16="http://schemas.microsoft.com/office/drawing/2014/main" val="10002"/>
                  </a:ext>
                </a:extLst>
              </a:tr>
              <a:tr h="733425">
                <a:tc>
                  <a:txBody>
                    <a:bodyPr/>
                    <a:lstStyle/>
                    <a:p>
                      <a:r>
                        <a:rPr sz="1800" b="0">
                          <a:solidFill>
                            <a:srgbClr val="111111"/>
                          </a:solidFill>
                          <a:latin typeface="Calibri"/>
                          <a:ea typeface="Calibri"/>
                          <a:cs typeface="Calibri"/>
                        </a:rPr>
                        <a:t>Skip operation</a:t>
                      </a:r>
                    </a:p>
                  </a:txBody>
                  <a:tcPr marL="114300" marR="95250" marT="66675" marB="47625" anchor="ctr">
                    <a:solidFill>
                      <a:srgbClr val="FFFFFF"/>
                    </a:solidFill>
                  </a:tcPr>
                </a:tc>
                <a:tc>
                  <a:txBody>
                    <a:bodyPr/>
                    <a:lstStyle/>
                    <a:p>
                      <a:r>
                        <a:rPr sz="1800" b="0">
                          <a:solidFill>
                            <a:srgbClr val="111111"/>
                          </a:solidFill>
                          <a:latin typeface="Calibri"/>
                          <a:ea typeface="Calibri"/>
                          <a:cs typeface="Calibri"/>
                        </a:rPr>
                        <a:t>Pixel-wise scalar weighting</a:t>
                      </a:r>
                    </a:p>
                  </a:txBody>
                  <a:tcPr marL="114300" marR="95250" marT="66675" marB="47625" anchor="ctr">
                    <a:solidFill>
                      <a:srgbClr val="FFFFFF"/>
                    </a:solidFill>
                  </a:tcPr>
                </a:tc>
                <a:tc>
                  <a:txBody>
                    <a:bodyPr/>
                    <a:lstStyle/>
                    <a:p>
                      <a:r>
                        <a:rPr sz="1800" b="0" dirty="0">
                          <a:solidFill>
                            <a:srgbClr val="111111"/>
                          </a:solidFill>
                          <a:latin typeface="Calibri"/>
                          <a:ea typeface="Calibri"/>
                          <a:cs typeface="Calibri"/>
                        </a:rPr>
                        <a:t>Semantic and detail residual refinement</a:t>
                      </a:r>
                    </a:p>
                  </a:txBody>
                  <a:tcPr marL="114300" marR="95250" marT="66675" marB="47625" anchor="ctr">
                    <a:solidFill>
                      <a:srgbClr val="FFFFFF"/>
                    </a:solidFill>
                  </a:tcPr>
                </a:tc>
                <a:extLst>
                  <a:ext uri="{0D108BD9-81ED-4DB2-BD59-A6C34878D82A}">
                    <a16:rowId xmlns:a16="http://schemas.microsoft.com/office/drawing/2014/main" val="10003"/>
                  </a:ext>
                </a:extLst>
              </a:tr>
              <a:tr h="733425">
                <a:tc>
                  <a:txBody>
                    <a:bodyPr/>
                    <a:lstStyle/>
                    <a:p>
                      <a:r>
                        <a:rPr sz="1800" b="0">
                          <a:solidFill>
                            <a:srgbClr val="111111"/>
                          </a:solidFill>
                          <a:latin typeface="Calibri"/>
                          <a:ea typeface="Calibri"/>
                          <a:cs typeface="Calibri"/>
                        </a:rPr>
                        <a:t>Decoder role</a:t>
                      </a:r>
                    </a:p>
                  </a:txBody>
                  <a:tcPr marL="114300" marR="95250" marT="66675" marB="47625" anchor="ctr">
                    <a:solidFill>
                      <a:srgbClr val="F3F3F3"/>
                    </a:solidFill>
                  </a:tcPr>
                </a:tc>
                <a:tc>
                  <a:txBody>
                    <a:bodyPr/>
                    <a:lstStyle/>
                    <a:p>
                      <a:r>
                        <a:rPr sz="1800" b="0" dirty="0">
                          <a:solidFill>
                            <a:srgbClr val="111111"/>
                          </a:solidFill>
                          <a:latin typeface="Calibri"/>
                          <a:ea typeface="Calibri"/>
                          <a:cs typeface="Calibri"/>
                        </a:rPr>
                        <a:t>Concatenated after PLAM</a:t>
                      </a:r>
                    </a:p>
                  </a:txBody>
                  <a:tcPr marL="114300" marR="95250" marT="66675" marB="47625" anchor="ctr">
                    <a:solidFill>
                      <a:srgbClr val="F3F3F3"/>
                    </a:solidFill>
                  </a:tcPr>
                </a:tc>
                <a:tc>
                  <a:txBody>
                    <a:bodyPr/>
                    <a:lstStyle/>
                    <a:p>
                      <a:r>
                        <a:rPr sz="1800" b="0" dirty="0">
                          <a:solidFill>
                            <a:srgbClr val="111111"/>
                          </a:solidFill>
                          <a:latin typeface="Calibri"/>
                          <a:ea typeface="Calibri"/>
                          <a:cs typeface="Calibri"/>
                        </a:rPr>
                        <a:t>Guides refinement; adapted at coarse stages</a:t>
                      </a:r>
                    </a:p>
                  </a:txBody>
                  <a:tcPr marL="114300" marR="95250" marT="66675" marB="47625" anchor="ctr">
                    <a:solidFill>
                      <a:srgbClr val="F3F3F3"/>
                    </a:solidFill>
                  </a:tcPr>
                </a:tc>
                <a:extLst>
                  <a:ext uri="{0D108BD9-81ED-4DB2-BD59-A6C34878D82A}">
                    <a16:rowId xmlns:a16="http://schemas.microsoft.com/office/drawing/2014/main" val="10004"/>
                  </a:ext>
                </a:extLst>
              </a:tr>
            </a:tbl>
          </a:graphicData>
        </a:graphic>
      </p:graphicFrame>
      <p:sp>
        <p:nvSpPr>
          <p:cNvPr id="8" name="Performance controls use the project’s CXR-BERT implementati">
            <a:extLst>
              <a:ext uri="{FF2B5EF4-FFF2-40B4-BE49-F238E27FC236}">
                <a16:creationId xmlns:a16="http://schemas.microsoft.com/office/drawing/2014/main" id="{E80793D0-A496-4748-B26A-321753BA96C3}"/>
              </a:ext>
            </a:extLst>
          </p:cNvPr>
          <p:cNvSpPr>
            <a:spLocks noGrp="1"/>
          </p:cNvSpPr>
          <p:nvPr/>
        </p:nvSpPr>
        <p:spPr>
          <a:xfrm>
            <a:off x="638175" y="5619750"/>
            <a:ext cx="10915650" cy="638175"/>
          </a:xfrm>
          <a:prstGeom prst="rect">
            <a:avLst/>
          </a:prstGeom>
          <a:noFill/>
          <a:ln w="0">
            <a:noFill/>
          </a:ln>
        </p:spPr>
        <p:txBody>
          <a:bodyPr wrap="square" lIns="0" tIns="0" rIns="0" bIns="0" anchor="t">
            <a:noAutofit/>
          </a:bodyPr>
          <a:lstStyle/>
          <a:p>
            <a:pPr algn="l">
              <a:buNone/>
              <a:defRPr sz="1800" b="0">
                <a:solidFill>
                  <a:srgbClr val="606060"/>
                </a:solidFill>
                <a:latin typeface="Calibri"/>
                <a:ea typeface="Calibri"/>
                <a:cs typeface="Calibri"/>
              </a:defRPr>
            </a:pPr>
            <a:r>
              <a:rPr sz="1800" b="0">
                <a:solidFill>
                  <a:srgbClr val="606060"/>
                </a:solidFill>
                <a:latin typeface="Calibri"/>
                <a:ea typeface="Calibri"/>
                <a:cs typeface="Calibri"/>
              </a:rPr>
              <a:t>Performance controls use the project’s CXR-BERT implementation.</a:t>
            </a:r>
          </a:p>
          <a:p>
            <a:pPr algn="l">
              <a:buNone/>
              <a:defRPr sz="1800" b="0">
                <a:solidFill>
                  <a:srgbClr val="606060"/>
                </a:solidFill>
                <a:latin typeface="Calibri"/>
                <a:ea typeface="Calibri"/>
                <a:cs typeface="Calibri"/>
              </a:defRPr>
            </a:pPr>
            <a:r>
              <a:rPr sz="1800" b="0">
                <a:solidFill>
                  <a:srgbClr val="606060"/>
                </a:solidFill>
                <a:latin typeface="Calibri"/>
                <a:ea typeface="Calibri"/>
                <a:cs typeface="Calibri"/>
              </a:rPr>
              <a:t>They measure the fusion change within this setup, not published LViT scores.</a:t>
            </a:r>
          </a:p>
        </p:txBody>
      </p:sp>
      <p:sp>
        <p:nvSpPr>
          <p:cNvPr id="10" name="Original LViT comparison">
            <a:extLst>
              <a:ext uri="{FF2B5EF4-FFF2-40B4-BE49-F238E27FC236}">
                <a16:creationId xmlns:a16="http://schemas.microsoft.com/office/drawing/2014/main" id="{EAEE32F8-5863-4001-8059-FA7410823B74}"/>
              </a:ext>
            </a:extLst>
          </p:cNvPr>
          <p:cNvSpPr>
            <a:spLocks noGrp="1"/>
          </p:cNvSpPr>
          <p:nvPr/>
        </p:nvSpPr>
        <p:spPr>
          <a:xfrm>
            <a:off x="638175" y="6467475"/>
            <a:ext cx="9906000" cy="190500"/>
          </a:xfrm>
          <a:prstGeom prst="rect">
            <a:avLst/>
          </a:prstGeom>
          <a:noFill/>
          <a:ln w="0">
            <a:noFill/>
          </a:ln>
        </p:spPr>
        <p:txBody>
          <a:bodyPr wrap="square" lIns="0" tIns="0" rIns="0" bIns="0" anchor="t">
            <a:noAutofit/>
          </a:bodyPr>
          <a:lstStyle/>
          <a:p>
            <a:pPr algn="l">
              <a:buNone/>
              <a:defRPr sz="900" b="0">
                <a:solidFill>
                  <a:srgbClr val="999999"/>
                </a:solidFill>
                <a:latin typeface="Calibri"/>
                <a:ea typeface="Calibri"/>
                <a:cs typeface="Calibri"/>
              </a:defRPr>
            </a:pPr>
            <a:r>
              <a:rPr sz="900" b="0">
                <a:solidFill>
                  <a:srgbClr val="999999"/>
                </a:solidFill>
                <a:latin typeface="Calibri"/>
                <a:ea typeface="Calibri"/>
                <a:cs typeface="Calibri"/>
              </a:rPr>
              <a:t>Original LViT comparison</a:t>
            </a:r>
          </a:p>
        </p:txBody>
      </p:sp>
      <p:sp>
        <p:nvSpPr>
          <p:cNvPr id="11" name="4">
            <a:extLst>
              <a:ext uri="{FF2B5EF4-FFF2-40B4-BE49-F238E27FC236}">
                <a16:creationId xmlns:a16="http://schemas.microsoft.com/office/drawing/2014/main" id="{B21C6825-D8E8-49E1-ADFE-70DA27F50989}"/>
              </a:ext>
            </a:extLst>
          </p:cNvPr>
          <p:cNvSpPr>
            <a:spLocks noGrp="1"/>
          </p:cNvSpPr>
          <p:nvPr/>
        </p:nvSpPr>
        <p:spPr>
          <a:xfrm>
            <a:off x="11144250" y="6467475"/>
            <a:ext cx="409575" cy="190500"/>
          </a:xfrm>
          <a:prstGeom prst="rect">
            <a:avLst/>
          </a:prstGeom>
          <a:noFill/>
          <a:ln w="0">
            <a:noFill/>
          </a:ln>
        </p:spPr>
        <p:txBody>
          <a:bodyPr wrap="square" lIns="0" tIns="0" rIns="0" bIns="0" anchor="t">
            <a:noAutofit/>
          </a:bodyPr>
          <a:lstStyle/>
          <a:p>
            <a:pPr algn="r">
              <a:buNone/>
              <a:defRPr sz="900" b="0">
                <a:solidFill>
                  <a:srgbClr val="999999"/>
                </a:solidFill>
                <a:latin typeface="Calibri"/>
                <a:ea typeface="Calibri"/>
                <a:cs typeface="Calibri"/>
              </a:defRPr>
            </a:pPr>
            <a:r>
              <a:rPr sz="900" b="0">
                <a:solidFill>
                  <a:srgbClr val="999999"/>
                </a:solidFill>
                <a:latin typeface="Calibri"/>
                <a:ea typeface="Calibri"/>
                <a:cs typeface="Calibri"/>
              </a:rPr>
              <a:t>4</a:t>
            </a:r>
          </a:p>
        </p:txBody>
      </p:sp>
    </p:spTree>
    <p:extLst>
      <p:ext uri="{BB962C8B-B14F-4D97-AF65-F5344CB8AC3E}">
        <p14:creationId xmlns:p14="http://schemas.microsoft.com/office/powerpoint/2010/main" val="19328638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35" name="矩形 34">
            <a:extLst>
              <a:ext uri="{FF2B5EF4-FFF2-40B4-BE49-F238E27FC236}">
                <a16:creationId xmlns:a16="http://schemas.microsoft.com/office/drawing/2014/main" id="{F4DE54C0-4E21-427A-B882-A8B58408F4A3}"/>
              </a:ext>
            </a:extLst>
          </p:cNvPr>
          <p:cNvSpPr>
            <a:spLocks noGrp="1"/>
          </p:cNvSpPr>
          <p:nvPr/>
        </p:nvSpPr>
        <p:spPr>
          <a:xfrm>
            <a:off x="638175" y="381000"/>
            <a:ext cx="10915650" cy="809625"/>
          </a:xfrm>
          <a:prstGeom prst="rect">
            <a:avLst/>
          </a:prstGeom>
          <a:noFill/>
          <a:ln w="0">
            <a:noFill/>
          </a:ln>
        </p:spPr>
        <p:txBody>
          <a:bodyPr wrap="square" lIns="0" tIns="0" rIns="0" bIns="0" anchor="ctr">
            <a:noAutofit/>
          </a:bodyPr>
          <a:lstStyle/>
          <a:p>
            <a:pPr algn="l">
              <a:defRPr sz="2925" b="1">
                <a:solidFill>
                  <a:srgbClr val="F4F4F4"/>
                </a:solidFill>
                <a:latin typeface="Cambria"/>
                <a:ea typeface="Cambria"/>
                <a:cs typeface="Cambria"/>
              </a:defRPr>
            </a:pPr>
            <a:r>
              <a:rPr sz="2925" b="1" dirty="0">
                <a:solidFill>
                  <a:srgbClr val="F4F4F4"/>
                </a:solidFill>
                <a:latin typeface="Cambria"/>
                <a:ea typeface="Cambria"/>
                <a:cs typeface="Cambria"/>
              </a:rPr>
              <a:t>Decoder fusion after FSDR</a:t>
            </a:r>
          </a:p>
        </p:txBody>
      </p:sp>
      <p:sp>
        <p:nvSpPr>
          <p:cNvPr id="2" name="矩形 1">
            <a:extLst>
              <a:ext uri="{FF2B5EF4-FFF2-40B4-BE49-F238E27FC236}">
                <a16:creationId xmlns:a16="http://schemas.microsoft.com/office/drawing/2014/main" id="{E8C924B4-7F6B-425F-8710-FCDD40B07F4D}"/>
              </a:ext>
            </a:extLst>
          </p:cNvPr>
          <p:cNvSpPr>
            <a:spLocks noGrp="1"/>
          </p:cNvSpPr>
          <p:nvPr/>
        </p:nvSpPr>
        <p:spPr>
          <a:xfrm>
            <a:off x="638175" y="6467475"/>
            <a:ext cx="10382250" cy="190500"/>
          </a:xfrm>
          <a:prstGeom prst="rect">
            <a:avLst/>
          </a:prstGeom>
          <a:noFill/>
          <a:ln w="0">
            <a:noFill/>
          </a:ln>
        </p:spPr>
        <p:txBody>
          <a:bodyPr wrap="square" lIns="0" tIns="0" rIns="0" bIns="0" anchor="ctr">
            <a:noAutofit/>
          </a:bodyPr>
          <a:lstStyle/>
          <a:p>
            <a:pPr algn="l">
              <a:defRPr sz="900" b="0">
                <a:solidFill>
                  <a:srgbClr val="999999"/>
                </a:solidFill>
                <a:latin typeface="Calibri"/>
                <a:ea typeface="Calibri"/>
                <a:cs typeface="Calibri"/>
              </a:defRPr>
            </a:pPr>
            <a:r>
              <a:rPr sz="900" b="0">
                <a:solidFill>
                  <a:srgbClr val="999999"/>
                </a:solidFill>
                <a:latin typeface="Calibri"/>
                <a:ea typeface="Calibri"/>
                <a:cs typeface="Calibri"/>
              </a:rPr>
              <a:t>One decoder stage shown. The same interface repeats at up4, up3, up2 and up1.</a:t>
            </a:r>
          </a:p>
        </p:txBody>
      </p:sp>
      <p:sp>
        <p:nvSpPr>
          <p:cNvPr id="3" name="矩形 2">
            <a:extLst>
              <a:ext uri="{FF2B5EF4-FFF2-40B4-BE49-F238E27FC236}">
                <a16:creationId xmlns:a16="http://schemas.microsoft.com/office/drawing/2014/main" id="{AD9A07E2-6B7D-4539-B9A3-46DB05AE2FC0}"/>
              </a:ext>
            </a:extLst>
          </p:cNvPr>
          <p:cNvSpPr>
            <a:spLocks noGrp="1"/>
          </p:cNvSpPr>
          <p:nvPr/>
        </p:nvSpPr>
        <p:spPr>
          <a:xfrm>
            <a:off x="11144250" y="6467475"/>
            <a:ext cx="409575" cy="190500"/>
          </a:xfrm>
          <a:prstGeom prst="rect">
            <a:avLst/>
          </a:prstGeom>
          <a:noFill/>
          <a:ln w="0">
            <a:noFill/>
          </a:ln>
        </p:spPr>
        <p:txBody>
          <a:bodyPr wrap="square" lIns="0" tIns="0" rIns="0" bIns="0" anchor="ctr">
            <a:noAutofit/>
          </a:bodyPr>
          <a:lstStyle/>
          <a:p>
            <a:pPr algn="r">
              <a:defRPr sz="900" b="0">
                <a:solidFill>
                  <a:srgbClr val="999999"/>
                </a:solidFill>
                <a:latin typeface="Calibri"/>
                <a:ea typeface="Calibri"/>
                <a:cs typeface="Calibri"/>
              </a:defRPr>
            </a:pPr>
            <a:r>
              <a:rPr sz="900" b="0">
                <a:solidFill>
                  <a:srgbClr val="999999"/>
                </a:solidFill>
                <a:latin typeface="Calibri"/>
                <a:ea typeface="Calibri"/>
                <a:cs typeface="Calibri"/>
              </a:rPr>
              <a:t>5</a:t>
            </a:r>
          </a:p>
        </p:txBody>
      </p:sp>
      <p:pic>
        <p:nvPicPr>
          <p:cNvPr id="13" name="图片 12">
            <a:extLst>
              <a:ext uri="{FF2B5EF4-FFF2-40B4-BE49-F238E27FC236}">
                <a16:creationId xmlns:a16="http://schemas.microsoft.com/office/drawing/2014/main" id="{6B7A7B64-47D3-3DBA-0AA9-B99D57043D53}"/>
              </a:ext>
            </a:extLst>
          </p:cNvPr>
          <p:cNvPicPr>
            <a:picLocks noChangeAspect="1"/>
          </p:cNvPicPr>
          <p:nvPr/>
        </p:nvPicPr>
        <p:blipFill>
          <a:blip r:embed="rId3"/>
          <a:stretch>
            <a:fillRect/>
          </a:stretch>
        </p:blipFill>
        <p:spPr>
          <a:xfrm>
            <a:off x="2078351" y="1016211"/>
            <a:ext cx="7501898" cy="5841789"/>
          </a:xfrm>
          <a:prstGeom prst="rect">
            <a:avLst/>
          </a:prstGeom>
        </p:spPr>
      </p:pic>
    </p:spTree>
    <p:extLst>
      <p:ext uri="{BB962C8B-B14F-4D97-AF65-F5344CB8AC3E}">
        <p14:creationId xmlns:p14="http://schemas.microsoft.com/office/powerpoint/2010/main" val="4349707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F119B0A0-8CCA-4AFC-B7F2-4775990984CE}"/>
              </a:ext>
            </a:extLst>
          </p:cNvPr>
          <p:cNvSpPr>
            <a:spLocks noGrp="1"/>
          </p:cNvSpPr>
          <p:nvPr/>
        </p:nvSpPr>
        <p:spPr>
          <a:xfrm>
            <a:off x="640080" y="361950"/>
            <a:ext cx="10915650" cy="952500"/>
          </a:xfrm>
          <a:prstGeom prst="rect">
            <a:avLst/>
          </a:prstGeom>
          <a:noFill/>
          <a:ln w="0">
            <a:noFill/>
          </a:ln>
        </p:spPr>
        <p:txBody>
          <a:bodyPr wrap="square" lIns="0" tIns="0" rIns="0" bIns="0" anchor="ctr">
            <a:noAutofit/>
          </a:bodyPr>
          <a:lstStyle/>
          <a:p>
            <a:pPr algn="l">
              <a:defRPr sz="3000" b="1">
                <a:solidFill>
                  <a:srgbClr val="111111"/>
                </a:solidFill>
                <a:latin typeface="Cambria"/>
                <a:ea typeface="Cambria"/>
                <a:cs typeface="Cambria"/>
              </a:defRPr>
            </a:pPr>
            <a:r>
              <a:rPr sz="3000" b="1" dirty="0">
                <a:solidFill>
                  <a:srgbClr val="111111"/>
                </a:solidFill>
                <a:latin typeface="Cambria"/>
                <a:ea typeface="Cambria"/>
                <a:cs typeface="Cambria"/>
              </a:rPr>
              <a:t>Matched experimental design</a:t>
            </a:r>
          </a:p>
        </p:txBody>
      </p:sp>
      <p:sp>
        <p:nvSpPr>
          <p:cNvPr id="2" name="矩形 1">
            <a:extLst>
              <a:ext uri="{FF2B5EF4-FFF2-40B4-BE49-F238E27FC236}">
                <a16:creationId xmlns:a16="http://schemas.microsoft.com/office/drawing/2014/main" id="{F12A0839-CC14-4B03-97BF-5AE42A1D9E02}"/>
              </a:ext>
            </a:extLst>
          </p:cNvPr>
          <p:cNvSpPr>
            <a:spLocks noGrp="1"/>
          </p:cNvSpPr>
          <p:nvPr/>
        </p:nvSpPr>
        <p:spPr>
          <a:xfrm>
            <a:off x="638175" y="6467475"/>
            <a:ext cx="9906000" cy="190500"/>
          </a:xfrm>
          <a:prstGeom prst="rect">
            <a:avLst/>
          </a:prstGeom>
          <a:noFill/>
          <a:ln w="0">
            <a:noFill/>
          </a:ln>
        </p:spPr>
        <p:txBody>
          <a:bodyPr wrap="square" lIns="0" tIns="0" rIns="0" bIns="0" anchor="ctr">
            <a:noAutofit/>
          </a:bodyPr>
          <a:lstStyle/>
          <a:p>
            <a:pPr algn="l">
              <a:defRPr sz="900" b="0">
                <a:solidFill>
                  <a:srgbClr val="999999"/>
                </a:solidFill>
                <a:latin typeface="Calibri"/>
                <a:ea typeface="Calibri"/>
                <a:cs typeface="Calibri"/>
              </a:defRPr>
            </a:pPr>
            <a:r>
              <a:rPr sz="900" b="0">
                <a:solidFill>
                  <a:srgbClr val="999999"/>
                </a:solidFill>
                <a:latin typeface="Calibri"/>
                <a:ea typeface="Calibri"/>
                <a:cs typeface="Calibri"/>
              </a:rPr>
              <a:t>Primary study: four configurations, three seeds</a:t>
            </a:r>
          </a:p>
        </p:txBody>
      </p:sp>
      <p:sp>
        <p:nvSpPr>
          <p:cNvPr id="3" name="矩形 2">
            <a:extLst>
              <a:ext uri="{FF2B5EF4-FFF2-40B4-BE49-F238E27FC236}">
                <a16:creationId xmlns:a16="http://schemas.microsoft.com/office/drawing/2014/main" id="{97D52CF2-D281-4AAB-8F78-97CC79530CD8}"/>
              </a:ext>
            </a:extLst>
          </p:cNvPr>
          <p:cNvSpPr>
            <a:spLocks noGrp="1"/>
          </p:cNvSpPr>
          <p:nvPr/>
        </p:nvSpPr>
        <p:spPr>
          <a:xfrm>
            <a:off x="11144250" y="6467475"/>
            <a:ext cx="409575" cy="190500"/>
          </a:xfrm>
          <a:prstGeom prst="rect">
            <a:avLst/>
          </a:prstGeom>
          <a:noFill/>
          <a:ln w="0">
            <a:noFill/>
          </a:ln>
        </p:spPr>
        <p:txBody>
          <a:bodyPr wrap="square" lIns="0" tIns="0" rIns="0" bIns="0" anchor="ctr">
            <a:noAutofit/>
          </a:bodyPr>
          <a:lstStyle/>
          <a:p>
            <a:pPr algn="r">
              <a:defRPr sz="900" b="0">
                <a:solidFill>
                  <a:srgbClr val="999999"/>
                </a:solidFill>
                <a:latin typeface="Calibri"/>
                <a:ea typeface="Calibri"/>
                <a:cs typeface="Calibri"/>
              </a:defRPr>
            </a:pPr>
            <a:r>
              <a:rPr sz="900" b="0">
                <a:solidFill>
                  <a:srgbClr val="999999"/>
                </a:solidFill>
                <a:latin typeface="Calibri"/>
                <a:ea typeface="Calibri"/>
                <a:cs typeface="Calibri"/>
              </a:rPr>
              <a:t>7</a:t>
            </a:r>
          </a:p>
        </p:txBody>
      </p:sp>
      <p:graphicFrame>
        <p:nvGraphicFramePr>
          <p:cNvPr id="10" name="表格 9"/>
          <p:cNvGraphicFramePr/>
          <p:nvPr>
            <p:extLst>
              <p:ext uri="{D42A27DB-BD31-4B8C-83A1-F6EECF244321}">
                <p14:modId xmlns:p14="http://schemas.microsoft.com/office/powerpoint/2010/main" val="1946680154"/>
              </p:ext>
            </p:extLst>
          </p:nvPr>
        </p:nvGraphicFramePr>
        <p:xfrm>
          <a:off x="638175" y="1657350"/>
          <a:ext cx="10915650" cy="3448050"/>
        </p:xfrm>
        <a:graphic>
          <a:graphicData uri="http://schemas.openxmlformats.org/drawingml/2006/table">
            <a:tbl>
              <a:tblPr/>
              <a:tblGrid>
                <a:gridCol w="3000375">
                  <a:extLst>
                    <a:ext uri="{9D8B030D-6E8A-4147-A177-3AD203B41FA5}">
                      <a16:colId xmlns:a16="http://schemas.microsoft.com/office/drawing/2014/main" val="20000"/>
                    </a:ext>
                  </a:extLst>
                </a:gridCol>
                <a:gridCol w="7915275">
                  <a:extLst>
                    <a:ext uri="{9D8B030D-6E8A-4147-A177-3AD203B41FA5}">
                      <a16:colId xmlns:a16="http://schemas.microsoft.com/office/drawing/2014/main" val="20001"/>
                    </a:ext>
                  </a:extLst>
                </a:gridCol>
              </a:tblGrid>
              <a:tr h="574675">
                <a:tc>
                  <a:txBody>
                    <a:bodyPr/>
                    <a:lstStyle/>
                    <a:p>
                      <a:r>
                        <a:rPr sz="1875" b="1">
                          <a:solidFill>
                            <a:srgbClr val="FFFFFF"/>
                          </a:solidFill>
                          <a:latin typeface="Calibri"/>
                          <a:ea typeface="Calibri"/>
                          <a:cs typeface="Calibri"/>
                        </a:rPr>
                        <a:t>Setting</a:t>
                      </a:r>
                    </a:p>
                  </a:txBody>
                  <a:tcPr marL="114300" marR="95250" marT="47625" marB="47625" anchor="ctr">
                    <a:solidFill>
                      <a:srgbClr val="111111"/>
                    </a:solidFill>
                  </a:tcPr>
                </a:tc>
                <a:tc>
                  <a:txBody>
                    <a:bodyPr/>
                    <a:lstStyle/>
                    <a:p>
                      <a:r>
                        <a:rPr sz="1875" b="1">
                          <a:solidFill>
                            <a:srgbClr val="FFFFFF"/>
                          </a:solidFill>
                          <a:latin typeface="Calibri"/>
                          <a:ea typeface="Calibri"/>
                          <a:cs typeface="Calibri"/>
                        </a:rPr>
                        <a:t>Shared protocol</a:t>
                      </a:r>
                    </a:p>
                  </a:txBody>
                  <a:tcPr marL="114300" marR="95250" marT="47625" marB="47625" anchor="ctr">
                    <a:solidFill>
                      <a:srgbClr val="111111"/>
                    </a:solidFill>
                  </a:tcPr>
                </a:tc>
                <a:extLst>
                  <a:ext uri="{0D108BD9-81ED-4DB2-BD59-A6C34878D82A}">
                    <a16:rowId xmlns:a16="http://schemas.microsoft.com/office/drawing/2014/main" val="10000"/>
                  </a:ext>
                </a:extLst>
              </a:tr>
              <a:tr h="574675">
                <a:tc>
                  <a:txBody>
                    <a:bodyPr/>
                    <a:lstStyle/>
                    <a:p>
                      <a:r>
                        <a:rPr sz="1875" b="0">
                          <a:solidFill>
                            <a:srgbClr val="111111"/>
                          </a:solidFill>
                          <a:latin typeface="Calibri"/>
                          <a:ea typeface="Calibri"/>
                          <a:cs typeface="Calibri"/>
                        </a:rPr>
                        <a:t>Configurations</a:t>
                      </a:r>
                    </a:p>
                  </a:txBody>
                  <a:tcPr marL="114300" marR="95250" marT="47625" marB="47625" anchor="ctr">
                    <a:solidFill>
                      <a:srgbClr val="FFFFFF"/>
                    </a:solidFill>
                  </a:tcPr>
                </a:tc>
                <a:tc>
                  <a:txBody>
                    <a:bodyPr/>
                    <a:lstStyle/>
                    <a:p>
                      <a:r>
                        <a:rPr sz="1875" b="0" dirty="0">
                          <a:solidFill>
                            <a:srgbClr val="111111"/>
                          </a:solidFill>
                          <a:latin typeface="Calibri"/>
                          <a:ea typeface="Calibri"/>
                          <a:cs typeface="Calibri"/>
                        </a:rPr>
                        <a:t>PLAM, FSDR, PLAM + RACE, FSDR + RACE</a:t>
                      </a:r>
                    </a:p>
                  </a:txBody>
                  <a:tcPr marL="114300" marR="95250" marT="47625" marB="47625" anchor="ctr">
                    <a:solidFill>
                      <a:srgbClr val="FFFFFF"/>
                    </a:solidFill>
                  </a:tcPr>
                </a:tc>
                <a:extLst>
                  <a:ext uri="{0D108BD9-81ED-4DB2-BD59-A6C34878D82A}">
                    <a16:rowId xmlns:a16="http://schemas.microsoft.com/office/drawing/2014/main" val="10001"/>
                  </a:ext>
                </a:extLst>
              </a:tr>
              <a:tr h="574675">
                <a:tc>
                  <a:txBody>
                    <a:bodyPr/>
                    <a:lstStyle/>
                    <a:p>
                      <a:r>
                        <a:rPr sz="1875" b="0">
                          <a:solidFill>
                            <a:srgbClr val="111111"/>
                          </a:solidFill>
                          <a:latin typeface="Calibri"/>
                          <a:ea typeface="Calibri"/>
                          <a:cs typeface="Calibri"/>
                        </a:rPr>
                        <a:t>Training</a:t>
                      </a:r>
                    </a:p>
                  </a:txBody>
                  <a:tcPr marL="114300" marR="95250" marT="47625" marB="47625" anchor="ctr">
                    <a:solidFill>
                      <a:srgbClr val="F3F3F3"/>
                    </a:solidFill>
                  </a:tcPr>
                </a:tc>
                <a:tc>
                  <a:txBody>
                    <a:bodyPr/>
                    <a:lstStyle/>
                    <a:p>
                      <a:r>
                        <a:rPr sz="1875" b="0" dirty="0">
                          <a:solidFill>
                            <a:srgbClr val="111111"/>
                          </a:solidFill>
                          <a:latin typeface="Calibri"/>
                          <a:ea typeface="Calibri"/>
                          <a:cs typeface="Calibri"/>
                        </a:rPr>
                        <a:t>80 epochs, batch 16, 224 × 224 images</a:t>
                      </a:r>
                    </a:p>
                  </a:txBody>
                  <a:tcPr marL="114300" marR="95250" marT="47625" marB="47625" anchor="ctr">
                    <a:solidFill>
                      <a:srgbClr val="F3F3F3"/>
                    </a:solidFill>
                  </a:tcPr>
                </a:tc>
                <a:extLst>
                  <a:ext uri="{0D108BD9-81ED-4DB2-BD59-A6C34878D82A}">
                    <a16:rowId xmlns:a16="http://schemas.microsoft.com/office/drawing/2014/main" val="10002"/>
                  </a:ext>
                </a:extLst>
              </a:tr>
              <a:tr h="574675">
                <a:tc>
                  <a:txBody>
                    <a:bodyPr/>
                    <a:lstStyle/>
                    <a:p>
                      <a:r>
                        <a:rPr sz="1875" b="0">
                          <a:solidFill>
                            <a:srgbClr val="111111"/>
                          </a:solidFill>
                          <a:latin typeface="Calibri"/>
                          <a:ea typeface="Calibri"/>
                          <a:cs typeface="Calibri"/>
                        </a:rPr>
                        <a:t>Text encoder</a:t>
                      </a:r>
                    </a:p>
                  </a:txBody>
                  <a:tcPr marL="114300" marR="95250" marT="47625" marB="47625" anchor="ctr">
                    <a:solidFill>
                      <a:srgbClr val="FFFFFF"/>
                    </a:solidFill>
                  </a:tcPr>
                </a:tc>
                <a:tc>
                  <a:txBody>
                    <a:bodyPr/>
                    <a:lstStyle/>
                    <a:p>
                      <a:r>
                        <a:rPr sz="1875" b="0" dirty="0">
                          <a:solidFill>
                            <a:srgbClr val="111111"/>
                          </a:solidFill>
                          <a:latin typeface="Calibri"/>
                          <a:ea typeface="Calibri"/>
                          <a:cs typeface="Calibri"/>
                        </a:rPr>
                        <a:t>Frozen CXR-BERT, 32 tokens</a:t>
                      </a:r>
                    </a:p>
                  </a:txBody>
                  <a:tcPr marL="114300" marR="95250" marT="47625" marB="47625" anchor="ctr">
                    <a:solidFill>
                      <a:srgbClr val="FFFFFF"/>
                    </a:solidFill>
                  </a:tcPr>
                </a:tc>
                <a:extLst>
                  <a:ext uri="{0D108BD9-81ED-4DB2-BD59-A6C34878D82A}">
                    <a16:rowId xmlns:a16="http://schemas.microsoft.com/office/drawing/2014/main" val="10003"/>
                  </a:ext>
                </a:extLst>
              </a:tr>
              <a:tr h="574675">
                <a:tc>
                  <a:txBody>
                    <a:bodyPr/>
                    <a:lstStyle/>
                    <a:p>
                      <a:r>
                        <a:rPr sz="1875" b="0">
                          <a:solidFill>
                            <a:srgbClr val="111111"/>
                          </a:solidFill>
                          <a:latin typeface="Calibri"/>
                          <a:ea typeface="Calibri"/>
                          <a:cs typeface="Calibri"/>
                        </a:rPr>
                        <a:t>Optimisation</a:t>
                      </a:r>
                    </a:p>
                  </a:txBody>
                  <a:tcPr marL="114300" marR="95250" marT="47625" marB="47625" anchor="ctr">
                    <a:solidFill>
                      <a:srgbClr val="F3F3F3"/>
                    </a:solidFill>
                  </a:tcPr>
                </a:tc>
                <a:tc>
                  <a:txBody>
                    <a:bodyPr/>
                    <a:lstStyle/>
                    <a:p>
                      <a:r>
                        <a:rPr sz="1875" b="0" dirty="0">
                          <a:solidFill>
                            <a:srgbClr val="111111"/>
                          </a:solidFill>
                          <a:latin typeface="Calibri"/>
                          <a:ea typeface="Calibri"/>
                          <a:cs typeface="Calibri"/>
                        </a:rPr>
                        <a:t>Adam, Dice/Focal, single-cycle cosine</a:t>
                      </a:r>
                    </a:p>
                  </a:txBody>
                  <a:tcPr marL="114300" marR="95250" marT="47625" marB="47625" anchor="ctr">
                    <a:solidFill>
                      <a:srgbClr val="F3F3F3"/>
                    </a:solidFill>
                  </a:tcPr>
                </a:tc>
                <a:extLst>
                  <a:ext uri="{0D108BD9-81ED-4DB2-BD59-A6C34878D82A}">
                    <a16:rowId xmlns:a16="http://schemas.microsoft.com/office/drawing/2014/main" val="10004"/>
                  </a:ext>
                </a:extLst>
              </a:tr>
              <a:tr h="574675">
                <a:tc>
                  <a:txBody>
                    <a:bodyPr/>
                    <a:lstStyle/>
                    <a:p>
                      <a:r>
                        <a:rPr sz="1875" b="0">
                          <a:solidFill>
                            <a:srgbClr val="111111"/>
                          </a:solidFill>
                          <a:latin typeface="Calibri"/>
                          <a:ea typeface="Calibri"/>
                          <a:cs typeface="Calibri"/>
                        </a:rPr>
                        <a:t>Checkpoint and Test</a:t>
                      </a:r>
                    </a:p>
                  </a:txBody>
                  <a:tcPr marL="114300" marR="95250" marT="47625" marB="47625" anchor="ctr">
                    <a:solidFill>
                      <a:srgbClr val="FFFFFF"/>
                    </a:solidFill>
                  </a:tcPr>
                </a:tc>
                <a:tc>
                  <a:txBody>
                    <a:bodyPr/>
                    <a:lstStyle/>
                    <a:p>
                      <a:r>
                        <a:rPr sz="1875" b="0" dirty="0">
                          <a:solidFill>
                            <a:srgbClr val="111111"/>
                          </a:solidFill>
                          <a:latin typeface="Calibri"/>
                          <a:ea typeface="Calibri"/>
                          <a:cs typeface="Calibri"/>
                        </a:rPr>
                        <a:t>Best Val macro </a:t>
                      </a:r>
                      <a:r>
                        <a:rPr sz="1875" b="0" dirty="0" err="1">
                          <a:solidFill>
                            <a:srgbClr val="111111"/>
                          </a:solidFill>
                          <a:latin typeface="Calibri"/>
                          <a:ea typeface="Calibri"/>
                          <a:cs typeface="Calibri"/>
                        </a:rPr>
                        <a:t>IoU</a:t>
                      </a:r>
                      <a:r>
                        <a:rPr sz="1875" b="0" dirty="0">
                          <a:solidFill>
                            <a:srgbClr val="111111"/>
                          </a:solidFill>
                          <a:latin typeface="Calibri"/>
                          <a:ea typeface="Calibri"/>
                          <a:cs typeface="Calibri"/>
                        </a:rPr>
                        <a:t>, fixed probability &gt; 0.5</a:t>
                      </a:r>
                    </a:p>
                  </a:txBody>
                  <a:tcPr marL="114300" marR="95250" marT="47625" marB="47625" anchor="ctr">
                    <a:solidFill>
                      <a:srgbClr val="FFFFFF"/>
                    </a:solidFill>
                  </a:tcPr>
                </a:tc>
                <a:extLst>
                  <a:ext uri="{0D108BD9-81ED-4DB2-BD59-A6C34878D82A}">
                    <a16:rowId xmlns:a16="http://schemas.microsoft.com/office/drawing/2014/main" val="10005"/>
                  </a:ext>
                </a:extLst>
              </a:tr>
            </a:tbl>
          </a:graphicData>
        </a:graphic>
      </p:graphicFrame>
      <p:sp>
        <p:nvSpPr>
          <p:cNvPr id="5" name="矩形 4">
            <a:extLst>
              <a:ext uri="{FF2B5EF4-FFF2-40B4-BE49-F238E27FC236}">
                <a16:creationId xmlns:a16="http://schemas.microsoft.com/office/drawing/2014/main" id="{991F7D7A-0D53-413F-BE74-1C9FE714F3A4}"/>
              </a:ext>
            </a:extLst>
          </p:cNvPr>
          <p:cNvSpPr>
            <a:spLocks noGrp="1"/>
          </p:cNvSpPr>
          <p:nvPr/>
        </p:nvSpPr>
        <p:spPr>
          <a:xfrm>
            <a:off x="638175" y="5362575"/>
            <a:ext cx="10915650" cy="342900"/>
          </a:xfrm>
          <a:prstGeom prst="rect">
            <a:avLst/>
          </a:prstGeom>
          <a:noFill/>
          <a:ln w="0">
            <a:noFill/>
          </a:ln>
        </p:spPr>
        <p:txBody>
          <a:bodyPr wrap="square" lIns="0" tIns="0" rIns="0" bIns="0" anchor="ctr">
            <a:noAutofit/>
          </a:bodyPr>
          <a:lstStyle/>
          <a:p>
            <a:pPr algn="l">
              <a:defRPr sz="1875" b="1">
                <a:solidFill>
                  <a:srgbClr val="111111"/>
                </a:solidFill>
                <a:latin typeface="Calibri"/>
                <a:ea typeface="Calibri"/>
                <a:cs typeface="Calibri"/>
              </a:defRPr>
            </a:pPr>
            <a:r>
              <a:rPr sz="1875" b="1">
                <a:solidFill>
                  <a:srgbClr val="111111"/>
                </a:solidFill>
                <a:latin typeface="Calibri"/>
                <a:ea typeface="Calibri"/>
                <a:cs typeface="Calibri"/>
              </a:rPr>
              <a:t>Seeds 1219, 2027 and 3407 for every configuration. All 12 models are complete.</a:t>
            </a:r>
          </a:p>
        </p:txBody>
      </p:sp>
      <p:sp>
        <p:nvSpPr>
          <p:cNvPr id="6" name="矩形 5">
            <a:extLst>
              <a:ext uri="{FF2B5EF4-FFF2-40B4-BE49-F238E27FC236}">
                <a16:creationId xmlns:a16="http://schemas.microsoft.com/office/drawing/2014/main" id="{9DAF171C-12A4-42FE-928B-8FA5F8E9C7A4}"/>
              </a:ext>
            </a:extLst>
          </p:cNvPr>
          <p:cNvSpPr>
            <a:spLocks noGrp="1"/>
          </p:cNvSpPr>
          <p:nvPr/>
        </p:nvSpPr>
        <p:spPr>
          <a:xfrm>
            <a:off x="638175" y="5848350"/>
            <a:ext cx="10915650" cy="419100"/>
          </a:xfrm>
          <a:prstGeom prst="rect">
            <a:avLst/>
          </a:prstGeom>
          <a:noFill/>
          <a:ln w="0">
            <a:noFill/>
          </a:ln>
        </p:spPr>
        <p:txBody>
          <a:bodyPr wrap="square" lIns="0" tIns="0" rIns="0" bIns="0" anchor="ctr">
            <a:noAutofit/>
          </a:bodyPr>
          <a:lstStyle/>
          <a:p>
            <a:pPr algn="l">
              <a:defRPr sz="1725" b="0">
                <a:solidFill>
                  <a:srgbClr val="606060"/>
                </a:solidFill>
                <a:latin typeface="Calibri"/>
                <a:ea typeface="Calibri"/>
                <a:cs typeface="Calibri"/>
              </a:defRPr>
            </a:pPr>
            <a:r>
              <a:rPr sz="1725" b="0">
                <a:solidFill>
                  <a:srgbClr val="606060"/>
                </a:solidFill>
                <a:latin typeface="Calibri"/>
                <a:ea typeface="Calibri"/>
                <a:cs typeface="Calibri"/>
              </a:rPr>
              <a:t>Train 5,716 / Val 1,429 / Test 2,113. Complete RACE includes routing and auxiliary training.</a:t>
            </a:r>
          </a:p>
        </p:txBody>
      </p:sp>
    </p:spTree>
    <p:extLst>
      <p:ext uri="{BB962C8B-B14F-4D97-AF65-F5344CB8AC3E}">
        <p14:creationId xmlns:p14="http://schemas.microsoft.com/office/powerpoint/2010/main" val="11128711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31" name="矩形 30">
            <a:extLst>
              <a:ext uri="{FF2B5EF4-FFF2-40B4-BE49-F238E27FC236}">
                <a16:creationId xmlns:a16="http://schemas.microsoft.com/office/drawing/2014/main" id="{7E6DDC49-7959-4C68-B3C4-D360A1485FF3}"/>
              </a:ext>
            </a:extLst>
          </p:cNvPr>
          <p:cNvSpPr>
            <a:spLocks noGrp="1"/>
          </p:cNvSpPr>
          <p:nvPr/>
        </p:nvSpPr>
        <p:spPr>
          <a:xfrm>
            <a:off x="638175" y="381000"/>
            <a:ext cx="10915650" cy="809625"/>
          </a:xfrm>
          <a:prstGeom prst="rect">
            <a:avLst/>
          </a:prstGeom>
          <a:noFill/>
          <a:ln w="0">
            <a:noFill/>
          </a:ln>
        </p:spPr>
        <p:txBody>
          <a:bodyPr wrap="square" lIns="0" tIns="0" rIns="0" bIns="0" anchor="ctr">
            <a:noAutofit/>
          </a:bodyPr>
          <a:lstStyle/>
          <a:p>
            <a:pPr algn="l">
              <a:defRPr sz="2925" b="1">
                <a:solidFill>
                  <a:srgbClr val="F4F4F4"/>
                </a:solidFill>
                <a:latin typeface="Cambria"/>
                <a:ea typeface="Cambria"/>
                <a:cs typeface="Cambria"/>
              </a:defRPr>
            </a:pPr>
            <a:r>
              <a:rPr sz="2925" b="1">
                <a:solidFill>
                  <a:srgbClr val="F4F4F4"/>
                </a:solidFill>
                <a:latin typeface="Cambria"/>
                <a:ea typeface="Cambria"/>
                <a:cs typeface="Cambria"/>
              </a:rPr>
              <a:t>RACE: report and visual evidence control the skip</a:t>
            </a:r>
          </a:p>
        </p:txBody>
      </p:sp>
      <p:sp>
        <p:nvSpPr>
          <p:cNvPr id="2" name="矩形 1">
            <a:extLst>
              <a:ext uri="{FF2B5EF4-FFF2-40B4-BE49-F238E27FC236}">
                <a16:creationId xmlns:a16="http://schemas.microsoft.com/office/drawing/2014/main" id="{44EC3C0D-9433-4F77-A14C-6741797E04D8}"/>
              </a:ext>
            </a:extLst>
          </p:cNvPr>
          <p:cNvSpPr>
            <a:spLocks noGrp="1"/>
          </p:cNvSpPr>
          <p:nvPr/>
        </p:nvSpPr>
        <p:spPr>
          <a:xfrm>
            <a:off x="638175" y="6467475"/>
            <a:ext cx="10382250" cy="190500"/>
          </a:xfrm>
          <a:prstGeom prst="rect">
            <a:avLst/>
          </a:prstGeom>
          <a:noFill/>
          <a:ln w="0">
            <a:noFill/>
          </a:ln>
        </p:spPr>
        <p:txBody>
          <a:bodyPr wrap="square" lIns="0" tIns="0" rIns="0" bIns="0" anchor="ctr">
            <a:noAutofit/>
          </a:bodyPr>
          <a:lstStyle/>
          <a:p>
            <a:pPr algn="l">
              <a:defRPr sz="900" b="0">
                <a:solidFill>
                  <a:srgbClr val="999999"/>
                </a:solidFill>
                <a:latin typeface="Calibri"/>
                <a:ea typeface="Calibri"/>
                <a:cs typeface="Calibri"/>
              </a:defRPr>
            </a:pPr>
            <a:r>
              <a:rPr sz="900" b="0">
                <a:solidFill>
                  <a:srgbClr val="999999"/>
                </a:solidFill>
                <a:latin typeface="Calibri"/>
                <a:ea typeface="Calibri"/>
                <a:cs typeface="Calibri"/>
              </a:rPr>
              <a:t>One RACE route shown. Four routes act on C₁, C₂, C₃ and C₄ before decoder fusion.</a:t>
            </a:r>
          </a:p>
        </p:txBody>
      </p:sp>
      <p:sp>
        <p:nvSpPr>
          <p:cNvPr id="3" name="矩形 2">
            <a:extLst>
              <a:ext uri="{FF2B5EF4-FFF2-40B4-BE49-F238E27FC236}">
                <a16:creationId xmlns:a16="http://schemas.microsoft.com/office/drawing/2014/main" id="{10D1E562-E642-46B2-923B-FE22A663ECBC}"/>
              </a:ext>
            </a:extLst>
          </p:cNvPr>
          <p:cNvSpPr>
            <a:spLocks noGrp="1"/>
          </p:cNvSpPr>
          <p:nvPr/>
        </p:nvSpPr>
        <p:spPr>
          <a:xfrm>
            <a:off x="11144250" y="6467475"/>
            <a:ext cx="409575" cy="190500"/>
          </a:xfrm>
          <a:prstGeom prst="rect">
            <a:avLst/>
          </a:prstGeom>
          <a:noFill/>
          <a:ln w="0">
            <a:noFill/>
          </a:ln>
        </p:spPr>
        <p:txBody>
          <a:bodyPr wrap="square" lIns="0" tIns="0" rIns="0" bIns="0" anchor="ctr">
            <a:noAutofit/>
          </a:bodyPr>
          <a:lstStyle/>
          <a:p>
            <a:pPr algn="r">
              <a:defRPr sz="900" b="0">
                <a:solidFill>
                  <a:srgbClr val="999999"/>
                </a:solidFill>
                <a:latin typeface="Calibri"/>
                <a:ea typeface="Calibri"/>
                <a:cs typeface="Calibri"/>
              </a:defRPr>
            </a:pPr>
            <a:r>
              <a:rPr sz="900" b="0">
                <a:solidFill>
                  <a:srgbClr val="999999"/>
                </a:solidFill>
                <a:latin typeface="Calibri"/>
                <a:ea typeface="Calibri"/>
                <a:cs typeface="Calibri"/>
              </a:rPr>
              <a:t>8</a:t>
            </a:r>
          </a:p>
        </p:txBody>
      </p:sp>
      <p:pic>
        <p:nvPicPr>
          <p:cNvPr id="16" name="图片 15">
            <a:extLst>
              <a:ext uri="{FF2B5EF4-FFF2-40B4-BE49-F238E27FC236}">
                <a16:creationId xmlns:a16="http://schemas.microsoft.com/office/drawing/2014/main" id="{FC782340-8AAA-530B-63C2-1E1DADBF4AC2}"/>
              </a:ext>
            </a:extLst>
          </p:cNvPr>
          <p:cNvPicPr>
            <a:picLocks noChangeAspect="1"/>
          </p:cNvPicPr>
          <p:nvPr/>
        </p:nvPicPr>
        <p:blipFill>
          <a:blip r:embed="rId3"/>
          <a:stretch>
            <a:fillRect/>
          </a:stretch>
        </p:blipFill>
        <p:spPr>
          <a:xfrm>
            <a:off x="1171575" y="971468"/>
            <a:ext cx="9429881" cy="5886532"/>
          </a:xfrm>
          <a:prstGeom prst="rect">
            <a:avLst/>
          </a:prstGeom>
        </p:spPr>
      </p:pic>
    </p:spTree>
    <p:extLst>
      <p:ext uri="{BB962C8B-B14F-4D97-AF65-F5344CB8AC3E}">
        <p14:creationId xmlns:p14="http://schemas.microsoft.com/office/powerpoint/2010/main" val="19664393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D2B6BBED-5F87-4BF4-BBD1-7106083AAF09}"/>
              </a:ext>
            </a:extLst>
          </p:cNvPr>
          <p:cNvSpPr>
            <a:spLocks noGrp="1"/>
          </p:cNvSpPr>
          <p:nvPr/>
        </p:nvSpPr>
        <p:spPr>
          <a:xfrm>
            <a:off x="640080" y="361950"/>
            <a:ext cx="10915650" cy="952500"/>
          </a:xfrm>
          <a:prstGeom prst="rect">
            <a:avLst/>
          </a:prstGeom>
          <a:noFill/>
          <a:ln w="0">
            <a:noFill/>
          </a:ln>
        </p:spPr>
        <p:txBody>
          <a:bodyPr wrap="square" lIns="0" tIns="0" rIns="0" bIns="0" anchor="ctr">
            <a:noAutofit/>
          </a:bodyPr>
          <a:lstStyle/>
          <a:p>
            <a:pPr algn="l">
              <a:defRPr sz="3000" b="1">
                <a:solidFill>
                  <a:srgbClr val="111111"/>
                </a:solidFill>
                <a:latin typeface="Cambria"/>
                <a:ea typeface="Cambria"/>
                <a:cs typeface="Cambria"/>
              </a:defRPr>
            </a:pPr>
            <a:r>
              <a:rPr sz="3000" b="1">
                <a:solidFill>
                  <a:srgbClr val="111111"/>
                </a:solidFill>
                <a:latin typeface="Cambria"/>
                <a:ea typeface="Cambria"/>
                <a:cs typeface="Cambria"/>
              </a:rPr>
              <a:t>Test results: complete three-seed ablation</a:t>
            </a:r>
          </a:p>
        </p:txBody>
      </p:sp>
      <p:sp>
        <p:nvSpPr>
          <p:cNvPr id="2" name="矩形 1">
            <a:extLst>
              <a:ext uri="{FF2B5EF4-FFF2-40B4-BE49-F238E27FC236}">
                <a16:creationId xmlns:a16="http://schemas.microsoft.com/office/drawing/2014/main" id="{D4BD1DC0-7BAD-4DC4-B94C-E469519FCC3C}"/>
              </a:ext>
            </a:extLst>
          </p:cNvPr>
          <p:cNvSpPr>
            <a:spLocks noGrp="1"/>
          </p:cNvSpPr>
          <p:nvPr/>
        </p:nvSpPr>
        <p:spPr>
          <a:xfrm>
            <a:off x="638175" y="6467475"/>
            <a:ext cx="9906000" cy="190500"/>
          </a:xfrm>
          <a:prstGeom prst="rect">
            <a:avLst/>
          </a:prstGeom>
          <a:noFill/>
          <a:ln w="0">
            <a:noFill/>
          </a:ln>
        </p:spPr>
        <p:txBody>
          <a:bodyPr wrap="square" lIns="0" tIns="0" rIns="0" bIns="0" anchor="ctr">
            <a:noAutofit/>
          </a:bodyPr>
          <a:lstStyle/>
          <a:p>
            <a:pPr algn="l">
              <a:defRPr sz="900" b="0">
                <a:solidFill>
                  <a:srgbClr val="999999"/>
                </a:solidFill>
                <a:latin typeface="Calibri"/>
                <a:ea typeface="Calibri"/>
                <a:cs typeface="Calibri"/>
              </a:defRPr>
            </a:pPr>
            <a:r>
              <a:rPr sz="900" b="0">
                <a:solidFill>
                  <a:srgbClr val="999999"/>
                </a:solidFill>
                <a:latin typeface="Calibri"/>
                <a:ea typeface="Calibri"/>
                <a:cs typeface="Calibri"/>
              </a:rPr>
              <a:t>Primary results: per-image macro metrics</a:t>
            </a:r>
          </a:p>
        </p:txBody>
      </p:sp>
      <p:sp>
        <p:nvSpPr>
          <p:cNvPr id="3" name="矩形 2">
            <a:extLst>
              <a:ext uri="{FF2B5EF4-FFF2-40B4-BE49-F238E27FC236}">
                <a16:creationId xmlns:a16="http://schemas.microsoft.com/office/drawing/2014/main" id="{4B9F2265-DEBE-4C9E-9A98-5C10432A8FB2}"/>
              </a:ext>
            </a:extLst>
          </p:cNvPr>
          <p:cNvSpPr>
            <a:spLocks noGrp="1"/>
          </p:cNvSpPr>
          <p:nvPr/>
        </p:nvSpPr>
        <p:spPr>
          <a:xfrm>
            <a:off x="11144250" y="6467475"/>
            <a:ext cx="409575" cy="190500"/>
          </a:xfrm>
          <a:prstGeom prst="rect">
            <a:avLst/>
          </a:prstGeom>
          <a:noFill/>
          <a:ln w="0">
            <a:noFill/>
          </a:ln>
        </p:spPr>
        <p:txBody>
          <a:bodyPr wrap="square" lIns="0" tIns="0" rIns="0" bIns="0" anchor="ctr">
            <a:noAutofit/>
          </a:bodyPr>
          <a:lstStyle/>
          <a:p>
            <a:pPr algn="r">
              <a:defRPr sz="900" b="0">
                <a:solidFill>
                  <a:srgbClr val="999999"/>
                </a:solidFill>
                <a:latin typeface="Calibri"/>
                <a:ea typeface="Calibri"/>
                <a:cs typeface="Calibri"/>
              </a:defRPr>
            </a:pPr>
            <a:r>
              <a:rPr sz="900" b="0">
                <a:solidFill>
                  <a:srgbClr val="999999"/>
                </a:solidFill>
                <a:latin typeface="Calibri"/>
                <a:ea typeface="Calibri"/>
                <a:cs typeface="Calibri"/>
              </a:rPr>
              <a:t>9</a:t>
            </a:r>
          </a:p>
        </p:txBody>
      </p:sp>
      <p:sp>
        <p:nvSpPr>
          <p:cNvPr id="4" name="矩形 3">
            <a:extLst>
              <a:ext uri="{FF2B5EF4-FFF2-40B4-BE49-F238E27FC236}">
                <a16:creationId xmlns:a16="http://schemas.microsoft.com/office/drawing/2014/main" id="{85A04BED-7B78-4080-81D1-6236D0EACFF5}"/>
              </a:ext>
            </a:extLst>
          </p:cNvPr>
          <p:cNvSpPr>
            <a:spLocks noGrp="1"/>
          </p:cNvSpPr>
          <p:nvPr/>
        </p:nvSpPr>
        <p:spPr>
          <a:xfrm>
            <a:off x="638175" y="1390650"/>
            <a:ext cx="10915650" cy="323850"/>
          </a:xfrm>
          <a:prstGeom prst="rect">
            <a:avLst/>
          </a:prstGeom>
          <a:noFill/>
          <a:ln w="0">
            <a:noFill/>
          </a:ln>
        </p:spPr>
        <p:txBody>
          <a:bodyPr wrap="square" lIns="0" tIns="0" rIns="0" bIns="0" anchor="ctr">
            <a:noAutofit/>
          </a:bodyPr>
          <a:lstStyle/>
          <a:p>
            <a:pPr algn="l">
              <a:defRPr sz="1875" b="0">
                <a:solidFill>
                  <a:srgbClr val="606060"/>
                </a:solidFill>
                <a:latin typeface="Calibri"/>
                <a:ea typeface="Calibri"/>
                <a:cs typeface="Calibri"/>
              </a:defRPr>
            </a:pPr>
            <a:r>
              <a:rPr sz="1875" b="0">
                <a:solidFill>
                  <a:srgbClr val="606060"/>
                </a:solidFill>
                <a:latin typeface="Calibri"/>
                <a:ea typeface="Calibri"/>
                <a:cs typeface="Calibri"/>
              </a:rPr>
              <a:t>Mean ± sample SD across seeds 1219, 2027 and 3407</a:t>
            </a:r>
          </a:p>
        </p:txBody>
      </p:sp>
      <p:graphicFrame>
        <p:nvGraphicFramePr>
          <p:cNvPr id="12" name="表格 11"/>
          <p:cNvGraphicFramePr/>
          <p:nvPr>
            <p:extLst>
              <p:ext uri="{D42A27DB-BD31-4B8C-83A1-F6EECF244321}">
                <p14:modId xmlns:p14="http://schemas.microsoft.com/office/powerpoint/2010/main" val="391097217"/>
              </p:ext>
            </p:extLst>
          </p:nvPr>
        </p:nvGraphicFramePr>
        <p:xfrm>
          <a:off x="638175" y="1885950"/>
          <a:ext cx="10915650" cy="3114675"/>
        </p:xfrm>
        <a:graphic>
          <a:graphicData uri="http://schemas.openxmlformats.org/drawingml/2006/table">
            <a:tbl>
              <a:tblPr/>
              <a:tblGrid>
                <a:gridCol w="5067300">
                  <a:extLst>
                    <a:ext uri="{9D8B030D-6E8A-4147-A177-3AD203B41FA5}">
                      <a16:colId xmlns:a16="http://schemas.microsoft.com/office/drawing/2014/main" val="20000"/>
                    </a:ext>
                  </a:extLst>
                </a:gridCol>
                <a:gridCol w="2924175">
                  <a:extLst>
                    <a:ext uri="{9D8B030D-6E8A-4147-A177-3AD203B41FA5}">
                      <a16:colId xmlns:a16="http://schemas.microsoft.com/office/drawing/2014/main" val="20001"/>
                    </a:ext>
                  </a:extLst>
                </a:gridCol>
                <a:gridCol w="2924175">
                  <a:extLst>
                    <a:ext uri="{9D8B030D-6E8A-4147-A177-3AD203B41FA5}">
                      <a16:colId xmlns:a16="http://schemas.microsoft.com/office/drawing/2014/main" val="20002"/>
                    </a:ext>
                  </a:extLst>
                </a:gridCol>
              </a:tblGrid>
              <a:tr h="622935">
                <a:tc>
                  <a:txBody>
                    <a:bodyPr/>
                    <a:lstStyle/>
                    <a:p>
                      <a:r>
                        <a:rPr sz="1950" b="1" dirty="0">
                          <a:solidFill>
                            <a:srgbClr val="FFFFFF"/>
                          </a:solidFill>
                          <a:latin typeface="Calibri"/>
                          <a:ea typeface="Calibri"/>
                          <a:cs typeface="Calibri"/>
                        </a:rPr>
                        <a:t>Model configuration</a:t>
                      </a:r>
                    </a:p>
                  </a:txBody>
                  <a:tcPr marL="114300" marR="95250" marT="47625" marB="47625" anchor="ctr">
                    <a:solidFill>
                      <a:srgbClr val="111111"/>
                    </a:solidFill>
                  </a:tcPr>
                </a:tc>
                <a:tc>
                  <a:txBody>
                    <a:bodyPr/>
                    <a:lstStyle/>
                    <a:p>
                      <a:r>
                        <a:rPr sz="1950" b="1" dirty="0">
                          <a:solidFill>
                            <a:srgbClr val="FFFFFF"/>
                          </a:solidFill>
                          <a:latin typeface="Calibri"/>
                          <a:ea typeface="Calibri"/>
                          <a:cs typeface="Calibri"/>
                        </a:rPr>
                        <a:t>Test </a:t>
                      </a:r>
                      <a:r>
                        <a:rPr sz="1950" b="1" dirty="0" err="1">
                          <a:solidFill>
                            <a:srgbClr val="FFFFFF"/>
                          </a:solidFill>
                          <a:latin typeface="Calibri"/>
                          <a:ea typeface="Calibri"/>
                          <a:cs typeface="Calibri"/>
                        </a:rPr>
                        <a:t>IoU</a:t>
                      </a:r>
                      <a:r>
                        <a:rPr sz="1950" b="1" dirty="0">
                          <a:solidFill>
                            <a:srgbClr val="FFFFFF"/>
                          </a:solidFill>
                          <a:latin typeface="Calibri"/>
                          <a:ea typeface="Calibri"/>
                          <a:cs typeface="Calibri"/>
                        </a:rPr>
                        <a:t> (%)</a:t>
                      </a:r>
                    </a:p>
                  </a:txBody>
                  <a:tcPr marL="114300" marR="95250" marT="47625" marB="47625" anchor="ctr">
                    <a:solidFill>
                      <a:srgbClr val="111111"/>
                    </a:solidFill>
                  </a:tcPr>
                </a:tc>
                <a:tc>
                  <a:txBody>
                    <a:bodyPr/>
                    <a:lstStyle/>
                    <a:p>
                      <a:r>
                        <a:rPr sz="1950" b="1">
                          <a:solidFill>
                            <a:srgbClr val="FFFFFF"/>
                          </a:solidFill>
                          <a:latin typeface="Calibri"/>
                          <a:ea typeface="Calibri"/>
                          <a:cs typeface="Calibri"/>
                        </a:rPr>
                        <a:t>Test Dice (%)</a:t>
                      </a:r>
                    </a:p>
                  </a:txBody>
                  <a:tcPr marL="114300" marR="95250" marT="47625" marB="47625" anchor="ctr">
                    <a:solidFill>
                      <a:srgbClr val="111111"/>
                    </a:solidFill>
                  </a:tcPr>
                </a:tc>
                <a:extLst>
                  <a:ext uri="{0D108BD9-81ED-4DB2-BD59-A6C34878D82A}">
                    <a16:rowId xmlns:a16="http://schemas.microsoft.com/office/drawing/2014/main" val="10000"/>
                  </a:ext>
                </a:extLst>
              </a:tr>
              <a:tr h="622935">
                <a:tc>
                  <a:txBody>
                    <a:bodyPr/>
                    <a:lstStyle/>
                    <a:p>
                      <a:r>
                        <a:rPr sz="1950" b="0">
                          <a:solidFill>
                            <a:srgbClr val="111111"/>
                          </a:solidFill>
                          <a:latin typeface="Calibri"/>
                          <a:ea typeface="Calibri"/>
                          <a:cs typeface="Calibri"/>
                        </a:rPr>
                        <a:t>LViT-PLAM</a:t>
                      </a:r>
                    </a:p>
                  </a:txBody>
                  <a:tcPr marL="114300" marR="95250" marT="47625" marB="47625" anchor="ctr">
                    <a:solidFill>
                      <a:srgbClr val="FFFFFF"/>
                    </a:solidFill>
                  </a:tcPr>
                </a:tc>
                <a:tc>
                  <a:txBody>
                    <a:bodyPr/>
                    <a:lstStyle/>
                    <a:p>
                      <a:r>
                        <a:rPr sz="1950" b="0">
                          <a:solidFill>
                            <a:srgbClr val="111111"/>
                          </a:solidFill>
                          <a:latin typeface="Calibri"/>
                          <a:ea typeface="Calibri"/>
                          <a:cs typeface="Calibri"/>
                        </a:rPr>
                        <a:t>75.4775 ± 0.0851</a:t>
                      </a:r>
                    </a:p>
                  </a:txBody>
                  <a:tcPr marL="114300" marR="95250" marT="47625" marB="47625" anchor="ctr">
                    <a:solidFill>
                      <a:srgbClr val="FFFFFF"/>
                    </a:solidFill>
                  </a:tcPr>
                </a:tc>
                <a:tc>
                  <a:txBody>
                    <a:bodyPr/>
                    <a:lstStyle/>
                    <a:p>
                      <a:r>
                        <a:rPr sz="1950" b="0" dirty="0">
                          <a:solidFill>
                            <a:srgbClr val="111111"/>
                          </a:solidFill>
                          <a:latin typeface="Calibri"/>
                          <a:ea typeface="Calibri"/>
                          <a:cs typeface="Calibri"/>
                        </a:rPr>
                        <a:t>84.0251 ± 0.0760</a:t>
                      </a:r>
                    </a:p>
                  </a:txBody>
                  <a:tcPr marL="114300" marR="95250" marT="47625" marB="47625" anchor="ctr">
                    <a:solidFill>
                      <a:srgbClr val="FFFFFF"/>
                    </a:solidFill>
                  </a:tcPr>
                </a:tc>
                <a:extLst>
                  <a:ext uri="{0D108BD9-81ED-4DB2-BD59-A6C34878D82A}">
                    <a16:rowId xmlns:a16="http://schemas.microsoft.com/office/drawing/2014/main" val="10001"/>
                  </a:ext>
                </a:extLst>
              </a:tr>
              <a:tr h="622935">
                <a:tc>
                  <a:txBody>
                    <a:bodyPr/>
                    <a:lstStyle/>
                    <a:p>
                      <a:r>
                        <a:rPr sz="1950" b="0" dirty="0">
                          <a:solidFill>
                            <a:srgbClr val="111111"/>
                          </a:solidFill>
                          <a:latin typeface="Calibri"/>
                          <a:ea typeface="Calibri"/>
                          <a:cs typeface="Calibri"/>
                        </a:rPr>
                        <a:t>FSDR</a:t>
                      </a:r>
                      <a:r>
                        <a:rPr lang="en-US" sz="1950" b="0" dirty="0">
                          <a:solidFill>
                            <a:srgbClr val="111111"/>
                          </a:solidFill>
                          <a:latin typeface="Calibri"/>
                          <a:ea typeface="Calibri"/>
                          <a:cs typeface="Calibri"/>
                        </a:rPr>
                        <a:t> only</a:t>
                      </a:r>
                      <a:endParaRPr sz="1950" b="0" dirty="0">
                        <a:solidFill>
                          <a:srgbClr val="111111"/>
                        </a:solidFill>
                        <a:latin typeface="Calibri"/>
                        <a:ea typeface="Calibri"/>
                        <a:cs typeface="Calibri"/>
                      </a:endParaRPr>
                    </a:p>
                  </a:txBody>
                  <a:tcPr marL="114300" marR="95250" marT="47625" marB="47625" anchor="ctr">
                    <a:solidFill>
                      <a:srgbClr val="F3F3F3"/>
                    </a:solidFill>
                  </a:tcPr>
                </a:tc>
                <a:tc>
                  <a:txBody>
                    <a:bodyPr/>
                    <a:lstStyle/>
                    <a:p>
                      <a:r>
                        <a:rPr sz="1950" b="0" dirty="0">
                          <a:solidFill>
                            <a:srgbClr val="111111"/>
                          </a:solidFill>
                          <a:latin typeface="Calibri"/>
                          <a:ea typeface="Calibri"/>
                          <a:cs typeface="Calibri"/>
                        </a:rPr>
                        <a:t>75.9833 ± 0.1511</a:t>
                      </a:r>
                    </a:p>
                  </a:txBody>
                  <a:tcPr marL="114300" marR="95250" marT="47625" marB="47625" anchor="ctr">
                    <a:solidFill>
                      <a:srgbClr val="F3F3F3"/>
                    </a:solidFill>
                  </a:tcPr>
                </a:tc>
                <a:tc>
                  <a:txBody>
                    <a:bodyPr/>
                    <a:lstStyle/>
                    <a:p>
                      <a:r>
                        <a:rPr sz="1950" b="0">
                          <a:solidFill>
                            <a:srgbClr val="111111"/>
                          </a:solidFill>
                          <a:latin typeface="Calibri"/>
                          <a:ea typeface="Calibri"/>
                          <a:cs typeface="Calibri"/>
                        </a:rPr>
                        <a:t>84.5031 ± 0.0755</a:t>
                      </a:r>
                    </a:p>
                  </a:txBody>
                  <a:tcPr marL="114300" marR="95250" marT="47625" marB="47625" anchor="ctr">
                    <a:solidFill>
                      <a:srgbClr val="F3F3F3"/>
                    </a:solidFill>
                  </a:tcPr>
                </a:tc>
                <a:extLst>
                  <a:ext uri="{0D108BD9-81ED-4DB2-BD59-A6C34878D82A}">
                    <a16:rowId xmlns:a16="http://schemas.microsoft.com/office/drawing/2014/main" val="10002"/>
                  </a:ext>
                </a:extLst>
              </a:tr>
              <a:tr h="622935">
                <a:tc>
                  <a:txBody>
                    <a:bodyPr/>
                    <a:lstStyle/>
                    <a:p>
                      <a:r>
                        <a:rPr sz="1950" b="0" dirty="0">
                          <a:solidFill>
                            <a:srgbClr val="111111"/>
                          </a:solidFill>
                          <a:latin typeface="Calibri"/>
                          <a:ea typeface="Calibri"/>
                          <a:cs typeface="Calibri"/>
                        </a:rPr>
                        <a:t>PLAM + RACE</a:t>
                      </a:r>
                    </a:p>
                  </a:txBody>
                  <a:tcPr marL="114300" marR="95250" marT="47625" marB="47625" anchor="ctr">
                    <a:solidFill>
                      <a:srgbClr val="FFFFFF"/>
                    </a:solidFill>
                  </a:tcPr>
                </a:tc>
                <a:tc>
                  <a:txBody>
                    <a:bodyPr/>
                    <a:lstStyle/>
                    <a:p>
                      <a:r>
                        <a:rPr sz="1950" b="0">
                          <a:solidFill>
                            <a:srgbClr val="111111"/>
                          </a:solidFill>
                          <a:latin typeface="Calibri"/>
                          <a:ea typeface="Calibri"/>
                          <a:cs typeface="Calibri"/>
                        </a:rPr>
                        <a:t>75.6962 ± 0.1068</a:t>
                      </a:r>
                    </a:p>
                  </a:txBody>
                  <a:tcPr marL="114300" marR="95250" marT="47625" marB="47625" anchor="ctr">
                    <a:solidFill>
                      <a:srgbClr val="FFFFFF"/>
                    </a:solidFill>
                  </a:tcPr>
                </a:tc>
                <a:tc>
                  <a:txBody>
                    <a:bodyPr/>
                    <a:lstStyle/>
                    <a:p>
                      <a:r>
                        <a:rPr sz="1950" b="0">
                          <a:solidFill>
                            <a:srgbClr val="111111"/>
                          </a:solidFill>
                          <a:latin typeface="Calibri"/>
                          <a:ea typeface="Calibri"/>
                          <a:cs typeface="Calibri"/>
                        </a:rPr>
                        <a:t>84.1928 ± 0.0688</a:t>
                      </a:r>
                    </a:p>
                  </a:txBody>
                  <a:tcPr marL="114300" marR="95250" marT="47625" marB="47625" anchor="ctr">
                    <a:solidFill>
                      <a:srgbClr val="FFFFFF"/>
                    </a:solidFill>
                  </a:tcPr>
                </a:tc>
                <a:extLst>
                  <a:ext uri="{0D108BD9-81ED-4DB2-BD59-A6C34878D82A}">
                    <a16:rowId xmlns:a16="http://schemas.microsoft.com/office/drawing/2014/main" val="10003"/>
                  </a:ext>
                </a:extLst>
              </a:tr>
              <a:tr h="622935">
                <a:tc>
                  <a:txBody>
                    <a:bodyPr/>
                    <a:lstStyle/>
                    <a:p>
                      <a:r>
                        <a:rPr sz="1950" b="1" dirty="0">
                          <a:solidFill>
                            <a:srgbClr val="111111"/>
                          </a:solidFill>
                          <a:latin typeface="Calibri"/>
                          <a:ea typeface="Calibri"/>
                          <a:cs typeface="Calibri"/>
                        </a:rPr>
                        <a:t>FSDR + RACE (ours)</a:t>
                      </a:r>
                    </a:p>
                  </a:txBody>
                  <a:tcPr marL="114300" marR="95250" marT="47625" marB="47625" anchor="ctr">
                    <a:solidFill>
                      <a:srgbClr val="F3F3F3"/>
                    </a:solidFill>
                  </a:tcPr>
                </a:tc>
                <a:tc>
                  <a:txBody>
                    <a:bodyPr/>
                    <a:lstStyle/>
                    <a:p>
                      <a:r>
                        <a:rPr sz="1950" b="1">
                          <a:solidFill>
                            <a:srgbClr val="111111"/>
                          </a:solidFill>
                          <a:latin typeface="Calibri"/>
                          <a:ea typeface="Calibri"/>
                          <a:cs typeface="Calibri"/>
                        </a:rPr>
                        <a:t>76.2262 ± 0.0456</a:t>
                      </a:r>
                    </a:p>
                  </a:txBody>
                  <a:tcPr marL="114300" marR="95250" marT="47625" marB="47625" anchor="ctr">
                    <a:solidFill>
                      <a:srgbClr val="F3F3F3"/>
                    </a:solidFill>
                  </a:tcPr>
                </a:tc>
                <a:tc>
                  <a:txBody>
                    <a:bodyPr/>
                    <a:lstStyle/>
                    <a:p>
                      <a:r>
                        <a:rPr sz="1950" b="1" dirty="0">
                          <a:solidFill>
                            <a:srgbClr val="111111"/>
                          </a:solidFill>
                          <a:latin typeface="Calibri"/>
                          <a:ea typeface="Calibri"/>
                          <a:cs typeface="Calibri"/>
                        </a:rPr>
                        <a:t>84.7112 ± 0.0348</a:t>
                      </a:r>
                    </a:p>
                  </a:txBody>
                  <a:tcPr marL="114300" marR="95250" marT="47625" marB="47625" anchor="ctr">
                    <a:solidFill>
                      <a:srgbClr val="F3F3F3"/>
                    </a:solidFill>
                  </a:tcPr>
                </a:tc>
                <a:extLst>
                  <a:ext uri="{0D108BD9-81ED-4DB2-BD59-A6C34878D82A}">
                    <a16:rowId xmlns:a16="http://schemas.microsoft.com/office/drawing/2014/main" val="10004"/>
                  </a:ext>
                </a:extLst>
              </a:tr>
            </a:tbl>
          </a:graphicData>
        </a:graphic>
      </p:graphicFrame>
      <p:sp>
        <p:nvSpPr>
          <p:cNvPr id="6" name="矩形 5">
            <a:extLst>
              <a:ext uri="{FF2B5EF4-FFF2-40B4-BE49-F238E27FC236}">
                <a16:creationId xmlns:a16="http://schemas.microsoft.com/office/drawing/2014/main" id="{BB5ECA60-5AA2-490E-AFE3-0BC79BAC580E}"/>
              </a:ext>
            </a:extLst>
          </p:cNvPr>
          <p:cNvSpPr>
            <a:spLocks noGrp="1"/>
          </p:cNvSpPr>
          <p:nvPr/>
        </p:nvSpPr>
        <p:spPr>
          <a:xfrm>
            <a:off x="638175" y="5305425"/>
            <a:ext cx="10915650" cy="409575"/>
          </a:xfrm>
          <a:prstGeom prst="rect">
            <a:avLst/>
          </a:prstGeom>
          <a:noFill/>
          <a:ln w="0">
            <a:noFill/>
          </a:ln>
        </p:spPr>
        <p:txBody>
          <a:bodyPr wrap="square" lIns="0" tIns="0" rIns="0" bIns="0" anchor="ctr">
            <a:noAutofit/>
          </a:bodyPr>
          <a:lstStyle/>
          <a:p>
            <a:pPr algn="l">
              <a:defRPr sz="1950" b="1">
                <a:solidFill>
                  <a:srgbClr val="111111"/>
                </a:solidFill>
                <a:latin typeface="Calibri"/>
                <a:ea typeface="Calibri"/>
                <a:cs typeface="Calibri"/>
              </a:defRPr>
            </a:pPr>
            <a:r>
              <a:rPr sz="1950" b="1" dirty="0">
                <a:solidFill>
                  <a:srgbClr val="111111"/>
                </a:solidFill>
                <a:latin typeface="Calibri"/>
                <a:ea typeface="Calibri"/>
                <a:cs typeface="Calibri"/>
              </a:rPr>
              <a:t>Combined gain over matched PLAM: +0.7487 pp </a:t>
            </a:r>
            <a:r>
              <a:rPr sz="1950" b="1" dirty="0" err="1">
                <a:solidFill>
                  <a:srgbClr val="111111"/>
                </a:solidFill>
                <a:latin typeface="Calibri"/>
                <a:ea typeface="Calibri"/>
                <a:cs typeface="Calibri"/>
              </a:rPr>
              <a:t>IoU</a:t>
            </a:r>
            <a:r>
              <a:rPr sz="1950" b="1" dirty="0">
                <a:solidFill>
                  <a:srgbClr val="111111"/>
                </a:solidFill>
                <a:latin typeface="Calibri"/>
                <a:ea typeface="Calibri"/>
                <a:cs typeface="Calibri"/>
              </a:rPr>
              <a:t> and +0.6861 pp Dice.</a:t>
            </a:r>
          </a:p>
        </p:txBody>
      </p:sp>
      <p:sp>
        <p:nvSpPr>
          <p:cNvPr id="7" name="矩形 6">
            <a:extLst>
              <a:ext uri="{FF2B5EF4-FFF2-40B4-BE49-F238E27FC236}">
                <a16:creationId xmlns:a16="http://schemas.microsoft.com/office/drawing/2014/main" id="{EE2D1472-6C98-4426-92BD-A3A5973716C0}"/>
              </a:ext>
            </a:extLst>
          </p:cNvPr>
          <p:cNvSpPr>
            <a:spLocks noGrp="1"/>
          </p:cNvSpPr>
          <p:nvPr/>
        </p:nvSpPr>
        <p:spPr>
          <a:xfrm>
            <a:off x="638175" y="5876925"/>
            <a:ext cx="10915650" cy="381000"/>
          </a:xfrm>
          <a:prstGeom prst="rect">
            <a:avLst/>
          </a:prstGeom>
          <a:noFill/>
          <a:ln w="0">
            <a:noFill/>
          </a:ln>
        </p:spPr>
        <p:txBody>
          <a:bodyPr wrap="square" lIns="0" tIns="0" rIns="0" bIns="0" anchor="ctr">
            <a:noAutofit/>
          </a:bodyPr>
          <a:lstStyle/>
          <a:p>
            <a:pPr algn="l">
              <a:defRPr sz="1800" b="0">
                <a:solidFill>
                  <a:srgbClr val="606060"/>
                </a:solidFill>
                <a:latin typeface="Calibri"/>
                <a:ea typeface="Calibri"/>
                <a:cs typeface="Calibri"/>
              </a:defRPr>
            </a:pPr>
            <a:r>
              <a:rPr sz="1800" b="0">
                <a:solidFill>
                  <a:srgbClr val="606060"/>
                </a:solidFill>
                <a:latin typeface="Calibri"/>
                <a:ea typeface="Calibri"/>
                <a:cs typeface="Calibri"/>
              </a:rPr>
              <a:t>Both modules improve the mean. These three seeds support repeatability under this protocol.</a:t>
            </a:r>
          </a:p>
        </p:txBody>
      </p:sp>
    </p:spTree>
    <p:extLst>
      <p:ext uri="{BB962C8B-B14F-4D97-AF65-F5344CB8AC3E}">
        <p14:creationId xmlns:p14="http://schemas.microsoft.com/office/powerpoint/2010/main" val="19354370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AD96D00F-262A-4FD6-BB2E-5FD50F97DCD7}"/>
              </a:ext>
            </a:extLst>
          </p:cNvPr>
          <p:cNvSpPr>
            <a:spLocks noGrp="1"/>
          </p:cNvSpPr>
          <p:nvPr/>
        </p:nvSpPr>
        <p:spPr>
          <a:xfrm>
            <a:off x="640080" y="361950"/>
            <a:ext cx="10915650" cy="952500"/>
          </a:xfrm>
          <a:prstGeom prst="rect">
            <a:avLst/>
          </a:prstGeom>
          <a:noFill/>
          <a:ln w="0">
            <a:noFill/>
          </a:ln>
        </p:spPr>
        <p:txBody>
          <a:bodyPr wrap="square" lIns="0" tIns="0" rIns="0" bIns="0" anchor="ctr">
            <a:noAutofit/>
          </a:bodyPr>
          <a:lstStyle/>
          <a:p>
            <a:pPr algn="l">
              <a:defRPr sz="3000" b="1">
                <a:solidFill>
                  <a:srgbClr val="111111"/>
                </a:solidFill>
                <a:latin typeface="Cambria"/>
                <a:ea typeface="Cambria"/>
                <a:cs typeface="Cambria"/>
              </a:defRPr>
            </a:pPr>
            <a:r>
              <a:rPr sz="3000" b="1" dirty="0">
                <a:solidFill>
                  <a:srgbClr val="111111"/>
                </a:solidFill>
                <a:latin typeface="Cambria"/>
                <a:ea typeface="Cambria"/>
                <a:cs typeface="Cambria"/>
              </a:rPr>
              <a:t>Paired-seed Test </a:t>
            </a:r>
            <a:r>
              <a:rPr sz="3000" b="1" dirty="0" err="1">
                <a:solidFill>
                  <a:srgbClr val="111111"/>
                </a:solidFill>
                <a:latin typeface="Cambria"/>
                <a:ea typeface="Cambria"/>
                <a:cs typeface="Cambria"/>
              </a:rPr>
              <a:t>IoU</a:t>
            </a:r>
            <a:r>
              <a:rPr sz="3000" b="1" dirty="0">
                <a:solidFill>
                  <a:srgbClr val="111111"/>
                </a:solidFill>
                <a:latin typeface="Cambria"/>
                <a:ea typeface="Cambria"/>
                <a:cs typeface="Cambria"/>
              </a:rPr>
              <a:t> improvements</a:t>
            </a:r>
          </a:p>
        </p:txBody>
      </p:sp>
      <p:sp>
        <p:nvSpPr>
          <p:cNvPr id="2" name="矩形 1">
            <a:extLst>
              <a:ext uri="{FF2B5EF4-FFF2-40B4-BE49-F238E27FC236}">
                <a16:creationId xmlns:a16="http://schemas.microsoft.com/office/drawing/2014/main" id="{77C605B6-C81C-4064-BEE9-16DE7F16C5F1}"/>
              </a:ext>
            </a:extLst>
          </p:cNvPr>
          <p:cNvSpPr>
            <a:spLocks noGrp="1"/>
          </p:cNvSpPr>
          <p:nvPr/>
        </p:nvSpPr>
        <p:spPr>
          <a:xfrm>
            <a:off x="638175" y="6467475"/>
            <a:ext cx="9906000" cy="190500"/>
          </a:xfrm>
          <a:prstGeom prst="rect">
            <a:avLst/>
          </a:prstGeom>
          <a:noFill/>
          <a:ln w="0">
            <a:noFill/>
          </a:ln>
        </p:spPr>
        <p:txBody>
          <a:bodyPr wrap="square" lIns="0" tIns="0" rIns="0" bIns="0" anchor="ctr">
            <a:noAutofit/>
          </a:bodyPr>
          <a:lstStyle/>
          <a:p>
            <a:pPr algn="l">
              <a:defRPr sz="900" b="0">
                <a:solidFill>
                  <a:srgbClr val="999999"/>
                </a:solidFill>
                <a:latin typeface="Calibri"/>
                <a:ea typeface="Calibri"/>
                <a:cs typeface="Calibri"/>
              </a:defRPr>
            </a:pPr>
            <a:r>
              <a:rPr sz="900" b="0">
                <a:solidFill>
                  <a:srgbClr val="999999"/>
                </a:solidFill>
                <a:latin typeface="Calibri"/>
                <a:ea typeface="Calibri"/>
                <a:cs typeface="Calibri"/>
              </a:rPr>
              <a:t>Primary results: matched seed differences</a:t>
            </a:r>
          </a:p>
        </p:txBody>
      </p:sp>
      <p:sp>
        <p:nvSpPr>
          <p:cNvPr id="3" name="矩形 2">
            <a:extLst>
              <a:ext uri="{FF2B5EF4-FFF2-40B4-BE49-F238E27FC236}">
                <a16:creationId xmlns:a16="http://schemas.microsoft.com/office/drawing/2014/main" id="{1CD8EEC6-5445-4AF6-86B8-D3D9C332748D}"/>
              </a:ext>
            </a:extLst>
          </p:cNvPr>
          <p:cNvSpPr>
            <a:spLocks noGrp="1"/>
          </p:cNvSpPr>
          <p:nvPr/>
        </p:nvSpPr>
        <p:spPr>
          <a:xfrm>
            <a:off x="11144250" y="6467475"/>
            <a:ext cx="409575" cy="190500"/>
          </a:xfrm>
          <a:prstGeom prst="rect">
            <a:avLst/>
          </a:prstGeom>
          <a:noFill/>
          <a:ln w="0">
            <a:noFill/>
          </a:ln>
        </p:spPr>
        <p:txBody>
          <a:bodyPr wrap="square" lIns="0" tIns="0" rIns="0" bIns="0" anchor="ctr">
            <a:noAutofit/>
          </a:bodyPr>
          <a:lstStyle/>
          <a:p>
            <a:pPr algn="r">
              <a:defRPr sz="900" b="0">
                <a:solidFill>
                  <a:srgbClr val="999999"/>
                </a:solidFill>
                <a:latin typeface="Calibri"/>
                <a:ea typeface="Calibri"/>
                <a:cs typeface="Calibri"/>
              </a:defRPr>
            </a:pPr>
            <a:r>
              <a:rPr sz="900" b="0">
                <a:solidFill>
                  <a:srgbClr val="999999"/>
                </a:solidFill>
                <a:latin typeface="Calibri"/>
                <a:ea typeface="Calibri"/>
                <a:cs typeface="Calibri"/>
              </a:rPr>
              <a:t>10</a:t>
            </a:r>
          </a:p>
        </p:txBody>
      </p:sp>
      <p:graphicFrame>
        <p:nvGraphicFramePr>
          <p:cNvPr id="10" name="表格 9"/>
          <p:cNvGraphicFramePr/>
          <p:nvPr/>
        </p:nvGraphicFramePr>
        <p:xfrm>
          <a:off x="638175" y="1685925"/>
          <a:ext cx="10915650" cy="3448050"/>
        </p:xfrm>
        <a:graphic>
          <a:graphicData uri="http://schemas.openxmlformats.org/drawingml/2006/table">
            <a:tbl>
              <a:tblPr/>
              <a:tblGrid>
                <a:gridCol w="481965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gridCol w="1524000">
                  <a:extLst>
                    <a:ext uri="{9D8B030D-6E8A-4147-A177-3AD203B41FA5}">
                      <a16:colId xmlns:a16="http://schemas.microsoft.com/office/drawing/2014/main" val="20004"/>
                    </a:ext>
                  </a:extLst>
                </a:gridCol>
              </a:tblGrid>
              <a:tr h="574675">
                <a:tc>
                  <a:txBody>
                    <a:bodyPr/>
                    <a:lstStyle/>
                    <a:p>
                      <a:r>
                        <a:rPr sz="1800" b="1">
                          <a:solidFill>
                            <a:srgbClr val="FFFFFF"/>
                          </a:solidFill>
                          <a:latin typeface="Calibri"/>
                          <a:ea typeface="Calibri"/>
                          <a:cs typeface="Calibri"/>
                        </a:rPr>
                        <a:t>Change</a:t>
                      </a:r>
                    </a:p>
                  </a:txBody>
                  <a:tcPr marL="114300" marR="95250" marT="47625" marB="47625" anchor="ctr">
                    <a:solidFill>
                      <a:srgbClr val="111111"/>
                    </a:solidFill>
                  </a:tcPr>
                </a:tc>
                <a:tc>
                  <a:txBody>
                    <a:bodyPr/>
                    <a:lstStyle/>
                    <a:p>
                      <a:r>
                        <a:rPr sz="1800" b="1">
                          <a:solidFill>
                            <a:srgbClr val="FFFFFF"/>
                          </a:solidFill>
                          <a:latin typeface="Calibri"/>
                          <a:ea typeface="Calibri"/>
                          <a:cs typeface="Calibri"/>
                        </a:rPr>
                        <a:t>1219</a:t>
                      </a:r>
                    </a:p>
                  </a:txBody>
                  <a:tcPr marL="114300" marR="95250" marT="47625" marB="47625" anchor="ctr">
                    <a:solidFill>
                      <a:srgbClr val="111111"/>
                    </a:solidFill>
                  </a:tcPr>
                </a:tc>
                <a:tc>
                  <a:txBody>
                    <a:bodyPr/>
                    <a:lstStyle/>
                    <a:p>
                      <a:r>
                        <a:rPr sz="1800" b="1">
                          <a:solidFill>
                            <a:srgbClr val="FFFFFF"/>
                          </a:solidFill>
                          <a:latin typeface="Calibri"/>
                          <a:ea typeface="Calibri"/>
                          <a:cs typeface="Calibri"/>
                        </a:rPr>
                        <a:t>2027</a:t>
                      </a:r>
                    </a:p>
                  </a:txBody>
                  <a:tcPr marL="114300" marR="95250" marT="47625" marB="47625" anchor="ctr">
                    <a:solidFill>
                      <a:srgbClr val="111111"/>
                    </a:solidFill>
                  </a:tcPr>
                </a:tc>
                <a:tc>
                  <a:txBody>
                    <a:bodyPr/>
                    <a:lstStyle/>
                    <a:p>
                      <a:r>
                        <a:rPr sz="1800" b="1">
                          <a:solidFill>
                            <a:srgbClr val="FFFFFF"/>
                          </a:solidFill>
                          <a:latin typeface="Calibri"/>
                          <a:ea typeface="Calibri"/>
                          <a:cs typeface="Calibri"/>
                        </a:rPr>
                        <a:t>3407</a:t>
                      </a:r>
                    </a:p>
                  </a:txBody>
                  <a:tcPr marL="114300" marR="95250" marT="47625" marB="47625" anchor="ctr">
                    <a:solidFill>
                      <a:srgbClr val="111111"/>
                    </a:solidFill>
                  </a:tcPr>
                </a:tc>
                <a:tc>
                  <a:txBody>
                    <a:bodyPr/>
                    <a:lstStyle/>
                    <a:p>
                      <a:r>
                        <a:rPr sz="1800" b="1">
                          <a:solidFill>
                            <a:srgbClr val="FFFFFF"/>
                          </a:solidFill>
                          <a:latin typeface="Calibri"/>
                          <a:ea typeface="Calibri"/>
                          <a:cs typeface="Calibri"/>
                        </a:rPr>
                        <a:t>Mean (pp)</a:t>
                      </a:r>
                    </a:p>
                  </a:txBody>
                  <a:tcPr marL="114300" marR="95250" marT="47625" marB="47625" anchor="ctr">
                    <a:solidFill>
                      <a:srgbClr val="111111"/>
                    </a:solidFill>
                  </a:tcPr>
                </a:tc>
                <a:extLst>
                  <a:ext uri="{0D108BD9-81ED-4DB2-BD59-A6C34878D82A}">
                    <a16:rowId xmlns:a16="http://schemas.microsoft.com/office/drawing/2014/main" val="10000"/>
                  </a:ext>
                </a:extLst>
              </a:tr>
              <a:tr h="574675">
                <a:tc>
                  <a:txBody>
                    <a:bodyPr/>
                    <a:lstStyle/>
                    <a:p>
                      <a:r>
                        <a:rPr sz="1800" b="0">
                          <a:solidFill>
                            <a:srgbClr val="111111"/>
                          </a:solidFill>
                          <a:latin typeface="Calibri"/>
                          <a:ea typeface="Calibri"/>
                          <a:cs typeface="Calibri"/>
                        </a:rPr>
                        <a:t>FSDR replacing PLAM</a:t>
                      </a:r>
                    </a:p>
                  </a:txBody>
                  <a:tcPr marL="114300" marR="95250" marT="47625" marB="47625" anchor="ctr">
                    <a:solidFill>
                      <a:srgbClr val="FFFFFF"/>
                    </a:solidFill>
                  </a:tcPr>
                </a:tc>
                <a:tc>
                  <a:txBody>
                    <a:bodyPr/>
                    <a:lstStyle/>
                    <a:p>
                      <a:r>
                        <a:rPr sz="1800" b="0">
                          <a:solidFill>
                            <a:srgbClr val="111111"/>
                          </a:solidFill>
                          <a:latin typeface="Calibri"/>
                          <a:ea typeface="Calibri"/>
                          <a:cs typeface="Calibri"/>
                        </a:rPr>
                        <a:t>+0.2423</a:t>
                      </a:r>
                    </a:p>
                  </a:txBody>
                  <a:tcPr marL="114300" marR="95250" marT="47625" marB="47625" anchor="ctr">
                    <a:solidFill>
                      <a:srgbClr val="FFFFFF"/>
                    </a:solidFill>
                  </a:tcPr>
                </a:tc>
                <a:tc>
                  <a:txBody>
                    <a:bodyPr/>
                    <a:lstStyle/>
                    <a:p>
                      <a:r>
                        <a:rPr sz="1800" b="0">
                          <a:solidFill>
                            <a:srgbClr val="111111"/>
                          </a:solidFill>
                          <a:latin typeface="Calibri"/>
                          <a:ea typeface="Calibri"/>
                          <a:cs typeface="Calibri"/>
                        </a:rPr>
                        <a:t>+0.6191</a:t>
                      </a:r>
                    </a:p>
                  </a:txBody>
                  <a:tcPr marL="114300" marR="95250" marT="47625" marB="47625" anchor="ctr">
                    <a:solidFill>
                      <a:srgbClr val="FFFFFF"/>
                    </a:solidFill>
                  </a:tcPr>
                </a:tc>
                <a:tc>
                  <a:txBody>
                    <a:bodyPr/>
                    <a:lstStyle/>
                    <a:p>
                      <a:r>
                        <a:rPr sz="1800" b="0">
                          <a:solidFill>
                            <a:srgbClr val="111111"/>
                          </a:solidFill>
                          <a:latin typeface="Calibri"/>
                          <a:ea typeface="Calibri"/>
                          <a:cs typeface="Calibri"/>
                        </a:rPr>
                        <a:t>+0.6561</a:t>
                      </a:r>
                    </a:p>
                  </a:txBody>
                  <a:tcPr marL="114300" marR="95250" marT="47625" marB="47625" anchor="ctr">
                    <a:solidFill>
                      <a:srgbClr val="FFFFFF"/>
                    </a:solidFill>
                  </a:tcPr>
                </a:tc>
                <a:tc>
                  <a:txBody>
                    <a:bodyPr/>
                    <a:lstStyle/>
                    <a:p>
                      <a:r>
                        <a:rPr sz="1800" b="0">
                          <a:solidFill>
                            <a:srgbClr val="111111"/>
                          </a:solidFill>
                          <a:latin typeface="Calibri"/>
                          <a:ea typeface="Calibri"/>
                          <a:cs typeface="Calibri"/>
                        </a:rPr>
                        <a:t>+0.5058</a:t>
                      </a:r>
                    </a:p>
                  </a:txBody>
                  <a:tcPr marL="114300" marR="95250" marT="47625" marB="47625" anchor="ctr">
                    <a:solidFill>
                      <a:srgbClr val="FFFFFF"/>
                    </a:solidFill>
                  </a:tcPr>
                </a:tc>
                <a:extLst>
                  <a:ext uri="{0D108BD9-81ED-4DB2-BD59-A6C34878D82A}">
                    <a16:rowId xmlns:a16="http://schemas.microsoft.com/office/drawing/2014/main" val="10001"/>
                  </a:ext>
                </a:extLst>
              </a:tr>
              <a:tr h="574675">
                <a:tc>
                  <a:txBody>
                    <a:bodyPr/>
                    <a:lstStyle/>
                    <a:p>
                      <a:r>
                        <a:rPr sz="1800" b="0">
                          <a:solidFill>
                            <a:srgbClr val="111111"/>
                          </a:solidFill>
                          <a:latin typeface="Calibri"/>
                          <a:ea typeface="Calibri"/>
                          <a:cs typeface="Calibri"/>
                        </a:rPr>
                        <a:t>Complete RACE added to PLAM</a:t>
                      </a:r>
                    </a:p>
                  </a:txBody>
                  <a:tcPr marL="114300" marR="95250" marT="47625" marB="47625" anchor="ctr">
                    <a:solidFill>
                      <a:srgbClr val="F3F3F3"/>
                    </a:solidFill>
                  </a:tcPr>
                </a:tc>
                <a:tc>
                  <a:txBody>
                    <a:bodyPr/>
                    <a:lstStyle/>
                    <a:p>
                      <a:r>
                        <a:rPr sz="1800" b="0">
                          <a:solidFill>
                            <a:srgbClr val="111111"/>
                          </a:solidFill>
                          <a:latin typeface="Calibri"/>
                          <a:ea typeface="Calibri"/>
                          <a:cs typeface="Calibri"/>
                        </a:rPr>
                        <a:t>+0.2514</a:t>
                      </a:r>
                    </a:p>
                  </a:txBody>
                  <a:tcPr marL="114300" marR="95250" marT="47625" marB="47625" anchor="ctr">
                    <a:solidFill>
                      <a:srgbClr val="F3F3F3"/>
                    </a:solidFill>
                  </a:tcPr>
                </a:tc>
                <a:tc>
                  <a:txBody>
                    <a:bodyPr/>
                    <a:lstStyle/>
                    <a:p>
                      <a:r>
                        <a:rPr sz="1800" b="0">
                          <a:solidFill>
                            <a:srgbClr val="111111"/>
                          </a:solidFill>
                          <a:latin typeface="Calibri"/>
                          <a:ea typeface="Calibri"/>
                          <a:cs typeface="Calibri"/>
                        </a:rPr>
                        <a:t>+0.1790</a:t>
                      </a:r>
                    </a:p>
                  </a:txBody>
                  <a:tcPr marL="114300" marR="95250" marT="47625" marB="47625" anchor="ctr">
                    <a:solidFill>
                      <a:srgbClr val="F3F3F3"/>
                    </a:solidFill>
                  </a:tcPr>
                </a:tc>
                <a:tc>
                  <a:txBody>
                    <a:bodyPr/>
                    <a:lstStyle/>
                    <a:p>
                      <a:r>
                        <a:rPr sz="1800" b="0">
                          <a:solidFill>
                            <a:srgbClr val="111111"/>
                          </a:solidFill>
                          <a:latin typeface="Calibri"/>
                          <a:ea typeface="Calibri"/>
                          <a:cs typeface="Calibri"/>
                        </a:rPr>
                        <a:t>+0.2257</a:t>
                      </a:r>
                    </a:p>
                  </a:txBody>
                  <a:tcPr marL="114300" marR="95250" marT="47625" marB="47625" anchor="ctr">
                    <a:solidFill>
                      <a:srgbClr val="F3F3F3"/>
                    </a:solidFill>
                  </a:tcPr>
                </a:tc>
                <a:tc>
                  <a:txBody>
                    <a:bodyPr/>
                    <a:lstStyle/>
                    <a:p>
                      <a:r>
                        <a:rPr sz="1800" b="0">
                          <a:solidFill>
                            <a:srgbClr val="111111"/>
                          </a:solidFill>
                          <a:latin typeface="Calibri"/>
                          <a:ea typeface="Calibri"/>
                          <a:cs typeface="Calibri"/>
                        </a:rPr>
                        <a:t>+0.2187</a:t>
                      </a:r>
                    </a:p>
                  </a:txBody>
                  <a:tcPr marL="114300" marR="95250" marT="47625" marB="47625" anchor="ctr">
                    <a:solidFill>
                      <a:srgbClr val="F3F3F3"/>
                    </a:solidFill>
                  </a:tcPr>
                </a:tc>
                <a:extLst>
                  <a:ext uri="{0D108BD9-81ED-4DB2-BD59-A6C34878D82A}">
                    <a16:rowId xmlns:a16="http://schemas.microsoft.com/office/drawing/2014/main" val="10002"/>
                  </a:ext>
                </a:extLst>
              </a:tr>
              <a:tr h="574675">
                <a:tc>
                  <a:txBody>
                    <a:bodyPr/>
                    <a:lstStyle/>
                    <a:p>
                      <a:r>
                        <a:rPr sz="1800" b="0">
                          <a:solidFill>
                            <a:srgbClr val="111111"/>
                          </a:solidFill>
                          <a:latin typeface="Calibri"/>
                          <a:ea typeface="Calibri"/>
                          <a:cs typeface="Calibri"/>
                        </a:rPr>
                        <a:t>Complete RACE added to FSDR</a:t>
                      </a:r>
                    </a:p>
                  </a:txBody>
                  <a:tcPr marL="114300" marR="95250" marT="47625" marB="47625" anchor="ctr">
                    <a:solidFill>
                      <a:srgbClr val="FFFFFF"/>
                    </a:solidFill>
                  </a:tcPr>
                </a:tc>
                <a:tc>
                  <a:txBody>
                    <a:bodyPr/>
                    <a:lstStyle/>
                    <a:p>
                      <a:r>
                        <a:rPr sz="1800" b="0">
                          <a:solidFill>
                            <a:srgbClr val="111111"/>
                          </a:solidFill>
                          <a:latin typeface="Calibri"/>
                          <a:ea typeface="Calibri"/>
                          <a:cs typeface="Calibri"/>
                        </a:rPr>
                        <a:t>+0.4387</a:t>
                      </a:r>
                    </a:p>
                  </a:txBody>
                  <a:tcPr marL="114300" marR="95250" marT="47625" marB="47625" anchor="ctr">
                    <a:solidFill>
                      <a:srgbClr val="FFFFFF"/>
                    </a:solidFill>
                  </a:tcPr>
                </a:tc>
                <a:tc>
                  <a:txBody>
                    <a:bodyPr/>
                    <a:lstStyle/>
                    <a:p>
                      <a:r>
                        <a:rPr sz="1800" b="0">
                          <a:solidFill>
                            <a:srgbClr val="111111"/>
                          </a:solidFill>
                          <a:latin typeface="Calibri"/>
                          <a:ea typeface="Calibri"/>
                          <a:cs typeface="Calibri"/>
                        </a:rPr>
                        <a:t>+0.1704</a:t>
                      </a:r>
                    </a:p>
                  </a:txBody>
                  <a:tcPr marL="114300" marR="95250" marT="47625" marB="47625" anchor="ctr">
                    <a:solidFill>
                      <a:srgbClr val="FFFFFF"/>
                    </a:solidFill>
                  </a:tcPr>
                </a:tc>
                <a:tc>
                  <a:txBody>
                    <a:bodyPr/>
                    <a:lstStyle/>
                    <a:p>
                      <a:r>
                        <a:rPr sz="1800" b="0">
                          <a:solidFill>
                            <a:srgbClr val="111111"/>
                          </a:solidFill>
                          <a:latin typeface="Calibri"/>
                          <a:ea typeface="Calibri"/>
                          <a:cs typeface="Calibri"/>
                        </a:rPr>
                        <a:t>+0.1194</a:t>
                      </a:r>
                    </a:p>
                  </a:txBody>
                  <a:tcPr marL="114300" marR="95250" marT="47625" marB="47625" anchor="ctr">
                    <a:solidFill>
                      <a:srgbClr val="FFFFFF"/>
                    </a:solidFill>
                  </a:tcPr>
                </a:tc>
                <a:tc>
                  <a:txBody>
                    <a:bodyPr/>
                    <a:lstStyle/>
                    <a:p>
                      <a:r>
                        <a:rPr sz="1800" b="0">
                          <a:solidFill>
                            <a:srgbClr val="111111"/>
                          </a:solidFill>
                          <a:latin typeface="Calibri"/>
                          <a:ea typeface="Calibri"/>
                          <a:cs typeface="Calibri"/>
                        </a:rPr>
                        <a:t>+0.2428</a:t>
                      </a:r>
                    </a:p>
                  </a:txBody>
                  <a:tcPr marL="114300" marR="95250" marT="47625" marB="47625" anchor="ctr">
                    <a:solidFill>
                      <a:srgbClr val="FFFFFF"/>
                    </a:solidFill>
                  </a:tcPr>
                </a:tc>
                <a:extLst>
                  <a:ext uri="{0D108BD9-81ED-4DB2-BD59-A6C34878D82A}">
                    <a16:rowId xmlns:a16="http://schemas.microsoft.com/office/drawing/2014/main" val="10003"/>
                  </a:ext>
                </a:extLst>
              </a:tr>
              <a:tr h="574675">
                <a:tc>
                  <a:txBody>
                    <a:bodyPr/>
                    <a:lstStyle/>
                    <a:p>
                      <a:r>
                        <a:rPr sz="1800" b="0">
                          <a:solidFill>
                            <a:srgbClr val="111111"/>
                          </a:solidFill>
                          <a:latin typeface="Calibri"/>
                          <a:ea typeface="Calibri"/>
                          <a:cs typeface="Calibri"/>
                        </a:rPr>
                        <a:t>FSDR with complete RACE</a:t>
                      </a:r>
                    </a:p>
                  </a:txBody>
                  <a:tcPr marL="114300" marR="95250" marT="47625" marB="47625" anchor="ctr">
                    <a:solidFill>
                      <a:srgbClr val="F3F3F3"/>
                    </a:solidFill>
                  </a:tcPr>
                </a:tc>
                <a:tc>
                  <a:txBody>
                    <a:bodyPr/>
                    <a:lstStyle/>
                    <a:p>
                      <a:r>
                        <a:rPr sz="1800" b="0">
                          <a:solidFill>
                            <a:srgbClr val="111111"/>
                          </a:solidFill>
                          <a:latin typeface="Calibri"/>
                          <a:ea typeface="Calibri"/>
                          <a:cs typeface="Calibri"/>
                        </a:rPr>
                        <a:t>+0.4296</a:t>
                      </a:r>
                    </a:p>
                  </a:txBody>
                  <a:tcPr marL="114300" marR="95250" marT="47625" marB="47625" anchor="ctr">
                    <a:solidFill>
                      <a:srgbClr val="F3F3F3"/>
                    </a:solidFill>
                  </a:tcPr>
                </a:tc>
                <a:tc>
                  <a:txBody>
                    <a:bodyPr/>
                    <a:lstStyle/>
                    <a:p>
                      <a:r>
                        <a:rPr sz="1800" b="0">
                          <a:solidFill>
                            <a:srgbClr val="111111"/>
                          </a:solidFill>
                          <a:latin typeface="Calibri"/>
                          <a:ea typeface="Calibri"/>
                          <a:cs typeface="Calibri"/>
                        </a:rPr>
                        <a:t>+0.6104</a:t>
                      </a:r>
                    </a:p>
                  </a:txBody>
                  <a:tcPr marL="114300" marR="95250" marT="47625" marB="47625" anchor="ctr">
                    <a:solidFill>
                      <a:srgbClr val="F3F3F3"/>
                    </a:solidFill>
                  </a:tcPr>
                </a:tc>
                <a:tc>
                  <a:txBody>
                    <a:bodyPr/>
                    <a:lstStyle/>
                    <a:p>
                      <a:r>
                        <a:rPr sz="1800" b="0">
                          <a:solidFill>
                            <a:srgbClr val="111111"/>
                          </a:solidFill>
                          <a:latin typeface="Calibri"/>
                          <a:ea typeface="Calibri"/>
                          <a:cs typeface="Calibri"/>
                        </a:rPr>
                        <a:t>+0.5498</a:t>
                      </a:r>
                    </a:p>
                  </a:txBody>
                  <a:tcPr marL="114300" marR="95250" marT="47625" marB="47625" anchor="ctr">
                    <a:solidFill>
                      <a:srgbClr val="F3F3F3"/>
                    </a:solidFill>
                  </a:tcPr>
                </a:tc>
                <a:tc>
                  <a:txBody>
                    <a:bodyPr/>
                    <a:lstStyle/>
                    <a:p>
                      <a:r>
                        <a:rPr sz="1800" b="0">
                          <a:solidFill>
                            <a:srgbClr val="111111"/>
                          </a:solidFill>
                          <a:latin typeface="Calibri"/>
                          <a:ea typeface="Calibri"/>
                          <a:cs typeface="Calibri"/>
                        </a:rPr>
                        <a:t>+0.5300</a:t>
                      </a:r>
                    </a:p>
                  </a:txBody>
                  <a:tcPr marL="114300" marR="95250" marT="47625" marB="47625" anchor="ctr">
                    <a:solidFill>
                      <a:srgbClr val="F3F3F3"/>
                    </a:solidFill>
                  </a:tcPr>
                </a:tc>
                <a:extLst>
                  <a:ext uri="{0D108BD9-81ED-4DB2-BD59-A6C34878D82A}">
                    <a16:rowId xmlns:a16="http://schemas.microsoft.com/office/drawing/2014/main" val="10004"/>
                  </a:ext>
                </a:extLst>
              </a:tr>
              <a:tr h="574675">
                <a:tc>
                  <a:txBody>
                    <a:bodyPr/>
                    <a:lstStyle/>
                    <a:p>
                      <a:r>
                        <a:rPr sz="1800" b="1">
                          <a:solidFill>
                            <a:srgbClr val="111111"/>
                          </a:solidFill>
                          <a:latin typeface="Calibri"/>
                          <a:ea typeface="Calibri"/>
                          <a:cs typeface="Calibri"/>
                        </a:rPr>
                        <a:t>Combined model vs PLAM</a:t>
                      </a:r>
                    </a:p>
                  </a:txBody>
                  <a:tcPr marL="114300" marR="95250" marT="47625" marB="47625" anchor="ctr">
                    <a:solidFill>
                      <a:srgbClr val="FFFFFF"/>
                    </a:solidFill>
                  </a:tcPr>
                </a:tc>
                <a:tc>
                  <a:txBody>
                    <a:bodyPr/>
                    <a:lstStyle/>
                    <a:p>
                      <a:r>
                        <a:rPr sz="1800" b="1">
                          <a:solidFill>
                            <a:srgbClr val="111111"/>
                          </a:solidFill>
                          <a:latin typeface="Calibri"/>
                          <a:ea typeface="Calibri"/>
                          <a:cs typeface="Calibri"/>
                        </a:rPr>
                        <a:t>+0.6810</a:t>
                      </a:r>
                    </a:p>
                  </a:txBody>
                  <a:tcPr marL="114300" marR="95250" marT="47625" marB="47625" anchor="ctr">
                    <a:solidFill>
                      <a:srgbClr val="FFFFFF"/>
                    </a:solidFill>
                  </a:tcPr>
                </a:tc>
                <a:tc>
                  <a:txBody>
                    <a:bodyPr/>
                    <a:lstStyle/>
                    <a:p>
                      <a:r>
                        <a:rPr sz="1800" b="1">
                          <a:solidFill>
                            <a:srgbClr val="111111"/>
                          </a:solidFill>
                          <a:latin typeface="Calibri"/>
                          <a:ea typeface="Calibri"/>
                          <a:cs typeface="Calibri"/>
                        </a:rPr>
                        <a:t>+0.7895</a:t>
                      </a:r>
                    </a:p>
                  </a:txBody>
                  <a:tcPr marL="114300" marR="95250" marT="47625" marB="47625" anchor="ctr">
                    <a:solidFill>
                      <a:srgbClr val="FFFFFF"/>
                    </a:solidFill>
                  </a:tcPr>
                </a:tc>
                <a:tc>
                  <a:txBody>
                    <a:bodyPr/>
                    <a:lstStyle/>
                    <a:p>
                      <a:r>
                        <a:rPr sz="1800" b="1">
                          <a:solidFill>
                            <a:srgbClr val="111111"/>
                          </a:solidFill>
                          <a:latin typeface="Calibri"/>
                          <a:ea typeface="Calibri"/>
                          <a:cs typeface="Calibri"/>
                        </a:rPr>
                        <a:t>+0.7755</a:t>
                      </a:r>
                    </a:p>
                  </a:txBody>
                  <a:tcPr marL="114300" marR="95250" marT="47625" marB="47625" anchor="ctr">
                    <a:solidFill>
                      <a:srgbClr val="FFFFFF"/>
                    </a:solidFill>
                  </a:tcPr>
                </a:tc>
                <a:tc>
                  <a:txBody>
                    <a:bodyPr/>
                    <a:lstStyle/>
                    <a:p>
                      <a:r>
                        <a:rPr sz="1800" b="1">
                          <a:solidFill>
                            <a:srgbClr val="111111"/>
                          </a:solidFill>
                          <a:latin typeface="Calibri"/>
                          <a:ea typeface="Calibri"/>
                          <a:cs typeface="Calibri"/>
                        </a:rPr>
                        <a:t>+0.7487</a:t>
                      </a:r>
                    </a:p>
                  </a:txBody>
                  <a:tcPr marL="114300" marR="95250" marT="47625" marB="47625" anchor="ctr">
                    <a:solidFill>
                      <a:srgbClr val="FFFFFF"/>
                    </a:solidFill>
                  </a:tcPr>
                </a:tc>
                <a:extLst>
                  <a:ext uri="{0D108BD9-81ED-4DB2-BD59-A6C34878D82A}">
                    <a16:rowId xmlns:a16="http://schemas.microsoft.com/office/drawing/2014/main" val="10005"/>
                  </a:ext>
                </a:extLst>
              </a:tr>
            </a:tbl>
          </a:graphicData>
        </a:graphic>
      </p:graphicFrame>
      <p:sp>
        <p:nvSpPr>
          <p:cNvPr id="5" name="矩形 4">
            <a:extLst>
              <a:ext uri="{FF2B5EF4-FFF2-40B4-BE49-F238E27FC236}">
                <a16:creationId xmlns:a16="http://schemas.microsoft.com/office/drawing/2014/main" id="{C93390D4-15CF-40D9-BB61-6F1AF8108081}"/>
              </a:ext>
            </a:extLst>
          </p:cNvPr>
          <p:cNvSpPr>
            <a:spLocks noGrp="1"/>
          </p:cNvSpPr>
          <p:nvPr/>
        </p:nvSpPr>
        <p:spPr>
          <a:xfrm>
            <a:off x="638175" y="5429250"/>
            <a:ext cx="10915650" cy="361950"/>
          </a:xfrm>
          <a:prstGeom prst="rect">
            <a:avLst/>
          </a:prstGeom>
          <a:noFill/>
          <a:ln w="0">
            <a:noFill/>
          </a:ln>
        </p:spPr>
        <p:txBody>
          <a:bodyPr wrap="square" lIns="0" tIns="0" rIns="0" bIns="0" anchor="ctr">
            <a:noAutofit/>
          </a:bodyPr>
          <a:lstStyle/>
          <a:p>
            <a:pPr algn="l">
              <a:defRPr sz="1950" b="1">
                <a:solidFill>
                  <a:srgbClr val="111111"/>
                </a:solidFill>
                <a:latin typeface="Calibri"/>
                <a:ea typeface="Calibri"/>
                <a:cs typeface="Calibri"/>
              </a:defRPr>
            </a:pPr>
            <a:r>
              <a:rPr sz="1950" b="1">
                <a:solidFill>
                  <a:srgbClr val="111111"/>
                </a:solidFill>
                <a:latin typeface="Calibri"/>
                <a:ea typeface="Calibri"/>
                <a:cs typeface="Calibri"/>
              </a:rPr>
              <a:t>All five paired contrasts are positive for each of the three seeds.</a:t>
            </a:r>
          </a:p>
        </p:txBody>
      </p:sp>
      <p:sp>
        <p:nvSpPr>
          <p:cNvPr id="6" name="矩形 5">
            <a:extLst>
              <a:ext uri="{FF2B5EF4-FFF2-40B4-BE49-F238E27FC236}">
                <a16:creationId xmlns:a16="http://schemas.microsoft.com/office/drawing/2014/main" id="{CB210686-1F86-4E19-929E-BEB9729C3E08}"/>
              </a:ext>
            </a:extLst>
          </p:cNvPr>
          <p:cNvSpPr>
            <a:spLocks noGrp="1"/>
          </p:cNvSpPr>
          <p:nvPr/>
        </p:nvSpPr>
        <p:spPr>
          <a:xfrm>
            <a:off x="638175" y="5867400"/>
            <a:ext cx="10915650" cy="428625"/>
          </a:xfrm>
          <a:prstGeom prst="rect">
            <a:avLst/>
          </a:prstGeom>
          <a:noFill/>
          <a:ln w="0">
            <a:noFill/>
          </a:ln>
        </p:spPr>
        <p:txBody>
          <a:bodyPr wrap="square" lIns="0" tIns="0" rIns="0" bIns="0" anchor="ctr">
            <a:noAutofit/>
          </a:bodyPr>
          <a:lstStyle/>
          <a:p>
            <a:pPr algn="l">
              <a:defRPr sz="1725" b="0">
                <a:solidFill>
                  <a:srgbClr val="606060"/>
                </a:solidFill>
                <a:latin typeface="Calibri"/>
                <a:ea typeface="Calibri"/>
                <a:cs typeface="Calibri"/>
              </a:defRPr>
            </a:pPr>
            <a:r>
              <a:rPr sz="1725" b="0">
                <a:solidFill>
                  <a:srgbClr val="606060"/>
                </a:solidFill>
                <a:latin typeface="Calibri"/>
                <a:ea typeface="Calibri"/>
                <a:cs typeface="Calibri"/>
              </a:rPr>
              <a:t>This supports the two complete modules under the tested recipe. Three seeds do not establish significance.</a:t>
            </a:r>
          </a:p>
        </p:txBody>
      </p:sp>
    </p:spTree>
    <p:extLst>
      <p:ext uri="{BB962C8B-B14F-4D97-AF65-F5344CB8AC3E}">
        <p14:creationId xmlns:p14="http://schemas.microsoft.com/office/powerpoint/2010/main" val="12264182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27792B00-9400-4E96-8C31-D1A78D5B10E1}"/>
              </a:ext>
            </a:extLst>
          </p:cNvPr>
          <p:cNvSpPr>
            <a:spLocks noGrp="1"/>
          </p:cNvSpPr>
          <p:nvPr/>
        </p:nvSpPr>
        <p:spPr>
          <a:xfrm>
            <a:off x="640080" y="361950"/>
            <a:ext cx="10915650" cy="952500"/>
          </a:xfrm>
          <a:prstGeom prst="rect">
            <a:avLst/>
          </a:prstGeom>
          <a:noFill/>
          <a:ln w="0">
            <a:noFill/>
          </a:ln>
        </p:spPr>
        <p:txBody>
          <a:bodyPr wrap="square" lIns="0" tIns="0" rIns="0" bIns="0" anchor="ctr">
            <a:noAutofit/>
          </a:bodyPr>
          <a:lstStyle/>
          <a:p>
            <a:pPr algn="l">
              <a:defRPr sz="3000" b="1">
                <a:solidFill>
                  <a:srgbClr val="111111"/>
                </a:solidFill>
                <a:latin typeface="Cambria"/>
                <a:ea typeface="Cambria"/>
                <a:cs typeface="Cambria"/>
              </a:defRPr>
            </a:pPr>
            <a:r>
              <a:rPr sz="3000" b="1">
                <a:solidFill>
                  <a:srgbClr val="111111"/>
                </a:solidFill>
                <a:latin typeface="Cambria"/>
                <a:ea typeface="Cambria"/>
                <a:cs typeface="Cambria"/>
              </a:rPr>
              <a:t>Text-guided external comparisons</a:t>
            </a:r>
          </a:p>
        </p:txBody>
      </p:sp>
      <p:sp>
        <p:nvSpPr>
          <p:cNvPr id="2" name="矩形 1">
            <a:extLst>
              <a:ext uri="{FF2B5EF4-FFF2-40B4-BE49-F238E27FC236}">
                <a16:creationId xmlns:a16="http://schemas.microsoft.com/office/drawing/2014/main" id="{C36F73E2-EBB4-4E55-8E3F-0BF0AAD97793}"/>
              </a:ext>
            </a:extLst>
          </p:cNvPr>
          <p:cNvSpPr>
            <a:spLocks noGrp="1"/>
          </p:cNvSpPr>
          <p:nvPr/>
        </p:nvSpPr>
        <p:spPr>
          <a:xfrm>
            <a:off x="638175" y="6467475"/>
            <a:ext cx="9906000" cy="190500"/>
          </a:xfrm>
          <a:prstGeom prst="rect">
            <a:avLst/>
          </a:prstGeom>
          <a:noFill/>
          <a:ln w="0">
            <a:noFill/>
          </a:ln>
        </p:spPr>
        <p:txBody>
          <a:bodyPr wrap="square" lIns="0" tIns="0" rIns="0" bIns="0" anchor="ctr">
            <a:noAutofit/>
          </a:bodyPr>
          <a:lstStyle/>
          <a:p>
            <a:pPr algn="l">
              <a:defRPr sz="900" b="0">
                <a:solidFill>
                  <a:srgbClr val="999999"/>
                </a:solidFill>
                <a:latin typeface="Calibri"/>
                <a:ea typeface="Calibri"/>
                <a:cs typeface="Calibri"/>
              </a:defRPr>
            </a:pPr>
            <a:r>
              <a:rPr sz="900" b="0">
                <a:solidFill>
                  <a:srgbClr val="999999"/>
                </a:solidFill>
                <a:latin typeface="Calibri"/>
                <a:ea typeface="Calibri"/>
                <a:cs typeface="Calibri"/>
              </a:rPr>
              <a:t>Full Test set: 2,113 images, per-image macro metrics</a:t>
            </a:r>
          </a:p>
        </p:txBody>
      </p:sp>
      <p:sp>
        <p:nvSpPr>
          <p:cNvPr id="3" name="矩形 2">
            <a:extLst>
              <a:ext uri="{FF2B5EF4-FFF2-40B4-BE49-F238E27FC236}">
                <a16:creationId xmlns:a16="http://schemas.microsoft.com/office/drawing/2014/main" id="{4991BB25-4B2D-4E32-A139-D3AFBED16DE6}"/>
              </a:ext>
            </a:extLst>
          </p:cNvPr>
          <p:cNvSpPr>
            <a:spLocks noGrp="1"/>
          </p:cNvSpPr>
          <p:nvPr/>
        </p:nvSpPr>
        <p:spPr>
          <a:xfrm>
            <a:off x="11144250" y="6467475"/>
            <a:ext cx="409575" cy="190500"/>
          </a:xfrm>
          <a:prstGeom prst="rect">
            <a:avLst/>
          </a:prstGeom>
          <a:noFill/>
          <a:ln w="0">
            <a:noFill/>
          </a:ln>
        </p:spPr>
        <p:txBody>
          <a:bodyPr wrap="square" lIns="0" tIns="0" rIns="0" bIns="0" anchor="ctr">
            <a:noAutofit/>
          </a:bodyPr>
          <a:lstStyle/>
          <a:p>
            <a:pPr algn="r">
              <a:defRPr sz="900" b="0">
                <a:solidFill>
                  <a:srgbClr val="999999"/>
                </a:solidFill>
                <a:latin typeface="Calibri"/>
                <a:ea typeface="Calibri"/>
                <a:cs typeface="Calibri"/>
              </a:defRPr>
            </a:pPr>
            <a:r>
              <a:rPr sz="900" b="0">
                <a:solidFill>
                  <a:srgbClr val="999999"/>
                </a:solidFill>
                <a:latin typeface="Calibri"/>
                <a:ea typeface="Calibri"/>
                <a:cs typeface="Calibri"/>
              </a:rPr>
              <a:t>11</a:t>
            </a:r>
          </a:p>
        </p:txBody>
      </p:sp>
      <p:graphicFrame>
        <p:nvGraphicFramePr>
          <p:cNvPr id="10" name="表格 9"/>
          <p:cNvGraphicFramePr/>
          <p:nvPr/>
        </p:nvGraphicFramePr>
        <p:xfrm>
          <a:off x="638175" y="1724025"/>
          <a:ext cx="10915650" cy="3190875"/>
        </p:xfrm>
        <a:graphic>
          <a:graphicData uri="http://schemas.openxmlformats.org/drawingml/2006/table">
            <a:tbl>
              <a:tblPr/>
              <a:tblGrid>
                <a:gridCol w="2876550">
                  <a:extLst>
                    <a:ext uri="{9D8B030D-6E8A-4147-A177-3AD203B41FA5}">
                      <a16:colId xmlns:a16="http://schemas.microsoft.com/office/drawing/2014/main" val="20000"/>
                    </a:ext>
                  </a:extLst>
                </a:gridCol>
                <a:gridCol w="2190750">
                  <a:extLst>
                    <a:ext uri="{9D8B030D-6E8A-4147-A177-3AD203B41FA5}">
                      <a16:colId xmlns:a16="http://schemas.microsoft.com/office/drawing/2014/main" val="20001"/>
                    </a:ext>
                  </a:extLst>
                </a:gridCol>
                <a:gridCol w="2190750">
                  <a:extLst>
                    <a:ext uri="{9D8B030D-6E8A-4147-A177-3AD203B41FA5}">
                      <a16:colId xmlns:a16="http://schemas.microsoft.com/office/drawing/2014/main" val="20002"/>
                    </a:ext>
                  </a:extLst>
                </a:gridCol>
                <a:gridCol w="3657600">
                  <a:extLst>
                    <a:ext uri="{9D8B030D-6E8A-4147-A177-3AD203B41FA5}">
                      <a16:colId xmlns:a16="http://schemas.microsoft.com/office/drawing/2014/main" val="20003"/>
                    </a:ext>
                  </a:extLst>
                </a:gridCol>
              </a:tblGrid>
              <a:tr h="638175">
                <a:tc>
                  <a:txBody>
                    <a:bodyPr/>
                    <a:lstStyle/>
                    <a:p>
                      <a:r>
                        <a:rPr sz="1875" b="1">
                          <a:solidFill>
                            <a:srgbClr val="FFFFFF"/>
                          </a:solidFill>
                          <a:latin typeface="Calibri"/>
                          <a:ea typeface="Calibri"/>
                          <a:cs typeface="Calibri"/>
                        </a:rPr>
                        <a:t>Method</a:t>
                      </a:r>
                    </a:p>
                  </a:txBody>
                  <a:tcPr marL="114300" marR="95250" marT="47625" marB="47625" anchor="ctr">
                    <a:solidFill>
                      <a:srgbClr val="111111"/>
                    </a:solidFill>
                  </a:tcPr>
                </a:tc>
                <a:tc>
                  <a:txBody>
                    <a:bodyPr/>
                    <a:lstStyle/>
                    <a:p>
                      <a:r>
                        <a:rPr sz="1875" b="1">
                          <a:solidFill>
                            <a:srgbClr val="FFFFFF"/>
                          </a:solidFill>
                          <a:latin typeface="Calibri"/>
                          <a:ea typeface="Calibri"/>
                          <a:cs typeface="Calibri"/>
                        </a:rPr>
                        <a:t>Test IoU (%)</a:t>
                      </a:r>
                    </a:p>
                  </a:txBody>
                  <a:tcPr marL="114300" marR="95250" marT="47625" marB="47625" anchor="ctr">
                    <a:solidFill>
                      <a:srgbClr val="111111"/>
                    </a:solidFill>
                  </a:tcPr>
                </a:tc>
                <a:tc>
                  <a:txBody>
                    <a:bodyPr/>
                    <a:lstStyle/>
                    <a:p>
                      <a:r>
                        <a:rPr sz="1875" b="1">
                          <a:solidFill>
                            <a:srgbClr val="FFFFFF"/>
                          </a:solidFill>
                          <a:latin typeface="Calibri"/>
                          <a:ea typeface="Calibri"/>
                          <a:cs typeface="Calibri"/>
                        </a:rPr>
                        <a:t>Test Dice (%)</a:t>
                      </a:r>
                    </a:p>
                  </a:txBody>
                  <a:tcPr marL="114300" marR="95250" marT="47625" marB="47625" anchor="ctr">
                    <a:solidFill>
                      <a:srgbClr val="111111"/>
                    </a:solidFill>
                  </a:tcPr>
                </a:tc>
                <a:tc>
                  <a:txBody>
                    <a:bodyPr/>
                    <a:lstStyle/>
                    <a:p>
                      <a:r>
                        <a:rPr sz="1875" b="1">
                          <a:solidFill>
                            <a:srgbClr val="FFFFFF"/>
                          </a:solidFill>
                          <a:latin typeface="Calibri"/>
                          <a:ea typeface="Calibri"/>
                          <a:cs typeface="Calibri"/>
                        </a:rPr>
                        <a:t>Evaluation source</a:t>
                      </a:r>
                    </a:p>
                  </a:txBody>
                  <a:tcPr marL="114300" marR="95250" marT="47625" marB="47625" anchor="ctr">
                    <a:solidFill>
                      <a:srgbClr val="111111"/>
                    </a:solidFill>
                  </a:tcPr>
                </a:tc>
                <a:extLst>
                  <a:ext uri="{0D108BD9-81ED-4DB2-BD59-A6C34878D82A}">
                    <a16:rowId xmlns:a16="http://schemas.microsoft.com/office/drawing/2014/main" val="10000"/>
                  </a:ext>
                </a:extLst>
              </a:tr>
              <a:tr h="638175">
                <a:tc>
                  <a:txBody>
                    <a:bodyPr/>
                    <a:lstStyle/>
                    <a:p>
                      <a:r>
                        <a:rPr sz="1875" b="0">
                          <a:solidFill>
                            <a:srgbClr val="111111"/>
                          </a:solidFill>
                          <a:latin typeface="Calibri"/>
                          <a:ea typeface="Calibri"/>
                          <a:cs typeface="Calibri"/>
                        </a:rPr>
                        <a:t>MMI-UNet</a:t>
                      </a:r>
                    </a:p>
                  </a:txBody>
                  <a:tcPr marL="114300" marR="95250" marT="47625" marB="47625" anchor="ctr">
                    <a:solidFill>
                      <a:srgbClr val="FFFFFF"/>
                    </a:solidFill>
                  </a:tcPr>
                </a:tc>
                <a:tc>
                  <a:txBody>
                    <a:bodyPr/>
                    <a:lstStyle/>
                    <a:p>
                      <a:r>
                        <a:rPr sz="1875" b="0">
                          <a:solidFill>
                            <a:srgbClr val="111111"/>
                          </a:solidFill>
                          <a:latin typeface="Calibri"/>
                          <a:ea typeface="Calibri"/>
                          <a:cs typeface="Calibri"/>
                        </a:rPr>
                        <a:t>75.4783</a:t>
                      </a:r>
                    </a:p>
                  </a:txBody>
                  <a:tcPr marL="114300" marR="95250" marT="47625" marB="47625" anchor="ctr">
                    <a:solidFill>
                      <a:srgbClr val="FFFFFF"/>
                    </a:solidFill>
                  </a:tcPr>
                </a:tc>
                <a:tc>
                  <a:txBody>
                    <a:bodyPr/>
                    <a:lstStyle/>
                    <a:p>
                      <a:r>
                        <a:rPr sz="1875" b="0">
                          <a:solidFill>
                            <a:srgbClr val="111111"/>
                          </a:solidFill>
                          <a:latin typeface="Calibri"/>
                          <a:ea typeface="Calibri"/>
                          <a:cs typeface="Calibri"/>
                        </a:rPr>
                        <a:t>83.9707</a:t>
                      </a:r>
                    </a:p>
                  </a:txBody>
                  <a:tcPr marL="114300" marR="95250" marT="47625" marB="47625" anchor="ctr">
                    <a:solidFill>
                      <a:srgbClr val="FFFFFF"/>
                    </a:solidFill>
                  </a:tcPr>
                </a:tc>
                <a:tc>
                  <a:txBody>
                    <a:bodyPr/>
                    <a:lstStyle/>
                    <a:p>
                      <a:r>
                        <a:rPr sz="1875" b="0">
                          <a:solidFill>
                            <a:srgbClr val="111111"/>
                          </a:solidFill>
                          <a:latin typeface="Calibri"/>
                          <a:ea typeface="Calibri"/>
                          <a:cs typeface="Calibri"/>
                        </a:rPr>
                        <a:t>Author checkpoint</a:t>
                      </a:r>
                    </a:p>
                  </a:txBody>
                  <a:tcPr marL="114300" marR="95250" marT="47625" marB="47625" anchor="ctr">
                    <a:solidFill>
                      <a:srgbClr val="FFFFFF"/>
                    </a:solidFill>
                  </a:tcPr>
                </a:tc>
                <a:extLst>
                  <a:ext uri="{0D108BD9-81ED-4DB2-BD59-A6C34878D82A}">
                    <a16:rowId xmlns:a16="http://schemas.microsoft.com/office/drawing/2014/main" val="10001"/>
                  </a:ext>
                </a:extLst>
              </a:tr>
              <a:tr h="638175">
                <a:tc>
                  <a:txBody>
                    <a:bodyPr/>
                    <a:lstStyle/>
                    <a:p>
                      <a:r>
                        <a:rPr sz="1875" b="0">
                          <a:solidFill>
                            <a:srgbClr val="111111"/>
                          </a:solidFill>
                          <a:latin typeface="Calibri"/>
                          <a:ea typeface="Calibri"/>
                          <a:cs typeface="Calibri"/>
                        </a:rPr>
                        <a:t>GuideDecoder</a:t>
                      </a:r>
                    </a:p>
                  </a:txBody>
                  <a:tcPr marL="114300" marR="95250" marT="47625" marB="47625" anchor="ctr">
                    <a:solidFill>
                      <a:srgbClr val="F3F3F3"/>
                    </a:solidFill>
                  </a:tcPr>
                </a:tc>
                <a:tc>
                  <a:txBody>
                    <a:bodyPr/>
                    <a:lstStyle/>
                    <a:p>
                      <a:r>
                        <a:rPr sz="1875" b="0">
                          <a:solidFill>
                            <a:srgbClr val="111111"/>
                          </a:solidFill>
                          <a:latin typeface="Calibri"/>
                          <a:ea typeface="Calibri"/>
                          <a:cs typeface="Calibri"/>
                        </a:rPr>
                        <a:t>75.2936</a:t>
                      </a:r>
                    </a:p>
                  </a:txBody>
                  <a:tcPr marL="114300" marR="95250" marT="47625" marB="47625" anchor="ctr">
                    <a:solidFill>
                      <a:srgbClr val="F3F3F3"/>
                    </a:solidFill>
                  </a:tcPr>
                </a:tc>
                <a:tc>
                  <a:txBody>
                    <a:bodyPr/>
                    <a:lstStyle/>
                    <a:p>
                      <a:r>
                        <a:rPr sz="1875" b="0">
                          <a:solidFill>
                            <a:srgbClr val="111111"/>
                          </a:solidFill>
                          <a:latin typeface="Calibri"/>
                          <a:ea typeface="Calibri"/>
                          <a:cs typeface="Calibri"/>
                        </a:rPr>
                        <a:t>83.8836</a:t>
                      </a:r>
                    </a:p>
                  </a:txBody>
                  <a:tcPr marL="114300" marR="95250" marT="47625" marB="47625" anchor="ctr">
                    <a:solidFill>
                      <a:srgbClr val="F3F3F3"/>
                    </a:solidFill>
                  </a:tcPr>
                </a:tc>
                <a:tc>
                  <a:txBody>
                    <a:bodyPr/>
                    <a:lstStyle/>
                    <a:p>
                      <a:r>
                        <a:rPr sz="1875" b="0">
                          <a:solidFill>
                            <a:srgbClr val="111111"/>
                          </a:solidFill>
                          <a:latin typeface="Calibri"/>
                          <a:ea typeface="Calibri"/>
                          <a:cs typeface="Calibri"/>
                        </a:rPr>
                        <a:t>Project-split retraining</a:t>
                      </a:r>
                    </a:p>
                  </a:txBody>
                  <a:tcPr marL="114300" marR="95250" marT="47625" marB="47625" anchor="ctr">
                    <a:solidFill>
                      <a:srgbClr val="F3F3F3"/>
                    </a:solidFill>
                  </a:tcPr>
                </a:tc>
                <a:extLst>
                  <a:ext uri="{0D108BD9-81ED-4DB2-BD59-A6C34878D82A}">
                    <a16:rowId xmlns:a16="http://schemas.microsoft.com/office/drawing/2014/main" val="10002"/>
                  </a:ext>
                </a:extLst>
              </a:tr>
              <a:tr h="638175">
                <a:tc>
                  <a:txBody>
                    <a:bodyPr/>
                    <a:lstStyle/>
                    <a:p>
                      <a:r>
                        <a:rPr sz="1875" b="0">
                          <a:solidFill>
                            <a:srgbClr val="111111"/>
                          </a:solidFill>
                          <a:latin typeface="Calibri"/>
                          <a:ea typeface="Calibri"/>
                          <a:cs typeface="Calibri"/>
                        </a:rPr>
                        <a:t>DD-CMD</a:t>
                      </a:r>
                    </a:p>
                  </a:txBody>
                  <a:tcPr marL="114300" marR="95250" marT="47625" marB="47625" anchor="ctr">
                    <a:solidFill>
                      <a:srgbClr val="FFFFFF"/>
                    </a:solidFill>
                  </a:tcPr>
                </a:tc>
                <a:tc>
                  <a:txBody>
                    <a:bodyPr/>
                    <a:lstStyle/>
                    <a:p>
                      <a:r>
                        <a:rPr sz="1875" b="0">
                          <a:solidFill>
                            <a:srgbClr val="111111"/>
                          </a:solidFill>
                          <a:latin typeface="Calibri"/>
                          <a:ea typeface="Calibri"/>
                          <a:cs typeface="Calibri"/>
                        </a:rPr>
                        <a:t>76.2994</a:t>
                      </a:r>
                    </a:p>
                  </a:txBody>
                  <a:tcPr marL="114300" marR="95250" marT="47625" marB="47625" anchor="ctr">
                    <a:solidFill>
                      <a:srgbClr val="FFFFFF"/>
                    </a:solidFill>
                  </a:tcPr>
                </a:tc>
                <a:tc>
                  <a:txBody>
                    <a:bodyPr/>
                    <a:lstStyle/>
                    <a:p>
                      <a:r>
                        <a:rPr sz="1875" b="0" dirty="0">
                          <a:solidFill>
                            <a:srgbClr val="111111"/>
                          </a:solidFill>
                          <a:latin typeface="Calibri"/>
                          <a:ea typeface="Calibri"/>
                          <a:cs typeface="Calibri"/>
                        </a:rPr>
                        <a:t>84.7533</a:t>
                      </a:r>
                    </a:p>
                  </a:txBody>
                  <a:tcPr marL="114300" marR="95250" marT="47625" marB="47625" anchor="ctr">
                    <a:solidFill>
                      <a:srgbClr val="FFFFFF"/>
                    </a:solidFill>
                  </a:tcPr>
                </a:tc>
                <a:tc>
                  <a:txBody>
                    <a:bodyPr/>
                    <a:lstStyle/>
                    <a:p>
                      <a:r>
                        <a:rPr sz="1875" b="0">
                          <a:solidFill>
                            <a:srgbClr val="111111"/>
                          </a:solidFill>
                          <a:latin typeface="Calibri"/>
                          <a:ea typeface="Calibri"/>
                          <a:cs typeface="Calibri"/>
                        </a:rPr>
                        <a:t>Project-split retraining</a:t>
                      </a:r>
                    </a:p>
                  </a:txBody>
                  <a:tcPr marL="114300" marR="95250" marT="47625" marB="47625" anchor="ctr">
                    <a:solidFill>
                      <a:srgbClr val="FFFFFF"/>
                    </a:solidFill>
                  </a:tcPr>
                </a:tc>
                <a:extLst>
                  <a:ext uri="{0D108BD9-81ED-4DB2-BD59-A6C34878D82A}">
                    <a16:rowId xmlns:a16="http://schemas.microsoft.com/office/drawing/2014/main" val="10003"/>
                  </a:ext>
                </a:extLst>
              </a:tr>
              <a:tr h="638175">
                <a:tc>
                  <a:txBody>
                    <a:bodyPr/>
                    <a:lstStyle/>
                    <a:p>
                      <a:r>
                        <a:rPr sz="1875" b="1">
                          <a:solidFill>
                            <a:srgbClr val="111111"/>
                          </a:solidFill>
                          <a:latin typeface="Calibri"/>
                          <a:ea typeface="Calibri"/>
                          <a:cs typeface="Calibri"/>
                        </a:rPr>
                        <a:t>Ours</a:t>
                      </a:r>
                    </a:p>
                  </a:txBody>
                  <a:tcPr marL="114300" marR="95250" marT="47625" marB="47625" anchor="ctr">
                    <a:solidFill>
                      <a:srgbClr val="F3F3F3"/>
                    </a:solidFill>
                  </a:tcPr>
                </a:tc>
                <a:tc>
                  <a:txBody>
                    <a:bodyPr/>
                    <a:lstStyle/>
                    <a:p>
                      <a:r>
                        <a:rPr sz="1875" b="1">
                          <a:solidFill>
                            <a:srgbClr val="111111"/>
                          </a:solidFill>
                          <a:latin typeface="Calibri"/>
                          <a:ea typeface="Calibri"/>
                          <a:cs typeface="Calibri"/>
                        </a:rPr>
                        <a:t>76.2262</a:t>
                      </a:r>
                    </a:p>
                  </a:txBody>
                  <a:tcPr marL="114300" marR="95250" marT="47625" marB="47625" anchor="ctr">
                    <a:solidFill>
                      <a:srgbClr val="F3F3F3"/>
                    </a:solidFill>
                  </a:tcPr>
                </a:tc>
                <a:tc>
                  <a:txBody>
                    <a:bodyPr/>
                    <a:lstStyle/>
                    <a:p>
                      <a:r>
                        <a:rPr sz="1875" b="1">
                          <a:solidFill>
                            <a:srgbClr val="111111"/>
                          </a:solidFill>
                          <a:latin typeface="Calibri"/>
                          <a:ea typeface="Calibri"/>
                          <a:cs typeface="Calibri"/>
                        </a:rPr>
                        <a:t>84.7112</a:t>
                      </a:r>
                    </a:p>
                  </a:txBody>
                  <a:tcPr marL="114300" marR="95250" marT="47625" marB="47625" anchor="ctr">
                    <a:solidFill>
                      <a:srgbClr val="F3F3F3"/>
                    </a:solidFill>
                  </a:tcPr>
                </a:tc>
                <a:tc>
                  <a:txBody>
                    <a:bodyPr/>
                    <a:lstStyle/>
                    <a:p>
                      <a:r>
                        <a:rPr sz="1875" b="1" dirty="0">
                          <a:solidFill>
                            <a:srgbClr val="111111"/>
                          </a:solidFill>
                          <a:latin typeface="Calibri"/>
                          <a:ea typeface="Calibri"/>
                          <a:cs typeface="Calibri"/>
                        </a:rPr>
                        <a:t>Three-seed mean</a:t>
                      </a:r>
                    </a:p>
                  </a:txBody>
                  <a:tcPr marL="114300" marR="95250" marT="47625" marB="47625" anchor="ctr">
                    <a:solidFill>
                      <a:srgbClr val="F3F3F3"/>
                    </a:solidFill>
                  </a:tcPr>
                </a:tc>
                <a:extLst>
                  <a:ext uri="{0D108BD9-81ED-4DB2-BD59-A6C34878D82A}">
                    <a16:rowId xmlns:a16="http://schemas.microsoft.com/office/drawing/2014/main" val="10004"/>
                  </a:ext>
                </a:extLst>
              </a:tr>
            </a:tbl>
          </a:graphicData>
        </a:graphic>
      </p:graphicFrame>
      <p:sp>
        <p:nvSpPr>
          <p:cNvPr id="5" name="矩形 4">
            <a:extLst>
              <a:ext uri="{FF2B5EF4-FFF2-40B4-BE49-F238E27FC236}">
                <a16:creationId xmlns:a16="http://schemas.microsoft.com/office/drawing/2014/main" id="{A52D0B1E-54D7-432D-9857-076575D61FD6}"/>
              </a:ext>
            </a:extLst>
          </p:cNvPr>
          <p:cNvSpPr>
            <a:spLocks noGrp="1"/>
          </p:cNvSpPr>
          <p:nvPr/>
        </p:nvSpPr>
        <p:spPr>
          <a:xfrm>
            <a:off x="638175" y="5238750"/>
            <a:ext cx="10915650" cy="381000"/>
          </a:xfrm>
          <a:prstGeom prst="rect">
            <a:avLst/>
          </a:prstGeom>
          <a:noFill/>
          <a:ln w="0">
            <a:noFill/>
          </a:ln>
        </p:spPr>
        <p:txBody>
          <a:bodyPr wrap="square" lIns="0" tIns="0" rIns="0" bIns="0" anchor="ctr">
            <a:noAutofit/>
          </a:bodyPr>
          <a:lstStyle/>
          <a:p>
            <a:pPr algn="l">
              <a:defRPr sz="1950" b="1">
                <a:solidFill>
                  <a:srgbClr val="111111"/>
                </a:solidFill>
                <a:latin typeface="Calibri"/>
                <a:ea typeface="Calibri"/>
                <a:cs typeface="Calibri"/>
              </a:defRPr>
            </a:pPr>
            <a:r>
              <a:rPr sz="1950" b="1" dirty="0">
                <a:solidFill>
                  <a:srgbClr val="111111"/>
                </a:solidFill>
                <a:latin typeface="Calibri"/>
                <a:ea typeface="Calibri"/>
                <a:cs typeface="Calibri"/>
              </a:rPr>
              <a:t>DD-CMD is 0.0732 pp above our mean </a:t>
            </a:r>
            <a:r>
              <a:rPr sz="1950" b="1" dirty="0" err="1">
                <a:solidFill>
                  <a:srgbClr val="111111"/>
                </a:solidFill>
                <a:latin typeface="Calibri"/>
                <a:ea typeface="Calibri"/>
                <a:cs typeface="Calibri"/>
              </a:rPr>
              <a:t>IoU</a:t>
            </a:r>
            <a:r>
              <a:rPr sz="1950" b="1" dirty="0">
                <a:solidFill>
                  <a:srgbClr val="111111"/>
                </a:solidFill>
                <a:latin typeface="Calibri"/>
                <a:ea typeface="Calibri"/>
                <a:cs typeface="Calibri"/>
              </a:rPr>
              <a:t> in these evaluations.</a:t>
            </a:r>
          </a:p>
        </p:txBody>
      </p:sp>
      <p:sp>
        <p:nvSpPr>
          <p:cNvPr id="6" name="矩形 5">
            <a:extLst>
              <a:ext uri="{FF2B5EF4-FFF2-40B4-BE49-F238E27FC236}">
                <a16:creationId xmlns:a16="http://schemas.microsoft.com/office/drawing/2014/main" id="{4EC7D328-6664-45A3-8C26-A76514122C92}"/>
              </a:ext>
            </a:extLst>
          </p:cNvPr>
          <p:cNvSpPr>
            <a:spLocks noGrp="1"/>
          </p:cNvSpPr>
          <p:nvPr/>
        </p:nvSpPr>
        <p:spPr>
          <a:xfrm>
            <a:off x="638175" y="5743575"/>
            <a:ext cx="10915650" cy="590550"/>
          </a:xfrm>
          <a:prstGeom prst="rect">
            <a:avLst/>
          </a:prstGeom>
          <a:noFill/>
          <a:ln w="0">
            <a:noFill/>
          </a:ln>
        </p:spPr>
        <p:txBody>
          <a:bodyPr wrap="square" lIns="0" tIns="0" rIns="0" bIns="0" anchor="ctr">
            <a:noAutofit/>
          </a:bodyPr>
          <a:lstStyle/>
          <a:p>
            <a:pPr algn="l">
              <a:defRPr sz="1725" b="0">
                <a:solidFill>
                  <a:srgbClr val="606060"/>
                </a:solidFill>
                <a:latin typeface="Calibri"/>
                <a:ea typeface="Calibri"/>
                <a:cs typeface="Calibri"/>
              </a:defRPr>
            </a:pPr>
            <a:r>
              <a:rPr sz="1725" b="0" dirty="0">
                <a:solidFill>
                  <a:srgbClr val="606060"/>
                </a:solidFill>
                <a:latin typeface="Calibri"/>
                <a:ea typeface="Calibri"/>
                <a:cs typeface="Calibri"/>
              </a:rPr>
              <a:t>Different training recipes. External rows represent one run or checkpoint.</a:t>
            </a:r>
          </a:p>
          <a:p>
            <a:pPr algn="l">
              <a:defRPr sz="1725" b="0">
                <a:solidFill>
                  <a:srgbClr val="606060"/>
                </a:solidFill>
                <a:latin typeface="Calibri"/>
                <a:ea typeface="Calibri"/>
                <a:cs typeface="Calibri"/>
              </a:defRPr>
            </a:pPr>
            <a:r>
              <a:rPr sz="1725" b="0" dirty="0">
                <a:solidFill>
                  <a:srgbClr val="606060"/>
                </a:solidFill>
                <a:latin typeface="Calibri"/>
                <a:ea typeface="Calibri"/>
                <a:cs typeface="Calibri"/>
              </a:rPr>
              <a:t>MMI-</a:t>
            </a:r>
            <a:r>
              <a:rPr sz="1725" b="0" dirty="0" err="1">
                <a:solidFill>
                  <a:srgbClr val="606060"/>
                </a:solidFill>
                <a:latin typeface="Calibri"/>
                <a:ea typeface="Calibri"/>
                <a:cs typeface="Calibri"/>
              </a:rPr>
              <a:t>UNet’s</a:t>
            </a:r>
            <a:r>
              <a:rPr sz="1725" b="0" dirty="0">
                <a:solidFill>
                  <a:srgbClr val="606060"/>
                </a:solidFill>
                <a:latin typeface="Calibri"/>
                <a:ea typeface="Calibri"/>
                <a:cs typeface="Calibri"/>
              </a:rPr>
              <a:t> training filename list has not been independently verified.</a:t>
            </a:r>
          </a:p>
        </p:txBody>
      </p:sp>
    </p:spTree>
    <p:extLst>
      <p:ext uri="{BB962C8B-B14F-4D97-AF65-F5344CB8AC3E}">
        <p14:creationId xmlns:p14="http://schemas.microsoft.com/office/powerpoint/2010/main" val="17385357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7EA9472-EE5F-41A1-BB37-6D3E09363AC0}"/>
              </a:ext>
            </a:extLst>
          </p:cNvPr>
          <p:cNvSpPr>
            <a:spLocks noGrp="1"/>
          </p:cNvSpPr>
          <p:nvPr/>
        </p:nvSpPr>
        <p:spPr>
          <a:xfrm>
            <a:off x="640080" y="361950"/>
            <a:ext cx="10915650" cy="952500"/>
          </a:xfrm>
          <a:prstGeom prst="rect">
            <a:avLst/>
          </a:prstGeom>
          <a:noFill/>
        </p:spPr>
        <p:txBody>
          <a:bodyPr wrap="square" lIns="0" tIns="0" rIns="0" bIns="0" anchor="ctr">
            <a:noAutofit/>
          </a:bodyPr>
          <a:lstStyle/>
          <a:p>
            <a:pPr marL="0" indent="0">
              <a:buNone/>
              <a:defRPr sz="3000" b="1">
                <a:solidFill>
                  <a:srgbClr val="111111"/>
                </a:solidFill>
                <a:latin typeface="Cambria"/>
                <a:ea typeface="Cambria"/>
                <a:cs typeface="Cambria"/>
              </a:defRPr>
            </a:pPr>
            <a:r>
              <a:rPr sz="3000" b="1">
                <a:solidFill>
                  <a:srgbClr val="111111"/>
                </a:solidFill>
                <a:latin typeface="Cambria"/>
                <a:ea typeface="Cambria"/>
                <a:cs typeface="Cambria"/>
              </a:rPr>
              <a:t>Conclusions</a:t>
            </a:r>
            <a:endParaRPr sz="2800"/>
          </a:p>
        </p:txBody>
      </p:sp>
      <p:sp>
        <p:nvSpPr>
          <p:cNvPr id="3" name="FSDR">
            <a:extLst>
              <a:ext uri="{FF2B5EF4-FFF2-40B4-BE49-F238E27FC236}">
                <a16:creationId xmlns:a16="http://schemas.microsoft.com/office/drawing/2014/main" id="{BAE9F7B0-FD9B-4233-87E9-68AFD97127CA}"/>
              </a:ext>
            </a:extLst>
          </p:cNvPr>
          <p:cNvSpPr>
            <a:spLocks noGrp="1"/>
          </p:cNvSpPr>
          <p:nvPr/>
        </p:nvSpPr>
        <p:spPr>
          <a:xfrm>
            <a:off x="638175" y="1714500"/>
            <a:ext cx="2333625" cy="428625"/>
          </a:xfrm>
          <a:prstGeom prst="rect">
            <a:avLst/>
          </a:prstGeom>
          <a:noFill/>
          <a:ln w="0">
            <a:noFill/>
          </a:ln>
        </p:spPr>
        <p:txBody>
          <a:bodyPr wrap="square" lIns="0" tIns="0" rIns="0" bIns="0" anchor="t">
            <a:noAutofit/>
          </a:bodyPr>
          <a:lstStyle/>
          <a:p>
            <a:pPr algn="l">
              <a:buNone/>
              <a:defRPr sz="2175" b="1">
                <a:solidFill>
                  <a:srgbClr val="111111"/>
                </a:solidFill>
                <a:latin typeface="Calibri"/>
                <a:ea typeface="Calibri"/>
                <a:cs typeface="Calibri"/>
              </a:defRPr>
            </a:pPr>
            <a:r>
              <a:rPr sz="2175" b="1">
                <a:solidFill>
                  <a:srgbClr val="111111"/>
                </a:solidFill>
                <a:latin typeface="Calibri"/>
                <a:ea typeface="Calibri"/>
                <a:cs typeface="Calibri"/>
              </a:rPr>
              <a:t>FSDR</a:t>
            </a:r>
          </a:p>
        </p:txBody>
      </p:sp>
      <p:sp>
        <p:nvSpPr>
          <p:cNvPr id="4" name="Separate semantic and detail refinement improves L">
            <a:extLst>
              <a:ext uri="{FF2B5EF4-FFF2-40B4-BE49-F238E27FC236}">
                <a16:creationId xmlns:a16="http://schemas.microsoft.com/office/drawing/2014/main" id="{303BC94F-D084-4E69-92EF-FF72BB6B7B29}"/>
              </a:ext>
            </a:extLst>
          </p:cNvPr>
          <p:cNvSpPr>
            <a:spLocks noGrp="1"/>
          </p:cNvSpPr>
          <p:nvPr/>
        </p:nvSpPr>
        <p:spPr>
          <a:xfrm>
            <a:off x="3124200" y="1714500"/>
            <a:ext cx="8429625" cy="838200"/>
          </a:xfrm>
          <a:prstGeom prst="rect">
            <a:avLst/>
          </a:prstGeom>
          <a:noFill/>
          <a:ln w="0">
            <a:noFill/>
          </a:ln>
        </p:spPr>
        <p:txBody>
          <a:bodyPr wrap="square" lIns="0" tIns="0" rIns="0" bIns="0" anchor="ctr">
            <a:noAutofit/>
          </a:bodyPr>
          <a:lstStyle/>
          <a:p>
            <a:pPr algn="l">
              <a:buNone/>
              <a:defRPr sz="1950" b="0">
                <a:solidFill>
                  <a:srgbClr val="111111"/>
                </a:solidFill>
                <a:latin typeface="Calibri"/>
                <a:ea typeface="Calibri"/>
                <a:cs typeface="Calibri"/>
              </a:defRPr>
            </a:pPr>
            <a:r>
              <a:rPr sz="1950" b="0">
                <a:solidFill>
                  <a:srgbClr val="111111"/>
                </a:solidFill>
                <a:latin typeface="Calibri"/>
                <a:ea typeface="Calibri"/>
                <a:cs typeface="Calibri"/>
              </a:rPr>
              <a:t>Semantic and detail refinement improves matched PLAM by</a:t>
            </a:r>
          </a:p>
          <a:p>
            <a:pPr algn="l">
              <a:buNone/>
              <a:defRPr sz="1950" b="0">
                <a:solidFill>
                  <a:srgbClr val="111111"/>
                </a:solidFill>
                <a:latin typeface="Calibri"/>
                <a:ea typeface="Calibri"/>
                <a:cs typeface="Calibri"/>
              </a:defRPr>
            </a:pPr>
            <a:r>
              <a:rPr sz="1950" b="0">
                <a:solidFill>
                  <a:srgbClr val="111111"/>
                </a:solidFill>
                <a:latin typeface="Calibri"/>
                <a:ea typeface="Calibri"/>
                <a:cs typeface="Calibri"/>
              </a:rPr>
              <a:t>+0.5058 pp mean Test IoU across three seeds.</a:t>
            </a:r>
          </a:p>
        </p:txBody>
      </p:sp>
      <p:sp>
        <p:nvSpPr>
          <p:cNvPr id="5" name="RACE">
            <a:extLst>
              <a:ext uri="{FF2B5EF4-FFF2-40B4-BE49-F238E27FC236}">
                <a16:creationId xmlns:a16="http://schemas.microsoft.com/office/drawing/2014/main" id="{2DC72114-9C60-4EDC-A6C2-175B70B68E11}"/>
              </a:ext>
            </a:extLst>
          </p:cNvPr>
          <p:cNvSpPr>
            <a:spLocks noGrp="1"/>
          </p:cNvSpPr>
          <p:nvPr/>
        </p:nvSpPr>
        <p:spPr>
          <a:xfrm>
            <a:off x="638175" y="3038475"/>
            <a:ext cx="2333625" cy="428625"/>
          </a:xfrm>
          <a:prstGeom prst="rect">
            <a:avLst/>
          </a:prstGeom>
          <a:noFill/>
          <a:ln w="0">
            <a:noFill/>
          </a:ln>
        </p:spPr>
        <p:txBody>
          <a:bodyPr wrap="square" lIns="0" tIns="0" rIns="0" bIns="0" anchor="t">
            <a:noAutofit/>
          </a:bodyPr>
          <a:lstStyle/>
          <a:p>
            <a:pPr algn="l">
              <a:buNone/>
              <a:defRPr sz="2175" b="1">
                <a:solidFill>
                  <a:srgbClr val="111111"/>
                </a:solidFill>
                <a:latin typeface="Calibri"/>
                <a:ea typeface="Calibri"/>
                <a:cs typeface="Calibri"/>
              </a:defRPr>
            </a:pPr>
            <a:r>
              <a:rPr sz="2175" b="1">
                <a:solidFill>
                  <a:srgbClr val="111111"/>
                </a:solidFill>
                <a:latin typeface="Calibri"/>
                <a:ea typeface="Calibri"/>
                <a:cs typeface="Calibri"/>
              </a:rPr>
              <a:t>RACE</a:t>
            </a:r>
          </a:p>
        </p:txBody>
      </p:sp>
      <p:sp>
        <p:nvSpPr>
          <p:cNvPr id="6" name="Report–anatomy–visual agreement guides four CNN sk">
            <a:extLst>
              <a:ext uri="{FF2B5EF4-FFF2-40B4-BE49-F238E27FC236}">
                <a16:creationId xmlns:a16="http://schemas.microsoft.com/office/drawing/2014/main" id="{79FF013A-1D66-458E-92FC-05EE9D6FE773}"/>
              </a:ext>
            </a:extLst>
          </p:cNvPr>
          <p:cNvSpPr>
            <a:spLocks noGrp="1"/>
          </p:cNvSpPr>
          <p:nvPr/>
        </p:nvSpPr>
        <p:spPr>
          <a:xfrm>
            <a:off x="3124200" y="3038475"/>
            <a:ext cx="8429625" cy="838200"/>
          </a:xfrm>
          <a:prstGeom prst="rect">
            <a:avLst/>
          </a:prstGeom>
          <a:noFill/>
          <a:ln w="0">
            <a:noFill/>
          </a:ln>
        </p:spPr>
        <p:txBody>
          <a:bodyPr wrap="square" lIns="0" tIns="0" rIns="0" bIns="0" anchor="ctr">
            <a:noAutofit/>
          </a:bodyPr>
          <a:lstStyle/>
          <a:p>
            <a:pPr algn="l">
              <a:buNone/>
              <a:defRPr sz="1950" b="0">
                <a:solidFill>
                  <a:srgbClr val="111111"/>
                </a:solidFill>
                <a:latin typeface="Calibri"/>
                <a:ea typeface="Calibri"/>
                <a:cs typeface="Calibri"/>
              </a:defRPr>
            </a:pPr>
            <a:r>
              <a:rPr sz="1950" b="0">
                <a:solidFill>
                  <a:srgbClr val="111111"/>
                </a:solidFill>
                <a:latin typeface="Calibri"/>
                <a:ea typeface="Calibri"/>
                <a:cs typeface="Calibri"/>
              </a:rPr>
              <a:t>Complete RACE adds +0.2428 pp mean Test IoU to FSDR.</a:t>
            </a:r>
          </a:p>
          <a:p>
            <a:pPr algn="l">
              <a:buNone/>
              <a:defRPr sz="1950" b="0">
                <a:solidFill>
                  <a:srgbClr val="111111"/>
                </a:solidFill>
                <a:latin typeface="Calibri"/>
                <a:ea typeface="Calibri"/>
                <a:cs typeface="Calibri"/>
              </a:defRPr>
            </a:pPr>
            <a:r>
              <a:rPr sz="1950" b="0">
                <a:solidFill>
                  <a:srgbClr val="111111"/>
                </a:solidFill>
                <a:latin typeface="Calibri"/>
                <a:ea typeface="Calibri"/>
                <a:cs typeface="Calibri"/>
              </a:rPr>
              <a:t>Routing and auxiliary training form one contribution.</a:t>
            </a:r>
          </a:p>
        </p:txBody>
      </p:sp>
      <p:sp>
        <p:nvSpPr>
          <p:cNvPr id="7" name="Final result">
            <a:extLst>
              <a:ext uri="{FF2B5EF4-FFF2-40B4-BE49-F238E27FC236}">
                <a16:creationId xmlns:a16="http://schemas.microsoft.com/office/drawing/2014/main" id="{172602B1-E6D6-4AB6-8799-852BFC10B679}"/>
              </a:ext>
            </a:extLst>
          </p:cNvPr>
          <p:cNvSpPr>
            <a:spLocks noGrp="1"/>
          </p:cNvSpPr>
          <p:nvPr/>
        </p:nvSpPr>
        <p:spPr>
          <a:xfrm>
            <a:off x="638175" y="4362450"/>
            <a:ext cx="2333625" cy="428625"/>
          </a:xfrm>
          <a:prstGeom prst="rect">
            <a:avLst/>
          </a:prstGeom>
          <a:noFill/>
          <a:ln w="0">
            <a:noFill/>
          </a:ln>
        </p:spPr>
        <p:txBody>
          <a:bodyPr wrap="square" lIns="0" tIns="0" rIns="0" bIns="0" anchor="t">
            <a:noAutofit/>
          </a:bodyPr>
          <a:lstStyle/>
          <a:p>
            <a:pPr algn="l">
              <a:buNone/>
              <a:defRPr sz="2175" b="1">
                <a:solidFill>
                  <a:srgbClr val="111111"/>
                </a:solidFill>
                <a:latin typeface="Calibri"/>
                <a:ea typeface="Calibri"/>
                <a:cs typeface="Calibri"/>
              </a:defRPr>
            </a:pPr>
            <a:r>
              <a:rPr sz="2175" b="1">
                <a:solidFill>
                  <a:srgbClr val="111111"/>
                </a:solidFill>
                <a:latin typeface="Calibri"/>
                <a:ea typeface="Calibri"/>
                <a:cs typeface="Calibri"/>
              </a:rPr>
              <a:t>Final result</a:t>
            </a:r>
          </a:p>
        </p:txBody>
      </p:sp>
      <p:sp>
        <p:nvSpPr>
          <p:cNvPr id="8" name="FSDR + RACE: Test IoU 76.2485%, Dice 84.7097%.&#10;Gai">
            <a:extLst>
              <a:ext uri="{FF2B5EF4-FFF2-40B4-BE49-F238E27FC236}">
                <a16:creationId xmlns:a16="http://schemas.microsoft.com/office/drawing/2014/main" id="{B7C4DB42-D0FF-4CE7-9BF0-3710CA5833E4}"/>
              </a:ext>
            </a:extLst>
          </p:cNvPr>
          <p:cNvSpPr>
            <a:spLocks noGrp="1"/>
          </p:cNvSpPr>
          <p:nvPr/>
        </p:nvSpPr>
        <p:spPr>
          <a:xfrm>
            <a:off x="3124200" y="4362450"/>
            <a:ext cx="8429625" cy="838200"/>
          </a:xfrm>
          <a:prstGeom prst="rect">
            <a:avLst/>
          </a:prstGeom>
          <a:noFill/>
          <a:ln w="0">
            <a:noFill/>
          </a:ln>
        </p:spPr>
        <p:txBody>
          <a:bodyPr wrap="square" lIns="0" tIns="0" rIns="0" bIns="0" anchor="ctr">
            <a:noAutofit/>
          </a:bodyPr>
          <a:lstStyle/>
          <a:p>
            <a:pPr algn="l">
              <a:buNone/>
              <a:defRPr sz="1950" b="0">
                <a:solidFill>
                  <a:srgbClr val="111111"/>
                </a:solidFill>
                <a:latin typeface="Calibri"/>
                <a:ea typeface="Calibri"/>
                <a:cs typeface="Calibri"/>
              </a:defRPr>
            </a:pPr>
            <a:r>
              <a:rPr sz="1950" b="0">
                <a:solidFill>
                  <a:srgbClr val="111111"/>
                </a:solidFill>
                <a:latin typeface="Calibri"/>
                <a:ea typeface="Calibri"/>
                <a:cs typeface="Calibri"/>
              </a:rPr>
              <a:t>Ours: 76.2262% Test IoU, 84.7112% Dice (three-seed mean).</a:t>
            </a:r>
          </a:p>
          <a:p>
            <a:pPr algn="l">
              <a:buNone/>
              <a:defRPr sz="1950" b="0">
                <a:solidFill>
                  <a:srgbClr val="111111"/>
                </a:solidFill>
                <a:latin typeface="Calibri"/>
                <a:ea typeface="Calibri"/>
                <a:cs typeface="Calibri"/>
              </a:defRPr>
            </a:pPr>
            <a:r>
              <a:rPr sz="1950" b="0">
                <a:solidFill>
                  <a:srgbClr val="111111"/>
                </a:solidFill>
                <a:latin typeface="Calibri"/>
                <a:ea typeface="Calibri"/>
                <a:cs typeface="Calibri"/>
              </a:rPr>
              <a:t>Gain over matched PLAM: +0.7487 pp IoU.</a:t>
            </a:r>
          </a:p>
        </p:txBody>
      </p:sp>
      <p:sp>
        <p:nvSpPr>
          <p:cNvPr id="9" name="Further validation: paired training seeds, route-s">
            <a:extLst>
              <a:ext uri="{FF2B5EF4-FFF2-40B4-BE49-F238E27FC236}">
                <a16:creationId xmlns:a16="http://schemas.microsoft.com/office/drawing/2014/main" id="{F4023C86-170C-4833-AE27-6CF7E4CCE857}"/>
              </a:ext>
            </a:extLst>
          </p:cNvPr>
          <p:cNvSpPr>
            <a:spLocks noGrp="1"/>
          </p:cNvSpPr>
          <p:nvPr/>
        </p:nvSpPr>
        <p:spPr>
          <a:xfrm>
            <a:off x="638175" y="5895975"/>
            <a:ext cx="10915650" cy="381000"/>
          </a:xfrm>
          <a:prstGeom prst="rect">
            <a:avLst/>
          </a:prstGeom>
          <a:noFill/>
          <a:ln w="0">
            <a:noFill/>
          </a:ln>
        </p:spPr>
        <p:txBody>
          <a:bodyPr wrap="square" lIns="0" tIns="0" rIns="0" bIns="0" anchor="ctr">
            <a:noAutofit/>
          </a:bodyPr>
          <a:lstStyle/>
          <a:p>
            <a:pPr algn="l">
              <a:buNone/>
              <a:defRPr sz="1800" b="0">
                <a:solidFill>
                  <a:srgbClr val="111111"/>
                </a:solidFill>
                <a:latin typeface="Calibri"/>
                <a:ea typeface="Calibri"/>
                <a:cs typeface="Calibri"/>
              </a:defRPr>
            </a:pPr>
            <a:r>
              <a:rPr sz="1800" b="0">
                <a:solidFill>
                  <a:srgbClr val="111111"/>
                </a:solidFill>
                <a:latin typeface="Calibri"/>
                <a:ea typeface="Calibri"/>
                <a:cs typeface="Calibri"/>
              </a:rPr>
              <a:t>Remaining work: independent data and repeated routing-versus-auxiliary controls.</a:t>
            </a:r>
          </a:p>
        </p:txBody>
      </p:sp>
      <p:sp>
        <p:nvSpPr>
          <p:cNvPr id="10" name="Conclusions">
            <a:extLst>
              <a:ext uri="{FF2B5EF4-FFF2-40B4-BE49-F238E27FC236}">
                <a16:creationId xmlns:a16="http://schemas.microsoft.com/office/drawing/2014/main" id="{6111F4BB-B1FE-44A0-BCF1-3AB1A05759C7}"/>
              </a:ext>
            </a:extLst>
          </p:cNvPr>
          <p:cNvSpPr>
            <a:spLocks noGrp="1"/>
          </p:cNvSpPr>
          <p:nvPr/>
        </p:nvSpPr>
        <p:spPr>
          <a:xfrm>
            <a:off x="638175" y="6467475"/>
            <a:ext cx="9906000" cy="190500"/>
          </a:xfrm>
          <a:prstGeom prst="rect">
            <a:avLst/>
          </a:prstGeom>
          <a:noFill/>
          <a:ln w="0">
            <a:noFill/>
          </a:ln>
        </p:spPr>
        <p:txBody>
          <a:bodyPr wrap="square" lIns="0" tIns="0" rIns="0" bIns="0" anchor="t">
            <a:noAutofit/>
          </a:bodyPr>
          <a:lstStyle/>
          <a:p>
            <a:pPr algn="l">
              <a:buNone/>
              <a:defRPr sz="900" b="0">
                <a:solidFill>
                  <a:srgbClr val="999999"/>
                </a:solidFill>
                <a:latin typeface="Calibri"/>
                <a:ea typeface="Calibri"/>
                <a:cs typeface="Calibri"/>
              </a:defRPr>
            </a:pPr>
            <a:r>
              <a:rPr sz="900" b="0">
                <a:solidFill>
                  <a:srgbClr val="999999"/>
                </a:solidFill>
                <a:latin typeface="Calibri"/>
                <a:ea typeface="Calibri"/>
                <a:cs typeface="Calibri"/>
              </a:rPr>
              <a:t>Conclusions</a:t>
            </a:r>
          </a:p>
        </p:txBody>
      </p:sp>
      <p:sp>
        <p:nvSpPr>
          <p:cNvPr id="11" name="11">
            <a:extLst>
              <a:ext uri="{FF2B5EF4-FFF2-40B4-BE49-F238E27FC236}">
                <a16:creationId xmlns:a16="http://schemas.microsoft.com/office/drawing/2014/main" id="{129DA8DB-CAD4-419D-BC6F-0342ABE51859}"/>
              </a:ext>
            </a:extLst>
          </p:cNvPr>
          <p:cNvSpPr>
            <a:spLocks noGrp="1"/>
          </p:cNvSpPr>
          <p:nvPr/>
        </p:nvSpPr>
        <p:spPr>
          <a:xfrm>
            <a:off x="11144250" y="6467475"/>
            <a:ext cx="409575" cy="190500"/>
          </a:xfrm>
          <a:prstGeom prst="rect">
            <a:avLst/>
          </a:prstGeom>
          <a:noFill/>
          <a:ln w="0">
            <a:noFill/>
          </a:ln>
        </p:spPr>
        <p:txBody>
          <a:bodyPr wrap="square" lIns="0" tIns="0" rIns="0" bIns="0" anchor="t">
            <a:noAutofit/>
          </a:bodyPr>
          <a:lstStyle/>
          <a:p>
            <a:pPr algn="r">
              <a:buNone/>
              <a:defRPr sz="900" b="0">
                <a:solidFill>
                  <a:srgbClr val="999999"/>
                </a:solidFill>
                <a:latin typeface="Calibri"/>
                <a:ea typeface="Calibri"/>
                <a:cs typeface="Calibri"/>
              </a:defRPr>
            </a:pPr>
            <a:r>
              <a:rPr sz="900" b="0">
                <a:solidFill>
                  <a:srgbClr val="999999"/>
                </a:solidFill>
                <a:latin typeface="Calibri"/>
                <a:ea typeface="Calibri"/>
                <a:cs typeface="Calibri"/>
              </a:rPr>
              <a:t>12</a:t>
            </a:r>
          </a:p>
        </p:txBody>
      </p:sp>
    </p:spTree>
    <p:extLst>
      <p:ext uri="{BB962C8B-B14F-4D97-AF65-F5344CB8AC3E}">
        <p14:creationId xmlns:p14="http://schemas.microsoft.com/office/powerpoint/2010/main" val="2467144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39952FFB-621F-4F4A-822B-574E85752AF7}"/>
              </a:ext>
            </a:extLst>
          </p:cNvPr>
          <p:cNvSpPr>
            <a:spLocks noGrp="1"/>
          </p:cNvSpPr>
          <p:nvPr/>
        </p:nvSpPr>
        <p:spPr>
          <a:xfrm>
            <a:off x="640080" y="2468880"/>
            <a:ext cx="10058400" cy="914400"/>
          </a:xfrm>
          <a:prstGeom prst="rect">
            <a:avLst/>
          </a:prstGeom>
          <a:noFill/>
        </p:spPr>
        <p:txBody>
          <a:bodyPr wrap="square" lIns="0" tIns="0" rIns="0" bIns="0" anchor="ctr"/>
          <a:lstStyle/>
          <a:p>
            <a:pPr marL="0" indent="0">
              <a:buNone/>
            </a:pPr>
            <a:r>
              <a:rPr sz="4200" b="1">
                <a:solidFill>
                  <a:srgbClr val="FFFFFF"/>
                </a:solidFill>
                <a:latin typeface="Cambria"/>
                <a:ea typeface="Cambria"/>
                <a:cs typeface="Cambria"/>
              </a:rPr>
              <a:t>Thank you</a:t>
            </a:r>
            <a:endParaRPr sz="4200"/>
          </a:p>
        </p:txBody>
      </p:sp>
      <p:sp>
        <p:nvSpPr>
          <p:cNvPr id="3" name="Text 1">
            <a:extLst>
              <a:ext uri="{FF2B5EF4-FFF2-40B4-BE49-F238E27FC236}">
                <a16:creationId xmlns:a16="http://schemas.microsoft.com/office/drawing/2014/main" id="{DA889A4C-F966-4B0E-BC38-BF4928C85913}"/>
              </a:ext>
            </a:extLst>
          </p:cNvPr>
          <p:cNvSpPr>
            <a:spLocks noGrp="1"/>
          </p:cNvSpPr>
          <p:nvPr/>
        </p:nvSpPr>
        <p:spPr>
          <a:xfrm>
            <a:off x="640080" y="3474720"/>
            <a:ext cx="10058400" cy="411480"/>
          </a:xfrm>
          <a:prstGeom prst="rect">
            <a:avLst/>
          </a:prstGeom>
          <a:noFill/>
        </p:spPr>
        <p:txBody>
          <a:bodyPr wrap="square" lIns="0" tIns="0" rIns="0" bIns="0" anchor="ctr"/>
          <a:lstStyle/>
          <a:p>
            <a:pPr marL="0" indent="0">
              <a:buNone/>
            </a:pPr>
            <a:r>
              <a:rPr sz="1600">
                <a:solidFill>
                  <a:srgbClr val="B8B8B8"/>
                </a:solidFill>
                <a:latin typeface="Calibri"/>
                <a:ea typeface="Calibri"/>
                <a:cs typeface="Calibri"/>
              </a:rPr>
              <a:t>Questions welcome. Backup material follows.</a:t>
            </a:r>
            <a:endParaRPr sz="1600"/>
          </a:p>
        </p:txBody>
      </p:sp>
      <p:sp>
        <p:nvSpPr>
          <p:cNvPr id="4" name="Text 2">
            <a:extLst>
              <a:ext uri="{FF2B5EF4-FFF2-40B4-BE49-F238E27FC236}">
                <a16:creationId xmlns:a16="http://schemas.microsoft.com/office/drawing/2014/main" id="{586FF9BE-58B4-41D2-A13C-EA73A6331790}"/>
              </a:ext>
            </a:extLst>
          </p:cNvPr>
          <p:cNvSpPr>
            <a:spLocks noGrp="1"/>
          </p:cNvSpPr>
          <p:nvPr/>
        </p:nvSpPr>
        <p:spPr>
          <a:xfrm>
            <a:off x="640080" y="5943600"/>
            <a:ext cx="10058400" cy="320040"/>
          </a:xfrm>
          <a:prstGeom prst="rect">
            <a:avLst/>
          </a:prstGeom>
          <a:noFill/>
        </p:spPr>
        <p:txBody>
          <a:bodyPr wrap="square" lIns="0" tIns="0" rIns="0" bIns="0" anchor="ctr"/>
          <a:lstStyle/>
          <a:p>
            <a:pPr marL="0" indent="0">
              <a:buNone/>
            </a:pPr>
            <a:r>
              <a:rPr sz="1200">
                <a:solidFill>
                  <a:srgbClr val="767676"/>
                </a:solidFill>
                <a:latin typeface="Calibri"/>
                <a:ea typeface="Calibri"/>
                <a:cs typeface="Calibri"/>
              </a:rPr>
              <a:t>Ruoheng (Ramos) Wang   ·   ELEC5223 Dissertation B   ·   Supervisor: Prof. Yonghui Li</a:t>
            </a:r>
            <a:endParaRPr sz="1200"/>
          </a:p>
        </p:txBody>
      </p:sp>
    </p:spTree>
    <p:extLst>
      <p:ext uri="{BB962C8B-B14F-4D97-AF65-F5344CB8AC3E}">
        <p14:creationId xmlns:p14="http://schemas.microsoft.com/office/powerpoint/2010/main" val="9501917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0E6B08CD-29EB-40DB-9B06-4A364AE68AF1}"/>
              </a:ext>
            </a:extLst>
          </p:cNvPr>
          <p:cNvSpPr>
            <a:spLocks noGrp="1"/>
          </p:cNvSpPr>
          <p:nvPr/>
        </p:nvSpPr>
        <p:spPr>
          <a:xfrm>
            <a:off x="640080" y="2743200"/>
            <a:ext cx="10058400" cy="822960"/>
          </a:xfrm>
          <a:prstGeom prst="rect">
            <a:avLst/>
          </a:prstGeom>
          <a:noFill/>
        </p:spPr>
        <p:txBody>
          <a:bodyPr wrap="square" lIns="0" tIns="0" rIns="0" bIns="0" anchor="ctr"/>
          <a:lstStyle/>
          <a:p>
            <a:pPr marL="0" indent="0">
              <a:buNone/>
            </a:pPr>
            <a:r>
              <a:rPr sz="3400" b="1">
                <a:solidFill>
                  <a:srgbClr val="FFFFFF"/>
                </a:solidFill>
                <a:latin typeface="Cambria"/>
                <a:ea typeface="Cambria"/>
                <a:cs typeface="Cambria"/>
              </a:rPr>
              <a:t>Backup slides</a:t>
            </a:r>
            <a:endParaRPr sz="3400"/>
          </a:p>
        </p:txBody>
      </p:sp>
      <p:sp>
        <p:nvSpPr>
          <p:cNvPr id="3" name="Text 1">
            <a:extLst>
              <a:ext uri="{FF2B5EF4-FFF2-40B4-BE49-F238E27FC236}">
                <a16:creationId xmlns:a16="http://schemas.microsoft.com/office/drawing/2014/main" id="{33ED6595-77E2-4AC4-B288-97108AD879EC}"/>
              </a:ext>
            </a:extLst>
          </p:cNvPr>
          <p:cNvSpPr>
            <a:spLocks noGrp="1"/>
          </p:cNvSpPr>
          <p:nvPr/>
        </p:nvSpPr>
        <p:spPr>
          <a:xfrm>
            <a:off x="640080" y="3611880"/>
            <a:ext cx="10058400" cy="365760"/>
          </a:xfrm>
          <a:prstGeom prst="rect">
            <a:avLst/>
          </a:prstGeom>
          <a:noFill/>
        </p:spPr>
        <p:txBody>
          <a:bodyPr wrap="square" lIns="0" tIns="0" rIns="0" bIns="0" anchor="ctr"/>
          <a:lstStyle/>
          <a:p>
            <a:pPr marL="0" indent="0">
              <a:buNone/>
              <a:defRPr sz="1800">
                <a:solidFill>
                  <a:srgbClr val="BEBEBE"/>
                </a:solidFill>
                <a:latin typeface="Calibri"/>
                <a:ea typeface="Calibri"/>
                <a:cs typeface="Calibri"/>
              </a:defRPr>
            </a:pPr>
            <a:r>
              <a:rPr sz="1800">
                <a:solidFill>
                  <a:srgbClr val="BEBEBE"/>
                </a:solidFill>
                <a:latin typeface="Calibri"/>
                <a:ea typeface="Calibri"/>
                <a:cs typeface="Calibri"/>
              </a:rPr>
              <a:t>Results, formulation, protocol and supporting evidence</a:t>
            </a:r>
            <a:endParaRPr sz="1500"/>
          </a:p>
        </p:txBody>
      </p:sp>
    </p:spTree>
    <p:extLst>
      <p:ext uri="{BB962C8B-B14F-4D97-AF65-F5344CB8AC3E}">
        <p14:creationId xmlns:p14="http://schemas.microsoft.com/office/powerpoint/2010/main" val="13796110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B309FD39-219D-4BB8-B9B6-A4ED3AF8B024}"/>
              </a:ext>
            </a:extLst>
          </p:cNvPr>
          <p:cNvSpPr>
            <a:spLocks noGrp="1"/>
          </p:cNvSpPr>
          <p:nvPr/>
        </p:nvSpPr>
        <p:spPr>
          <a:xfrm>
            <a:off x="640080" y="361950"/>
            <a:ext cx="10915650" cy="952500"/>
          </a:xfrm>
          <a:prstGeom prst="rect">
            <a:avLst/>
          </a:prstGeom>
          <a:noFill/>
          <a:ln w="0">
            <a:noFill/>
          </a:ln>
        </p:spPr>
        <p:txBody>
          <a:bodyPr wrap="square" lIns="0" tIns="0" rIns="0" bIns="0" anchor="ctr">
            <a:noAutofit/>
          </a:bodyPr>
          <a:lstStyle/>
          <a:p>
            <a:pPr algn="l">
              <a:defRPr sz="3000" b="1">
                <a:solidFill>
                  <a:srgbClr val="111111"/>
                </a:solidFill>
                <a:latin typeface="Cambria"/>
                <a:ea typeface="Cambria"/>
                <a:cs typeface="Cambria"/>
              </a:defRPr>
            </a:pPr>
            <a:r>
              <a:rPr sz="3000" b="1">
                <a:solidFill>
                  <a:srgbClr val="111111"/>
                </a:solidFill>
                <a:latin typeface="Cambria"/>
                <a:ea typeface="Cambria"/>
                <a:cs typeface="Cambria"/>
              </a:rPr>
              <a:t>All primary runs: Test results</a:t>
            </a:r>
          </a:p>
        </p:txBody>
      </p:sp>
      <p:sp>
        <p:nvSpPr>
          <p:cNvPr id="2" name="矩形 1">
            <a:extLst>
              <a:ext uri="{FF2B5EF4-FFF2-40B4-BE49-F238E27FC236}">
                <a16:creationId xmlns:a16="http://schemas.microsoft.com/office/drawing/2014/main" id="{F6F2A7DB-4E56-458B-A2CA-69A90FFB37EA}"/>
              </a:ext>
            </a:extLst>
          </p:cNvPr>
          <p:cNvSpPr>
            <a:spLocks noGrp="1"/>
          </p:cNvSpPr>
          <p:nvPr/>
        </p:nvSpPr>
        <p:spPr>
          <a:xfrm>
            <a:off x="638175" y="6467475"/>
            <a:ext cx="9906000" cy="190500"/>
          </a:xfrm>
          <a:prstGeom prst="rect">
            <a:avLst/>
          </a:prstGeom>
          <a:noFill/>
          <a:ln w="0">
            <a:noFill/>
          </a:ln>
        </p:spPr>
        <p:txBody>
          <a:bodyPr wrap="square" lIns="0" tIns="0" rIns="0" bIns="0" anchor="ctr">
            <a:noAutofit/>
          </a:bodyPr>
          <a:lstStyle/>
          <a:p>
            <a:pPr algn="l">
              <a:defRPr sz="900" b="0">
                <a:solidFill>
                  <a:srgbClr val="999999"/>
                </a:solidFill>
                <a:latin typeface="Calibri"/>
                <a:ea typeface="Calibri"/>
                <a:cs typeface="Calibri"/>
              </a:defRPr>
            </a:pPr>
            <a:r>
              <a:rPr sz="900" b="0">
                <a:solidFill>
                  <a:srgbClr val="999999"/>
                </a:solidFill>
                <a:latin typeface="Calibri"/>
                <a:ea typeface="Calibri"/>
                <a:cs typeface="Calibri"/>
              </a:rPr>
              <a:t>Backup: all 12 primary models</a:t>
            </a:r>
          </a:p>
        </p:txBody>
      </p:sp>
      <p:sp>
        <p:nvSpPr>
          <p:cNvPr id="3" name="矩形 2">
            <a:extLst>
              <a:ext uri="{FF2B5EF4-FFF2-40B4-BE49-F238E27FC236}">
                <a16:creationId xmlns:a16="http://schemas.microsoft.com/office/drawing/2014/main" id="{0D4E6F63-2A83-4898-A77B-37974EF2E177}"/>
              </a:ext>
            </a:extLst>
          </p:cNvPr>
          <p:cNvSpPr>
            <a:spLocks noGrp="1"/>
          </p:cNvSpPr>
          <p:nvPr/>
        </p:nvSpPr>
        <p:spPr>
          <a:xfrm>
            <a:off x="11144250" y="6467475"/>
            <a:ext cx="409575" cy="190500"/>
          </a:xfrm>
          <a:prstGeom prst="rect">
            <a:avLst/>
          </a:prstGeom>
          <a:noFill/>
          <a:ln w="0">
            <a:noFill/>
          </a:ln>
        </p:spPr>
        <p:txBody>
          <a:bodyPr wrap="square" lIns="0" tIns="0" rIns="0" bIns="0" anchor="ctr">
            <a:noAutofit/>
          </a:bodyPr>
          <a:lstStyle/>
          <a:p>
            <a:pPr algn="r">
              <a:defRPr sz="900" b="0">
                <a:solidFill>
                  <a:srgbClr val="999999"/>
                </a:solidFill>
                <a:latin typeface="Calibri"/>
                <a:ea typeface="Calibri"/>
                <a:cs typeface="Calibri"/>
              </a:defRPr>
            </a:pPr>
            <a:r>
              <a:rPr sz="900" b="0">
                <a:solidFill>
                  <a:srgbClr val="999999"/>
                </a:solidFill>
                <a:latin typeface="Calibri"/>
                <a:ea typeface="Calibri"/>
                <a:cs typeface="Calibri"/>
              </a:rPr>
              <a:t>15</a:t>
            </a:r>
          </a:p>
        </p:txBody>
      </p:sp>
      <p:graphicFrame>
        <p:nvGraphicFramePr>
          <p:cNvPr id="9" name="表格 8"/>
          <p:cNvGraphicFramePr/>
          <p:nvPr/>
        </p:nvGraphicFramePr>
        <p:xfrm>
          <a:off x="638175" y="1466850"/>
          <a:ext cx="10915650" cy="4476750"/>
        </p:xfrm>
        <a:graphic>
          <a:graphicData uri="http://schemas.openxmlformats.org/drawingml/2006/table">
            <a:tbl>
              <a:tblPr/>
              <a:tblGrid>
                <a:gridCol w="4143375">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628775">
                  <a:extLst>
                    <a:ext uri="{9D8B030D-6E8A-4147-A177-3AD203B41FA5}">
                      <a16:colId xmlns:a16="http://schemas.microsoft.com/office/drawing/2014/main" val="20002"/>
                    </a:ext>
                  </a:extLst>
                </a:gridCol>
                <a:gridCol w="2000250">
                  <a:extLst>
                    <a:ext uri="{9D8B030D-6E8A-4147-A177-3AD203B41FA5}">
                      <a16:colId xmlns:a16="http://schemas.microsoft.com/office/drawing/2014/main" val="20003"/>
                    </a:ext>
                  </a:extLst>
                </a:gridCol>
                <a:gridCol w="2000250">
                  <a:extLst>
                    <a:ext uri="{9D8B030D-6E8A-4147-A177-3AD203B41FA5}">
                      <a16:colId xmlns:a16="http://schemas.microsoft.com/office/drawing/2014/main" val="20004"/>
                    </a:ext>
                  </a:extLst>
                </a:gridCol>
              </a:tblGrid>
              <a:tr h="344365">
                <a:tc>
                  <a:txBody>
                    <a:bodyPr/>
                    <a:lstStyle/>
                    <a:p>
                      <a:r>
                        <a:rPr sz="1575" b="1">
                          <a:solidFill>
                            <a:srgbClr val="FFFFFF"/>
                          </a:solidFill>
                          <a:latin typeface="Calibri"/>
                          <a:ea typeface="Calibri"/>
                          <a:cs typeface="Calibri"/>
                        </a:rPr>
                        <a:t>Configuration</a:t>
                      </a:r>
                    </a:p>
                  </a:txBody>
                  <a:tcPr marL="114300" marR="95250" marT="9525" marB="9525" anchor="ctr">
                    <a:solidFill>
                      <a:srgbClr val="111111"/>
                    </a:solidFill>
                  </a:tcPr>
                </a:tc>
                <a:tc>
                  <a:txBody>
                    <a:bodyPr/>
                    <a:lstStyle/>
                    <a:p>
                      <a:r>
                        <a:rPr sz="1575" b="1">
                          <a:solidFill>
                            <a:srgbClr val="FFFFFF"/>
                          </a:solidFill>
                          <a:latin typeface="Calibri"/>
                          <a:ea typeface="Calibri"/>
                          <a:cs typeface="Calibri"/>
                        </a:rPr>
                        <a:t>Seed</a:t>
                      </a:r>
                    </a:p>
                  </a:txBody>
                  <a:tcPr marL="114300" marR="95250" marT="9525" marB="9525" anchor="ctr">
                    <a:solidFill>
                      <a:srgbClr val="111111"/>
                    </a:solidFill>
                  </a:tcPr>
                </a:tc>
                <a:tc>
                  <a:txBody>
                    <a:bodyPr/>
                    <a:lstStyle/>
                    <a:p>
                      <a:r>
                        <a:rPr sz="1575" b="1">
                          <a:solidFill>
                            <a:srgbClr val="FFFFFF"/>
                          </a:solidFill>
                          <a:latin typeface="Calibri"/>
                          <a:ea typeface="Calibri"/>
                          <a:cs typeface="Calibri"/>
                        </a:rPr>
                        <a:t>Best epoch</a:t>
                      </a:r>
                    </a:p>
                  </a:txBody>
                  <a:tcPr marL="114300" marR="95250" marT="9525" marB="9525" anchor="ctr">
                    <a:solidFill>
                      <a:srgbClr val="111111"/>
                    </a:solidFill>
                  </a:tcPr>
                </a:tc>
                <a:tc>
                  <a:txBody>
                    <a:bodyPr/>
                    <a:lstStyle/>
                    <a:p>
                      <a:r>
                        <a:rPr sz="1575" b="1">
                          <a:solidFill>
                            <a:srgbClr val="FFFFFF"/>
                          </a:solidFill>
                          <a:latin typeface="Calibri"/>
                          <a:ea typeface="Calibri"/>
                          <a:cs typeface="Calibri"/>
                        </a:rPr>
                        <a:t>Test IoU (%)</a:t>
                      </a:r>
                    </a:p>
                  </a:txBody>
                  <a:tcPr marL="114300" marR="95250" marT="9525" marB="9525" anchor="ctr">
                    <a:solidFill>
                      <a:srgbClr val="111111"/>
                    </a:solidFill>
                  </a:tcPr>
                </a:tc>
                <a:tc>
                  <a:txBody>
                    <a:bodyPr/>
                    <a:lstStyle/>
                    <a:p>
                      <a:r>
                        <a:rPr sz="1575" b="1">
                          <a:solidFill>
                            <a:srgbClr val="FFFFFF"/>
                          </a:solidFill>
                          <a:latin typeface="Calibri"/>
                          <a:ea typeface="Calibri"/>
                          <a:cs typeface="Calibri"/>
                        </a:rPr>
                        <a:t>Test Dice (%)</a:t>
                      </a:r>
                    </a:p>
                  </a:txBody>
                  <a:tcPr marL="114300" marR="95250" marT="9525" marB="9525" anchor="ctr">
                    <a:solidFill>
                      <a:srgbClr val="111111"/>
                    </a:solidFill>
                  </a:tcPr>
                </a:tc>
                <a:extLst>
                  <a:ext uri="{0D108BD9-81ED-4DB2-BD59-A6C34878D82A}">
                    <a16:rowId xmlns:a16="http://schemas.microsoft.com/office/drawing/2014/main" val="10000"/>
                  </a:ext>
                </a:extLst>
              </a:tr>
              <a:tr h="344365">
                <a:tc>
                  <a:txBody>
                    <a:bodyPr/>
                    <a:lstStyle/>
                    <a:p>
                      <a:r>
                        <a:rPr sz="1575" b="0">
                          <a:solidFill>
                            <a:srgbClr val="111111"/>
                          </a:solidFill>
                          <a:latin typeface="Calibri"/>
                          <a:ea typeface="Calibri"/>
                          <a:cs typeface="Calibri"/>
                        </a:rPr>
                        <a:t>LViT-PLAM</a:t>
                      </a:r>
                    </a:p>
                  </a:txBody>
                  <a:tcPr marL="114300" marR="95250" marT="9525" marB="9525" anchor="ctr">
                    <a:solidFill>
                      <a:srgbClr val="FFFFFF"/>
                    </a:solidFill>
                  </a:tcPr>
                </a:tc>
                <a:tc>
                  <a:txBody>
                    <a:bodyPr/>
                    <a:lstStyle/>
                    <a:p>
                      <a:r>
                        <a:rPr sz="1575" b="0">
                          <a:solidFill>
                            <a:srgbClr val="111111"/>
                          </a:solidFill>
                          <a:latin typeface="Calibri"/>
                          <a:ea typeface="Calibri"/>
                          <a:cs typeface="Calibri"/>
                        </a:rPr>
                        <a:t>1219</a:t>
                      </a:r>
                    </a:p>
                  </a:txBody>
                  <a:tcPr marL="114300" marR="95250" marT="9525" marB="9525" anchor="ctr">
                    <a:solidFill>
                      <a:srgbClr val="FFFFFF"/>
                    </a:solidFill>
                  </a:tcPr>
                </a:tc>
                <a:tc>
                  <a:txBody>
                    <a:bodyPr/>
                    <a:lstStyle/>
                    <a:p>
                      <a:r>
                        <a:rPr sz="1575" b="0">
                          <a:solidFill>
                            <a:srgbClr val="111111"/>
                          </a:solidFill>
                          <a:latin typeface="Calibri"/>
                          <a:ea typeface="Calibri"/>
                          <a:cs typeface="Calibri"/>
                        </a:rPr>
                        <a:t>61</a:t>
                      </a:r>
                    </a:p>
                  </a:txBody>
                  <a:tcPr marL="114300" marR="95250" marT="9525" marB="9525" anchor="ctr">
                    <a:solidFill>
                      <a:srgbClr val="FFFFFF"/>
                    </a:solidFill>
                  </a:tcPr>
                </a:tc>
                <a:tc>
                  <a:txBody>
                    <a:bodyPr/>
                    <a:lstStyle/>
                    <a:p>
                      <a:r>
                        <a:rPr sz="1575" b="0">
                          <a:solidFill>
                            <a:srgbClr val="111111"/>
                          </a:solidFill>
                          <a:latin typeface="Calibri"/>
                          <a:ea typeface="Calibri"/>
                          <a:cs typeface="Calibri"/>
                        </a:rPr>
                        <a:t>75.5675</a:t>
                      </a:r>
                    </a:p>
                  </a:txBody>
                  <a:tcPr marL="114300" marR="95250" marT="9525" marB="9525" anchor="ctr">
                    <a:solidFill>
                      <a:srgbClr val="FFFFFF"/>
                    </a:solidFill>
                  </a:tcPr>
                </a:tc>
                <a:tc>
                  <a:txBody>
                    <a:bodyPr/>
                    <a:lstStyle/>
                    <a:p>
                      <a:r>
                        <a:rPr sz="1575" b="0">
                          <a:solidFill>
                            <a:srgbClr val="111111"/>
                          </a:solidFill>
                          <a:latin typeface="Calibri"/>
                          <a:ea typeface="Calibri"/>
                          <a:cs typeface="Calibri"/>
                        </a:rPr>
                        <a:t>84.0604</a:t>
                      </a:r>
                    </a:p>
                  </a:txBody>
                  <a:tcPr marL="114300" marR="95250" marT="9525" marB="9525" anchor="ctr">
                    <a:solidFill>
                      <a:srgbClr val="FFFFFF"/>
                    </a:solidFill>
                  </a:tcPr>
                </a:tc>
                <a:extLst>
                  <a:ext uri="{0D108BD9-81ED-4DB2-BD59-A6C34878D82A}">
                    <a16:rowId xmlns:a16="http://schemas.microsoft.com/office/drawing/2014/main" val="10001"/>
                  </a:ext>
                </a:extLst>
              </a:tr>
              <a:tr h="344365">
                <a:tc>
                  <a:txBody>
                    <a:bodyPr/>
                    <a:lstStyle/>
                    <a:p>
                      <a:r>
                        <a:rPr sz="1575" b="0">
                          <a:solidFill>
                            <a:srgbClr val="111111"/>
                          </a:solidFill>
                          <a:latin typeface="Calibri"/>
                          <a:ea typeface="Calibri"/>
                          <a:cs typeface="Calibri"/>
                        </a:rPr>
                        <a:t>LViT-PLAM</a:t>
                      </a:r>
                    </a:p>
                  </a:txBody>
                  <a:tcPr marL="114300" marR="95250" marT="9525" marB="9525" anchor="ctr">
                    <a:solidFill>
                      <a:srgbClr val="F3F3F3"/>
                    </a:solidFill>
                  </a:tcPr>
                </a:tc>
                <a:tc>
                  <a:txBody>
                    <a:bodyPr/>
                    <a:lstStyle/>
                    <a:p>
                      <a:r>
                        <a:rPr sz="1575" b="0">
                          <a:solidFill>
                            <a:srgbClr val="111111"/>
                          </a:solidFill>
                          <a:latin typeface="Calibri"/>
                          <a:ea typeface="Calibri"/>
                          <a:cs typeface="Calibri"/>
                        </a:rPr>
                        <a:t>2027</a:t>
                      </a:r>
                    </a:p>
                  </a:txBody>
                  <a:tcPr marL="114300" marR="95250" marT="9525" marB="9525" anchor="ctr">
                    <a:solidFill>
                      <a:srgbClr val="F3F3F3"/>
                    </a:solidFill>
                  </a:tcPr>
                </a:tc>
                <a:tc>
                  <a:txBody>
                    <a:bodyPr/>
                    <a:lstStyle/>
                    <a:p>
                      <a:r>
                        <a:rPr sz="1575" b="0">
                          <a:solidFill>
                            <a:srgbClr val="111111"/>
                          </a:solidFill>
                          <a:latin typeface="Calibri"/>
                          <a:ea typeface="Calibri"/>
                          <a:cs typeface="Calibri"/>
                        </a:rPr>
                        <a:t>72</a:t>
                      </a:r>
                    </a:p>
                  </a:txBody>
                  <a:tcPr marL="114300" marR="95250" marT="9525" marB="9525" anchor="ctr">
                    <a:solidFill>
                      <a:srgbClr val="F3F3F3"/>
                    </a:solidFill>
                  </a:tcPr>
                </a:tc>
                <a:tc>
                  <a:txBody>
                    <a:bodyPr/>
                    <a:lstStyle/>
                    <a:p>
                      <a:r>
                        <a:rPr sz="1575" b="0">
                          <a:solidFill>
                            <a:srgbClr val="111111"/>
                          </a:solidFill>
                          <a:latin typeface="Calibri"/>
                          <a:ea typeface="Calibri"/>
                          <a:cs typeface="Calibri"/>
                        </a:rPr>
                        <a:t>75.4668</a:t>
                      </a:r>
                    </a:p>
                  </a:txBody>
                  <a:tcPr marL="114300" marR="95250" marT="9525" marB="9525" anchor="ctr">
                    <a:solidFill>
                      <a:srgbClr val="F3F3F3"/>
                    </a:solidFill>
                  </a:tcPr>
                </a:tc>
                <a:tc>
                  <a:txBody>
                    <a:bodyPr/>
                    <a:lstStyle/>
                    <a:p>
                      <a:r>
                        <a:rPr sz="1575" b="0">
                          <a:solidFill>
                            <a:srgbClr val="111111"/>
                          </a:solidFill>
                          <a:latin typeface="Calibri"/>
                          <a:ea typeface="Calibri"/>
                          <a:cs typeface="Calibri"/>
                        </a:rPr>
                        <a:t>84.0771</a:t>
                      </a:r>
                    </a:p>
                  </a:txBody>
                  <a:tcPr marL="114300" marR="95250" marT="9525" marB="9525" anchor="ctr">
                    <a:solidFill>
                      <a:srgbClr val="F3F3F3"/>
                    </a:solidFill>
                  </a:tcPr>
                </a:tc>
                <a:extLst>
                  <a:ext uri="{0D108BD9-81ED-4DB2-BD59-A6C34878D82A}">
                    <a16:rowId xmlns:a16="http://schemas.microsoft.com/office/drawing/2014/main" val="10002"/>
                  </a:ext>
                </a:extLst>
              </a:tr>
              <a:tr h="344365">
                <a:tc>
                  <a:txBody>
                    <a:bodyPr/>
                    <a:lstStyle/>
                    <a:p>
                      <a:r>
                        <a:rPr sz="1575" b="0">
                          <a:solidFill>
                            <a:srgbClr val="111111"/>
                          </a:solidFill>
                          <a:latin typeface="Calibri"/>
                          <a:ea typeface="Calibri"/>
                          <a:cs typeface="Calibri"/>
                        </a:rPr>
                        <a:t>LViT-PLAM</a:t>
                      </a:r>
                    </a:p>
                  </a:txBody>
                  <a:tcPr marL="114300" marR="95250" marT="9525" marB="9525" anchor="ctr">
                    <a:solidFill>
                      <a:srgbClr val="FFFFFF"/>
                    </a:solidFill>
                  </a:tcPr>
                </a:tc>
                <a:tc>
                  <a:txBody>
                    <a:bodyPr/>
                    <a:lstStyle/>
                    <a:p>
                      <a:r>
                        <a:rPr sz="1575" b="0">
                          <a:solidFill>
                            <a:srgbClr val="111111"/>
                          </a:solidFill>
                          <a:latin typeface="Calibri"/>
                          <a:ea typeface="Calibri"/>
                          <a:cs typeface="Calibri"/>
                        </a:rPr>
                        <a:t>3407</a:t>
                      </a:r>
                    </a:p>
                  </a:txBody>
                  <a:tcPr marL="114300" marR="95250" marT="9525" marB="9525" anchor="ctr">
                    <a:solidFill>
                      <a:srgbClr val="FFFFFF"/>
                    </a:solidFill>
                  </a:tcPr>
                </a:tc>
                <a:tc>
                  <a:txBody>
                    <a:bodyPr/>
                    <a:lstStyle/>
                    <a:p>
                      <a:r>
                        <a:rPr sz="1575" b="0">
                          <a:solidFill>
                            <a:srgbClr val="111111"/>
                          </a:solidFill>
                          <a:latin typeface="Calibri"/>
                          <a:ea typeface="Calibri"/>
                          <a:cs typeface="Calibri"/>
                        </a:rPr>
                        <a:t>74</a:t>
                      </a:r>
                    </a:p>
                  </a:txBody>
                  <a:tcPr marL="114300" marR="95250" marT="9525" marB="9525" anchor="ctr">
                    <a:solidFill>
                      <a:srgbClr val="FFFFFF"/>
                    </a:solidFill>
                  </a:tcPr>
                </a:tc>
                <a:tc>
                  <a:txBody>
                    <a:bodyPr/>
                    <a:lstStyle/>
                    <a:p>
                      <a:r>
                        <a:rPr sz="1575" b="0">
                          <a:solidFill>
                            <a:srgbClr val="111111"/>
                          </a:solidFill>
                          <a:latin typeface="Calibri"/>
                          <a:ea typeface="Calibri"/>
                          <a:cs typeface="Calibri"/>
                        </a:rPr>
                        <a:t>75.3983</a:t>
                      </a:r>
                    </a:p>
                  </a:txBody>
                  <a:tcPr marL="114300" marR="95250" marT="9525" marB="9525" anchor="ctr">
                    <a:solidFill>
                      <a:srgbClr val="FFFFFF"/>
                    </a:solidFill>
                  </a:tcPr>
                </a:tc>
                <a:tc>
                  <a:txBody>
                    <a:bodyPr/>
                    <a:lstStyle/>
                    <a:p>
                      <a:r>
                        <a:rPr sz="1575" b="0">
                          <a:solidFill>
                            <a:srgbClr val="111111"/>
                          </a:solidFill>
                          <a:latin typeface="Calibri"/>
                          <a:ea typeface="Calibri"/>
                          <a:cs typeface="Calibri"/>
                        </a:rPr>
                        <a:t>83.9379</a:t>
                      </a:r>
                    </a:p>
                  </a:txBody>
                  <a:tcPr marL="114300" marR="95250" marT="9525" marB="9525" anchor="ctr">
                    <a:solidFill>
                      <a:srgbClr val="FFFFFF"/>
                    </a:solidFill>
                  </a:tcPr>
                </a:tc>
                <a:extLst>
                  <a:ext uri="{0D108BD9-81ED-4DB2-BD59-A6C34878D82A}">
                    <a16:rowId xmlns:a16="http://schemas.microsoft.com/office/drawing/2014/main" val="10003"/>
                  </a:ext>
                </a:extLst>
              </a:tr>
              <a:tr h="344365">
                <a:tc>
                  <a:txBody>
                    <a:bodyPr/>
                    <a:lstStyle/>
                    <a:p>
                      <a:r>
                        <a:rPr sz="1575" b="0">
                          <a:solidFill>
                            <a:srgbClr val="111111"/>
                          </a:solidFill>
                          <a:latin typeface="Calibri"/>
                          <a:ea typeface="Calibri"/>
                          <a:cs typeface="Calibri"/>
                        </a:rPr>
                        <a:t>FSDR only</a:t>
                      </a:r>
                    </a:p>
                  </a:txBody>
                  <a:tcPr marL="114300" marR="95250" marT="9525" marB="9525" anchor="ctr">
                    <a:solidFill>
                      <a:srgbClr val="F3F3F3"/>
                    </a:solidFill>
                  </a:tcPr>
                </a:tc>
                <a:tc>
                  <a:txBody>
                    <a:bodyPr/>
                    <a:lstStyle/>
                    <a:p>
                      <a:r>
                        <a:rPr sz="1575" b="0">
                          <a:solidFill>
                            <a:srgbClr val="111111"/>
                          </a:solidFill>
                          <a:latin typeface="Calibri"/>
                          <a:ea typeface="Calibri"/>
                          <a:cs typeface="Calibri"/>
                        </a:rPr>
                        <a:t>1219</a:t>
                      </a:r>
                    </a:p>
                  </a:txBody>
                  <a:tcPr marL="114300" marR="95250" marT="9525" marB="9525" anchor="ctr">
                    <a:solidFill>
                      <a:srgbClr val="F3F3F3"/>
                    </a:solidFill>
                  </a:tcPr>
                </a:tc>
                <a:tc>
                  <a:txBody>
                    <a:bodyPr/>
                    <a:lstStyle/>
                    <a:p>
                      <a:r>
                        <a:rPr sz="1575" b="0">
                          <a:solidFill>
                            <a:srgbClr val="111111"/>
                          </a:solidFill>
                          <a:latin typeface="Calibri"/>
                          <a:ea typeface="Calibri"/>
                          <a:cs typeface="Calibri"/>
                        </a:rPr>
                        <a:t>67</a:t>
                      </a:r>
                    </a:p>
                  </a:txBody>
                  <a:tcPr marL="114300" marR="95250" marT="9525" marB="9525" anchor="ctr">
                    <a:solidFill>
                      <a:srgbClr val="F3F3F3"/>
                    </a:solidFill>
                  </a:tcPr>
                </a:tc>
                <a:tc>
                  <a:txBody>
                    <a:bodyPr/>
                    <a:lstStyle/>
                    <a:p>
                      <a:r>
                        <a:rPr sz="1575" b="0">
                          <a:solidFill>
                            <a:srgbClr val="111111"/>
                          </a:solidFill>
                          <a:latin typeface="Calibri"/>
                          <a:ea typeface="Calibri"/>
                          <a:cs typeface="Calibri"/>
                        </a:rPr>
                        <a:t>75.8098</a:t>
                      </a:r>
                    </a:p>
                  </a:txBody>
                  <a:tcPr marL="114300" marR="95250" marT="9525" marB="9525" anchor="ctr">
                    <a:solidFill>
                      <a:srgbClr val="F3F3F3"/>
                    </a:solidFill>
                  </a:tcPr>
                </a:tc>
                <a:tc>
                  <a:txBody>
                    <a:bodyPr/>
                    <a:lstStyle/>
                    <a:p>
                      <a:r>
                        <a:rPr sz="1575" b="0">
                          <a:solidFill>
                            <a:srgbClr val="111111"/>
                          </a:solidFill>
                          <a:latin typeface="Calibri"/>
                          <a:ea typeface="Calibri"/>
                          <a:cs typeface="Calibri"/>
                        </a:rPr>
                        <a:t>84.4236</a:t>
                      </a:r>
                    </a:p>
                  </a:txBody>
                  <a:tcPr marL="114300" marR="95250" marT="9525" marB="9525" anchor="ctr">
                    <a:solidFill>
                      <a:srgbClr val="F3F3F3"/>
                    </a:solidFill>
                  </a:tcPr>
                </a:tc>
                <a:extLst>
                  <a:ext uri="{0D108BD9-81ED-4DB2-BD59-A6C34878D82A}">
                    <a16:rowId xmlns:a16="http://schemas.microsoft.com/office/drawing/2014/main" val="10004"/>
                  </a:ext>
                </a:extLst>
              </a:tr>
              <a:tr h="344365">
                <a:tc>
                  <a:txBody>
                    <a:bodyPr/>
                    <a:lstStyle/>
                    <a:p>
                      <a:r>
                        <a:rPr sz="1575" b="0">
                          <a:solidFill>
                            <a:srgbClr val="111111"/>
                          </a:solidFill>
                          <a:latin typeface="Calibri"/>
                          <a:ea typeface="Calibri"/>
                          <a:cs typeface="Calibri"/>
                        </a:rPr>
                        <a:t>FSDR only</a:t>
                      </a:r>
                    </a:p>
                  </a:txBody>
                  <a:tcPr marL="114300" marR="95250" marT="9525" marB="9525" anchor="ctr">
                    <a:solidFill>
                      <a:srgbClr val="FFFFFF"/>
                    </a:solidFill>
                  </a:tcPr>
                </a:tc>
                <a:tc>
                  <a:txBody>
                    <a:bodyPr/>
                    <a:lstStyle/>
                    <a:p>
                      <a:r>
                        <a:rPr sz="1575" b="0">
                          <a:solidFill>
                            <a:srgbClr val="111111"/>
                          </a:solidFill>
                          <a:latin typeface="Calibri"/>
                          <a:ea typeface="Calibri"/>
                          <a:cs typeface="Calibri"/>
                        </a:rPr>
                        <a:t>2027</a:t>
                      </a:r>
                    </a:p>
                  </a:txBody>
                  <a:tcPr marL="114300" marR="95250" marT="9525" marB="9525" anchor="ctr">
                    <a:solidFill>
                      <a:srgbClr val="FFFFFF"/>
                    </a:solidFill>
                  </a:tcPr>
                </a:tc>
                <a:tc>
                  <a:txBody>
                    <a:bodyPr/>
                    <a:lstStyle/>
                    <a:p>
                      <a:r>
                        <a:rPr sz="1575" b="0">
                          <a:solidFill>
                            <a:srgbClr val="111111"/>
                          </a:solidFill>
                          <a:latin typeface="Calibri"/>
                          <a:ea typeface="Calibri"/>
                          <a:cs typeface="Calibri"/>
                        </a:rPr>
                        <a:t>68</a:t>
                      </a:r>
                    </a:p>
                  </a:txBody>
                  <a:tcPr marL="114300" marR="95250" marT="9525" marB="9525" anchor="ctr">
                    <a:solidFill>
                      <a:srgbClr val="FFFFFF"/>
                    </a:solidFill>
                  </a:tcPr>
                </a:tc>
                <a:tc>
                  <a:txBody>
                    <a:bodyPr/>
                    <a:lstStyle/>
                    <a:p>
                      <a:r>
                        <a:rPr sz="1575" b="0">
                          <a:solidFill>
                            <a:srgbClr val="111111"/>
                          </a:solidFill>
                          <a:latin typeface="Calibri"/>
                          <a:ea typeface="Calibri"/>
                          <a:cs typeface="Calibri"/>
                        </a:rPr>
                        <a:t>76.0859</a:t>
                      </a:r>
                    </a:p>
                  </a:txBody>
                  <a:tcPr marL="114300" marR="95250" marT="9525" marB="9525" anchor="ctr">
                    <a:solidFill>
                      <a:srgbClr val="FFFFFF"/>
                    </a:solidFill>
                  </a:tcPr>
                </a:tc>
                <a:tc>
                  <a:txBody>
                    <a:bodyPr/>
                    <a:lstStyle/>
                    <a:p>
                      <a:r>
                        <a:rPr sz="1575" b="0">
                          <a:solidFill>
                            <a:srgbClr val="111111"/>
                          </a:solidFill>
                          <a:latin typeface="Calibri"/>
                          <a:ea typeface="Calibri"/>
                          <a:cs typeface="Calibri"/>
                        </a:rPr>
                        <a:t>84.5739</a:t>
                      </a:r>
                    </a:p>
                  </a:txBody>
                  <a:tcPr marL="114300" marR="95250" marT="9525" marB="9525" anchor="ctr">
                    <a:solidFill>
                      <a:srgbClr val="FFFFFF"/>
                    </a:solidFill>
                  </a:tcPr>
                </a:tc>
                <a:extLst>
                  <a:ext uri="{0D108BD9-81ED-4DB2-BD59-A6C34878D82A}">
                    <a16:rowId xmlns:a16="http://schemas.microsoft.com/office/drawing/2014/main" val="10005"/>
                  </a:ext>
                </a:extLst>
              </a:tr>
              <a:tr h="344365">
                <a:tc>
                  <a:txBody>
                    <a:bodyPr/>
                    <a:lstStyle/>
                    <a:p>
                      <a:r>
                        <a:rPr sz="1575" b="0">
                          <a:solidFill>
                            <a:srgbClr val="111111"/>
                          </a:solidFill>
                          <a:latin typeface="Calibri"/>
                          <a:ea typeface="Calibri"/>
                          <a:cs typeface="Calibri"/>
                        </a:rPr>
                        <a:t>FSDR only</a:t>
                      </a:r>
                    </a:p>
                  </a:txBody>
                  <a:tcPr marL="114300" marR="95250" marT="9525" marB="9525" anchor="ctr">
                    <a:solidFill>
                      <a:srgbClr val="F3F3F3"/>
                    </a:solidFill>
                  </a:tcPr>
                </a:tc>
                <a:tc>
                  <a:txBody>
                    <a:bodyPr/>
                    <a:lstStyle/>
                    <a:p>
                      <a:r>
                        <a:rPr sz="1575" b="0">
                          <a:solidFill>
                            <a:srgbClr val="111111"/>
                          </a:solidFill>
                          <a:latin typeface="Calibri"/>
                          <a:ea typeface="Calibri"/>
                          <a:cs typeface="Calibri"/>
                        </a:rPr>
                        <a:t>3407</a:t>
                      </a:r>
                    </a:p>
                  </a:txBody>
                  <a:tcPr marL="114300" marR="95250" marT="9525" marB="9525" anchor="ctr">
                    <a:solidFill>
                      <a:srgbClr val="F3F3F3"/>
                    </a:solidFill>
                  </a:tcPr>
                </a:tc>
                <a:tc>
                  <a:txBody>
                    <a:bodyPr/>
                    <a:lstStyle/>
                    <a:p>
                      <a:r>
                        <a:rPr sz="1575" b="0">
                          <a:solidFill>
                            <a:srgbClr val="111111"/>
                          </a:solidFill>
                          <a:latin typeface="Calibri"/>
                          <a:ea typeface="Calibri"/>
                          <a:cs typeface="Calibri"/>
                        </a:rPr>
                        <a:t>75</a:t>
                      </a:r>
                    </a:p>
                  </a:txBody>
                  <a:tcPr marL="114300" marR="95250" marT="9525" marB="9525" anchor="ctr">
                    <a:solidFill>
                      <a:srgbClr val="F3F3F3"/>
                    </a:solidFill>
                  </a:tcPr>
                </a:tc>
                <a:tc>
                  <a:txBody>
                    <a:bodyPr/>
                    <a:lstStyle/>
                    <a:p>
                      <a:r>
                        <a:rPr sz="1575" b="0">
                          <a:solidFill>
                            <a:srgbClr val="111111"/>
                          </a:solidFill>
                          <a:latin typeface="Calibri"/>
                          <a:ea typeface="Calibri"/>
                          <a:cs typeface="Calibri"/>
                        </a:rPr>
                        <a:t>76.0544</a:t>
                      </a:r>
                    </a:p>
                  </a:txBody>
                  <a:tcPr marL="114300" marR="95250" marT="9525" marB="9525" anchor="ctr">
                    <a:solidFill>
                      <a:srgbClr val="F3F3F3"/>
                    </a:solidFill>
                  </a:tcPr>
                </a:tc>
                <a:tc>
                  <a:txBody>
                    <a:bodyPr/>
                    <a:lstStyle/>
                    <a:p>
                      <a:r>
                        <a:rPr sz="1575" b="0">
                          <a:solidFill>
                            <a:srgbClr val="111111"/>
                          </a:solidFill>
                          <a:latin typeface="Calibri"/>
                          <a:ea typeface="Calibri"/>
                          <a:cs typeface="Calibri"/>
                        </a:rPr>
                        <a:t>84.5117</a:t>
                      </a:r>
                    </a:p>
                  </a:txBody>
                  <a:tcPr marL="114300" marR="95250" marT="9525" marB="9525" anchor="ctr">
                    <a:solidFill>
                      <a:srgbClr val="F3F3F3"/>
                    </a:solidFill>
                  </a:tcPr>
                </a:tc>
                <a:extLst>
                  <a:ext uri="{0D108BD9-81ED-4DB2-BD59-A6C34878D82A}">
                    <a16:rowId xmlns:a16="http://schemas.microsoft.com/office/drawing/2014/main" val="10006"/>
                  </a:ext>
                </a:extLst>
              </a:tr>
              <a:tr h="344365">
                <a:tc>
                  <a:txBody>
                    <a:bodyPr/>
                    <a:lstStyle/>
                    <a:p>
                      <a:r>
                        <a:rPr sz="1575" b="0">
                          <a:solidFill>
                            <a:srgbClr val="111111"/>
                          </a:solidFill>
                          <a:latin typeface="Calibri"/>
                          <a:ea typeface="Calibri"/>
                          <a:cs typeface="Calibri"/>
                        </a:rPr>
                        <a:t>PLAM + complete RACE</a:t>
                      </a:r>
                    </a:p>
                  </a:txBody>
                  <a:tcPr marL="114300" marR="95250" marT="9525" marB="9525" anchor="ctr">
                    <a:solidFill>
                      <a:srgbClr val="FFFFFF"/>
                    </a:solidFill>
                  </a:tcPr>
                </a:tc>
                <a:tc>
                  <a:txBody>
                    <a:bodyPr/>
                    <a:lstStyle/>
                    <a:p>
                      <a:r>
                        <a:rPr sz="1575" b="0">
                          <a:solidFill>
                            <a:srgbClr val="111111"/>
                          </a:solidFill>
                          <a:latin typeface="Calibri"/>
                          <a:ea typeface="Calibri"/>
                          <a:cs typeface="Calibri"/>
                        </a:rPr>
                        <a:t>1219</a:t>
                      </a:r>
                    </a:p>
                  </a:txBody>
                  <a:tcPr marL="114300" marR="95250" marT="9525" marB="9525" anchor="ctr">
                    <a:solidFill>
                      <a:srgbClr val="FFFFFF"/>
                    </a:solidFill>
                  </a:tcPr>
                </a:tc>
                <a:tc>
                  <a:txBody>
                    <a:bodyPr/>
                    <a:lstStyle/>
                    <a:p>
                      <a:r>
                        <a:rPr sz="1575" b="0">
                          <a:solidFill>
                            <a:srgbClr val="111111"/>
                          </a:solidFill>
                          <a:latin typeface="Calibri"/>
                          <a:ea typeface="Calibri"/>
                          <a:cs typeface="Calibri"/>
                        </a:rPr>
                        <a:t>78</a:t>
                      </a:r>
                    </a:p>
                  </a:txBody>
                  <a:tcPr marL="114300" marR="95250" marT="9525" marB="9525" anchor="ctr">
                    <a:solidFill>
                      <a:srgbClr val="FFFFFF"/>
                    </a:solidFill>
                  </a:tcPr>
                </a:tc>
                <a:tc>
                  <a:txBody>
                    <a:bodyPr/>
                    <a:lstStyle/>
                    <a:p>
                      <a:r>
                        <a:rPr sz="1575" b="0">
                          <a:solidFill>
                            <a:srgbClr val="111111"/>
                          </a:solidFill>
                          <a:latin typeface="Calibri"/>
                          <a:ea typeface="Calibri"/>
                          <a:cs typeface="Calibri"/>
                        </a:rPr>
                        <a:t>75.8189</a:t>
                      </a:r>
                    </a:p>
                  </a:txBody>
                  <a:tcPr marL="114300" marR="95250" marT="9525" marB="9525" anchor="ctr">
                    <a:solidFill>
                      <a:srgbClr val="FFFFFF"/>
                    </a:solidFill>
                  </a:tcPr>
                </a:tc>
                <a:tc>
                  <a:txBody>
                    <a:bodyPr/>
                    <a:lstStyle/>
                    <a:p>
                      <a:r>
                        <a:rPr sz="1575" b="0">
                          <a:solidFill>
                            <a:srgbClr val="111111"/>
                          </a:solidFill>
                          <a:latin typeface="Calibri"/>
                          <a:ea typeface="Calibri"/>
                          <a:cs typeface="Calibri"/>
                        </a:rPr>
                        <a:t>84.2712</a:t>
                      </a:r>
                    </a:p>
                  </a:txBody>
                  <a:tcPr marL="114300" marR="95250" marT="9525" marB="9525" anchor="ctr">
                    <a:solidFill>
                      <a:srgbClr val="FFFFFF"/>
                    </a:solidFill>
                  </a:tcPr>
                </a:tc>
                <a:extLst>
                  <a:ext uri="{0D108BD9-81ED-4DB2-BD59-A6C34878D82A}">
                    <a16:rowId xmlns:a16="http://schemas.microsoft.com/office/drawing/2014/main" val="10007"/>
                  </a:ext>
                </a:extLst>
              </a:tr>
              <a:tr h="344365">
                <a:tc>
                  <a:txBody>
                    <a:bodyPr/>
                    <a:lstStyle/>
                    <a:p>
                      <a:r>
                        <a:rPr sz="1575" b="0">
                          <a:solidFill>
                            <a:srgbClr val="111111"/>
                          </a:solidFill>
                          <a:latin typeface="Calibri"/>
                          <a:ea typeface="Calibri"/>
                          <a:cs typeface="Calibri"/>
                        </a:rPr>
                        <a:t>PLAM + complete RACE</a:t>
                      </a:r>
                    </a:p>
                  </a:txBody>
                  <a:tcPr marL="114300" marR="95250" marT="9525" marB="9525" anchor="ctr">
                    <a:solidFill>
                      <a:srgbClr val="F3F3F3"/>
                    </a:solidFill>
                  </a:tcPr>
                </a:tc>
                <a:tc>
                  <a:txBody>
                    <a:bodyPr/>
                    <a:lstStyle/>
                    <a:p>
                      <a:r>
                        <a:rPr sz="1575" b="0">
                          <a:solidFill>
                            <a:srgbClr val="111111"/>
                          </a:solidFill>
                          <a:latin typeface="Calibri"/>
                          <a:ea typeface="Calibri"/>
                          <a:cs typeface="Calibri"/>
                        </a:rPr>
                        <a:t>2027</a:t>
                      </a:r>
                    </a:p>
                  </a:txBody>
                  <a:tcPr marL="114300" marR="95250" marT="9525" marB="9525" anchor="ctr">
                    <a:solidFill>
                      <a:srgbClr val="F3F3F3"/>
                    </a:solidFill>
                  </a:tcPr>
                </a:tc>
                <a:tc>
                  <a:txBody>
                    <a:bodyPr/>
                    <a:lstStyle/>
                    <a:p>
                      <a:r>
                        <a:rPr sz="1575" b="0">
                          <a:solidFill>
                            <a:srgbClr val="111111"/>
                          </a:solidFill>
                          <a:latin typeface="Calibri"/>
                          <a:ea typeface="Calibri"/>
                          <a:cs typeface="Calibri"/>
                        </a:rPr>
                        <a:t>72</a:t>
                      </a:r>
                    </a:p>
                  </a:txBody>
                  <a:tcPr marL="114300" marR="95250" marT="9525" marB="9525" anchor="ctr">
                    <a:solidFill>
                      <a:srgbClr val="F3F3F3"/>
                    </a:solidFill>
                  </a:tcPr>
                </a:tc>
                <a:tc>
                  <a:txBody>
                    <a:bodyPr/>
                    <a:lstStyle/>
                    <a:p>
                      <a:r>
                        <a:rPr sz="1575" b="0">
                          <a:solidFill>
                            <a:srgbClr val="111111"/>
                          </a:solidFill>
                          <a:latin typeface="Calibri"/>
                          <a:ea typeface="Calibri"/>
                          <a:cs typeface="Calibri"/>
                        </a:rPr>
                        <a:t>75.6458</a:t>
                      </a:r>
                    </a:p>
                  </a:txBody>
                  <a:tcPr marL="114300" marR="95250" marT="9525" marB="9525" anchor="ctr">
                    <a:solidFill>
                      <a:srgbClr val="F3F3F3"/>
                    </a:solidFill>
                  </a:tcPr>
                </a:tc>
                <a:tc>
                  <a:txBody>
                    <a:bodyPr/>
                    <a:lstStyle/>
                    <a:p>
                      <a:r>
                        <a:rPr sz="1575" b="0">
                          <a:solidFill>
                            <a:srgbClr val="111111"/>
                          </a:solidFill>
                          <a:latin typeface="Calibri"/>
                          <a:ea typeface="Calibri"/>
                          <a:cs typeface="Calibri"/>
                        </a:rPr>
                        <a:t>84.1648</a:t>
                      </a:r>
                    </a:p>
                  </a:txBody>
                  <a:tcPr marL="114300" marR="95250" marT="9525" marB="9525" anchor="ctr">
                    <a:solidFill>
                      <a:srgbClr val="F3F3F3"/>
                    </a:solidFill>
                  </a:tcPr>
                </a:tc>
                <a:extLst>
                  <a:ext uri="{0D108BD9-81ED-4DB2-BD59-A6C34878D82A}">
                    <a16:rowId xmlns:a16="http://schemas.microsoft.com/office/drawing/2014/main" val="10008"/>
                  </a:ext>
                </a:extLst>
              </a:tr>
              <a:tr h="344365">
                <a:tc>
                  <a:txBody>
                    <a:bodyPr/>
                    <a:lstStyle/>
                    <a:p>
                      <a:r>
                        <a:rPr sz="1575" b="0">
                          <a:solidFill>
                            <a:srgbClr val="111111"/>
                          </a:solidFill>
                          <a:latin typeface="Calibri"/>
                          <a:ea typeface="Calibri"/>
                          <a:cs typeface="Calibri"/>
                        </a:rPr>
                        <a:t>PLAM + complete RACE</a:t>
                      </a:r>
                    </a:p>
                  </a:txBody>
                  <a:tcPr marL="114300" marR="95250" marT="9525" marB="9525" anchor="ctr">
                    <a:solidFill>
                      <a:srgbClr val="FFFFFF"/>
                    </a:solidFill>
                  </a:tcPr>
                </a:tc>
                <a:tc>
                  <a:txBody>
                    <a:bodyPr/>
                    <a:lstStyle/>
                    <a:p>
                      <a:r>
                        <a:rPr sz="1575" b="0">
                          <a:solidFill>
                            <a:srgbClr val="111111"/>
                          </a:solidFill>
                          <a:latin typeface="Calibri"/>
                          <a:ea typeface="Calibri"/>
                          <a:cs typeface="Calibri"/>
                        </a:rPr>
                        <a:t>3407</a:t>
                      </a:r>
                    </a:p>
                  </a:txBody>
                  <a:tcPr marL="114300" marR="95250" marT="9525" marB="9525" anchor="ctr">
                    <a:solidFill>
                      <a:srgbClr val="FFFFFF"/>
                    </a:solidFill>
                  </a:tcPr>
                </a:tc>
                <a:tc>
                  <a:txBody>
                    <a:bodyPr/>
                    <a:lstStyle/>
                    <a:p>
                      <a:r>
                        <a:rPr sz="1575" b="0">
                          <a:solidFill>
                            <a:srgbClr val="111111"/>
                          </a:solidFill>
                          <a:latin typeface="Calibri"/>
                          <a:ea typeface="Calibri"/>
                          <a:cs typeface="Calibri"/>
                        </a:rPr>
                        <a:t>66</a:t>
                      </a:r>
                    </a:p>
                  </a:txBody>
                  <a:tcPr marL="114300" marR="95250" marT="9525" marB="9525" anchor="ctr">
                    <a:solidFill>
                      <a:srgbClr val="FFFFFF"/>
                    </a:solidFill>
                  </a:tcPr>
                </a:tc>
                <a:tc>
                  <a:txBody>
                    <a:bodyPr/>
                    <a:lstStyle/>
                    <a:p>
                      <a:r>
                        <a:rPr sz="1575" b="0">
                          <a:solidFill>
                            <a:srgbClr val="111111"/>
                          </a:solidFill>
                          <a:latin typeface="Calibri"/>
                          <a:ea typeface="Calibri"/>
                          <a:cs typeface="Calibri"/>
                        </a:rPr>
                        <a:t>75.6239</a:t>
                      </a:r>
                    </a:p>
                  </a:txBody>
                  <a:tcPr marL="114300" marR="95250" marT="9525" marB="9525" anchor="ctr">
                    <a:solidFill>
                      <a:srgbClr val="FFFFFF"/>
                    </a:solidFill>
                  </a:tcPr>
                </a:tc>
                <a:tc>
                  <a:txBody>
                    <a:bodyPr/>
                    <a:lstStyle/>
                    <a:p>
                      <a:r>
                        <a:rPr sz="1575" b="0">
                          <a:solidFill>
                            <a:srgbClr val="111111"/>
                          </a:solidFill>
                          <a:latin typeface="Calibri"/>
                          <a:ea typeface="Calibri"/>
                          <a:cs typeface="Calibri"/>
                        </a:rPr>
                        <a:t>84.1425</a:t>
                      </a:r>
                    </a:p>
                  </a:txBody>
                  <a:tcPr marL="114300" marR="95250" marT="9525" marB="9525" anchor="ctr">
                    <a:solidFill>
                      <a:srgbClr val="FFFFFF"/>
                    </a:solidFill>
                  </a:tcPr>
                </a:tc>
                <a:extLst>
                  <a:ext uri="{0D108BD9-81ED-4DB2-BD59-A6C34878D82A}">
                    <a16:rowId xmlns:a16="http://schemas.microsoft.com/office/drawing/2014/main" val="10009"/>
                  </a:ext>
                </a:extLst>
              </a:tr>
              <a:tr h="344365">
                <a:tc>
                  <a:txBody>
                    <a:bodyPr/>
                    <a:lstStyle/>
                    <a:p>
                      <a:r>
                        <a:rPr sz="1575" b="1">
                          <a:solidFill>
                            <a:srgbClr val="111111"/>
                          </a:solidFill>
                          <a:latin typeface="Calibri"/>
                          <a:ea typeface="Calibri"/>
                          <a:cs typeface="Calibri"/>
                        </a:rPr>
                        <a:t>FSDR + complete RACE</a:t>
                      </a:r>
                    </a:p>
                  </a:txBody>
                  <a:tcPr marL="114300" marR="95250" marT="9525" marB="9525" anchor="ctr">
                    <a:solidFill>
                      <a:srgbClr val="F3F3F3"/>
                    </a:solidFill>
                  </a:tcPr>
                </a:tc>
                <a:tc>
                  <a:txBody>
                    <a:bodyPr/>
                    <a:lstStyle/>
                    <a:p>
                      <a:r>
                        <a:rPr sz="1575" b="1">
                          <a:solidFill>
                            <a:srgbClr val="111111"/>
                          </a:solidFill>
                          <a:latin typeface="Calibri"/>
                          <a:ea typeface="Calibri"/>
                          <a:cs typeface="Calibri"/>
                        </a:rPr>
                        <a:t>1219</a:t>
                      </a:r>
                    </a:p>
                  </a:txBody>
                  <a:tcPr marL="114300" marR="95250" marT="9525" marB="9525" anchor="ctr">
                    <a:solidFill>
                      <a:srgbClr val="F3F3F3"/>
                    </a:solidFill>
                  </a:tcPr>
                </a:tc>
                <a:tc>
                  <a:txBody>
                    <a:bodyPr/>
                    <a:lstStyle/>
                    <a:p>
                      <a:r>
                        <a:rPr sz="1575" b="1">
                          <a:solidFill>
                            <a:srgbClr val="111111"/>
                          </a:solidFill>
                          <a:latin typeface="Calibri"/>
                          <a:ea typeface="Calibri"/>
                          <a:cs typeface="Calibri"/>
                        </a:rPr>
                        <a:t>75</a:t>
                      </a:r>
                    </a:p>
                  </a:txBody>
                  <a:tcPr marL="114300" marR="95250" marT="9525" marB="9525" anchor="ctr">
                    <a:solidFill>
                      <a:srgbClr val="F3F3F3"/>
                    </a:solidFill>
                  </a:tcPr>
                </a:tc>
                <a:tc>
                  <a:txBody>
                    <a:bodyPr/>
                    <a:lstStyle/>
                    <a:p>
                      <a:r>
                        <a:rPr sz="1575" b="1">
                          <a:solidFill>
                            <a:srgbClr val="111111"/>
                          </a:solidFill>
                          <a:latin typeface="Calibri"/>
                          <a:ea typeface="Calibri"/>
                          <a:cs typeface="Calibri"/>
                        </a:rPr>
                        <a:t>76.2485</a:t>
                      </a:r>
                    </a:p>
                  </a:txBody>
                  <a:tcPr marL="114300" marR="95250" marT="9525" marB="9525" anchor="ctr">
                    <a:solidFill>
                      <a:srgbClr val="F3F3F3"/>
                    </a:solidFill>
                  </a:tcPr>
                </a:tc>
                <a:tc>
                  <a:txBody>
                    <a:bodyPr/>
                    <a:lstStyle/>
                    <a:p>
                      <a:r>
                        <a:rPr sz="1575" b="1">
                          <a:solidFill>
                            <a:srgbClr val="111111"/>
                          </a:solidFill>
                          <a:latin typeface="Calibri"/>
                          <a:ea typeface="Calibri"/>
                          <a:cs typeface="Calibri"/>
                        </a:rPr>
                        <a:t>84.7097</a:t>
                      </a:r>
                    </a:p>
                  </a:txBody>
                  <a:tcPr marL="114300" marR="95250" marT="9525" marB="9525" anchor="ctr">
                    <a:solidFill>
                      <a:srgbClr val="F3F3F3"/>
                    </a:solidFill>
                  </a:tcPr>
                </a:tc>
                <a:extLst>
                  <a:ext uri="{0D108BD9-81ED-4DB2-BD59-A6C34878D82A}">
                    <a16:rowId xmlns:a16="http://schemas.microsoft.com/office/drawing/2014/main" val="10010"/>
                  </a:ext>
                </a:extLst>
              </a:tr>
              <a:tr h="344365">
                <a:tc>
                  <a:txBody>
                    <a:bodyPr/>
                    <a:lstStyle/>
                    <a:p>
                      <a:r>
                        <a:rPr sz="1575" b="1">
                          <a:solidFill>
                            <a:srgbClr val="111111"/>
                          </a:solidFill>
                          <a:latin typeface="Calibri"/>
                          <a:ea typeface="Calibri"/>
                          <a:cs typeface="Calibri"/>
                        </a:rPr>
                        <a:t>FSDR + complete RACE</a:t>
                      </a:r>
                    </a:p>
                  </a:txBody>
                  <a:tcPr marL="114300" marR="95250" marT="9525" marB="9525" anchor="ctr">
                    <a:solidFill>
                      <a:srgbClr val="FFFFFF"/>
                    </a:solidFill>
                  </a:tcPr>
                </a:tc>
                <a:tc>
                  <a:txBody>
                    <a:bodyPr/>
                    <a:lstStyle/>
                    <a:p>
                      <a:r>
                        <a:rPr sz="1575" b="1">
                          <a:solidFill>
                            <a:srgbClr val="111111"/>
                          </a:solidFill>
                          <a:latin typeface="Calibri"/>
                          <a:ea typeface="Calibri"/>
                          <a:cs typeface="Calibri"/>
                        </a:rPr>
                        <a:t>2027</a:t>
                      </a:r>
                    </a:p>
                  </a:txBody>
                  <a:tcPr marL="114300" marR="95250" marT="9525" marB="9525" anchor="ctr">
                    <a:solidFill>
                      <a:srgbClr val="FFFFFF"/>
                    </a:solidFill>
                  </a:tcPr>
                </a:tc>
                <a:tc>
                  <a:txBody>
                    <a:bodyPr/>
                    <a:lstStyle/>
                    <a:p>
                      <a:r>
                        <a:rPr sz="1575" b="1">
                          <a:solidFill>
                            <a:srgbClr val="111111"/>
                          </a:solidFill>
                          <a:latin typeface="Calibri"/>
                          <a:ea typeface="Calibri"/>
                          <a:cs typeface="Calibri"/>
                        </a:rPr>
                        <a:t>78</a:t>
                      </a:r>
                    </a:p>
                  </a:txBody>
                  <a:tcPr marL="114300" marR="95250" marT="9525" marB="9525" anchor="ctr">
                    <a:solidFill>
                      <a:srgbClr val="FFFFFF"/>
                    </a:solidFill>
                  </a:tcPr>
                </a:tc>
                <a:tc>
                  <a:txBody>
                    <a:bodyPr/>
                    <a:lstStyle/>
                    <a:p>
                      <a:r>
                        <a:rPr sz="1575" b="1">
                          <a:solidFill>
                            <a:srgbClr val="111111"/>
                          </a:solidFill>
                          <a:latin typeface="Calibri"/>
                          <a:ea typeface="Calibri"/>
                          <a:cs typeface="Calibri"/>
                        </a:rPr>
                        <a:t>76.2562</a:t>
                      </a:r>
                    </a:p>
                  </a:txBody>
                  <a:tcPr marL="114300" marR="95250" marT="9525" marB="9525" anchor="ctr">
                    <a:solidFill>
                      <a:srgbClr val="FFFFFF"/>
                    </a:solidFill>
                  </a:tcPr>
                </a:tc>
                <a:tc>
                  <a:txBody>
                    <a:bodyPr/>
                    <a:lstStyle/>
                    <a:p>
                      <a:r>
                        <a:rPr sz="1575" b="1">
                          <a:solidFill>
                            <a:srgbClr val="111111"/>
                          </a:solidFill>
                          <a:latin typeface="Calibri"/>
                          <a:ea typeface="Calibri"/>
                          <a:cs typeface="Calibri"/>
                        </a:rPr>
                        <a:t>84.7468</a:t>
                      </a:r>
                    </a:p>
                  </a:txBody>
                  <a:tcPr marL="114300" marR="95250" marT="9525" marB="9525" anchor="ctr">
                    <a:solidFill>
                      <a:srgbClr val="FFFFFF"/>
                    </a:solidFill>
                  </a:tcPr>
                </a:tc>
                <a:extLst>
                  <a:ext uri="{0D108BD9-81ED-4DB2-BD59-A6C34878D82A}">
                    <a16:rowId xmlns:a16="http://schemas.microsoft.com/office/drawing/2014/main" val="10011"/>
                  </a:ext>
                </a:extLst>
              </a:tr>
              <a:tr h="344365">
                <a:tc>
                  <a:txBody>
                    <a:bodyPr/>
                    <a:lstStyle/>
                    <a:p>
                      <a:r>
                        <a:rPr sz="1575" b="1">
                          <a:solidFill>
                            <a:srgbClr val="111111"/>
                          </a:solidFill>
                          <a:latin typeface="Calibri"/>
                          <a:ea typeface="Calibri"/>
                          <a:cs typeface="Calibri"/>
                        </a:rPr>
                        <a:t>FSDR + complete RACE</a:t>
                      </a:r>
                    </a:p>
                  </a:txBody>
                  <a:tcPr marL="114300" marR="95250" marT="9525" marB="9525" anchor="ctr">
                    <a:solidFill>
                      <a:srgbClr val="F3F3F3"/>
                    </a:solidFill>
                  </a:tcPr>
                </a:tc>
                <a:tc>
                  <a:txBody>
                    <a:bodyPr/>
                    <a:lstStyle/>
                    <a:p>
                      <a:r>
                        <a:rPr sz="1575" b="1">
                          <a:solidFill>
                            <a:srgbClr val="111111"/>
                          </a:solidFill>
                          <a:latin typeface="Calibri"/>
                          <a:ea typeface="Calibri"/>
                          <a:cs typeface="Calibri"/>
                        </a:rPr>
                        <a:t>3407</a:t>
                      </a:r>
                    </a:p>
                  </a:txBody>
                  <a:tcPr marL="114300" marR="95250" marT="9525" marB="9525" anchor="ctr">
                    <a:solidFill>
                      <a:srgbClr val="F3F3F3"/>
                    </a:solidFill>
                  </a:tcPr>
                </a:tc>
                <a:tc>
                  <a:txBody>
                    <a:bodyPr/>
                    <a:lstStyle/>
                    <a:p>
                      <a:r>
                        <a:rPr sz="1575" b="1">
                          <a:solidFill>
                            <a:srgbClr val="111111"/>
                          </a:solidFill>
                          <a:latin typeface="Calibri"/>
                          <a:ea typeface="Calibri"/>
                          <a:cs typeface="Calibri"/>
                        </a:rPr>
                        <a:t>70</a:t>
                      </a:r>
                    </a:p>
                  </a:txBody>
                  <a:tcPr marL="114300" marR="95250" marT="9525" marB="9525" anchor="ctr">
                    <a:solidFill>
                      <a:srgbClr val="F3F3F3"/>
                    </a:solidFill>
                  </a:tcPr>
                </a:tc>
                <a:tc>
                  <a:txBody>
                    <a:bodyPr/>
                    <a:lstStyle/>
                    <a:p>
                      <a:r>
                        <a:rPr sz="1575" b="1">
                          <a:solidFill>
                            <a:srgbClr val="111111"/>
                          </a:solidFill>
                          <a:latin typeface="Calibri"/>
                          <a:ea typeface="Calibri"/>
                          <a:cs typeface="Calibri"/>
                        </a:rPr>
                        <a:t>76.1738</a:t>
                      </a:r>
                    </a:p>
                  </a:txBody>
                  <a:tcPr marL="114300" marR="95250" marT="9525" marB="9525" anchor="ctr">
                    <a:solidFill>
                      <a:srgbClr val="F3F3F3"/>
                    </a:solidFill>
                  </a:tcPr>
                </a:tc>
                <a:tc>
                  <a:txBody>
                    <a:bodyPr/>
                    <a:lstStyle/>
                    <a:p>
                      <a:r>
                        <a:rPr sz="1575" b="1">
                          <a:solidFill>
                            <a:srgbClr val="111111"/>
                          </a:solidFill>
                          <a:latin typeface="Calibri"/>
                          <a:ea typeface="Calibri"/>
                          <a:cs typeface="Calibri"/>
                        </a:rPr>
                        <a:t>84.6773</a:t>
                      </a:r>
                    </a:p>
                  </a:txBody>
                  <a:tcPr marL="114300" marR="95250" marT="9525" marB="9525" anchor="ctr">
                    <a:solidFill>
                      <a:srgbClr val="F3F3F3"/>
                    </a:solidFill>
                  </a:tcPr>
                </a:tc>
                <a:extLst>
                  <a:ext uri="{0D108BD9-81ED-4DB2-BD59-A6C34878D82A}">
                    <a16:rowId xmlns:a16="http://schemas.microsoft.com/office/drawing/2014/main" val="10012"/>
                  </a:ext>
                </a:extLst>
              </a:tr>
            </a:tbl>
          </a:graphicData>
        </a:graphic>
      </p:graphicFrame>
      <p:sp>
        <p:nvSpPr>
          <p:cNvPr id="5" name="矩形 4">
            <a:extLst>
              <a:ext uri="{FF2B5EF4-FFF2-40B4-BE49-F238E27FC236}">
                <a16:creationId xmlns:a16="http://schemas.microsoft.com/office/drawing/2014/main" id="{510C4BB6-5FFC-4D65-A849-11EF3D124D3A}"/>
              </a:ext>
            </a:extLst>
          </p:cNvPr>
          <p:cNvSpPr>
            <a:spLocks noGrp="1"/>
          </p:cNvSpPr>
          <p:nvPr/>
        </p:nvSpPr>
        <p:spPr>
          <a:xfrm>
            <a:off x="638175" y="6076950"/>
            <a:ext cx="10915650" cy="247650"/>
          </a:xfrm>
          <a:prstGeom prst="rect">
            <a:avLst/>
          </a:prstGeom>
          <a:noFill/>
          <a:ln w="0">
            <a:noFill/>
          </a:ln>
        </p:spPr>
        <p:txBody>
          <a:bodyPr wrap="square" lIns="0" tIns="0" rIns="0" bIns="0" anchor="ctr">
            <a:noAutofit/>
          </a:bodyPr>
          <a:lstStyle/>
          <a:p>
            <a:pPr algn="l">
              <a:defRPr sz="1650" b="0">
                <a:solidFill>
                  <a:srgbClr val="606060"/>
                </a:solidFill>
                <a:latin typeface="Calibri"/>
                <a:ea typeface="Calibri"/>
                <a:cs typeface="Calibri"/>
              </a:defRPr>
            </a:pPr>
            <a:r>
              <a:rPr sz="1650" b="0">
                <a:solidFill>
                  <a:srgbClr val="606060"/>
                </a:solidFill>
                <a:latin typeface="Calibri"/>
                <a:ea typeface="Calibri"/>
                <a:cs typeface="Calibri"/>
              </a:rPr>
              <a:t>Each run selects Best by Val macro IoU. Every configuration uses all three seeds.</a:t>
            </a:r>
          </a:p>
        </p:txBody>
      </p:sp>
    </p:spTree>
    <p:extLst>
      <p:ext uri="{BB962C8B-B14F-4D97-AF65-F5344CB8AC3E}">
        <p14:creationId xmlns:p14="http://schemas.microsoft.com/office/powerpoint/2010/main" val="1897054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91919"/>
        </a:solidFill>
        <a:effectLst/>
      </p:bgPr>
    </p:bg>
    <p:spTree>
      <p:nvGrpSpPr>
        <p:cNvPr id="1" name=""/>
        <p:cNvGrpSpPr/>
        <p:nvPr/>
      </p:nvGrpSpPr>
      <p:grpSpPr>
        <a:xfrm>
          <a:off x="0" y="0"/>
          <a:ext cx="0" cy="0"/>
          <a:chOff x="0" y="0"/>
          <a:chExt cx="0" cy="0"/>
        </a:xfrm>
      </p:grpSpPr>
      <p:sp>
        <p:nvSpPr>
          <p:cNvPr id="24" name="矩形 23">
            <a:extLst>
              <a:ext uri="{FF2B5EF4-FFF2-40B4-BE49-F238E27FC236}">
                <a16:creationId xmlns:a16="http://schemas.microsoft.com/office/drawing/2014/main" id="{14A97ECB-5396-433E-B2C2-AA262457C196}"/>
              </a:ext>
            </a:extLst>
          </p:cNvPr>
          <p:cNvSpPr>
            <a:spLocks noGrp="1"/>
          </p:cNvSpPr>
          <p:nvPr/>
        </p:nvSpPr>
        <p:spPr>
          <a:xfrm>
            <a:off x="638175" y="381000"/>
            <a:ext cx="10915650" cy="809625"/>
          </a:xfrm>
          <a:prstGeom prst="rect">
            <a:avLst/>
          </a:prstGeom>
          <a:noFill/>
          <a:ln w="0">
            <a:noFill/>
          </a:ln>
        </p:spPr>
        <p:txBody>
          <a:bodyPr wrap="square" lIns="0" tIns="0" rIns="0" bIns="0" anchor="ctr">
            <a:noAutofit/>
          </a:bodyPr>
          <a:lstStyle/>
          <a:p>
            <a:pPr algn="l">
              <a:defRPr sz="2925" b="1">
                <a:solidFill>
                  <a:srgbClr val="F4F4F4"/>
                </a:solidFill>
                <a:latin typeface="Cambria"/>
                <a:ea typeface="Cambria"/>
                <a:cs typeface="Cambria"/>
              </a:defRPr>
            </a:pPr>
            <a:r>
              <a:rPr sz="2925" b="1">
                <a:solidFill>
                  <a:srgbClr val="F4F4F4"/>
                </a:solidFill>
                <a:latin typeface="Cambria"/>
                <a:ea typeface="Cambria"/>
                <a:cs typeface="Cambria"/>
              </a:rPr>
              <a:t>FSDR: spatially adaptive frequency refinement</a:t>
            </a:r>
          </a:p>
        </p:txBody>
      </p:sp>
      <p:sp>
        <p:nvSpPr>
          <p:cNvPr id="2" name="矩形 1">
            <a:extLst>
              <a:ext uri="{FF2B5EF4-FFF2-40B4-BE49-F238E27FC236}">
                <a16:creationId xmlns:a16="http://schemas.microsoft.com/office/drawing/2014/main" id="{EA15E566-3EBD-48A1-A265-DF0C18A5FBDF}"/>
              </a:ext>
            </a:extLst>
          </p:cNvPr>
          <p:cNvSpPr>
            <a:spLocks noGrp="1"/>
          </p:cNvSpPr>
          <p:nvPr/>
        </p:nvSpPr>
        <p:spPr>
          <a:xfrm>
            <a:off x="638175" y="6467475"/>
            <a:ext cx="10382250" cy="190500"/>
          </a:xfrm>
          <a:prstGeom prst="rect">
            <a:avLst/>
          </a:prstGeom>
          <a:noFill/>
          <a:ln w="0">
            <a:noFill/>
          </a:ln>
        </p:spPr>
        <p:txBody>
          <a:bodyPr wrap="square" lIns="0" tIns="0" rIns="0" bIns="0" anchor="ctr">
            <a:noAutofit/>
          </a:bodyPr>
          <a:lstStyle/>
          <a:p>
            <a:pPr algn="l">
              <a:defRPr sz="900" b="0">
                <a:solidFill>
                  <a:srgbClr val="999999"/>
                </a:solidFill>
                <a:latin typeface="Calibri"/>
                <a:ea typeface="Calibri"/>
                <a:cs typeface="Calibri"/>
              </a:defRPr>
            </a:pPr>
            <a:r>
              <a:rPr sz="900" b="0">
                <a:solidFill>
                  <a:srgbClr val="999999"/>
                </a:solidFill>
                <a:latin typeface="Calibri"/>
                <a:ea typeface="Calibri"/>
                <a:cs typeface="Calibri"/>
              </a:rPr>
              <a:t>Adaptive branch at up4 and up3. At up2 and up1, D′ = D and R_adaptive = 0.</a:t>
            </a:r>
          </a:p>
        </p:txBody>
      </p:sp>
      <p:sp>
        <p:nvSpPr>
          <p:cNvPr id="3" name="矩形 2">
            <a:extLst>
              <a:ext uri="{FF2B5EF4-FFF2-40B4-BE49-F238E27FC236}">
                <a16:creationId xmlns:a16="http://schemas.microsoft.com/office/drawing/2014/main" id="{AE11BDEE-0CB7-4719-8A75-D544F7E2741D}"/>
              </a:ext>
            </a:extLst>
          </p:cNvPr>
          <p:cNvSpPr>
            <a:spLocks noGrp="1"/>
          </p:cNvSpPr>
          <p:nvPr/>
        </p:nvSpPr>
        <p:spPr>
          <a:xfrm>
            <a:off x="11144250" y="6467475"/>
            <a:ext cx="409575" cy="190500"/>
          </a:xfrm>
          <a:prstGeom prst="rect">
            <a:avLst/>
          </a:prstGeom>
          <a:noFill/>
          <a:ln w="0">
            <a:noFill/>
          </a:ln>
        </p:spPr>
        <p:txBody>
          <a:bodyPr wrap="square" lIns="0" tIns="0" rIns="0" bIns="0" anchor="ctr">
            <a:noAutofit/>
          </a:bodyPr>
          <a:lstStyle/>
          <a:p>
            <a:pPr algn="r">
              <a:defRPr sz="900" b="0">
                <a:solidFill>
                  <a:srgbClr val="999999"/>
                </a:solidFill>
                <a:latin typeface="Calibri"/>
                <a:ea typeface="Calibri"/>
                <a:cs typeface="Calibri"/>
              </a:defRPr>
            </a:pPr>
            <a:r>
              <a:rPr sz="900" b="0">
                <a:solidFill>
                  <a:srgbClr val="999999"/>
                </a:solidFill>
                <a:latin typeface="Calibri"/>
                <a:ea typeface="Calibri"/>
                <a:cs typeface="Calibri"/>
              </a:rPr>
              <a:t>16</a:t>
            </a:r>
          </a:p>
        </p:txBody>
      </p:sp>
      <p:sp>
        <p:nvSpPr>
          <p:cNvPr id="4" name="矩形: 圆角 3">
            <a:extLst>
              <a:ext uri="{FF2B5EF4-FFF2-40B4-BE49-F238E27FC236}">
                <a16:creationId xmlns:a16="http://schemas.microsoft.com/office/drawing/2014/main" id="{1EB1A038-1BFF-48EA-8731-671430C1B209}"/>
              </a:ext>
            </a:extLst>
          </p:cNvPr>
          <p:cNvSpPr>
            <a:spLocks noGrp="1"/>
          </p:cNvSpPr>
          <p:nvPr/>
        </p:nvSpPr>
        <p:spPr>
          <a:xfrm>
            <a:off x="638175" y="1504950"/>
            <a:ext cx="3095625" cy="666750"/>
          </a:xfrm>
          <a:prstGeom prst="roundRect">
            <a:avLst>
              <a:gd name="adj" fmla="val 18571"/>
            </a:avLst>
          </a:prstGeom>
          <a:solidFill>
            <a:srgbClr val="333333"/>
          </a:solidFill>
          <a:ln w="9525">
            <a:solidFill>
              <a:srgbClr val="575757"/>
            </a:solidFill>
          </a:ln>
        </p:spPr>
        <p:txBody>
          <a:bodyPr lIns="95250" tIns="47625" rIns="95250" bIns="47625" anchor="ctr">
            <a:noAutofit/>
          </a:bodyPr>
          <a:lstStyle/>
          <a:p>
            <a:pPr algn="ctr">
              <a:defRPr sz="1725" b="0">
                <a:solidFill>
                  <a:srgbClr val="F4F4F4"/>
                </a:solidFill>
                <a:latin typeface="Calibri"/>
                <a:ea typeface="Calibri"/>
                <a:cs typeface="Calibri"/>
              </a:defRPr>
            </a:pPr>
            <a:r>
              <a:rPr sz="1725" b="0">
                <a:solidFill>
                  <a:srgbClr val="F4F4F4"/>
                </a:solidFill>
                <a:latin typeface="Calibri"/>
                <a:ea typeface="Calibri"/>
                <a:cs typeface="Calibri"/>
              </a:rPr>
              <a:t>C* low, V low, D low</a:t>
            </a:r>
          </a:p>
        </p:txBody>
      </p:sp>
      <p:sp>
        <p:nvSpPr>
          <p:cNvPr id="5" name="矩形: 圆角 4">
            <a:extLst>
              <a:ext uri="{FF2B5EF4-FFF2-40B4-BE49-F238E27FC236}">
                <a16:creationId xmlns:a16="http://schemas.microsoft.com/office/drawing/2014/main" id="{013F8418-44BD-4420-B4D8-84F221F67EDE}"/>
              </a:ext>
            </a:extLst>
          </p:cNvPr>
          <p:cNvSpPr>
            <a:spLocks noGrp="1"/>
          </p:cNvSpPr>
          <p:nvPr/>
        </p:nvSpPr>
        <p:spPr>
          <a:xfrm>
            <a:off x="4572000" y="1504950"/>
            <a:ext cx="3095625" cy="666750"/>
          </a:xfrm>
          <a:prstGeom prst="roundRect">
            <a:avLst>
              <a:gd name="adj" fmla="val 18571"/>
            </a:avLst>
          </a:prstGeom>
          <a:solidFill>
            <a:srgbClr val="76554A"/>
          </a:solidFill>
          <a:ln w="9525">
            <a:solidFill>
              <a:srgbClr val="575757"/>
            </a:solidFill>
          </a:ln>
        </p:spPr>
        <p:txBody>
          <a:bodyPr lIns="95250" tIns="47625" rIns="95250" bIns="47625" anchor="ctr">
            <a:noAutofit/>
          </a:bodyPr>
          <a:lstStyle/>
          <a:p>
            <a:pPr algn="ctr">
              <a:defRPr sz="1725" b="0">
                <a:solidFill>
                  <a:srgbClr val="F4F4F4"/>
                </a:solidFill>
                <a:latin typeface="Calibri"/>
                <a:ea typeface="Calibri"/>
                <a:cs typeface="Calibri"/>
              </a:defRPr>
            </a:pPr>
            <a:r>
              <a:rPr sz="1725" b="0">
                <a:solidFill>
                  <a:srgbClr val="F4F4F4"/>
                </a:solidFill>
                <a:latin typeface="Calibri"/>
                <a:ea typeface="Calibri"/>
                <a:cs typeface="Calibri"/>
              </a:rPr>
              <a:t>Shared spatial context</a:t>
            </a:r>
          </a:p>
        </p:txBody>
      </p:sp>
      <p:sp>
        <p:nvSpPr>
          <p:cNvPr id="6" name="矩形: 圆角 5">
            <a:extLst>
              <a:ext uri="{FF2B5EF4-FFF2-40B4-BE49-F238E27FC236}">
                <a16:creationId xmlns:a16="http://schemas.microsoft.com/office/drawing/2014/main" id="{4EB2F2FA-C7E9-426F-91DC-602E6967F3A4}"/>
              </a:ext>
            </a:extLst>
          </p:cNvPr>
          <p:cNvSpPr>
            <a:spLocks noGrp="1"/>
          </p:cNvSpPr>
          <p:nvPr/>
        </p:nvSpPr>
        <p:spPr>
          <a:xfrm>
            <a:off x="2381250" y="2762250"/>
            <a:ext cx="2238375" cy="800100"/>
          </a:xfrm>
          <a:prstGeom prst="roundRect">
            <a:avLst>
              <a:gd name="adj" fmla="val 15476"/>
            </a:avLst>
          </a:prstGeom>
          <a:solidFill>
            <a:srgbClr val="76554A"/>
          </a:solidFill>
          <a:ln w="9525">
            <a:solidFill>
              <a:srgbClr val="575757"/>
            </a:solidFill>
          </a:ln>
        </p:spPr>
        <p:txBody>
          <a:bodyPr lIns="95250" tIns="47625" rIns="95250" bIns="47625" anchor="ctr">
            <a:noAutofit/>
          </a:bodyPr>
          <a:lstStyle/>
          <a:p>
            <a:pPr algn="ctr">
              <a:defRPr sz="1725" b="0">
                <a:solidFill>
                  <a:srgbClr val="F4F4F4"/>
                </a:solidFill>
                <a:latin typeface="Calibri"/>
                <a:ea typeface="Calibri"/>
                <a:cs typeface="Calibri"/>
              </a:defRPr>
            </a:pPr>
            <a:r>
              <a:rPr sz="1725" b="0">
                <a:solidFill>
                  <a:srgbClr val="F4F4F4"/>
                </a:solidFill>
                <a:latin typeface="Calibri"/>
                <a:ea typeface="Calibri"/>
                <a:cs typeface="Calibri"/>
              </a:rPr>
              <a:t>Low-pass weights</a:t>
            </a:r>
          </a:p>
          <a:p>
            <a:pPr algn="ctr">
              <a:defRPr sz="1725" b="0">
                <a:solidFill>
                  <a:srgbClr val="F4F4F4"/>
                </a:solidFill>
                <a:latin typeface="Calibri"/>
                <a:ea typeface="Calibri"/>
                <a:cs typeface="Calibri"/>
              </a:defRPr>
            </a:pPr>
            <a:r>
              <a:rPr sz="1725" b="0">
                <a:solidFill>
                  <a:srgbClr val="F4F4F4"/>
                </a:solidFill>
                <a:latin typeface="Calibri"/>
                <a:ea typeface="Calibri"/>
                <a:cs typeface="Calibri"/>
              </a:rPr>
              <a:t>Spatial softmax</a:t>
            </a:r>
          </a:p>
        </p:txBody>
      </p:sp>
      <p:sp>
        <p:nvSpPr>
          <p:cNvPr id="7" name="矩形: 圆角 6">
            <a:extLst>
              <a:ext uri="{FF2B5EF4-FFF2-40B4-BE49-F238E27FC236}">
                <a16:creationId xmlns:a16="http://schemas.microsoft.com/office/drawing/2014/main" id="{534F34F9-22B9-41DE-8BF9-A512C4F1FB10}"/>
              </a:ext>
            </a:extLst>
          </p:cNvPr>
          <p:cNvSpPr>
            <a:spLocks noGrp="1"/>
          </p:cNvSpPr>
          <p:nvPr/>
        </p:nvSpPr>
        <p:spPr>
          <a:xfrm>
            <a:off x="8077200" y="2762250"/>
            <a:ext cx="2238375" cy="800100"/>
          </a:xfrm>
          <a:prstGeom prst="roundRect">
            <a:avLst>
              <a:gd name="adj" fmla="val 15476"/>
            </a:avLst>
          </a:prstGeom>
          <a:solidFill>
            <a:srgbClr val="76554A"/>
          </a:solidFill>
          <a:ln w="9525">
            <a:solidFill>
              <a:srgbClr val="575757"/>
            </a:solidFill>
          </a:ln>
        </p:spPr>
        <p:txBody>
          <a:bodyPr lIns="95250" tIns="47625" rIns="95250" bIns="47625" anchor="ctr">
            <a:noAutofit/>
          </a:bodyPr>
          <a:lstStyle/>
          <a:p>
            <a:pPr algn="ctr">
              <a:defRPr sz="1725" b="0">
                <a:solidFill>
                  <a:srgbClr val="F4F4F4"/>
                </a:solidFill>
                <a:latin typeface="Calibri"/>
                <a:ea typeface="Calibri"/>
                <a:cs typeface="Calibri"/>
              </a:defRPr>
            </a:pPr>
            <a:r>
              <a:rPr sz="1725" b="0">
                <a:solidFill>
                  <a:srgbClr val="F4F4F4"/>
                </a:solidFill>
                <a:latin typeface="Calibri"/>
                <a:ea typeface="Calibri"/>
                <a:cs typeface="Calibri"/>
              </a:rPr>
              <a:t>High-pass weights</a:t>
            </a:r>
          </a:p>
          <a:p>
            <a:pPr algn="ctr">
              <a:defRPr sz="1725" b="0">
                <a:solidFill>
                  <a:srgbClr val="F4F4F4"/>
                </a:solidFill>
                <a:latin typeface="Calibri"/>
                <a:ea typeface="Calibri"/>
                <a:cs typeface="Calibri"/>
              </a:defRPr>
            </a:pPr>
            <a:r>
              <a:rPr sz="1725" b="0">
                <a:solidFill>
                  <a:srgbClr val="F4F4F4"/>
                </a:solidFill>
                <a:latin typeface="Calibri"/>
                <a:ea typeface="Calibri"/>
                <a:cs typeface="Calibri"/>
              </a:rPr>
              <a:t>Spatial softmax</a:t>
            </a:r>
          </a:p>
        </p:txBody>
      </p:sp>
      <p:sp>
        <p:nvSpPr>
          <p:cNvPr id="8" name="矩形: 圆角 7">
            <a:extLst>
              <a:ext uri="{FF2B5EF4-FFF2-40B4-BE49-F238E27FC236}">
                <a16:creationId xmlns:a16="http://schemas.microsoft.com/office/drawing/2014/main" id="{9E9AD0C0-E100-47BF-B0A0-AAFF721AB7A2}"/>
              </a:ext>
            </a:extLst>
          </p:cNvPr>
          <p:cNvSpPr>
            <a:spLocks noGrp="1"/>
          </p:cNvSpPr>
          <p:nvPr/>
        </p:nvSpPr>
        <p:spPr>
          <a:xfrm>
            <a:off x="638175" y="4076700"/>
            <a:ext cx="1381125" cy="609600"/>
          </a:xfrm>
          <a:prstGeom prst="roundRect">
            <a:avLst>
              <a:gd name="adj" fmla="val 20313"/>
            </a:avLst>
          </a:prstGeom>
          <a:solidFill>
            <a:srgbClr val="333333"/>
          </a:solidFill>
          <a:ln w="9525">
            <a:solidFill>
              <a:srgbClr val="575757"/>
            </a:solidFill>
          </a:ln>
        </p:spPr>
        <p:txBody>
          <a:bodyPr lIns="95250" tIns="47625" rIns="95250" bIns="47625" anchor="ctr">
            <a:noAutofit/>
          </a:bodyPr>
          <a:lstStyle/>
          <a:p>
            <a:pPr algn="ctr">
              <a:defRPr sz="1725" b="0">
                <a:solidFill>
                  <a:srgbClr val="F4F4F4"/>
                </a:solidFill>
                <a:latin typeface="Calibri"/>
                <a:ea typeface="Calibri"/>
                <a:cs typeface="Calibri"/>
              </a:defRPr>
            </a:pPr>
            <a:r>
              <a:rPr sz="1725" b="0">
                <a:solidFill>
                  <a:srgbClr val="F4F4F4"/>
                </a:solidFill>
                <a:latin typeface="Calibri"/>
                <a:ea typeface="Calibri"/>
                <a:cs typeface="Calibri"/>
              </a:rPr>
              <a:t>Decoder D</a:t>
            </a:r>
          </a:p>
        </p:txBody>
      </p:sp>
      <p:sp>
        <p:nvSpPr>
          <p:cNvPr id="9" name="矩形: 圆角 8">
            <a:extLst>
              <a:ext uri="{FF2B5EF4-FFF2-40B4-BE49-F238E27FC236}">
                <a16:creationId xmlns:a16="http://schemas.microsoft.com/office/drawing/2014/main" id="{C7A2C642-89CA-47C0-B256-932B64FCFA2D}"/>
              </a:ext>
            </a:extLst>
          </p:cNvPr>
          <p:cNvSpPr>
            <a:spLocks noGrp="1"/>
          </p:cNvSpPr>
          <p:nvPr/>
        </p:nvSpPr>
        <p:spPr>
          <a:xfrm>
            <a:off x="6267450" y="4076700"/>
            <a:ext cx="1381125" cy="609600"/>
          </a:xfrm>
          <a:prstGeom prst="roundRect">
            <a:avLst>
              <a:gd name="adj" fmla="val 20313"/>
            </a:avLst>
          </a:prstGeom>
          <a:solidFill>
            <a:srgbClr val="333333"/>
          </a:solidFill>
          <a:ln w="9525">
            <a:solidFill>
              <a:srgbClr val="575757"/>
            </a:solidFill>
          </a:ln>
        </p:spPr>
        <p:txBody>
          <a:bodyPr lIns="95250" tIns="47625" rIns="95250" bIns="47625" anchor="ctr">
            <a:noAutofit/>
          </a:bodyPr>
          <a:lstStyle/>
          <a:p>
            <a:pPr algn="ctr">
              <a:defRPr sz="1725" b="0">
                <a:solidFill>
                  <a:srgbClr val="F4F4F4"/>
                </a:solidFill>
                <a:latin typeface="Calibri"/>
                <a:ea typeface="Calibri"/>
                <a:cs typeface="Calibri"/>
              </a:defRPr>
            </a:pPr>
            <a:r>
              <a:rPr sz="1725" b="0">
                <a:solidFill>
                  <a:srgbClr val="F4F4F4"/>
                </a:solidFill>
                <a:latin typeface="Calibri"/>
                <a:ea typeface="Calibri"/>
                <a:cs typeface="Calibri"/>
              </a:rPr>
              <a:t>Skip C*</a:t>
            </a:r>
          </a:p>
        </p:txBody>
      </p:sp>
      <p:sp>
        <p:nvSpPr>
          <p:cNvPr id="10" name="矩形: 圆角 9">
            <a:extLst>
              <a:ext uri="{FF2B5EF4-FFF2-40B4-BE49-F238E27FC236}">
                <a16:creationId xmlns:a16="http://schemas.microsoft.com/office/drawing/2014/main" id="{9847C39A-F7FB-4686-85AB-4E5BAE81CF53}"/>
              </a:ext>
            </a:extLst>
          </p:cNvPr>
          <p:cNvSpPr>
            <a:spLocks noGrp="1"/>
          </p:cNvSpPr>
          <p:nvPr/>
        </p:nvSpPr>
        <p:spPr>
          <a:xfrm>
            <a:off x="2381250" y="4000500"/>
            <a:ext cx="2238375" cy="781050"/>
          </a:xfrm>
          <a:prstGeom prst="roundRect">
            <a:avLst>
              <a:gd name="adj" fmla="val 15854"/>
            </a:avLst>
          </a:prstGeom>
          <a:solidFill>
            <a:srgbClr val="333333"/>
          </a:solidFill>
          <a:ln w="9525">
            <a:solidFill>
              <a:srgbClr val="575757"/>
            </a:solidFill>
          </a:ln>
        </p:spPr>
        <p:txBody>
          <a:bodyPr lIns="95250" tIns="47625" rIns="95250" bIns="47625" anchor="ctr">
            <a:noAutofit/>
          </a:bodyPr>
          <a:lstStyle/>
          <a:p>
            <a:pPr algn="ctr">
              <a:defRPr sz="1725" b="0">
                <a:solidFill>
                  <a:srgbClr val="F4F4F4"/>
                </a:solidFill>
                <a:latin typeface="Calibri"/>
                <a:ea typeface="Calibri"/>
                <a:cs typeface="Calibri"/>
              </a:defRPr>
            </a:pPr>
            <a:r>
              <a:rPr sz="1725" b="0">
                <a:solidFill>
                  <a:srgbClr val="F4F4F4"/>
                </a:solidFill>
                <a:latin typeface="Calibri"/>
                <a:ea typeface="Calibri"/>
                <a:cs typeface="Calibri"/>
              </a:rPr>
              <a:t>LP_low(D)</a:t>
            </a:r>
          </a:p>
          <a:p>
            <a:pPr algn="ctr">
              <a:defRPr sz="1725" b="0">
                <a:solidFill>
                  <a:srgbClr val="F4F4F4"/>
                </a:solidFill>
                <a:latin typeface="Calibri"/>
                <a:ea typeface="Calibri"/>
                <a:cs typeface="Calibri"/>
              </a:defRPr>
            </a:pPr>
            <a:r>
              <a:rPr sz="1725" b="0">
                <a:solidFill>
                  <a:srgbClr val="F4F4F4"/>
                </a:solidFill>
                <a:latin typeface="Calibri"/>
                <a:ea typeface="Calibri"/>
                <a:cs typeface="Calibri"/>
              </a:rPr>
              <a:t>Weighted filter bank</a:t>
            </a:r>
          </a:p>
        </p:txBody>
      </p:sp>
      <p:sp>
        <p:nvSpPr>
          <p:cNvPr id="11" name="矩形: 圆角 10">
            <a:extLst>
              <a:ext uri="{FF2B5EF4-FFF2-40B4-BE49-F238E27FC236}">
                <a16:creationId xmlns:a16="http://schemas.microsoft.com/office/drawing/2014/main" id="{C3DCA603-4F4D-4524-AC3B-2BE509EA0351}"/>
              </a:ext>
            </a:extLst>
          </p:cNvPr>
          <p:cNvSpPr>
            <a:spLocks noGrp="1"/>
          </p:cNvSpPr>
          <p:nvPr/>
        </p:nvSpPr>
        <p:spPr>
          <a:xfrm>
            <a:off x="8077200" y="4000500"/>
            <a:ext cx="2238375" cy="781050"/>
          </a:xfrm>
          <a:prstGeom prst="roundRect">
            <a:avLst>
              <a:gd name="adj" fmla="val 15854"/>
            </a:avLst>
          </a:prstGeom>
          <a:solidFill>
            <a:srgbClr val="333333"/>
          </a:solidFill>
          <a:ln w="9525">
            <a:solidFill>
              <a:srgbClr val="575757"/>
            </a:solidFill>
          </a:ln>
        </p:spPr>
        <p:txBody>
          <a:bodyPr lIns="95250" tIns="47625" rIns="95250" bIns="47625" anchor="ctr">
            <a:noAutofit/>
          </a:bodyPr>
          <a:lstStyle/>
          <a:p>
            <a:pPr algn="ctr">
              <a:defRPr sz="1725" b="0">
                <a:solidFill>
                  <a:srgbClr val="F4F4F4"/>
                </a:solidFill>
                <a:latin typeface="Calibri"/>
                <a:ea typeface="Calibri"/>
                <a:cs typeface="Calibri"/>
              </a:defRPr>
            </a:pPr>
            <a:r>
              <a:rPr sz="1725" b="0">
                <a:solidFill>
                  <a:srgbClr val="F4F4F4"/>
                </a:solidFill>
                <a:latin typeface="Calibri"/>
                <a:ea typeface="Calibri"/>
                <a:cs typeface="Calibri"/>
              </a:rPr>
              <a:t>LP_high(C*)</a:t>
            </a:r>
          </a:p>
          <a:p>
            <a:pPr algn="ctr">
              <a:defRPr sz="1725" b="0">
                <a:solidFill>
                  <a:srgbClr val="F4F4F4"/>
                </a:solidFill>
                <a:latin typeface="Calibri"/>
                <a:ea typeface="Calibri"/>
                <a:cs typeface="Calibri"/>
              </a:defRPr>
            </a:pPr>
            <a:r>
              <a:rPr sz="1725" b="0">
                <a:solidFill>
                  <a:srgbClr val="F4F4F4"/>
                </a:solidFill>
                <a:latin typeface="Calibri"/>
                <a:ea typeface="Calibri"/>
                <a:cs typeface="Calibri"/>
              </a:rPr>
              <a:t>Weighted filter bank</a:t>
            </a:r>
          </a:p>
        </p:txBody>
      </p:sp>
      <p:sp>
        <p:nvSpPr>
          <p:cNvPr id="12" name="矩形: 圆角 11">
            <a:extLst>
              <a:ext uri="{FF2B5EF4-FFF2-40B4-BE49-F238E27FC236}">
                <a16:creationId xmlns:a16="http://schemas.microsoft.com/office/drawing/2014/main" id="{7FB5DFD9-DF2A-4489-991E-DCB11A235043}"/>
              </a:ext>
            </a:extLst>
          </p:cNvPr>
          <p:cNvSpPr>
            <a:spLocks noGrp="1"/>
          </p:cNvSpPr>
          <p:nvPr/>
        </p:nvSpPr>
        <p:spPr>
          <a:xfrm>
            <a:off x="1000125" y="5353050"/>
            <a:ext cx="4543425" cy="685800"/>
          </a:xfrm>
          <a:prstGeom prst="roundRect">
            <a:avLst>
              <a:gd name="adj" fmla="val 18056"/>
            </a:avLst>
          </a:prstGeom>
          <a:solidFill>
            <a:srgbClr val="76554A"/>
          </a:solidFill>
          <a:ln w="9525">
            <a:solidFill>
              <a:srgbClr val="575757"/>
            </a:solidFill>
          </a:ln>
        </p:spPr>
        <p:txBody>
          <a:bodyPr lIns="95250" tIns="47625" rIns="95250" bIns="47625" anchor="ctr">
            <a:noAutofit/>
          </a:bodyPr>
          <a:lstStyle/>
          <a:p>
            <a:pPr algn="ctr">
              <a:defRPr sz="1800" b="0">
                <a:solidFill>
                  <a:srgbClr val="F4F4F4"/>
                </a:solidFill>
                <a:latin typeface="Calibri"/>
                <a:ea typeface="Calibri"/>
                <a:cs typeface="Calibri"/>
              </a:defRPr>
            </a:pPr>
            <a:r>
              <a:rPr sz="1800" b="0">
                <a:solidFill>
                  <a:srgbClr val="F4F4F4"/>
                </a:solidFill>
                <a:latin typeface="Calibri"/>
                <a:ea typeface="Calibri"/>
                <a:cs typeface="Calibri"/>
              </a:rPr>
              <a:t>D′ = D + α [LP_low(D) − D]</a:t>
            </a:r>
          </a:p>
        </p:txBody>
      </p:sp>
      <p:sp>
        <p:nvSpPr>
          <p:cNvPr id="13" name="矩形: 圆角 12">
            <a:extLst>
              <a:ext uri="{FF2B5EF4-FFF2-40B4-BE49-F238E27FC236}">
                <a16:creationId xmlns:a16="http://schemas.microsoft.com/office/drawing/2014/main" id="{D3CB37E6-365A-445D-BEB0-773DC750FBCE}"/>
              </a:ext>
            </a:extLst>
          </p:cNvPr>
          <p:cNvSpPr>
            <a:spLocks noGrp="1"/>
          </p:cNvSpPr>
          <p:nvPr/>
        </p:nvSpPr>
        <p:spPr>
          <a:xfrm>
            <a:off x="6572250" y="5353050"/>
            <a:ext cx="4972050" cy="685800"/>
          </a:xfrm>
          <a:prstGeom prst="roundRect">
            <a:avLst>
              <a:gd name="adj" fmla="val 18056"/>
            </a:avLst>
          </a:prstGeom>
          <a:solidFill>
            <a:srgbClr val="76554A"/>
          </a:solidFill>
          <a:ln w="9525">
            <a:solidFill>
              <a:srgbClr val="575757"/>
            </a:solidFill>
          </a:ln>
        </p:spPr>
        <p:txBody>
          <a:bodyPr lIns="95250" tIns="47625" rIns="95250" bIns="47625" anchor="ctr">
            <a:noAutofit/>
          </a:bodyPr>
          <a:lstStyle/>
          <a:p>
            <a:pPr algn="ctr">
              <a:defRPr sz="1800" b="0">
                <a:solidFill>
                  <a:srgbClr val="F4F4F4"/>
                </a:solidFill>
                <a:latin typeface="Calibri"/>
                <a:ea typeface="Calibri"/>
                <a:cs typeface="Calibri"/>
              </a:defRPr>
            </a:pPr>
            <a:r>
              <a:rPr sz="1800" b="0">
                <a:solidFill>
                  <a:srgbClr val="F4F4F4"/>
                </a:solidFill>
                <a:latin typeface="Calibri"/>
                <a:ea typeface="Calibri"/>
                <a:cs typeface="Calibri"/>
              </a:rPr>
              <a:t>R_adaptive = β [C* − LP_high(C*)]</a:t>
            </a:r>
          </a:p>
        </p:txBody>
      </p:sp>
      <p:cxnSp>
        <p:nvCxnSpPr>
          <p:cNvPr id="37" name="连接符: 曲线 36"/>
          <p:cNvCxnSpPr>
            <a:stCxn id="4" idx="3"/>
            <a:endCxn id="5" idx="1"/>
          </p:cNvCxnSpPr>
          <p:nvPr/>
        </p:nvCxnSpPr>
        <p:spPr>
          <a:xfrm>
            <a:off x="3733800" y="1838325"/>
            <a:ext cx="838200" cy="0"/>
          </a:xfrm>
          <a:prstGeom prst="curvedConnector2">
            <a:avLst/>
          </a:prstGeom>
          <a:ln w="17145">
            <a:solidFill>
              <a:srgbClr val="B8B8B8"/>
            </a:solidFill>
            <a:tailEnd type="triangle" w="sm" len="sm"/>
          </a:ln>
        </p:spPr>
      </p:cxnSp>
      <p:cxnSp>
        <p:nvCxnSpPr>
          <p:cNvPr id="38" name="连接符: 曲线 37"/>
          <p:cNvCxnSpPr>
            <a:stCxn id="5" idx="2"/>
            <a:endCxn id="6" idx="0"/>
          </p:cNvCxnSpPr>
          <p:nvPr/>
        </p:nvCxnSpPr>
        <p:spPr>
          <a:xfrm rot="5400000">
            <a:off x="4514850" y="1157288"/>
            <a:ext cx="590550" cy="2619375"/>
          </a:xfrm>
          <a:prstGeom prst="curvedConnector3">
            <a:avLst>
              <a:gd name="adj1" fmla="val 50000"/>
            </a:avLst>
          </a:prstGeom>
          <a:ln w="17145">
            <a:solidFill>
              <a:srgbClr val="B8B8B8"/>
            </a:solidFill>
            <a:tailEnd type="triangle" w="sm" len="sm"/>
          </a:ln>
        </p:spPr>
      </p:cxnSp>
      <p:cxnSp>
        <p:nvCxnSpPr>
          <p:cNvPr id="39" name="连接符: 曲线 38"/>
          <p:cNvCxnSpPr>
            <a:stCxn id="5" idx="3"/>
            <a:endCxn id="7" idx="0"/>
          </p:cNvCxnSpPr>
          <p:nvPr/>
        </p:nvCxnSpPr>
        <p:spPr>
          <a:xfrm rot="16200000" flipH="1">
            <a:off x="7970044" y="1535906"/>
            <a:ext cx="923925" cy="1528763"/>
          </a:xfrm>
          <a:prstGeom prst="curvedConnector3">
            <a:avLst>
              <a:gd name="adj1" fmla="val 80607"/>
            </a:avLst>
          </a:prstGeom>
          <a:ln w="17145">
            <a:solidFill>
              <a:srgbClr val="B8B8B8"/>
            </a:solidFill>
            <a:tailEnd type="triangle" w="sm" len="sm"/>
          </a:ln>
        </p:spPr>
      </p:cxnSp>
      <p:cxnSp>
        <p:nvCxnSpPr>
          <p:cNvPr id="40" name="连接符: 曲线 39"/>
          <p:cNvCxnSpPr>
            <a:stCxn id="6" idx="2"/>
            <a:endCxn id="10" idx="0"/>
          </p:cNvCxnSpPr>
          <p:nvPr/>
        </p:nvCxnSpPr>
        <p:spPr>
          <a:xfrm>
            <a:off x="3500438" y="3562350"/>
            <a:ext cx="0" cy="438150"/>
          </a:xfrm>
          <a:prstGeom prst="curvedConnector2">
            <a:avLst/>
          </a:prstGeom>
          <a:ln w="17145">
            <a:solidFill>
              <a:srgbClr val="B8B8B8"/>
            </a:solidFill>
            <a:tailEnd type="triangle" w="sm" len="sm"/>
          </a:ln>
        </p:spPr>
      </p:cxnSp>
      <p:cxnSp>
        <p:nvCxnSpPr>
          <p:cNvPr id="41" name="连接符: 曲线 40"/>
          <p:cNvCxnSpPr>
            <a:stCxn id="7" idx="2"/>
            <a:endCxn id="11" idx="0"/>
          </p:cNvCxnSpPr>
          <p:nvPr/>
        </p:nvCxnSpPr>
        <p:spPr>
          <a:xfrm>
            <a:off x="9196388" y="3562350"/>
            <a:ext cx="0" cy="438150"/>
          </a:xfrm>
          <a:prstGeom prst="curvedConnector2">
            <a:avLst/>
          </a:prstGeom>
          <a:ln w="17145">
            <a:solidFill>
              <a:srgbClr val="B8B8B8"/>
            </a:solidFill>
            <a:tailEnd type="triangle" w="sm" len="sm"/>
          </a:ln>
        </p:spPr>
      </p:cxnSp>
      <p:cxnSp>
        <p:nvCxnSpPr>
          <p:cNvPr id="42" name="连接符: 曲线 41"/>
          <p:cNvCxnSpPr>
            <a:stCxn id="8" idx="3"/>
            <a:endCxn id="10" idx="1"/>
          </p:cNvCxnSpPr>
          <p:nvPr/>
        </p:nvCxnSpPr>
        <p:spPr>
          <a:xfrm rot="16200000" flipH="1">
            <a:off x="2195513" y="4205288"/>
            <a:ext cx="9525" cy="361950"/>
          </a:xfrm>
          <a:prstGeom prst="curvedConnector3">
            <a:avLst>
              <a:gd name="adj1" fmla="val 50000"/>
            </a:avLst>
          </a:prstGeom>
          <a:ln w="17145">
            <a:solidFill>
              <a:srgbClr val="B8B8B8"/>
            </a:solidFill>
            <a:tailEnd type="triangle" w="sm" len="sm"/>
          </a:ln>
        </p:spPr>
      </p:cxnSp>
      <p:cxnSp>
        <p:nvCxnSpPr>
          <p:cNvPr id="43" name="连接符: 曲线 42"/>
          <p:cNvCxnSpPr>
            <a:stCxn id="9" idx="3"/>
            <a:endCxn id="11" idx="1"/>
          </p:cNvCxnSpPr>
          <p:nvPr/>
        </p:nvCxnSpPr>
        <p:spPr>
          <a:xfrm rot="16200000" flipH="1">
            <a:off x="7858125" y="4171950"/>
            <a:ext cx="9525" cy="428625"/>
          </a:xfrm>
          <a:prstGeom prst="curvedConnector3">
            <a:avLst>
              <a:gd name="adj1" fmla="val 50000"/>
            </a:avLst>
          </a:prstGeom>
          <a:ln w="17145">
            <a:solidFill>
              <a:srgbClr val="B8B8B8"/>
            </a:solidFill>
            <a:tailEnd type="triangle" w="sm" len="sm"/>
          </a:ln>
        </p:spPr>
      </p:cxnSp>
      <p:cxnSp>
        <p:nvCxnSpPr>
          <p:cNvPr id="44" name="连接符: 曲线 43"/>
          <p:cNvCxnSpPr>
            <a:stCxn id="10" idx="2"/>
            <a:endCxn id="12" idx="0"/>
          </p:cNvCxnSpPr>
          <p:nvPr/>
        </p:nvCxnSpPr>
        <p:spPr>
          <a:xfrm rot="5400000">
            <a:off x="3100388" y="4953000"/>
            <a:ext cx="571500" cy="228600"/>
          </a:xfrm>
          <a:prstGeom prst="curvedConnector3">
            <a:avLst>
              <a:gd name="adj1" fmla="val 50000"/>
            </a:avLst>
          </a:prstGeom>
          <a:ln w="17145">
            <a:solidFill>
              <a:srgbClr val="B8B8B8"/>
            </a:solidFill>
            <a:tailEnd type="triangle" w="sm" len="sm"/>
          </a:ln>
        </p:spPr>
      </p:cxnSp>
      <p:cxnSp>
        <p:nvCxnSpPr>
          <p:cNvPr id="45" name="连接符: 曲线 44"/>
          <p:cNvCxnSpPr>
            <a:stCxn id="11" idx="2"/>
            <a:endCxn id="13" idx="0"/>
          </p:cNvCxnSpPr>
          <p:nvPr/>
        </p:nvCxnSpPr>
        <p:spPr>
          <a:xfrm rot="5400000">
            <a:off x="8841581" y="4998244"/>
            <a:ext cx="571500" cy="138113"/>
          </a:xfrm>
          <a:prstGeom prst="curvedConnector3">
            <a:avLst>
              <a:gd name="adj1" fmla="val 50000"/>
            </a:avLst>
          </a:prstGeom>
          <a:ln w="17145">
            <a:solidFill>
              <a:srgbClr val="B8B8B8"/>
            </a:solidFill>
            <a:tailEnd type="triangle" w="sm" len="sm"/>
          </a:ln>
        </p:spPr>
      </p:cxnSp>
      <p:sp>
        <p:nvSpPr>
          <p:cNvPr id="23" name="矩形 22">
            <a:extLst>
              <a:ext uri="{FF2B5EF4-FFF2-40B4-BE49-F238E27FC236}">
                <a16:creationId xmlns:a16="http://schemas.microsoft.com/office/drawing/2014/main" id="{6367A8A3-95E0-4D86-A069-EA9D8A47768C}"/>
              </a:ext>
            </a:extLst>
          </p:cNvPr>
          <p:cNvSpPr>
            <a:spLocks noGrp="1"/>
          </p:cNvSpPr>
          <p:nvPr/>
        </p:nvSpPr>
        <p:spPr>
          <a:xfrm>
            <a:off x="638175" y="6105525"/>
            <a:ext cx="10915650" cy="304800"/>
          </a:xfrm>
          <a:prstGeom prst="rect">
            <a:avLst/>
          </a:prstGeom>
          <a:noFill/>
          <a:ln w="0">
            <a:noFill/>
          </a:ln>
        </p:spPr>
        <p:txBody>
          <a:bodyPr wrap="square" lIns="0" tIns="0" rIns="0" bIns="0" anchor="ctr">
            <a:noAutofit/>
          </a:bodyPr>
          <a:lstStyle/>
          <a:p>
            <a:pPr algn="l">
              <a:defRPr sz="1725" b="0">
                <a:solidFill>
                  <a:srgbClr val="BBBBBB"/>
                </a:solidFill>
                <a:latin typeface="Calibri"/>
                <a:ea typeface="Calibri"/>
                <a:cs typeface="Calibri"/>
              </a:defRPr>
            </a:pPr>
            <a:r>
              <a:rPr sz="1725" b="0">
                <a:solidFill>
                  <a:srgbClr val="BBBBBB"/>
                </a:solidFill>
                <a:latin typeface="Calibri"/>
                <a:ea typeface="Calibri"/>
                <a:cs typeface="Calibri"/>
              </a:rPr>
              <a:t>Each filter bank mixes identity, 3 × 3 blur and 5 × 5 blur.</a:t>
            </a:r>
          </a:p>
        </p:txBody>
      </p:sp>
    </p:spTree>
    <p:extLst>
      <p:ext uri="{BB962C8B-B14F-4D97-AF65-F5344CB8AC3E}">
        <p14:creationId xmlns:p14="http://schemas.microsoft.com/office/powerpoint/2010/main" val="16044659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7AF08B09-7A22-47D9-9201-62EFAEA8EF8D}"/>
              </a:ext>
            </a:extLst>
          </p:cNvPr>
          <p:cNvSpPr>
            <a:spLocks noGrp="1"/>
          </p:cNvSpPr>
          <p:nvPr/>
        </p:nvSpPr>
        <p:spPr>
          <a:xfrm>
            <a:off x="640080" y="361950"/>
            <a:ext cx="10915650" cy="952500"/>
          </a:xfrm>
          <a:prstGeom prst="rect">
            <a:avLst/>
          </a:prstGeom>
          <a:noFill/>
          <a:ln w="0">
            <a:noFill/>
          </a:ln>
        </p:spPr>
        <p:txBody>
          <a:bodyPr wrap="square" lIns="0" tIns="0" rIns="0" bIns="0" anchor="ctr">
            <a:noAutofit/>
          </a:bodyPr>
          <a:lstStyle/>
          <a:p>
            <a:pPr algn="l">
              <a:defRPr sz="3000" b="1">
                <a:solidFill>
                  <a:srgbClr val="111111"/>
                </a:solidFill>
                <a:latin typeface="Cambria"/>
                <a:ea typeface="Cambria"/>
                <a:cs typeface="Cambria"/>
              </a:defRPr>
            </a:pPr>
            <a:r>
              <a:rPr sz="3000" b="1">
                <a:solidFill>
                  <a:srgbClr val="111111"/>
                </a:solidFill>
                <a:latin typeface="Cambria"/>
                <a:ea typeface="Cambria"/>
                <a:cs typeface="Cambria"/>
              </a:rPr>
              <a:t>RACE: routing and auxiliary training</a:t>
            </a:r>
          </a:p>
        </p:txBody>
      </p:sp>
      <p:sp>
        <p:nvSpPr>
          <p:cNvPr id="2" name="矩形 1">
            <a:extLst>
              <a:ext uri="{FF2B5EF4-FFF2-40B4-BE49-F238E27FC236}">
                <a16:creationId xmlns:a16="http://schemas.microsoft.com/office/drawing/2014/main" id="{5443F980-202B-4D1A-B27F-C8328498CBE7}"/>
              </a:ext>
            </a:extLst>
          </p:cNvPr>
          <p:cNvSpPr>
            <a:spLocks noGrp="1"/>
          </p:cNvSpPr>
          <p:nvPr/>
        </p:nvSpPr>
        <p:spPr>
          <a:xfrm>
            <a:off x="638175" y="6467475"/>
            <a:ext cx="9906000" cy="190500"/>
          </a:xfrm>
          <a:prstGeom prst="rect">
            <a:avLst/>
          </a:prstGeom>
          <a:noFill/>
          <a:ln w="0">
            <a:noFill/>
          </a:ln>
        </p:spPr>
        <p:txBody>
          <a:bodyPr wrap="square" lIns="0" tIns="0" rIns="0" bIns="0" anchor="ctr">
            <a:noAutofit/>
          </a:bodyPr>
          <a:lstStyle/>
          <a:p>
            <a:pPr algn="l">
              <a:defRPr sz="900" b="0">
                <a:solidFill>
                  <a:srgbClr val="999999"/>
                </a:solidFill>
                <a:latin typeface="Calibri"/>
                <a:ea typeface="Calibri"/>
                <a:cs typeface="Calibri"/>
              </a:defRPr>
            </a:pPr>
            <a:r>
              <a:rPr sz="900" b="0">
                <a:solidFill>
                  <a:srgbClr val="999999"/>
                </a:solidFill>
                <a:latin typeface="Calibri"/>
                <a:ea typeface="Calibri"/>
                <a:cs typeface="Calibri"/>
              </a:rPr>
              <a:t>Backup: matched single-cycle comparison, seed 1219</a:t>
            </a:r>
          </a:p>
        </p:txBody>
      </p:sp>
      <p:sp>
        <p:nvSpPr>
          <p:cNvPr id="3" name="矩形 2">
            <a:extLst>
              <a:ext uri="{FF2B5EF4-FFF2-40B4-BE49-F238E27FC236}">
                <a16:creationId xmlns:a16="http://schemas.microsoft.com/office/drawing/2014/main" id="{806A354D-BE71-407F-A3CF-B71D0D0A685B}"/>
              </a:ext>
            </a:extLst>
          </p:cNvPr>
          <p:cNvSpPr>
            <a:spLocks noGrp="1"/>
          </p:cNvSpPr>
          <p:nvPr/>
        </p:nvSpPr>
        <p:spPr>
          <a:xfrm>
            <a:off x="11144250" y="6467475"/>
            <a:ext cx="409575" cy="190500"/>
          </a:xfrm>
          <a:prstGeom prst="rect">
            <a:avLst/>
          </a:prstGeom>
          <a:noFill/>
          <a:ln w="0">
            <a:noFill/>
          </a:ln>
        </p:spPr>
        <p:txBody>
          <a:bodyPr wrap="square" lIns="0" tIns="0" rIns="0" bIns="0" anchor="ctr">
            <a:noAutofit/>
          </a:bodyPr>
          <a:lstStyle/>
          <a:p>
            <a:pPr algn="r">
              <a:defRPr sz="900" b="0">
                <a:solidFill>
                  <a:srgbClr val="999999"/>
                </a:solidFill>
                <a:latin typeface="Calibri"/>
                <a:ea typeface="Calibri"/>
                <a:cs typeface="Calibri"/>
              </a:defRPr>
            </a:pPr>
            <a:r>
              <a:rPr sz="900" b="0">
                <a:solidFill>
                  <a:srgbClr val="999999"/>
                </a:solidFill>
                <a:latin typeface="Calibri"/>
                <a:ea typeface="Calibri"/>
                <a:cs typeface="Calibri"/>
              </a:rPr>
              <a:t>17</a:t>
            </a:r>
          </a:p>
        </p:txBody>
      </p:sp>
      <p:graphicFrame>
        <p:nvGraphicFramePr>
          <p:cNvPr id="10" name="表格 9"/>
          <p:cNvGraphicFramePr/>
          <p:nvPr/>
        </p:nvGraphicFramePr>
        <p:xfrm>
          <a:off x="638175" y="1724025"/>
          <a:ext cx="10915650" cy="3162300"/>
        </p:xfrm>
        <a:graphic>
          <a:graphicData uri="http://schemas.openxmlformats.org/drawingml/2006/table">
            <a:tbl>
              <a:tblPr/>
              <a:tblGrid>
                <a:gridCol w="4810125">
                  <a:extLst>
                    <a:ext uri="{9D8B030D-6E8A-4147-A177-3AD203B41FA5}">
                      <a16:colId xmlns:a16="http://schemas.microsoft.com/office/drawing/2014/main" val="20000"/>
                    </a:ext>
                  </a:extLst>
                </a:gridCol>
                <a:gridCol w="2724150">
                  <a:extLst>
                    <a:ext uri="{9D8B030D-6E8A-4147-A177-3AD203B41FA5}">
                      <a16:colId xmlns:a16="http://schemas.microsoft.com/office/drawing/2014/main" val="20001"/>
                    </a:ext>
                  </a:extLst>
                </a:gridCol>
                <a:gridCol w="3381375">
                  <a:extLst>
                    <a:ext uri="{9D8B030D-6E8A-4147-A177-3AD203B41FA5}">
                      <a16:colId xmlns:a16="http://schemas.microsoft.com/office/drawing/2014/main" val="20002"/>
                    </a:ext>
                  </a:extLst>
                </a:gridCol>
              </a:tblGrid>
              <a:tr h="790575">
                <a:tc>
                  <a:txBody>
                    <a:bodyPr/>
                    <a:lstStyle/>
                    <a:p>
                      <a:r>
                        <a:rPr sz="1875" b="1">
                          <a:solidFill>
                            <a:srgbClr val="FFFFFF"/>
                          </a:solidFill>
                          <a:latin typeface="Calibri"/>
                          <a:ea typeface="Calibri"/>
                          <a:cs typeface="Calibri"/>
                        </a:rPr>
                        <a:t>Change from FSDR</a:t>
                      </a:r>
                    </a:p>
                  </a:txBody>
                  <a:tcPr marL="114300" marR="95250" marT="47625" marB="47625" anchor="ctr">
                    <a:solidFill>
                      <a:srgbClr val="111111"/>
                    </a:solidFill>
                  </a:tcPr>
                </a:tc>
                <a:tc>
                  <a:txBody>
                    <a:bodyPr/>
                    <a:lstStyle/>
                    <a:p>
                      <a:r>
                        <a:rPr sz="1875" b="1">
                          <a:solidFill>
                            <a:srgbClr val="FFFFFF"/>
                          </a:solidFill>
                          <a:latin typeface="Calibri"/>
                          <a:ea typeface="Calibri"/>
                          <a:cs typeface="Calibri"/>
                        </a:rPr>
                        <a:t>Δ Test IoU (pp)</a:t>
                      </a:r>
                    </a:p>
                  </a:txBody>
                  <a:tcPr marL="114300" marR="95250" marT="47625" marB="47625" anchor="ctr">
                    <a:solidFill>
                      <a:srgbClr val="111111"/>
                    </a:solidFill>
                  </a:tcPr>
                </a:tc>
                <a:tc>
                  <a:txBody>
                    <a:bodyPr/>
                    <a:lstStyle/>
                    <a:p>
                      <a:r>
                        <a:rPr sz="1875" b="1">
                          <a:solidFill>
                            <a:srgbClr val="FFFFFF"/>
                          </a:solidFill>
                          <a:latin typeface="Calibri"/>
                          <a:ea typeface="Calibri"/>
                          <a:cs typeface="Calibri"/>
                        </a:rPr>
                        <a:t>Image-paired 95% CI</a:t>
                      </a:r>
                    </a:p>
                  </a:txBody>
                  <a:tcPr marL="114300" marR="95250" marT="47625" marB="47625" anchor="ctr">
                    <a:solidFill>
                      <a:srgbClr val="111111"/>
                    </a:solidFill>
                  </a:tcPr>
                </a:tc>
                <a:extLst>
                  <a:ext uri="{0D108BD9-81ED-4DB2-BD59-A6C34878D82A}">
                    <a16:rowId xmlns:a16="http://schemas.microsoft.com/office/drawing/2014/main" val="10000"/>
                  </a:ext>
                </a:extLst>
              </a:tr>
              <a:tr h="790575">
                <a:tc>
                  <a:txBody>
                    <a:bodyPr/>
                    <a:lstStyle/>
                    <a:p>
                      <a:r>
                        <a:rPr sz="1875" b="0">
                          <a:solidFill>
                            <a:srgbClr val="111111"/>
                          </a:solidFill>
                          <a:latin typeface="Calibri"/>
                          <a:ea typeface="Calibri"/>
                          <a:cs typeface="Calibri"/>
                        </a:rPr>
                        <a:t>Auxiliary training only</a:t>
                      </a:r>
                    </a:p>
                  </a:txBody>
                  <a:tcPr marL="114300" marR="95250" marT="47625" marB="47625" anchor="ctr">
                    <a:solidFill>
                      <a:srgbClr val="FFFFFF"/>
                    </a:solidFill>
                  </a:tcPr>
                </a:tc>
                <a:tc>
                  <a:txBody>
                    <a:bodyPr/>
                    <a:lstStyle/>
                    <a:p>
                      <a:r>
                        <a:rPr sz="1875" b="0">
                          <a:solidFill>
                            <a:srgbClr val="111111"/>
                          </a:solidFill>
                          <a:latin typeface="Calibri"/>
                          <a:ea typeface="Calibri"/>
                          <a:cs typeface="Calibri"/>
                        </a:rPr>
                        <a:t>+0.1915</a:t>
                      </a:r>
                    </a:p>
                  </a:txBody>
                  <a:tcPr marL="114300" marR="95250" marT="47625" marB="47625" anchor="ctr">
                    <a:solidFill>
                      <a:srgbClr val="FFFFFF"/>
                    </a:solidFill>
                  </a:tcPr>
                </a:tc>
                <a:tc>
                  <a:txBody>
                    <a:bodyPr/>
                    <a:lstStyle/>
                    <a:p>
                      <a:r>
                        <a:rPr sz="1875" b="0">
                          <a:solidFill>
                            <a:srgbClr val="111111"/>
                          </a:solidFill>
                          <a:latin typeface="Calibri"/>
                          <a:ea typeface="Calibri"/>
                          <a:cs typeface="Calibri"/>
                        </a:rPr>
                        <a:t>[−0.0498, +0.4340]</a:t>
                      </a:r>
                    </a:p>
                  </a:txBody>
                  <a:tcPr marL="114300" marR="95250" marT="47625" marB="47625" anchor="ctr">
                    <a:solidFill>
                      <a:srgbClr val="FFFFFF"/>
                    </a:solidFill>
                  </a:tcPr>
                </a:tc>
                <a:extLst>
                  <a:ext uri="{0D108BD9-81ED-4DB2-BD59-A6C34878D82A}">
                    <a16:rowId xmlns:a16="http://schemas.microsoft.com/office/drawing/2014/main" val="10001"/>
                  </a:ext>
                </a:extLst>
              </a:tr>
              <a:tr h="790575">
                <a:tc>
                  <a:txBody>
                    <a:bodyPr/>
                    <a:lstStyle/>
                    <a:p>
                      <a:r>
                        <a:rPr sz="1875" b="0">
                          <a:solidFill>
                            <a:srgbClr val="111111"/>
                          </a:solidFill>
                          <a:latin typeface="Calibri"/>
                          <a:ea typeface="Calibri"/>
                          <a:cs typeface="Calibri"/>
                        </a:rPr>
                        <a:t>Routing with auxiliary fixed</a:t>
                      </a:r>
                    </a:p>
                  </a:txBody>
                  <a:tcPr marL="114300" marR="95250" marT="47625" marB="47625" anchor="ctr">
                    <a:solidFill>
                      <a:srgbClr val="F3F3F3"/>
                    </a:solidFill>
                  </a:tcPr>
                </a:tc>
                <a:tc>
                  <a:txBody>
                    <a:bodyPr/>
                    <a:lstStyle/>
                    <a:p>
                      <a:r>
                        <a:rPr sz="1875" b="0">
                          <a:solidFill>
                            <a:srgbClr val="111111"/>
                          </a:solidFill>
                          <a:latin typeface="Calibri"/>
                          <a:ea typeface="Calibri"/>
                          <a:cs typeface="Calibri"/>
                        </a:rPr>
                        <a:t>+0.2472</a:t>
                      </a:r>
                    </a:p>
                  </a:txBody>
                  <a:tcPr marL="114300" marR="95250" marT="47625" marB="47625" anchor="ctr">
                    <a:solidFill>
                      <a:srgbClr val="F3F3F3"/>
                    </a:solidFill>
                  </a:tcPr>
                </a:tc>
                <a:tc>
                  <a:txBody>
                    <a:bodyPr/>
                    <a:lstStyle/>
                    <a:p>
                      <a:r>
                        <a:rPr sz="1875" b="0">
                          <a:solidFill>
                            <a:srgbClr val="111111"/>
                          </a:solidFill>
                          <a:latin typeface="Calibri"/>
                          <a:ea typeface="Calibri"/>
                          <a:cs typeface="Calibri"/>
                        </a:rPr>
                        <a:t>[−0.0348, +0.5211]</a:t>
                      </a:r>
                    </a:p>
                  </a:txBody>
                  <a:tcPr marL="114300" marR="95250" marT="47625" marB="47625" anchor="ctr">
                    <a:solidFill>
                      <a:srgbClr val="F3F3F3"/>
                    </a:solidFill>
                  </a:tcPr>
                </a:tc>
                <a:extLst>
                  <a:ext uri="{0D108BD9-81ED-4DB2-BD59-A6C34878D82A}">
                    <a16:rowId xmlns:a16="http://schemas.microsoft.com/office/drawing/2014/main" val="10002"/>
                  </a:ext>
                </a:extLst>
              </a:tr>
              <a:tr h="790575">
                <a:tc>
                  <a:txBody>
                    <a:bodyPr/>
                    <a:lstStyle/>
                    <a:p>
                      <a:r>
                        <a:rPr sz="1875" b="0">
                          <a:solidFill>
                            <a:srgbClr val="111111"/>
                          </a:solidFill>
                          <a:latin typeface="Calibri"/>
                          <a:ea typeface="Calibri"/>
                          <a:cs typeface="Calibri"/>
                        </a:rPr>
                        <a:t>Complete RACE</a:t>
                      </a:r>
                    </a:p>
                  </a:txBody>
                  <a:tcPr marL="114300" marR="95250" marT="47625" marB="47625" anchor="ctr">
                    <a:solidFill>
                      <a:srgbClr val="FFFFFF"/>
                    </a:solidFill>
                  </a:tcPr>
                </a:tc>
                <a:tc>
                  <a:txBody>
                    <a:bodyPr/>
                    <a:lstStyle/>
                    <a:p>
                      <a:r>
                        <a:rPr sz="1875" b="0">
                          <a:solidFill>
                            <a:srgbClr val="111111"/>
                          </a:solidFill>
                          <a:latin typeface="Calibri"/>
                          <a:ea typeface="Calibri"/>
                          <a:cs typeface="Calibri"/>
                        </a:rPr>
                        <a:t>+0.4387</a:t>
                      </a:r>
                    </a:p>
                  </a:txBody>
                  <a:tcPr marL="114300" marR="95250" marT="47625" marB="47625" anchor="ctr">
                    <a:solidFill>
                      <a:srgbClr val="FFFFFF"/>
                    </a:solidFill>
                  </a:tcPr>
                </a:tc>
                <a:tc>
                  <a:txBody>
                    <a:bodyPr/>
                    <a:lstStyle/>
                    <a:p>
                      <a:r>
                        <a:rPr sz="1875" b="0">
                          <a:solidFill>
                            <a:srgbClr val="111111"/>
                          </a:solidFill>
                          <a:latin typeface="Calibri"/>
                          <a:ea typeface="Calibri"/>
                          <a:cs typeface="Calibri"/>
                        </a:rPr>
                        <a:t>[+0.1405, +0.7276]</a:t>
                      </a:r>
                    </a:p>
                  </a:txBody>
                  <a:tcPr marL="114300" marR="95250" marT="47625" marB="47625" anchor="ctr">
                    <a:solidFill>
                      <a:srgbClr val="FFFFFF"/>
                    </a:solidFill>
                  </a:tcPr>
                </a:tc>
                <a:extLst>
                  <a:ext uri="{0D108BD9-81ED-4DB2-BD59-A6C34878D82A}">
                    <a16:rowId xmlns:a16="http://schemas.microsoft.com/office/drawing/2014/main" val="10003"/>
                  </a:ext>
                </a:extLst>
              </a:tr>
            </a:tbl>
          </a:graphicData>
        </a:graphic>
      </p:graphicFrame>
      <p:sp>
        <p:nvSpPr>
          <p:cNvPr id="5" name="矩形 4">
            <a:extLst>
              <a:ext uri="{FF2B5EF4-FFF2-40B4-BE49-F238E27FC236}">
                <a16:creationId xmlns:a16="http://schemas.microsoft.com/office/drawing/2014/main" id="{CE7D5A47-E452-4315-9DE8-BD8AB780C7C9}"/>
              </a:ext>
            </a:extLst>
          </p:cNvPr>
          <p:cNvSpPr>
            <a:spLocks noGrp="1"/>
          </p:cNvSpPr>
          <p:nvPr/>
        </p:nvSpPr>
        <p:spPr>
          <a:xfrm>
            <a:off x="638175" y="5248275"/>
            <a:ext cx="10915650" cy="400050"/>
          </a:xfrm>
          <a:prstGeom prst="rect">
            <a:avLst/>
          </a:prstGeom>
          <a:noFill/>
          <a:ln w="0">
            <a:noFill/>
          </a:ln>
        </p:spPr>
        <p:txBody>
          <a:bodyPr wrap="square" lIns="0" tIns="0" rIns="0" bIns="0" anchor="ctr">
            <a:noAutofit/>
          </a:bodyPr>
          <a:lstStyle/>
          <a:p>
            <a:pPr algn="l">
              <a:defRPr sz="1950" b="1">
                <a:solidFill>
                  <a:srgbClr val="111111"/>
                </a:solidFill>
                <a:latin typeface="Calibri"/>
                <a:ea typeface="Calibri"/>
                <a:cs typeface="Calibri"/>
              </a:defRPr>
            </a:pPr>
            <a:r>
              <a:rPr sz="1950" b="1">
                <a:solidFill>
                  <a:srgbClr val="111111"/>
                </a:solidFill>
                <a:latin typeface="Calibri"/>
                <a:ea typeface="Calibri"/>
                <a:cs typeface="Calibri"/>
              </a:rPr>
              <a:t>Routing has a positive point estimate, but its interval crosses zero.</a:t>
            </a:r>
          </a:p>
        </p:txBody>
      </p:sp>
      <p:sp>
        <p:nvSpPr>
          <p:cNvPr id="6" name="矩形 5">
            <a:extLst>
              <a:ext uri="{FF2B5EF4-FFF2-40B4-BE49-F238E27FC236}">
                <a16:creationId xmlns:a16="http://schemas.microsoft.com/office/drawing/2014/main" id="{17602991-EFA0-40CD-9C13-D8A67890C78B}"/>
              </a:ext>
            </a:extLst>
          </p:cNvPr>
          <p:cNvSpPr>
            <a:spLocks noGrp="1"/>
          </p:cNvSpPr>
          <p:nvPr/>
        </p:nvSpPr>
        <p:spPr>
          <a:xfrm>
            <a:off x="638175" y="5762625"/>
            <a:ext cx="10915650" cy="571500"/>
          </a:xfrm>
          <a:prstGeom prst="rect">
            <a:avLst/>
          </a:prstGeom>
          <a:noFill/>
          <a:ln w="0">
            <a:noFill/>
          </a:ln>
        </p:spPr>
        <p:txBody>
          <a:bodyPr wrap="square" lIns="0" tIns="0" rIns="0" bIns="0" anchor="ctr">
            <a:noAutofit/>
          </a:bodyPr>
          <a:lstStyle/>
          <a:p>
            <a:pPr algn="l">
              <a:defRPr sz="1800" b="0">
                <a:solidFill>
                  <a:srgbClr val="606060"/>
                </a:solidFill>
                <a:latin typeface="Calibri"/>
                <a:ea typeface="Calibri"/>
                <a:cs typeface="Calibri"/>
              </a:defRPr>
            </a:pPr>
            <a:r>
              <a:rPr sz="1800" b="0">
                <a:solidFill>
                  <a:srgbClr val="606060"/>
                </a:solidFill>
                <a:latin typeface="Calibri"/>
                <a:ea typeface="Calibri"/>
                <a:cs typeface="Calibri"/>
              </a:rPr>
              <a:t>Single seed. These intervals describe image-level uncertainty.</a:t>
            </a:r>
          </a:p>
          <a:p>
            <a:pPr algn="l">
              <a:defRPr sz="1800" b="0">
                <a:solidFill>
                  <a:srgbClr val="606060"/>
                </a:solidFill>
                <a:latin typeface="Calibri"/>
                <a:ea typeface="Calibri"/>
                <a:cs typeface="Calibri"/>
              </a:defRPr>
            </a:pPr>
            <a:r>
              <a:rPr sz="1800" b="0">
                <a:solidFill>
                  <a:srgbClr val="606060"/>
                </a:solidFill>
                <a:latin typeface="Calibri"/>
                <a:ea typeface="Calibri"/>
                <a:cs typeface="Calibri"/>
              </a:rPr>
              <a:t>The three-seed main study evaluates complete RACE as one module.</a:t>
            </a:r>
          </a:p>
        </p:txBody>
      </p:sp>
    </p:spTree>
    <p:extLst>
      <p:ext uri="{BB962C8B-B14F-4D97-AF65-F5344CB8AC3E}">
        <p14:creationId xmlns:p14="http://schemas.microsoft.com/office/powerpoint/2010/main" val="14926666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9A552AF6-ABBF-45FB-82E9-4E8AD8A715C9}"/>
              </a:ext>
            </a:extLst>
          </p:cNvPr>
          <p:cNvSpPr>
            <a:spLocks noGrp="1"/>
          </p:cNvSpPr>
          <p:nvPr/>
        </p:nvSpPr>
        <p:spPr>
          <a:xfrm>
            <a:off x="640080" y="361950"/>
            <a:ext cx="10915650" cy="952500"/>
          </a:xfrm>
          <a:prstGeom prst="rect">
            <a:avLst/>
          </a:prstGeom>
          <a:noFill/>
          <a:ln w="0">
            <a:noFill/>
          </a:ln>
        </p:spPr>
        <p:txBody>
          <a:bodyPr wrap="square" lIns="0" tIns="0" rIns="0" bIns="0" anchor="ctr">
            <a:noAutofit/>
          </a:bodyPr>
          <a:lstStyle/>
          <a:p>
            <a:pPr algn="l">
              <a:defRPr sz="3000" b="1">
                <a:solidFill>
                  <a:srgbClr val="111111"/>
                </a:solidFill>
                <a:latin typeface="Cambria"/>
                <a:ea typeface="Cambria"/>
                <a:cs typeface="Cambria"/>
              </a:defRPr>
            </a:pPr>
            <a:r>
              <a:rPr sz="3000" b="1">
                <a:solidFill>
                  <a:srgbClr val="111111"/>
                </a:solidFill>
                <a:latin typeface="Cambria"/>
                <a:ea typeface="Cambria"/>
                <a:cs typeface="Cambria"/>
              </a:rPr>
              <a:t>Validation and Test under the single-cycle recipe</a:t>
            </a:r>
          </a:p>
        </p:txBody>
      </p:sp>
      <p:sp>
        <p:nvSpPr>
          <p:cNvPr id="2" name="矩形 1">
            <a:extLst>
              <a:ext uri="{FF2B5EF4-FFF2-40B4-BE49-F238E27FC236}">
                <a16:creationId xmlns:a16="http://schemas.microsoft.com/office/drawing/2014/main" id="{F6C52E25-E7A7-437E-AFC2-219DDA89A8CF}"/>
              </a:ext>
            </a:extLst>
          </p:cNvPr>
          <p:cNvSpPr>
            <a:spLocks noGrp="1"/>
          </p:cNvSpPr>
          <p:nvPr/>
        </p:nvSpPr>
        <p:spPr>
          <a:xfrm>
            <a:off x="638175" y="6467475"/>
            <a:ext cx="9906000" cy="190500"/>
          </a:xfrm>
          <a:prstGeom prst="rect">
            <a:avLst/>
          </a:prstGeom>
          <a:noFill/>
          <a:ln w="0">
            <a:noFill/>
          </a:ln>
        </p:spPr>
        <p:txBody>
          <a:bodyPr wrap="square" lIns="0" tIns="0" rIns="0" bIns="0" anchor="ctr">
            <a:noAutofit/>
          </a:bodyPr>
          <a:lstStyle/>
          <a:p>
            <a:pPr algn="l">
              <a:defRPr sz="900" b="0">
                <a:solidFill>
                  <a:srgbClr val="999999"/>
                </a:solidFill>
                <a:latin typeface="Calibri"/>
                <a:ea typeface="Calibri"/>
                <a:cs typeface="Calibri"/>
              </a:defRPr>
            </a:pPr>
            <a:r>
              <a:rPr sz="900" b="0">
                <a:solidFill>
                  <a:srgbClr val="999999"/>
                </a:solidFill>
                <a:latin typeface="Calibri"/>
                <a:ea typeface="Calibri"/>
                <a:cs typeface="Calibri"/>
              </a:rPr>
              <a:t>Backup: three-seed means</a:t>
            </a:r>
          </a:p>
        </p:txBody>
      </p:sp>
      <p:sp>
        <p:nvSpPr>
          <p:cNvPr id="3" name="矩形 2">
            <a:extLst>
              <a:ext uri="{FF2B5EF4-FFF2-40B4-BE49-F238E27FC236}">
                <a16:creationId xmlns:a16="http://schemas.microsoft.com/office/drawing/2014/main" id="{8E865F65-F1C6-4D99-BE70-432BE19AFE15}"/>
              </a:ext>
            </a:extLst>
          </p:cNvPr>
          <p:cNvSpPr>
            <a:spLocks noGrp="1"/>
          </p:cNvSpPr>
          <p:nvPr/>
        </p:nvSpPr>
        <p:spPr>
          <a:xfrm>
            <a:off x="11144250" y="6467475"/>
            <a:ext cx="409575" cy="190500"/>
          </a:xfrm>
          <a:prstGeom prst="rect">
            <a:avLst/>
          </a:prstGeom>
          <a:noFill/>
          <a:ln w="0">
            <a:noFill/>
          </a:ln>
        </p:spPr>
        <p:txBody>
          <a:bodyPr wrap="square" lIns="0" tIns="0" rIns="0" bIns="0" anchor="ctr">
            <a:noAutofit/>
          </a:bodyPr>
          <a:lstStyle/>
          <a:p>
            <a:pPr algn="r">
              <a:defRPr sz="900" b="0">
                <a:solidFill>
                  <a:srgbClr val="999999"/>
                </a:solidFill>
                <a:latin typeface="Calibri"/>
                <a:ea typeface="Calibri"/>
                <a:cs typeface="Calibri"/>
              </a:defRPr>
            </a:pPr>
            <a:r>
              <a:rPr sz="900" b="0">
                <a:solidFill>
                  <a:srgbClr val="999999"/>
                </a:solidFill>
                <a:latin typeface="Calibri"/>
                <a:ea typeface="Calibri"/>
                <a:cs typeface="Calibri"/>
              </a:rPr>
              <a:t>18</a:t>
            </a:r>
          </a:p>
        </p:txBody>
      </p:sp>
      <p:graphicFrame>
        <p:nvGraphicFramePr>
          <p:cNvPr id="10" name="表格 9"/>
          <p:cNvGraphicFramePr/>
          <p:nvPr/>
        </p:nvGraphicFramePr>
        <p:xfrm>
          <a:off x="638175" y="1724025"/>
          <a:ext cx="10915650" cy="3143250"/>
        </p:xfrm>
        <a:graphic>
          <a:graphicData uri="http://schemas.openxmlformats.org/drawingml/2006/table">
            <a:tbl>
              <a:tblPr/>
              <a:tblGrid>
                <a:gridCol w="5067300">
                  <a:extLst>
                    <a:ext uri="{9D8B030D-6E8A-4147-A177-3AD203B41FA5}">
                      <a16:colId xmlns:a16="http://schemas.microsoft.com/office/drawing/2014/main" val="20000"/>
                    </a:ext>
                  </a:extLst>
                </a:gridCol>
                <a:gridCol w="2924175">
                  <a:extLst>
                    <a:ext uri="{9D8B030D-6E8A-4147-A177-3AD203B41FA5}">
                      <a16:colId xmlns:a16="http://schemas.microsoft.com/office/drawing/2014/main" val="20001"/>
                    </a:ext>
                  </a:extLst>
                </a:gridCol>
                <a:gridCol w="2924175">
                  <a:extLst>
                    <a:ext uri="{9D8B030D-6E8A-4147-A177-3AD203B41FA5}">
                      <a16:colId xmlns:a16="http://schemas.microsoft.com/office/drawing/2014/main" val="20002"/>
                    </a:ext>
                  </a:extLst>
                </a:gridCol>
              </a:tblGrid>
              <a:tr h="628650">
                <a:tc>
                  <a:txBody>
                    <a:bodyPr/>
                    <a:lstStyle/>
                    <a:p>
                      <a:r>
                        <a:rPr sz="1875" b="1">
                          <a:solidFill>
                            <a:srgbClr val="FFFFFF"/>
                          </a:solidFill>
                          <a:latin typeface="Calibri"/>
                          <a:ea typeface="Calibri"/>
                          <a:cs typeface="Calibri"/>
                        </a:rPr>
                        <a:t>Configuration</a:t>
                      </a:r>
                    </a:p>
                  </a:txBody>
                  <a:tcPr marL="114300" marR="95250" marT="47625" marB="47625" anchor="ctr">
                    <a:solidFill>
                      <a:srgbClr val="111111"/>
                    </a:solidFill>
                  </a:tcPr>
                </a:tc>
                <a:tc>
                  <a:txBody>
                    <a:bodyPr/>
                    <a:lstStyle/>
                    <a:p>
                      <a:r>
                        <a:rPr sz="1875" b="1">
                          <a:solidFill>
                            <a:srgbClr val="FFFFFF"/>
                          </a:solidFill>
                          <a:latin typeface="Calibri"/>
                          <a:ea typeface="Calibri"/>
                          <a:cs typeface="Calibri"/>
                        </a:rPr>
                        <a:t>Val IoU (%)</a:t>
                      </a:r>
                    </a:p>
                  </a:txBody>
                  <a:tcPr marL="114300" marR="95250" marT="47625" marB="47625" anchor="ctr">
                    <a:solidFill>
                      <a:srgbClr val="111111"/>
                    </a:solidFill>
                  </a:tcPr>
                </a:tc>
                <a:tc>
                  <a:txBody>
                    <a:bodyPr/>
                    <a:lstStyle/>
                    <a:p>
                      <a:r>
                        <a:rPr sz="1875" b="1">
                          <a:solidFill>
                            <a:srgbClr val="FFFFFF"/>
                          </a:solidFill>
                          <a:latin typeface="Calibri"/>
                          <a:ea typeface="Calibri"/>
                          <a:cs typeface="Calibri"/>
                        </a:rPr>
                        <a:t>Test IoU (%)</a:t>
                      </a:r>
                    </a:p>
                  </a:txBody>
                  <a:tcPr marL="114300" marR="95250" marT="47625" marB="47625" anchor="ctr">
                    <a:solidFill>
                      <a:srgbClr val="111111"/>
                    </a:solidFill>
                  </a:tcPr>
                </a:tc>
                <a:extLst>
                  <a:ext uri="{0D108BD9-81ED-4DB2-BD59-A6C34878D82A}">
                    <a16:rowId xmlns:a16="http://schemas.microsoft.com/office/drawing/2014/main" val="10000"/>
                  </a:ext>
                </a:extLst>
              </a:tr>
              <a:tr h="628650">
                <a:tc>
                  <a:txBody>
                    <a:bodyPr/>
                    <a:lstStyle/>
                    <a:p>
                      <a:r>
                        <a:rPr sz="1875" b="0">
                          <a:solidFill>
                            <a:srgbClr val="111111"/>
                          </a:solidFill>
                          <a:latin typeface="Calibri"/>
                          <a:ea typeface="Calibri"/>
                          <a:cs typeface="Calibri"/>
                        </a:rPr>
                        <a:t>LViT-PLAM</a:t>
                      </a:r>
                    </a:p>
                  </a:txBody>
                  <a:tcPr marL="114300" marR="95250" marT="47625" marB="47625" anchor="ctr">
                    <a:solidFill>
                      <a:srgbClr val="FFFFFF"/>
                    </a:solidFill>
                  </a:tcPr>
                </a:tc>
                <a:tc>
                  <a:txBody>
                    <a:bodyPr/>
                    <a:lstStyle/>
                    <a:p>
                      <a:r>
                        <a:rPr sz="1875" b="0">
                          <a:solidFill>
                            <a:srgbClr val="111111"/>
                          </a:solidFill>
                          <a:latin typeface="Calibri"/>
                          <a:ea typeface="Calibri"/>
                          <a:cs typeface="Calibri"/>
                        </a:rPr>
                        <a:t>72.3228 ± 0.0550</a:t>
                      </a:r>
                    </a:p>
                  </a:txBody>
                  <a:tcPr marL="114300" marR="95250" marT="47625" marB="47625" anchor="ctr">
                    <a:solidFill>
                      <a:srgbClr val="FFFFFF"/>
                    </a:solidFill>
                  </a:tcPr>
                </a:tc>
                <a:tc>
                  <a:txBody>
                    <a:bodyPr/>
                    <a:lstStyle/>
                    <a:p>
                      <a:r>
                        <a:rPr sz="1875" b="0">
                          <a:solidFill>
                            <a:srgbClr val="111111"/>
                          </a:solidFill>
                          <a:latin typeface="Calibri"/>
                          <a:ea typeface="Calibri"/>
                          <a:cs typeface="Calibri"/>
                        </a:rPr>
                        <a:t>75.4775 ± 0.0851</a:t>
                      </a:r>
                    </a:p>
                  </a:txBody>
                  <a:tcPr marL="114300" marR="95250" marT="47625" marB="47625" anchor="ctr">
                    <a:solidFill>
                      <a:srgbClr val="FFFFFF"/>
                    </a:solidFill>
                  </a:tcPr>
                </a:tc>
                <a:extLst>
                  <a:ext uri="{0D108BD9-81ED-4DB2-BD59-A6C34878D82A}">
                    <a16:rowId xmlns:a16="http://schemas.microsoft.com/office/drawing/2014/main" val="10001"/>
                  </a:ext>
                </a:extLst>
              </a:tr>
              <a:tr h="628650">
                <a:tc>
                  <a:txBody>
                    <a:bodyPr/>
                    <a:lstStyle/>
                    <a:p>
                      <a:r>
                        <a:rPr sz="1875" b="0">
                          <a:solidFill>
                            <a:srgbClr val="111111"/>
                          </a:solidFill>
                          <a:latin typeface="Calibri"/>
                          <a:ea typeface="Calibri"/>
                          <a:cs typeface="Calibri"/>
                        </a:rPr>
                        <a:t>FSDR only</a:t>
                      </a:r>
                    </a:p>
                  </a:txBody>
                  <a:tcPr marL="114300" marR="95250" marT="47625" marB="47625" anchor="ctr">
                    <a:solidFill>
                      <a:srgbClr val="F3F3F3"/>
                    </a:solidFill>
                  </a:tcPr>
                </a:tc>
                <a:tc>
                  <a:txBody>
                    <a:bodyPr/>
                    <a:lstStyle/>
                    <a:p>
                      <a:r>
                        <a:rPr sz="1875" b="0">
                          <a:solidFill>
                            <a:srgbClr val="111111"/>
                          </a:solidFill>
                          <a:latin typeface="Calibri"/>
                          <a:ea typeface="Calibri"/>
                          <a:cs typeface="Calibri"/>
                        </a:rPr>
                        <a:t>72.7873 ± 0.2260</a:t>
                      </a:r>
                    </a:p>
                  </a:txBody>
                  <a:tcPr marL="114300" marR="95250" marT="47625" marB="47625" anchor="ctr">
                    <a:solidFill>
                      <a:srgbClr val="F3F3F3"/>
                    </a:solidFill>
                  </a:tcPr>
                </a:tc>
                <a:tc>
                  <a:txBody>
                    <a:bodyPr/>
                    <a:lstStyle/>
                    <a:p>
                      <a:r>
                        <a:rPr sz="1875" b="0">
                          <a:solidFill>
                            <a:srgbClr val="111111"/>
                          </a:solidFill>
                          <a:latin typeface="Calibri"/>
                          <a:ea typeface="Calibri"/>
                          <a:cs typeface="Calibri"/>
                        </a:rPr>
                        <a:t>75.9833 ± 0.1511</a:t>
                      </a:r>
                    </a:p>
                  </a:txBody>
                  <a:tcPr marL="114300" marR="95250" marT="47625" marB="47625" anchor="ctr">
                    <a:solidFill>
                      <a:srgbClr val="F3F3F3"/>
                    </a:solidFill>
                  </a:tcPr>
                </a:tc>
                <a:extLst>
                  <a:ext uri="{0D108BD9-81ED-4DB2-BD59-A6C34878D82A}">
                    <a16:rowId xmlns:a16="http://schemas.microsoft.com/office/drawing/2014/main" val="10002"/>
                  </a:ext>
                </a:extLst>
              </a:tr>
              <a:tr h="628650">
                <a:tc>
                  <a:txBody>
                    <a:bodyPr/>
                    <a:lstStyle/>
                    <a:p>
                      <a:r>
                        <a:rPr sz="1875" b="0">
                          <a:solidFill>
                            <a:srgbClr val="111111"/>
                          </a:solidFill>
                          <a:latin typeface="Calibri"/>
                          <a:ea typeface="Calibri"/>
                          <a:cs typeface="Calibri"/>
                        </a:rPr>
                        <a:t>PLAM + complete RACE</a:t>
                      </a:r>
                    </a:p>
                  </a:txBody>
                  <a:tcPr marL="114300" marR="95250" marT="47625" marB="47625" anchor="ctr">
                    <a:solidFill>
                      <a:srgbClr val="FFFFFF"/>
                    </a:solidFill>
                  </a:tcPr>
                </a:tc>
                <a:tc>
                  <a:txBody>
                    <a:bodyPr/>
                    <a:lstStyle/>
                    <a:p>
                      <a:r>
                        <a:rPr sz="1875" b="0">
                          <a:solidFill>
                            <a:srgbClr val="111111"/>
                          </a:solidFill>
                          <a:latin typeface="Calibri"/>
                          <a:ea typeface="Calibri"/>
                          <a:cs typeface="Calibri"/>
                        </a:rPr>
                        <a:t>72.5443 ± 0.0694</a:t>
                      </a:r>
                    </a:p>
                  </a:txBody>
                  <a:tcPr marL="114300" marR="95250" marT="47625" marB="47625" anchor="ctr">
                    <a:solidFill>
                      <a:srgbClr val="FFFFFF"/>
                    </a:solidFill>
                  </a:tcPr>
                </a:tc>
                <a:tc>
                  <a:txBody>
                    <a:bodyPr/>
                    <a:lstStyle/>
                    <a:p>
                      <a:r>
                        <a:rPr sz="1875" b="0">
                          <a:solidFill>
                            <a:srgbClr val="111111"/>
                          </a:solidFill>
                          <a:latin typeface="Calibri"/>
                          <a:ea typeface="Calibri"/>
                          <a:cs typeface="Calibri"/>
                        </a:rPr>
                        <a:t>75.6962 ± 0.1068</a:t>
                      </a:r>
                    </a:p>
                  </a:txBody>
                  <a:tcPr marL="114300" marR="95250" marT="47625" marB="47625" anchor="ctr">
                    <a:solidFill>
                      <a:srgbClr val="FFFFFF"/>
                    </a:solidFill>
                  </a:tcPr>
                </a:tc>
                <a:extLst>
                  <a:ext uri="{0D108BD9-81ED-4DB2-BD59-A6C34878D82A}">
                    <a16:rowId xmlns:a16="http://schemas.microsoft.com/office/drawing/2014/main" val="10003"/>
                  </a:ext>
                </a:extLst>
              </a:tr>
              <a:tr h="628650">
                <a:tc>
                  <a:txBody>
                    <a:bodyPr/>
                    <a:lstStyle/>
                    <a:p>
                      <a:r>
                        <a:rPr sz="1875" b="1">
                          <a:solidFill>
                            <a:srgbClr val="111111"/>
                          </a:solidFill>
                          <a:latin typeface="Calibri"/>
                          <a:ea typeface="Calibri"/>
                          <a:cs typeface="Calibri"/>
                        </a:rPr>
                        <a:t>FSDR + complete RACE</a:t>
                      </a:r>
                    </a:p>
                  </a:txBody>
                  <a:tcPr marL="114300" marR="95250" marT="47625" marB="47625" anchor="ctr">
                    <a:solidFill>
                      <a:srgbClr val="F3F3F3"/>
                    </a:solidFill>
                  </a:tcPr>
                </a:tc>
                <a:tc>
                  <a:txBody>
                    <a:bodyPr/>
                    <a:lstStyle/>
                    <a:p>
                      <a:r>
                        <a:rPr sz="1875" b="1">
                          <a:solidFill>
                            <a:srgbClr val="111111"/>
                          </a:solidFill>
                          <a:latin typeface="Calibri"/>
                          <a:ea typeface="Calibri"/>
                          <a:cs typeface="Calibri"/>
                        </a:rPr>
                        <a:t>72.9832 ± 0.2229</a:t>
                      </a:r>
                    </a:p>
                  </a:txBody>
                  <a:tcPr marL="114300" marR="95250" marT="47625" marB="47625" anchor="ctr">
                    <a:solidFill>
                      <a:srgbClr val="F3F3F3"/>
                    </a:solidFill>
                  </a:tcPr>
                </a:tc>
                <a:tc>
                  <a:txBody>
                    <a:bodyPr/>
                    <a:lstStyle/>
                    <a:p>
                      <a:r>
                        <a:rPr sz="1875" b="1">
                          <a:solidFill>
                            <a:srgbClr val="111111"/>
                          </a:solidFill>
                          <a:latin typeface="Calibri"/>
                          <a:ea typeface="Calibri"/>
                          <a:cs typeface="Calibri"/>
                        </a:rPr>
                        <a:t>76.2262 ± 0.0456</a:t>
                      </a:r>
                    </a:p>
                  </a:txBody>
                  <a:tcPr marL="114300" marR="95250" marT="47625" marB="47625" anchor="ctr">
                    <a:solidFill>
                      <a:srgbClr val="F3F3F3"/>
                    </a:solidFill>
                  </a:tcPr>
                </a:tc>
                <a:extLst>
                  <a:ext uri="{0D108BD9-81ED-4DB2-BD59-A6C34878D82A}">
                    <a16:rowId xmlns:a16="http://schemas.microsoft.com/office/drawing/2014/main" val="10004"/>
                  </a:ext>
                </a:extLst>
              </a:tr>
            </a:tbl>
          </a:graphicData>
        </a:graphic>
      </p:graphicFrame>
      <p:sp>
        <p:nvSpPr>
          <p:cNvPr id="5" name="矩形 4">
            <a:extLst>
              <a:ext uri="{FF2B5EF4-FFF2-40B4-BE49-F238E27FC236}">
                <a16:creationId xmlns:a16="http://schemas.microsoft.com/office/drawing/2014/main" id="{2B77B0B9-5866-4A14-A17F-BF15DEF16DFE}"/>
              </a:ext>
            </a:extLst>
          </p:cNvPr>
          <p:cNvSpPr>
            <a:spLocks noGrp="1"/>
          </p:cNvSpPr>
          <p:nvPr/>
        </p:nvSpPr>
        <p:spPr>
          <a:xfrm>
            <a:off x="638175" y="5257800"/>
            <a:ext cx="10915650" cy="419100"/>
          </a:xfrm>
          <a:prstGeom prst="rect">
            <a:avLst/>
          </a:prstGeom>
          <a:noFill/>
          <a:ln w="0">
            <a:noFill/>
          </a:ln>
        </p:spPr>
        <p:txBody>
          <a:bodyPr wrap="square" lIns="0" tIns="0" rIns="0" bIns="0" anchor="ctr">
            <a:noAutofit/>
          </a:bodyPr>
          <a:lstStyle/>
          <a:p>
            <a:pPr algn="l">
              <a:defRPr sz="1950" b="1">
                <a:solidFill>
                  <a:srgbClr val="111111"/>
                </a:solidFill>
                <a:latin typeface="Calibri"/>
                <a:ea typeface="Calibri"/>
                <a:cs typeface="Calibri"/>
              </a:defRPr>
            </a:pPr>
            <a:r>
              <a:rPr sz="1950" b="1">
                <a:solidFill>
                  <a:srgbClr val="111111"/>
                </a:solidFill>
                <a:latin typeface="Calibri"/>
                <a:ea typeface="Calibri"/>
                <a:cs typeface="Calibri"/>
              </a:rPr>
              <a:t>Validation chooses the checkpoint. Test supplies the final reported result.</a:t>
            </a:r>
          </a:p>
        </p:txBody>
      </p:sp>
      <p:sp>
        <p:nvSpPr>
          <p:cNvPr id="6" name="矩形 5">
            <a:extLst>
              <a:ext uri="{FF2B5EF4-FFF2-40B4-BE49-F238E27FC236}">
                <a16:creationId xmlns:a16="http://schemas.microsoft.com/office/drawing/2014/main" id="{3AFC53DF-4183-4EC5-A1ED-BAA6E01EC061}"/>
              </a:ext>
            </a:extLst>
          </p:cNvPr>
          <p:cNvSpPr>
            <a:spLocks noGrp="1"/>
          </p:cNvSpPr>
          <p:nvPr/>
        </p:nvSpPr>
        <p:spPr>
          <a:xfrm>
            <a:off x="638175" y="5791200"/>
            <a:ext cx="10915650" cy="571500"/>
          </a:xfrm>
          <a:prstGeom prst="rect">
            <a:avLst/>
          </a:prstGeom>
          <a:noFill/>
          <a:ln w="0">
            <a:noFill/>
          </a:ln>
        </p:spPr>
        <p:txBody>
          <a:bodyPr wrap="square" lIns="0" tIns="0" rIns="0" bIns="0" anchor="ctr">
            <a:noAutofit/>
          </a:bodyPr>
          <a:lstStyle/>
          <a:p>
            <a:pPr algn="l">
              <a:defRPr sz="1800" b="0">
                <a:solidFill>
                  <a:srgbClr val="606060"/>
                </a:solidFill>
                <a:latin typeface="Calibri"/>
                <a:ea typeface="Calibri"/>
                <a:cs typeface="Calibri"/>
              </a:defRPr>
            </a:pPr>
            <a:r>
              <a:rPr sz="1800" b="0">
                <a:solidFill>
                  <a:srgbClr val="606060"/>
                </a:solidFill>
                <a:latin typeface="Calibri"/>
                <a:ea typeface="Calibri"/>
                <a:cs typeface="Calibri"/>
              </a:rPr>
              <a:t>Mean ± sample SD across the same three seeds.</a:t>
            </a:r>
          </a:p>
          <a:p>
            <a:pPr algn="l">
              <a:defRPr sz="1800" b="0">
                <a:solidFill>
                  <a:srgbClr val="606060"/>
                </a:solidFill>
                <a:latin typeface="Calibri"/>
                <a:ea typeface="Calibri"/>
                <a:cs typeface="Calibri"/>
              </a:defRPr>
            </a:pPr>
            <a:r>
              <a:rPr sz="1800" b="0">
                <a:solidFill>
                  <a:srgbClr val="606060"/>
                </a:solidFill>
                <a:latin typeface="Calibri"/>
                <a:ea typeface="Calibri"/>
                <a:cs typeface="Calibri"/>
              </a:rPr>
              <a:t>The result applies to the current split and shared training recipe.</a:t>
            </a:r>
          </a:p>
        </p:txBody>
      </p:sp>
    </p:spTree>
    <p:extLst>
      <p:ext uri="{BB962C8B-B14F-4D97-AF65-F5344CB8AC3E}">
        <p14:creationId xmlns:p14="http://schemas.microsoft.com/office/powerpoint/2010/main" val="9262882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A282A81-28B7-41C3-8AEB-48E4FB38D647}"/>
              </a:ext>
            </a:extLst>
          </p:cNvPr>
          <p:cNvSpPr>
            <a:spLocks noGrp="1"/>
          </p:cNvSpPr>
          <p:nvPr/>
        </p:nvSpPr>
        <p:spPr>
          <a:xfrm>
            <a:off x="640080" y="361950"/>
            <a:ext cx="10382250" cy="952500"/>
          </a:xfrm>
          <a:prstGeom prst="rect">
            <a:avLst/>
          </a:prstGeom>
          <a:noFill/>
        </p:spPr>
        <p:txBody>
          <a:bodyPr wrap="square" lIns="0" tIns="0" rIns="0" bIns="0" anchor="ctr">
            <a:noAutofit/>
          </a:bodyPr>
          <a:lstStyle/>
          <a:p>
            <a:pPr marL="0" indent="0">
              <a:buNone/>
              <a:defRPr sz="3000" b="1">
                <a:solidFill>
                  <a:srgbClr val="111111"/>
                </a:solidFill>
                <a:latin typeface="Cambria"/>
                <a:ea typeface="Cambria"/>
                <a:cs typeface="Cambria"/>
              </a:defRPr>
            </a:pPr>
            <a:r>
              <a:rPr sz="3000" b="1">
                <a:solidFill>
                  <a:srgbClr val="111111"/>
                </a:solidFill>
                <a:latin typeface="Cambria"/>
                <a:ea typeface="Cambria"/>
                <a:cs typeface="Cambria"/>
              </a:rPr>
              <a:t>Evaluation protocol</a:t>
            </a:r>
            <a:endParaRPr sz="2800"/>
          </a:p>
        </p:txBody>
      </p:sp>
      <p:graphicFrame>
        <p:nvGraphicFramePr>
          <p:cNvPr id="15" name="表格 14"/>
          <p:cNvGraphicFramePr/>
          <p:nvPr/>
        </p:nvGraphicFramePr>
        <p:xfrm>
          <a:off x="638175" y="1657350"/>
          <a:ext cx="10915650" cy="2590800"/>
        </p:xfrm>
        <a:graphic>
          <a:graphicData uri="http://schemas.openxmlformats.org/drawingml/2006/table">
            <a:tbl>
              <a:tblPr/>
              <a:tblGrid>
                <a:gridCol w="2524125">
                  <a:extLst>
                    <a:ext uri="{9D8B030D-6E8A-4147-A177-3AD203B41FA5}">
                      <a16:colId xmlns:a16="http://schemas.microsoft.com/office/drawing/2014/main" val="20000"/>
                    </a:ext>
                  </a:extLst>
                </a:gridCol>
                <a:gridCol w="2047875">
                  <a:extLst>
                    <a:ext uri="{9D8B030D-6E8A-4147-A177-3AD203B41FA5}">
                      <a16:colId xmlns:a16="http://schemas.microsoft.com/office/drawing/2014/main" val="20001"/>
                    </a:ext>
                  </a:extLst>
                </a:gridCol>
                <a:gridCol w="6343650">
                  <a:extLst>
                    <a:ext uri="{9D8B030D-6E8A-4147-A177-3AD203B41FA5}">
                      <a16:colId xmlns:a16="http://schemas.microsoft.com/office/drawing/2014/main" val="20002"/>
                    </a:ext>
                  </a:extLst>
                </a:gridCol>
              </a:tblGrid>
              <a:tr h="647700">
                <a:tc>
                  <a:txBody>
                    <a:bodyPr/>
                    <a:lstStyle/>
                    <a:p>
                      <a:r>
                        <a:rPr sz="1875" b="1">
                          <a:solidFill>
                            <a:srgbClr val="FFFFFF"/>
                          </a:solidFill>
                          <a:latin typeface="Calibri"/>
                          <a:ea typeface="Calibri"/>
                          <a:cs typeface="Calibri"/>
                        </a:rPr>
                        <a:t>Split</a:t>
                      </a:r>
                    </a:p>
                  </a:txBody>
                  <a:tcPr marL="114300" marR="95250" marT="66675" marB="47625" anchor="ctr">
                    <a:solidFill>
                      <a:srgbClr val="111111"/>
                    </a:solidFill>
                  </a:tcPr>
                </a:tc>
                <a:tc>
                  <a:txBody>
                    <a:bodyPr/>
                    <a:lstStyle/>
                    <a:p>
                      <a:r>
                        <a:rPr sz="1875" b="1">
                          <a:solidFill>
                            <a:srgbClr val="FFFFFF"/>
                          </a:solidFill>
                          <a:latin typeface="Calibri"/>
                          <a:ea typeface="Calibri"/>
                          <a:cs typeface="Calibri"/>
                        </a:rPr>
                        <a:t>Images</a:t>
                      </a:r>
                    </a:p>
                  </a:txBody>
                  <a:tcPr marL="114300" marR="95250" marT="66675" marB="47625" anchor="ctr">
                    <a:solidFill>
                      <a:srgbClr val="111111"/>
                    </a:solidFill>
                  </a:tcPr>
                </a:tc>
                <a:tc>
                  <a:txBody>
                    <a:bodyPr/>
                    <a:lstStyle/>
                    <a:p>
                      <a:r>
                        <a:rPr sz="1875" b="1">
                          <a:solidFill>
                            <a:srgbClr val="FFFFFF"/>
                          </a:solidFill>
                          <a:latin typeface="Calibri"/>
                          <a:ea typeface="Calibri"/>
                          <a:cs typeface="Calibri"/>
                        </a:rPr>
                        <a:t>Role</a:t>
                      </a:r>
                    </a:p>
                  </a:txBody>
                  <a:tcPr marL="114300" marR="95250" marT="66675" marB="47625" anchor="ctr">
                    <a:solidFill>
                      <a:srgbClr val="111111"/>
                    </a:solidFill>
                  </a:tcPr>
                </a:tc>
                <a:extLst>
                  <a:ext uri="{0D108BD9-81ED-4DB2-BD59-A6C34878D82A}">
                    <a16:rowId xmlns:a16="http://schemas.microsoft.com/office/drawing/2014/main" val="10000"/>
                  </a:ext>
                </a:extLst>
              </a:tr>
              <a:tr h="647700">
                <a:tc>
                  <a:txBody>
                    <a:bodyPr/>
                    <a:lstStyle/>
                    <a:p>
                      <a:r>
                        <a:rPr sz="1875" b="0">
                          <a:solidFill>
                            <a:srgbClr val="111111"/>
                          </a:solidFill>
                          <a:latin typeface="Calibri"/>
                          <a:ea typeface="Calibri"/>
                          <a:cs typeface="Calibri"/>
                        </a:rPr>
                        <a:t>Train</a:t>
                      </a:r>
                    </a:p>
                  </a:txBody>
                  <a:tcPr marL="114300" marR="95250" marT="66675" marB="47625" anchor="ctr">
                    <a:solidFill>
                      <a:srgbClr val="FFFFFF"/>
                    </a:solidFill>
                  </a:tcPr>
                </a:tc>
                <a:tc>
                  <a:txBody>
                    <a:bodyPr/>
                    <a:lstStyle/>
                    <a:p>
                      <a:r>
                        <a:rPr sz="1875" b="0">
                          <a:solidFill>
                            <a:srgbClr val="111111"/>
                          </a:solidFill>
                          <a:latin typeface="Calibri"/>
                          <a:ea typeface="Calibri"/>
                          <a:cs typeface="Calibri"/>
                        </a:rPr>
                        <a:t>5,716</a:t>
                      </a:r>
                    </a:p>
                  </a:txBody>
                  <a:tcPr marL="114300" marR="95250" marT="66675" marB="47625" anchor="ctr">
                    <a:solidFill>
                      <a:srgbClr val="FFFFFF"/>
                    </a:solidFill>
                  </a:tcPr>
                </a:tc>
                <a:tc>
                  <a:txBody>
                    <a:bodyPr/>
                    <a:lstStyle/>
                    <a:p>
                      <a:r>
                        <a:rPr sz="1875" b="0">
                          <a:solidFill>
                            <a:srgbClr val="111111"/>
                          </a:solidFill>
                          <a:latin typeface="Calibri"/>
                          <a:ea typeface="Calibri"/>
                          <a:cs typeface="Calibri"/>
                        </a:rPr>
                        <a:t>Parameter updates</a:t>
                      </a:r>
                    </a:p>
                  </a:txBody>
                  <a:tcPr marL="114300" marR="95250" marT="66675" marB="47625" anchor="ctr">
                    <a:solidFill>
                      <a:srgbClr val="FFFFFF"/>
                    </a:solidFill>
                  </a:tcPr>
                </a:tc>
                <a:extLst>
                  <a:ext uri="{0D108BD9-81ED-4DB2-BD59-A6C34878D82A}">
                    <a16:rowId xmlns:a16="http://schemas.microsoft.com/office/drawing/2014/main" val="10001"/>
                  </a:ext>
                </a:extLst>
              </a:tr>
              <a:tr h="647700">
                <a:tc>
                  <a:txBody>
                    <a:bodyPr/>
                    <a:lstStyle/>
                    <a:p>
                      <a:r>
                        <a:rPr sz="1875" b="0">
                          <a:solidFill>
                            <a:srgbClr val="111111"/>
                          </a:solidFill>
                          <a:latin typeface="Calibri"/>
                          <a:ea typeface="Calibri"/>
                          <a:cs typeface="Calibri"/>
                        </a:rPr>
                        <a:t>Validation</a:t>
                      </a:r>
                    </a:p>
                  </a:txBody>
                  <a:tcPr marL="114300" marR="95250" marT="66675" marB="47625" anchor="ctr">
                    <a:solidFill>
                      <a:srgbClr val="F3F3F3"/>
                    </a:solidFill>
                  </a:tcPr>
                </a:tc>
                <a:tc>
                  <a:txBody>
                    <a:bodyPr/>
                    <a:lstStyle/>
                    <a:p>
                      <a:r>
                        <a:rPr sz="1875" b="0">
                          <a:solidFill>
                            <a:srgbClr val="111111"/>
                          </a:solidFill>
                          <a:latin typeface="Calibri"/>
                          <a:ea typeface="Calibri"/>
                          <a:cs typeface="Calibri"/>
                        </a:rPr>
                        <a:t>1,429</a:t>
                      </a:r>
                    </a:p>
                  </a:txBody>
                  <a:tcPr marL="114300" marR="95250" marT="66675" marB="47625" anchor="ctr">
                    <a:solidFill>
                      <a:srgbClr val="F3F3F3"/>
                    </a:solidFill>
                  </a:tcPr>
                </a:tc>
                <a:tc>
                  <a:txBody>
                    <a:bodyPr/>
                    <a:lstStyle/>
                    <a:p>
                      <a:r>
                        <a:rPr sz="1875" b="0">
                          <a:solidFill>
                            <a:srgbClr val="111111"/>
                          </a:solidFill>
                          <a:latin typeface="Calibri"/>
                          <a:ea typeface="Calibri"/>
                          <a:cs typeface="Calibri"/>
                        </a:rPr>
                        <a:t>Checkpoint selection and diagnosis</a:t>
                      </a:r>
                    </a:p>
                  </a:txBody>
                  <a:tcPr marL="114300" marR="95250" marT="66675" marB="47625" anchor="ctr">
                    <a:solidFill>
                      <a:srgbClr val="F3F3F3"/>
                    </a:solidFill>
                  </a:tcPr>
                </a:tc>
                <a:extLst>
                  <a:ext uri="{0D108BD9-81ED-4DB2-BD59-A6C34878D82A}">
                    <a16:rowId xmlns:a16="http://schemas.microsoft.com/office/drawing/2014/main" val="10002"/>
                  </a:ext>
                </a:extLst>
              </a:tr>
              <a:tr h="647700">
                <a:tc>
                  <a:txBody>
                    <a:bodyPr/>
                    <a:lstStyle/>
                    <a:p>
                      <a:r>
                        <a:rPr sz="1875" b="0">
                          <a:solidFill>
                            <a:srgbClr val="111111"/>
                          </a:solidFill>
                          <a:latin typeface="Calibri"/>
                          <a:ea typeface="Calibri"/>
                          <a:cs typeface="Calibri"/>
                        </a:rPr>
                        <a:t>Test</a:t>
                      </a:r>
                    </a:p>
                  </a:txBody>
                  <a:tcPr marL="114300" marR="95250" marT="66675" marB="47625" anchor="ctr">
                    <a:solidFill>
                      <a:srgbClr val="FFFFFF"/>
                    </a:solidFill>
                  </a:tcPr>
                </a:tc>
                <a:tc>
                  <a:txBody>
                    <a:bodyPr/>
                    <a:lstStyle/>
                    <a:p>
                      <a:r>
                        <a:rPr sz="1875" b="0">
                          <a:solidFill>
                            <a:srgbClr val="111111"/>
                          </a:solidFill>
                          <a:latin typeface="Calibri"/>
                          <a:ea typeface="Calibri"/>
                          <a:cs typeface="Calibri"/>
                        </a:rPr>
                        <a:t>2,113</a:t>
                      </a:r>
                    </a:p>
                  </a:txBody>
                  <a:tcPr marL="114300" marR="95250" marT="66675" marB="47625" anchor="ctr">
                    <a:solidFill>
                      <a:srgbClr val="FFFFFF"/>
                    </a:solidFill>
                  </a:tcPr>
                </a:tc>
                <a:tc>
                  <a:txBody>
                    <a:bodyPr/>
                    <a:lstStyle/>
                    <a:p>
                      <a:r>
                        <a:rPr sz="1875" b="0">
                          <a:solidFill>
                            <a:srgbClr val="111111"/>
                          </a:solidFill>
                          <a:latin typeface="Calibri"/>
                          <a:ea typeface="Calibri"/>
                          <a:cs typeface="Calibri"/>
                        </a:rPr>
                        <a:t>Evaluation of selected checkpoints</a:t>
                      </a:r>
                    </a:p>
                  </a:txBody>
                  <a:tcPr marL="114300" marR="95250" marT="66675" marB="47625" anchor="ctr">
                    <a:solidFill>
                      <a:srgbClr val="FFFFFF"/>
                    </a:solidFill>
                  </a:tcPr>
                </a:tc>
                <a:extLst>
                  <a:ext uri="{0D108BD9-81ED-4DB2-BD59-A6C34878D82A}">
                    <a16:rowId xmlns:a16="http://schemas.microsoft.com/office/drawing/2014/main" val="10003"/>
                  </a:ext>
                </a:extLst>
              </a:tr>
            </a:tbl>
          </a:graphicData>
        </a:graphic>
      </p:graphicFrame>
      <p:sp>
        <p:nvSpPr>
          <p:cNvPr id="8" name="Inputs: 224 × 224. IoU and Dice are averaged per image.&#10;All ">
            <a:extLst>
              <a:ext uri="{FF2B5EF4-FFF2-40B4-BE49-F238E27FC236}">
                <a16:creationId xmlns:a16="http://schemas.microsoft.com/office/drawing/2014/main" id="{A88D7FB4-ED95-4D7D-BED2-771DFF8828E8}"/>
              </a:ext>
            </a:extLst>
          </p:cNvPr>
          <p:cNvSpPr>
            <a:spLocks noGrp="1"/>
          </p:cNvSpPr>
          <p:nvPr/>
        </p:nvSpPr>
        <p:spPr>
          <a:xfrm>
            <a:off x="638175" y="4552950"/>
            <a:ext cx="10915650" cy="771525"/>
          </a:xfrm>
          <a:prstGeom prst="rect">
            <a:avLst/>
          </a:prstGeom>
          <a:noFill/>
          <a:ln w="0">
            <a:noFill/>
          </a:ln>
        </p:spPr>
        <p:txBody>
          <a:bodyPr wrap="square" lIns="0" tIns="0" rIns="0" bIns="0" anchor="ctr">
            <a:noAutofit/>
          </a:bodyPr>
          <a:lstStyle/>
          <a:p>
            <a:pPr algn="l">
              <a:buNone/>
              <a:defRPr sz="1800" b="0">
                <a:solidFill>
                  <a:srgbClr val="111111"/>
                </a:solidFill>
                <a:latin typeface="Calibri"/>
                <a:ea typeface="Calibri"/>
                <a:cs typeface="Calibri"/>
              </a:defRPr>
            </a:pPr>
            <a:r>
              <a:rPr sz="1800" b="0">
                <a:solidFill>
                  <a:srgbClr val="111111"/>
                </a:solidFill>
                <a:latin typeface="Calibri"/>
                <a:ea typeface="Calibri"/>
                <a:cs typeface="Calibri"/>
              </a:rPr>
              <a:t>224 × 224 inputs. Per-image macro IoU and Dice. Fixed probability &gt; 0.5.</a:t>
            </a:r>
          </a:p>
          <a:p>
            <a:pPr algn="l">
              <a:buNone/>
              <a:defRPr sz="1800" b="0">
                <a:solidFill>
                  <a:srgbClr val="111111"/>
                </a:solidFill>
                <a:latin typeface="Calibri"/>
                <a:ea typeface="Calibri"/>
                <a:cs typeface="Calibri"/>
              </a:defRPr>
            </a:pPr>
            <a:r>
              <a:rPr sz="1800" b="0">
                <a:solidFill>
                  <a:srgbClr val="111111"/>
                </a:solidFill>
                <a:latin typeface="Calibri"/>
                <a:ea typeface="Calibri"/>
                <a:cs typeface="Calibri"/>
              </a:rPr>
              <a:t>Val macro IoU selects Best. Test has prior research access.</a:t>
            </a:r>
          </a:p>
        </p:txBody>
      </p:sp>
      <p:sp>
        <p:nvSpPr>
          <p:cNvPr id="9" name="Current 80-epoch studies select the best checkpoint by valid">
            <a:extLst>
              <a:ext uri="{FF2B5EF4-FFF2-40B4-BE49-F238E27FC236}">
                <a16:creationId xmlns:a16="http://schemas.microsoft.com/office/drawing/2014/main" id="{5B37CFF2-9FCF-4707-841C-8227C740B98D}"/>
              </a:ext>
            </a:extLst>
          </p:cNvPr>
          <p:cNvSpPr>
            <a:spLocks noGrp="1"/>
          </p:cNvSpPr>
          <p:nvPr/>
        </p:nvSpPr>
        <p:spPr>
          <a:xfrm>
            <a:off x="638175" y="5534025"/>
            <a:ext cx="10915650" cy="733425"/>
          </a:xfrm>
          <a:prstGeom prst="rect">
            <a:avLst/>
          </a:prstGeom>
          <a:noFill/>
          <a:ln w="0">
            <a:noFill/>
          </a:ln>
        </p:spPr>
        <p:txBody>
          <a:bodyPr wrap="square" lIns="0" tIns="0" rIns="0" bIns="0" anchor="ctr">
            <a:noAutofit/>
          </a:bodyPr>
          <a:lstStyle/>
          <a:p>
            <a:pPr algn="l">
              <a:buNone/>
              <a:defRPr sz="1800" b="0">
                <a:solidFill>
                  <a:srgbClr val="111111"/>
                </a:solidFill>
                <a:latin typeface="Calibri"/>
                <a:ea typeface="Calibri"/>
                <a:cs typeface="Calibri"/>
              </a:defRPr>
            </a:pPr>
            <a:r>
              <a:rPr sz="1800" b="0">
                <a:solidFill>
                  <a:srgbClr val="111111"/>
                </a:solidFill>
                <a:latin typeface="Calibri"/>
                <a:ea typeface="Calibri"/>
                <a:cs typeface="Calibri"/>
              </a:rPr>
              <a:t>Train/Val share 434 recoverable patient IDs. No recoverable Test overlap was found.</a:t>
            </a:r>
          </a:p>
          <a:p>
            <a:pPr algn="l">
              <a:buNone/>
              <a:defRPr sz="1800" b="0">
                <a:solidFill>
                  <a:srgbClr val="111111"/>
                </a:solidFill>
                <a:latin typeface="Calibri"/>
                <a:ea typeface="Calibri"/>
                <a:cs typeface="Calibri"/>
              </a:defRPr>
            </a:pPr>
            <a:r>
              <a:rPr sz="1800" b="0">
                <a:solidFill>
                  <a:srgbClr val="111111"/>
                </a:solidFill>
                <a:latin typeface="Calibri"/>
                <a:ea typeface="Calibri"/>
                <a:cs typeface="Calibri"/>
              </a:rPr>
              <a:t>Anonymous cases prevent a claim of fully patient-independent splits.</a:t>
            </a:r>
          </a:p>
        </p:txBody>
      </p:sp>
      <p:sp>
        <p:nvSpPr>
          <p:cNvPr id="11" name="Backup: evaluation protocol">
            <a:extLst>
              <a:ext uri="{FF2B5EF4-FFF2-40B4-BE49-F238E27FC236}">
                <a16:creationId xmlns:a16="http://schemas.microsoft.com/office/drawing/2014/main" id="{2E00FCE5-B248-48B7-9C9A-6A79F7914177}"/>
              </a:ext>
            </a:extLst>
          </p:cNvPr>
          <p:cNvSpPr>
            <a:spLocks noGrp="1"/>
          </p:cNvSpPr>
          <p:nvPr/>
        </p:nvSpPr>
        <p:spPr>
          <a:xfrm>
            <a:off x="638175" y="6467475"/>
            <a:ext cx="9906000" cy="190500"/>
          </a:xfrm>
          <a:prstGeom prst="rect">
            <a:avLst/>
          </a:prstGeom>
          <a:noFill/>
          <a:ln w="0">
            <a:noFill/>
          </a:ln>
        </p:spPr>
        <p:txBody>
          <a:bodyPr wrap="square" lIns="0" tIns="0" rIns="0" bIns="0" anchor="t">
            <a:noAutofit/>
          </a:bodyPr>
          <a:lstStyle/>
          <a:p>
            <a:pPr algn="l">
              <a:buNone/>
              <a:defRPr sz="900" b="0">
                <a:solidFill>
                  <a:srgbClr val="999999"/>
                </a:solidFill>
                <a:latin typeface="Calibri"/>
                <a:ea typeface="Calibri"/>
                <a:cs typeface="Calibri"/>
              </a:defRPr>
            </a:pPr>
            <a:r>
              <a:rPr sz="900" b="0">
                <a:solidFill>
                  <a:srgbClr val="999999"/>
                </a:solidFill>
                <a:latin typeface="Calibri"/>
                <a:ea typeface="Calibri"/>
                <a:cs typeface="Calibri"/>
              </a:rPr>
              <a:t>Backup: evaluation protocol</a:t>
            </a:r>
          </a:p>
        </p:txBody>
      </p:sp>
      <p:sp>
        <p:nvSpPr>
          <p:cNvPr id="12" name="18">
            <a:extLst>
              <a:ext uri="{FF2B5EF4-FFF2-40B4-BE49-F238E27FC236}">
                <a16:creationId xmlns:a16="http://schemas.microsoft.com/office/drawing/2014/main" id="{563A123F-692E-4844-95A6-B70631C7CBAA}"/>
              </a:ext>
            </a:extLst>
          </p:cNvPr>
          <p:cNvSpPr>
            <a:spLocks noGrp="1"/>
          </p:cNvSpPr>
          <p:nvPr/>
        </p:nvSpPr>
        <p:spPr>
          <a:xfrm>
            <a:off x="11144250" y="6467475"/>
            <a:ext cx="409575" cy="190500"/>
          </a:xfrm>
          <a:prstGeom prst="rect">
            <a:avLst/>
          </a:prstGeom>
          <a:noFill/>
          <a:ln w="0">
            <a:noFill/>
          </a:ln>
        </p:spPr>
        <p:txBody>
          <a:bodyPr wrap="square" lIns="0" tIns="0" rIns="0" bIns="0" anchor="t">
            <a:noAutofit/>
          </a:bodyPr>
          <a:lstStyle/>
          <a:p>
            <a:pPr algn="r">
              <a:buNone/>
              <a:defRPr sz="900" b="0">
                <a:solidFill>
                  <a:srgbClr val="999999"/>
                </a:solidFill>
                <a:latin typeface="Calibri"/>
                <a:ea typeface="Calibri"/>
                <a:cs typeface="Calibri"/>
              </a:defRPr>
            </a:pPr>
            <a:r>
              <a:rPr sz="900" b="0">
                <a:solidFill>
                  <a:srgbClr val="999999"/>
                </a:solidFill>
                <a:latin typeface="Calibri"/>
                <a:ea typeface="Calibri"/>
                <a:cs typeface="Calibri"/>
              </a:rPr>
              <a:t>19</a:t>
            </a:r>
          </a:p>
        </p:txBody>
      </p:sp>
    </p:spTree>
    <p:extLst>
      <p:ext uri="{BB962C8B-B14F-4D97-AF65-F5344CB8AC3E}">
        <p14:creationId xmlns:p14="http://schemas.microsoft.com/office/powerpoint/2010/main" val="16548719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66670848-EDF9-4962-83E3-D284658277C8}"/>
              </a:ext>
            </a:extLst>
          </p:cNvPr>
          <p:cNvSpPr>
            <a:spLocks noGrp="1"/>
          </p:cNvSpPr>
          <p:nvPr/>
        </p:nvSpPr>
        <p:spPr>
          <a:xfrm>
            <a:off x="640080" y="361950"/>
            <a:ext cx="10915650" cy="952500"/>
          </a:xfrm>
          <a:prstGeom prst="rect">
            <a:avLst/>
          </a:prstGeom>
          <a:noFill/>
          <a:ln w="0">
            <a:noFill/>
          </a:ln>
        </p:spPr>
        <p:txBody>
          <a:bodyPr wrap="square" lIns="0" tIns="0" rIns="0" bIns="0" anchor="ctr">
            <a:noAutofit/>
          </a:bodyPr>
          <a:lstStyle/>
          <a:p>
            <a:pPr algn="l">
              <a:defRPr sz="3000" b="1">
                <a:solidFill>
                  <a:srgbClr val="111111"/>
                </a:solidFill>
                <a:latin typeface="Cambria"/>
                <a:ea typeface="Cambria"/>
                <a:cs typeface="Cambria"/>
              </a:defRPr>
            </a:pPr>
            <a:r>
              <a:rPr sz="3000" b="1">
                <a:solidFill>
                  <a:srgbClr val="111111"/>
                </a:solidFill>
                <a:latin typeface="Cambria"/>
                <a:ea typeface="Cambria"/>
                <a:cs typeface="Cambria"/>
              </a:rPr>
              <a:t>Reproducibility of completed comparisons</a:t>
            </a:r>
          </a:p>
        </p:txBody>
      </p:sp>
      <p:sp>
        <p:nvSpPr>
          <p:cNvPr id="2" name="矩形 1">
            <a:extLst>
              <a:ext uri="{FF2B5EF4-FFF2-40B4-BE49-F238E27FC236}">
                <a16:creationId xmlns:a16="http://schemas.microsoft.com/office/drawing/2014/main" id="{8925D9B7-5DED-40C2-9BB9-4B5C3ADC026B}"/>
              </a:ext>
            </a:extLst>
          </p:cNvPr>
          <p:cNvSpPr>
            <a:spLocks noGrp="1"/>
          </p:cNvSpPr>
          <p:nvPr/>
        </p:nvSpPr>
        <p:spPr>
          <a:xfrm>
            <a:off x="638175" y="6467475"/>
            <a:ext cx="9906000" cy="190500"/>
          </a:xfrm>
          <a:prstGeom prst="rect">
            <a:avLst/>
          </a:prstGeom>
          <a:noFill/>
          <a:ln w="0">
            <a:noFill/>
          </a:ln>
        </p:spPr>
        <p:txBody>
          <a:bodyPr wrap="square" lIns="0" tIns="0" rIns="0" bIns="0" anchor="ctr">
            <a:noAutofit/>
          </a:bodyPr>
          <a:lstStyle/>
          <a:p>
            <a:pPr algn="l">
              <a:defRPr sz="900" b="0">
                <a:solidFill>
                  <a:srgbClr val="999999"/>
                </a:solidFill>
                <a:latin typeface="Calibri"/>
                <a:ea typeface="Calibri"/>
                <a:cs typeface="Calibri"/>
              </a:defRPr>
            </a:pPr>
            <a:r>
              <a:rPr sz="900" b="0">
                <a:solidFill>
                  <a:srgbClr val="999999"/>
                </a:solidFill>
                <a:latin typeface="Calibri"/>
                <a:ea typeface="Calibri"/>
                <a:cs typeface="Calibri"/>
              </a:rPr>
              <a:t>Backup: implementation and result provenance</a:t>
            </a:r>
          </a:p>
        </p:txBody>
      </p:sp>
      <p:sp>
        <p:nvSpPr>
          <p:cNvPr id="3" name="矩形 2">
            <a:extLst>
              <a:ext uri="{FF2B5EF4-FFF2-40B4-BE49-F238E27FC236}">
                <a16:creationId xmlns:a16="http://schemas.microsoft.com/office/drawing/2014/main" id="{4E33CE02-043D-4D0D-BEB9-50A1B36F42CE}"/>
              </a:ext>
            </a:extLst>
          </p:cNvPr>
          <p:cNvSpPr>
            <a:spLocks noGrp="1"/>
          </p:cNvSpPr>
          <p:nvPr/>
        </p:nvSpPr>
        <p:spPr>
          <a:xfrm>
            <a:off x="11144250" y="6467475"/>
            <a:ext cx="409575" cy="190500"/>
          </a:xfrm>
          <a:prstGeom prst="rect">
            <a:avLst/>
          </a:prstGeom>
          <a:noFill/>
          <a:ln w="0">
            <a:noFill/>
          </a:ln>
        </p:spPr>
        <p:txBody>
          <a:bodyPr wrap="square" lIns="0" tIns="0" rIns="0" bIns="0" anchor="ctr">
            <a:noAutofit/>
          </a:bodyPr>
          <a:lstStyle/>
          <a:p>
            <a:pPr algn="r">
              <a:defRPr sz="900" b="0">
                <a:solidFill>
                  <a:srgbClr val="999999"/>
                </a:solidFill>
                <a:latin typeface="Calibri"/>
                <a:ea typeface="Calibri"/>
                <a:cs typeface="Calibri"/>
              </a:defRPr>
            </a:pPr>
            <a:r>
              <a:rPr sz="900" b="0">
                <a:solidFill>
                  <a:srgbClr val="999999"/>
                </a:solidFill>
                <a:latin typeface="Calibri"/>
                <a:ea typeface="Calibri"/>
                <a:cs typeface="Calibri"/>
              </a:rPr>
              <a:t>20</a:t>
            </a:r>
          </a:p>
        </p:txBody>
      </p:sp>
      <p:graphicFrame>
        <p:nvGraphicFramePr>
          <p:cNvPr id="9" name="表格 8"/>
          <p:cNvGraphicFramePr/>
          <p:nvPr/>
        </p:nvGraphicFramePr>
        <p:xfrm>
          <a:off x="638175" y="1685925"/>
          <a:ext cx="10915650" cy="3971925"/>
        </p:xfrm>
        <a:graphic>
          <a:graphicData uri="http://schemas.openxmlformats.org/drawingml/2006/table">
            <a:tbl>
              <a:tblPr/>
              <a:tblGrid>
                <a:gridCol w="3619500">
                  <a:extLst>
                    <a:ext uri="{9D8B030D-6E8A-4147-A177-3AD203B41FA5}">
                      <a16:colId xmlns:a16="http://schemas.microsoft.com/office/drawing/2014/main" val="20000"/>
                    </a:ext>
                  </a:extLst>
                </a:gridCol>
                <a:gridCol w="7296150">
                  <a:extLst>
                    <a:ext uri="{9D8B030D-6E8A-4147-A177-3AD203B41FA5}">
                      <a16:colId xmlns:a16="http://schemas.microsoft.com/office/drawing/2014/main" val="20001"/>
                    </a:ext>
                  </a:extLst>
                </a:gridCol>
              </a:tblGrid>
              <a:tr h="661988">
                <a:tc>
                  <a:txBody>
                    <a:bodyPr/>
                    <a:lstStyle/>
                    <a:p>
                      <a:r>
                        <a:rPr sz="1800" b="1">
                          <a:solidFill>
                            <a:srgbClr val="FFFFFF"/>
                          </a:solidFill>
                          <a:latin typeface="Calibri"/>
                          <a:ea typeface="Calibri"/>
                          <a:cs typeface="Calibri"/>
                        </a:rPr>
                        <a:t>Evidence</a:t>
                      </a:r>
                    </a:p>
                  </a:txBody>
                  <a:tcPr marL="114300" marR="95250" marT="47625" marB="47625" anchor="ctr">
                    <a:solidFill>
                      <a:srgbClr val="111111"/>
                    </a:solidFill>
                  </a:tcPr>
                </a:tc>
                <a:tc>
                  <a:txBody>
                    <a:bodyPr/>
                    <a:lstStyle/>
                    <a:p>
                      <a:r>
                        <a:rPr sz="1800" b="1">
                          <a:solidFill>
                            <a:srgbClr val="FFFFFF"/>
                          </a:solidFill>
                          <a:latin typeface="Calibri"/>
                          <a:ea typeface="Calibri"/>
                          <a:cs typeface="Calibri"/>
                        </a:rPr>
                        <a:t>Completed record</a:t>
                      </a:r>
                    </a:p>
                  </a:txBody>
                  <a:tcPr marL="114300" marR="95250" marT="47625" marB="47625" anchor="ctr">
                    <a:solidFill>
                      <a:srgbClr val="111111"/>
                    </a:solidFill>
                  </a:tcPr>
                </a:tc>
                <a:extLst>
                  <a:ext uri="{0D108BD9-81ED-4DB2-BD59-A6C34878D82A}">
                    <a16:rowId xmlns:a16="http://schemas.microsoft.com/office/drawing/2014/main" val="10000"/>
                  </a:ext>
                </a:extLst>
              </a:tr>
              <a:tr h="661988">
                <a:tc>
                  <a:txBody>
                    <a:bodyPr/>
                    <a:lstStyle/>
                    <a:p>
                      <a:r>
                        <a:rPr sz="1800" b="0">
                          <a:solidFill>
                            <a:srgbClr val="111111"/>
                          </a:solidFill>
                          <a:latin typeface="Calibri"/>
                          <a:ea typeface="Calibri"/>
                          <a:cs typeface="Calibri"/>
                        </a:rPr>
                        <a:t>Primary module ablation</a:t>
                      </a:r>
                    </a:p>
                  </a:txBody>
                  <a:tcPr marL="114300" marR="95250" marT="47625" marB="47625" anchor="ctr">
                    <a:solidFill>
                      <a:srgbClr val="FFFFFF"/>
                    </a:solidFill>
                  </a:tcPr>
                </a:tc>
                <a:tc>
                  <a:txBody>
                    <a:bodyPr/>
                    <a:lstStyle/>
                    <a:p>
                      <a:r>
                        <a:rPr sz="1800" b="0">
                          <a:solidFill>
                            <a:srgbClr val="111111"/>
                          </a:solidFill>
                          <a:latin typeface="Calibri"/>
                          <a:ea typeface="Calibri"/>
                          <a:cs typeface="Calibri"/>
                        </a:rPr>
                        <a:t>4 configurations × 3 seeds, all Val and Test results</a:t>
                      </a:r>
                    </a:p>
                  </a:txBody>
                  <a:tcPr marL="114300" marR="95250" marT="47625" marB="47625" anchor="ctr">
                    <a:solidFill>
                      <a:srgbClr val="FFFFFF"/>
                    </a:solidFill>
                  </a:tcPr>
                </a:tc>
                <a:extLst>
                  <a:ext uri="{0D108BD9-81ED-4DB2-BD59-A6C34878D82A}">
                    <a16:rowId xmlns:a16="http://schemas.microsoft.com/office/drawing/2014/main" val="10001"/>
                  </a:ext>
                </a:extLst>
              </a:tr>
              <a:tr h="661988">
                <a:tc>
                  <a:txBody>
                    <a:bodyPr/>
                    <a:lstStyle/>
                    <a:p>
                      <a:r>
                        <a:rPr sz="1800" b="0">
                          <a:solidFill>
                            <a:srgbClr val="111111"/>
                          </a:solidFill>
                          <a:latin typeface="Calibri"/>
                          <a:ea typeface="Calibri"/>
                          <a:cs typeface="Calibri"/>
                        </a:rPr>
                        <a:t>Matched training protocol</a:t>
                      </a:r>
                    </a:p>
                  </a:txBody>
                  <a:tcPr marL="114300" marR="95250" marT="47625" marB="47625" anchor="ctr">
                    <a:solidFill>
                      <a:srgbClr val="F3F3F3"/>
                    </a:solidFill>
                  </a:tcPr>
                </a:tc>
                <a:tc>
                  <a:txBody>
                    <a:bodyPr/>
                    <a:lstStyle/>
                    <a:p>
                      <a:r>
                        <a:rPr sz="1800" b="0">
                          <a:solidFill>
                            <a:srgbClr val="111111"/>
                          </a:solidFill>
                          <a:latin typeface="Calibri"/>
                          <a:ea typeface="Calibri"/>
                          <a:cs typeface="Calibri"/>
                        </a:rPr>
                        <a:t>Single-cycle cosine, frozen text, no LoRA, 80 epochs</a:t>
                      </a:r>
                    </a:p>
                  </a:txBody>
                  <a:tcPr marL="114300" marR="95250" marT="47625" marB="47625" anchor="ctr">
                    <a:solidFill>
                      <a:srgbClr val="F3F3F3"/>
                    </a:solidFill>
                  </a:tcPr>
                </a:tc>
                <a:extLst>
                  <a:ext uri="{0D108BD9-81ED-4DB2-BD59-A6C34878D82A}">
                    <a16:rowId xmlns:a16="http://schemas.microsoft.com/office/drawing/2014/main" val="10002"/>
                  </a:ext>
                </a:extLst>
              </a:tr>
              <a:tr h="661988">
                <a:tc>
                  <a:txBody>
                    <a:bodyPr/>
                    <a:lstStyle/>
                    <a:p>
                      <a:r>
                        <a:rPr sz="1800" b="0">
                          <a:solidFill>
                            <a:srgbClr val="111111"/>
                          </a:solidFill>
                          <a:latin typeface="Calibri"/>
                          <a:ea typeface="Calibri"/>
                          <a:cs typeface="Calibri"/>
                        </a:rPr>
                        <a:t>External methods</a:t>
                      </a:r>
                    </a:p>
                  </a:txBody>
                  <a:tcPr marL="114300" marR="95250" marT="47625" marB="47625" anchor="ctr">
                    <a:solidFill>
                      <a:srgbClr val="FFFFFF"/>
                    </a:solidFill>
                  </a:tcPr>
                </a:tc>
                <a:tc>
                  <a:txBody>
                    <a:bodyPr/>
                    <a:lstStyle/>
                    <a:p>
                      <a:r>
                        <a:rPr sz="1800" b="0">
                          <a:solidFill>
                            <a:srgbClr val="111111"/>
                          </a:solidFill>
                          <a:latin typeface="Calibri"/>
                          <a:ea typeface="Calibri"/>
                          <a:cs typeface="Calibri"/>
                        </a:rPr>
                        <a:t>MMI-UNet, GuideDecoder and DD-CMD full Test outputs</a:t>
                      </a:r>
                    </a:p>
                  </a:txBody>
                  <a:tcPr marL="114300" marR="95250" marT="47625" marB="47625" anchor="ctr">
                    <a:solidFill>
                      <a:srgbClr val="FFFFFF"/>
                    </a:solidFill>
                  </a:tcPr>
                </a:tc>
                <a:extLst>
                  <a:ext uri="{0D108BD9-81ED-4DB2-BD59-A6C34878D82A}">
                    <a16:rowId xmlns:a16="http://schemas.microsoft.com/office/drawing/2014/main" val="10003"/>
                  </a:ext>
                </a:extLst>
              </a:tr>
              <a:tr h="661988">
                <a:tc>
                  <a:txBody>
                    <a:bodyPr/>
                    <a:lstStyle/>
                    <a:p>
                      <a:r>
                        <a:rPr sz="1800" b="0">
                          <a:solidFill>
                            <a:srgbClr val="111111"/>
                          </a:solidFill>
                          <a:latin typeface="Calibri"/>
                          <a:ea typeface="Calibri"/>
                          <a:cs typeface="Calibri"/>
                        </a:rPr>
                        <a:t>Runtime provenance</a:t>
                      </a:r>
                    </a:p>
                  </a:txBody>
                  <a:tcPr marL="114300" marR="95250" marT="47625" marB="47625" anchor="ctr">
                    <a:solidFill>
                      <a:srgbClr val="F3F3F3"/>
                    </a:solidFill>
                  </a:tcPr>
                </a:tc>
                <a:tc>
                  <a:txBody>
                    <a:bodyPr/>
                    <a:lstStyle/>
                    <a:p>
                      <a:r>
                        <a:rPr sz="1800" b="0">
                          <a:solidFill>
                            <a:srgbClr val="111111"/>
                          </a:solidFill>
                          <a:latin typeface="Calibri"/>
                          <a:ea typeface="Calibri"/>
                          <a:cs typeface="Calibri"/>
                        </a:rPr>
                        <a:t>Per-run source SHA, experiment tag and checkpoint hash</a:t>
                      </a:r>
                    </a:p>
                  </a:txBody>
                  <a:tcPr marL="114300" marR="95250" marT="47625" marB="47625" anchor="ctr">
                    <a:solidFill>
                      <a:srgbClr val="F3F3F3"/>
                    </a:solidFill>
                  </a:tcPr>
                </a:tc>
                <a:extLst>
                  <a:ext uri="{0D108BD9-81ED-4DB2-BD59-A6C34878D82A}">
                    <a16:rowId xmlns:a16="http://schemas.microsoft.com/office/drawing/2014/main" val="10004"/>
                  </a:ext>
                </a:extLst>
              </a:tr>
              <a:tr h="661988">
                <a:tc>
                  <a:txBody>
                    <a:bodyPr/>
                    <a:lstStyle/>
                    <a:p>
                      <a:r>
                        <a:rPr sz="1800" b="0">
                          <a:solidFill>
                            <a:srgbClr val="111111"/>
                          </a:solidFill>
                          <a:latin typeface="Calibri"/>
                          <a:ea typeface="Calibri"/>
                          <a:cs typeface="Calibri"/>
                        </a:rPr>
                        <a:t>Integrated paper snapshot</a:t>
                      </a:r>
                    </a:p>
                  </a:txBody>
                  <a:tcPr marL="114300" marR="95250" marT="47625" marB="47625" anchor="ctr">
                    <a:solidFill>
                      <a:srgbClr val="FFFFFF"/>
                    </a:solidFill>
                  </a:tcPr>
                </a:tc>
                <a:tc>
                  <a:txBody>
                    <a:bodyPr/>
                    <a:lstStyle/>
                    <a:p>
                      <a:r>
                        <a:rPr sz="1800" b="0">
                          <a:solidFill>
                            <a:srgbClr val="111111"/>
                          </a:solidFill>
                          <a:latin typeface="Calibri"/>
                          <a:ea typeface="Calibri"/>
                          <a:cs typeface="Calibri"/>
                        </a:rPr>
                        <a:t>FSDR + complete RACE source and archived result JSON</a:t>
                      </a:r>
                    </a:p>
                  </a:txBody>
                  <a:tcPr marL="114300" marR="95250" marT="47625" marB="47625" anchor="ctr">
                    <a:solidFill>
                      <a:srgbClr val="FFFFFF"/>
                    </a:solidFill>
                  </a:tcPr>
                </a:tc>
                <a:extLst>
                  <a:ext uri="{0D108BD9-81ED-4DB2-BD59-A6C34878D82A}">
                    <a16:rowId xmlns:a16="http://schemas.microsoft.com/office/drawing/2014/main" val="10005"/>
                  </a:ext>
                </a:extLst>
              </a:tr>
            </a:tbl>
          </a:graphicData>
        </a:graphic>
      </p:graphicFrame>
      <p:sp>
        <p:nvSpPr>
          <p:cNvPr id="5" name="矩形 4">
            <a:extLst>
              <a:ext uri="{FF2B5EF4-FFF2-40B4-BE49-F238E27FC236}">
                <a16:creationId xmlns:a16="http://schemas.microsoft.com/office/drawing/2014/main" id="{B73D75D5-DD24-4797-B963-FBD6FA26E676}"/>
              </a:ext>
            </a:extLst>
          </p:cNvPr>
          <p:cNvSpPr>
            <a:spLocks noGrp="1"/>
          </p:cNvSpPr>
          <p:nvPr/>
        </p:nvSpPr>
        <p:spPr>
          <a:xfrm>
            <a:off x="638175" y="5915025"/>
            <a:ext cx="10915650" cy="409575"/>
          </a:xfrm>
          <a:prstGeom prst="rect">
            <a:avLst/>
          </a:prstGeom>
          <a:noFill/>
          <a:ln w="0">
            <a:noFill/>
          </a:ln>
        </p:spPr>
        <p:txBody>
          <a:bodyPr wrap="square" lIns="0" tIns="0" rIns="0" bIns="0" anchor="ctr">
            <a:noAutofit/>
          </a:bodyPr>
          <a:lstStyle/>
          <a:p>
            <a:pPr algn="l">
              <a:defRPr sz="1725" b="0">
                <a:solidFill>
                  <a:srgbClr val="606060"/>
                </a:solidFill>
                <a:latin typeface="Calibri"/>
                <a:ea typeface="Calibri"/>
                <a:cs typeface="Calibri"/>
              </a:defRPr>
            </a:pPr>
            <a:r>
              <a:rPr sz="1725" b="0">
                <a:solidFill>
                  <a:srgbClr val="606060"/>
                </a:solidFill>
                <a:latin typeface="Calibri"/>
                <a:ea typeface="Calibri"/>
                <a:cs typeface="Calibri"/>
              </a:rPr>
              <a:t>Archived runtime commits identify the experiments. Integration preserves their original provenance.</a:t>
            </a:r>
          </a:p>
        </p:txBody>
      </p:sp>
    </p:spTree>
    <p:extLst>
      <p:ext uri="{BB962C8B-B14F-4D97-AF65-F5344CB8AC3E}">
        <p14:creationId xmlns:p14="http://schemas.microsoft.com/office/powerpoint/2010/main" val="19642900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E3FD9A6-3036-490C-908C-7AD6F44BFACB}"/>
              </a:ext>
            </a:extLst>
          </p:cNvPr>
          <p:cNvSpPr>
            <a:spLocks noGrp="1"/>
          </p:cNvSpPr>
          <p:nvPr/>
        </p:nvSpPr>
        <p:spPr>
          <a:xfrm>
            <a:off x="640080" y="361950"/>
            <a:ext cx="10915650" cy="952500"/>
          </a:xfrm>
          <a:prstGeom prst="rect">
            <a:avLst/>
          </a:prstGeom>
          <a:noFill/>
        </p:spPr>
        <p:txBody>
          <a:bodyPr wrap="square" lIns="0" tIns="0" rIns="0" bIns="0" anchor="ctr">
            <a:noAutofit/>
          </a:bodyPr>
          <a:lstStyle/>
          <a:p>
            <a:pPr marL="0" indent="0">
              <a:buNone/>
              <a:defRPr sz="2925" b="1">
                <a:solidFill>
                  <a:srgbClr val="111111"/>
                </a:solidFill>
                <a:latin typeface="Cambria"/>
                <a:ea typeface="Cambria"/>
                <a:cs typeface="Cambria"/>
              </a:defRPr>
            </a:pPr>
            <a:r>
              <a:rPr sz="2925" b="1">
                <a:solidFill>
                  <a:srgbClr val="111111"/>
                </a:solidFill>
                <a:latin typeface="Cambria"/>
                <a:ea typeface="Cambria"/>
                <a:cs typeface="Cambria"/>
              </a:rPr>
              <a:t>Earlier RACE: report-target binding comparison</a:t>
            </a:r>
            <a:endParaRPr sz="2800"/>
          </a:p>
        </p:txBody>
      </p:sp>
      <p:graphicFrame>
        <p:nvGraphicFramePr>
          <p:cNvPr id="10" name="表格 9"/>
          <p:cNvGraphicFramePr/>
          <p:nvPr/>
        </p:nvGraphicFramePr>
        <p:xfrm>
          <a:off x="638175" y="1714500"/>
          <a:ext cx="10915650" cy="3048000"/>
        </p:xfrm>
        <a:graphic>
          <a:graphicData uri="http://schemas.openxmlformats.org/drawingml/2006/table">
            <a:tbl>
              <a:tblPr/>
              <a:tblGrid>
                <a:gridCol w="558165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tblGrid>
              <a:tr h="762000">
                <a:tc>
                  <a:txBody>
                    <a:bodyPr/>
                    <a:lstStyle/>
                    <a:p>
                      <a:r>
                        <a:rPr sz="2025" b="1">
                          <a:solidFill>
                            <a:srgbClr val="FFFFFF"/>
                          </a:solidFill>
                          <a:latin typeface="Calibri"/>
                          <a:ea typeface="Calibri"/>
                          <a:cs typeface="Calibri"/>
                        </a:rPr>
                        <a:t>Configuration</a:t>
                      </a:r>
                    </a:p>
                  </a:txBody>
                  <a:tcPr marL="114300" marR="95250" marT="66675" marB="47625" anchor="ctr">
                    <a:solidFill>
                      <a:srgbClr val="111111"/>
                    </a:solidFill>
                  </a:tcPr>
                </a:tc>
                <a:tc>
                  <a:txBody>
                    <a:bodyPr/>
                    <a:lstStyle/>
                    <a:p>
                      <a:r>
                        <a:rPr sz="2025" b="1">
                          <a:solidFill>
                            <a:srgbClr val="FFFFFF"/>
                          </a:solidFill>
                          <a:latin typeface="Calibri"/>
                          <a:ea typeface="Calibri"/>
                          <a:cs typeface="Calibri"/>
                        </a:rPr>
                        <a:t>Test IoU</a:t>
                      </a:r>
                    </a:p>
                  </a:txBody>
                  <a:tcPr marL="114300" marR="95250" marT="66675" marB="47625" anchor="ctr">
                    <a:solidFill>
                      <a:srgbClr val="111111"/>
                    </a:solidFill>
                  </a:tcPr>
                </a:tc>
                <a:tc>
                  <a:txBody>
                    <a:bodyPr/>
                    <a:lstStyle/>
                    <a:p>
                      <a:r>
                        <a:rPr sz="2025" b="1">
                          <a:solidFill>
                            <a:srgbClr val="FFFFFF"/>
                          </a:solidFill>
                          <a:latin typeface="Calibri"/>
                          <a:ea typeface="Calibri"/>
                          <a:cs typeface="Calibri"/>
                        </a:rPr>
                        <a:t>Test Dice</a:t>
                      </a:r>
                    </a:p>
                  </a:txBody>
                  <a:tcPr marL="114300" marR="95250" marT="66675" marB="47625" anchor="ctr">
                    <a:solidFill>
                      <a:srgbClr val="111111"/>
                    </a:solidFill>
                  </a:tcPr>
                </a:tc>
                <a:extLst>
                  <a:ext uri="{0D108BD9-81ED-4DB2-BD59-A6C34878D82A}">
                    <a16:rowId xmlns:a16="http://schemas.microsoft.com/office/drawing/2014/main" val="10000"/>
                  </a:ext>
                </a:extLst>
              </a:tr>
              <a:tr h="762000">
                <a:tc>
                  <a:txBody>
                    <a:bodyPr/>
                    <a:lstStyle/>
                    <a:p>
                      <a:r>
                        <a:rPr sz="2025" b="0">
                          <a:solidFill>
                            <a:srgbClr val="111111"/>
                          </a:solidFill>
                          <a:latin typeface="Calibri"/>
                          <a:ea typeface="Calibri"/>
                          <a:cs typeface="Calibri"/>
                        </a:rPr>
                        <a:t>FSDR control</a:t>
                      </a:r>
                    </a:p>
                  </a:txBody>
                  <a:tcPr marL="114300" marR="95250" marT="66675" marB="47625" anchor="ctr">
                    <a:solidFill>
                      <a:srgbClr val="FFFFFF"/>
                    </a:solidFill>
                  </a:tcPr>
                </a:tc>
                <a:tc>
                  <a:txBody>
                    <a:bodyPr/>
                    <a:lstStyle/>
                    <a:p>
                      <a:r>
                        <a:rPr sz="2025" b="0">
                          <a:solidFill>
                            <a:srgbClr val="111111"/>
                          </a:solidFill>
                          <a:latin typeface="Calibri"/>
                          <a:ea typeface="Calibri"/>
                          <a:cs typeface="Calibri"/>
                        </a:rPr>
                        <a:t>75.8098%</a:t>
                      </a:r>
                    </a:p>
                  </a:txBody>
                  <a:tcPr marL="114300" marR="95250" marT="66675" marB="47625" anchor="ctr">
                    <a:solidFill>
                      <a:srgbClr val="FFFFFF"/>
                    </a:solidFill>
                  </a:tcPr>
                </a:tc>
                <a:tc>
                  <a:txBody>
                    <a:bodyPr/>
                    <a:lstStyle/>
                    <a:p>
                      <a:r>
                        <a:rPr sz="2025" b="0">
                          <a:solidFill>
                            <a:srgbClr val="111111"/>
                          </a:solidFill>
                          <a:latin typeface="Calibri"/>
                          <a:ea typeface="Calibri"/>
                          <a:cs typeface="Calibri"/>
                        </a:rPr>
                        <a:t>84.4236%</a:t>
                      </a:r>
                    </a:p>
                  </a:txBody>
                  <a:tcPr marL="114300" marR="95250" marT="66675" marB="47625" anchor="ctr">
                    <a:solidFill>
                      <a:srgbClr val="FFFFFF"/>
                    </a:solidFill>
                  </a:tcPr>
                </a:tc>
                <a:extLst>
                  <a:ext uri="{0D108BD9-81ED-4DB2-BD59-A6C34878D82A}">
                    <a16:rowId xmlns:a16="http://schemas.microsoft.com/office/drawing/2014/main" val="10001"/>
                  </a:ext>
                </a:extLst>
              </a:tr>
              <a:tr h="762000">
                <a:tc>
                  <a:txBody>
                    <a:bodyPr/>
                    <a:lstStyle/>
                    <a:p>
                      <a:r>
                        <a:rPr sz="2025" b="0">
                          <a:solidFill>
                            <a:srgbClr val="111111"/>
                          </a:solidFill>
                          <a:latin typeface="Calibri"/>
                          <a:ea typeface="Calibri"/>
                          <a:cs typeface="Calibri"/>
                        </a:rPr>
                        <a:t>RACE · original target binding</a:t>
                      </a:r>
                    </a:p>
                  </a:txBody>
                  <a:tcPr marL="114300" marR="95250" marT="66675" marB="47625" anchor="ctr">
                    <a:solidFill>
                      <a:srgbClr val="F3F3F3"/>
                    </a:solidFill>
                  </a:tcPr>
                </a:tc>
                <a:tc>
                  <a:txBody>
                    <a:bodyPr/>
                    <a:lstStyle/>
                    <a:p>
                      <a:r>
                        <a:rPr sz="2025" b="0">
                          <a:solidFill>
                            <a:srgbClr val="111111"/>
                          </a:solidFill>
                          <a:latin typeface="Calibri"/>
                          <a:ea typeface="Calibri"/>
                          <a:cs typeface="Calibri"/>
                        </a:rPr>
                        <a:t>75.9505%</a:t>
                      </a:r>
                    </a:p>
                  </a:txBody>
                  <a:tcPr marL="114300" marR="95250" marT="66675" marB="47625" anchor="ctr">
                    <a:solidFill>
                      <a:srgbClr val="F3F3F3"/>
                    </a:solidFill>
                  </a:tcPr>
                </a:tc>
                <a:tc>
                  <a:txBody>
                    <a:bodyPr/>
                    <a:lstStyle/>
                    <a:p>
                      <a:r>
                        <a:rPr sz="2025" b="0">
                          <a:solidFill>
                            <a:srgbClr val="111111"/>
                          </a:solidFill>
                          <a:latin typeface="Calibri"/>
                          <a:ea typeface="Calibri"/>
                          <a:cs typeface="Calibri"/>
                        </a:rPr>
                        <a:t>84.5237%</a:t>
                      </a:r>
                    </a:p>
                  </a:txBody>
                  <a:tcPr marL="114300" marR="95250" marT="66675" marB="47625" anchor="ctr">
                    <a:solidFill>
                      <a:srgbClr val="F3F3F3"/>
                    </a:solidFill>
                  </a:tcPr>
                </a:tc>
                <a:extLst>
                  <a:ext uri="{0D108BD9-81ED-4DB2-BD59-A6C34878D82A}">
                    <a16:rowId xmlns:a16="http://schemas.microsoft.com/office/drawing/2014/main" val="10002"/>
                  </a:ext>
                </a:extLst>
              </a:tr>
              <a:tr h="762000">
                <a:tc>
                  <a:txBody>
                    <a:bodyPr/>
                    <a:lstStyle/>
                    <a:p>
                      <a:r>
                        <a:rPr sz="2025" b="0">
                          <a:solidFill>
                            <a:srgbClr val="111111"/>
                          </a:solidFill>
                          <a:latin typeface="Calibri"/>
                          <a:ea typeface="Calibri"/>
                          <a:cs typeface="Calibri"/>
                        </a:rPr>
                        <a:t>RACE · corrected target binding</a:t>
                      </a:r>
                    </a:p>
                  </a:txBody>
                  <a:tcPr marL="114300" marR="95250" marT="66675" marB="47625" anchor="ctr">
                    <a:solidFill>
                      <a:srgbClr val="FFFFFF"/>
                    </a:solidFill>
                  </a:tcPr>
                </a:tc>
                <a:tc>
                  <a:txBody>
                    <a:bodyPr/>
                    <a:lstStyle/>
                    <a:p>
                      <a:r>
                        <a:rPr sz="2025" b="0">
                          <a:solidFill>
                            <a:srgbClr val="111111"/>
                          </a:solidFill>
                          <a:latin typeface="Calibri"/>
                          <a:ea typeface="Calibri"/>
                          <a:cs typeface="Calibri"/>
                        </a:rPr>
                        <a:t>76.2485%</a:t>
                      </a:r>
                    </a:p>
                  </a:txBody>
                  <a:tcPr marL="114300" marR="95250" marT="66675" marB="47625" anchor="ctr">
                    <a:solidFill>
                      <a:srgbClr val="FFFFFF"/>
                    </a:solidFill>
                  </a:tcPr>
                </a:tc>
                <a:tc>
                  <a:txBody>
                    <a:bodyPr/>
                    <a:lstStyle/>
                    <a:p>
                      <a:r>
                        <a:rPr sz="2025" b="0">
                          <a:solidFill>
                            <a:srgbClr val="111111"/>
                          </a:solidFill>
                          <a:latin typeface="Calibri"/>
                          <a:ea typeface="Calibri"/>
                          <a:cs typeface="Calibri"/>
                        </a:rPr>
                        <a:t>84.7097%</a:t>
                      </a:r>
                    </a:p>
                  </a:txBody>
                  <a:tcPr marL="114300" marR="95250" marT="66675" marB="47625" anchor="ctr">
                    <a:solidFill>
                      <a:srgbClr val="FFFFFF"/>
                    </a:solidFill>
                  </a:tcPr>
                </a:tc>
                <a:extLst>
                  <a:ext uri="{0D108BD9-81ED-4DB2-BD59-A6C34878D82A}">
                    <a16:rowId xmlns:a16="http://schemas.microsoft.com/office/drawing/2014/main" val="10003"/>
                  </a:ext>
                </a:extLst>
              </a:tr>
            </a:tbl>
          </a:graphicData>
        </a:graphic>
      </p:graphicFrame>
      <p:sp>
        <p:nvSpPr>
          <p:cNvPr id="4" name="Corrected vs original binding: Test IoU +0.2981 pp">
            <a:extLst>
              <a:ext uri="{FF2B5EF4-FFF2-40B4-BE49-F238E27FC236}">
                <a16:creationId xmlns:a16="http://schemas.microsoft.com/office/drawing/2014/main" id="{4A7807E6-5C57-4BBF-B80F-7C8C1571F95E}"/>
              </a:ext>
            </a:extLst>
          </p:cNvPr>
          <p:cNvSpPr>
            <a:spLocks noGrp="1"/>
          </p:cNvSpPr>
          <p:nvPr/>
        </p:nvSpPr>
        <p:spPr>
          <a:xfrm>
            <a:off x="638175" y="5048250"/>
            <a:ext cx="10915650" cy="542925"/>
          </a:xfrm>
          <a:prstGeom prst="rect">
            <a:avLst/>
          </a:prstGeom>
          <a:noFill/>
          <a:ln w="0">
            <a:noFill/>
          </a:ln>
        </p:spPr>
        <p:txBody>
          <a:bodyPr wrap="square" lIns="0" tIns="0" rIns="0" bIns="0" anchor="t">
            <a:noAutofit/>
          </a:bodyPr>
          <a:lstStyle/>
          <a:p>
            <a:pPr algn="l">
              <a:buNone/>
              <a:defRPr sz="1875" b="1">
                <a:solidFill>
                  <a:srgbClr val="111111"/>
                </a:solidFill>
                <a:latin typeface="Calibri"/>
                <a:ea typeface="Calibri"/>
                <a:cs typeface="Calibri"/>
              </a:defRPr>
            </a:pPr>
            <a:r>
              <a:rPr sz="1875" b="1">
                <a:solidFill>
                  <a:srgbClr val="111111"/>
                </a:solidFill>
                <a:latin typeface="Calibri"/>
                <a:ea typeface="Calibri"/>
                <a:cs typeface="Calibri"/>
              </a:rPr>
              <a:t>Corrected vs original binding: Test IoU +0.2981 pp; image 95% CI [+0.0538, +0.5404].</a:t>
            </a:r>
          </a:p>
        </p:txBody>
      </p:sp>
      <p:sp>
        <p:nvSpPr>
          <p:cNvPr id="5" name="Validation difference: −0.1107 pp (interval crosse">
            <a:extLst>
              <a:ext uri="{FF2B5EF4-FFF2-40B4-BE49-F238E27FC236}">
                <a16:creationId xmlns:a16="http://schemas.microsoft.com/office/drawing/2014/main" id="{EFFBCCF0-9DD9-441F-BA22-FCB7BD8AF9EE}"/>
              </a:ext>
            </a:extLst>
          </p:cNvPr>
          <p:cNvSpPr>
            <a:spLocks noGrp="1"/>
          </p:cNvSpPr>
          <p:nvPr/>
        </p:nvSpPr>
        <p:spPr>
          <a:xfrm>
            <a:off x="638175" y="5667375"/>
            <a:ext cx="10915650" cy="609600"/>
          </a:xfrm>
          <a:prstGeom prst="rect">
            <a:avLst/>
          </a:prstGeom>
          <a:noFill/>
          <a:ln w="0">
            <a:noFill/>
          </a:ln>
        </p:spPr>
        <p:txBody>
          <a:bodyPr wrap="square" lIns="0" tIns="0" rIns="0" bIns="0" anchor="t">
            <a:noAutofit/>
          </a:bodyPr>
          <a:lstStyle/>
          <a:p>
            <a:pPr algn="l">
              <a:buNone/>
              <a:defRPr sz="1800" b="0">
                <a:solidFill>
                  <a:srgbClr val="606060"/>
                </a:solidFill>
                <a:latin typeface="Calibri"/>
                <a:ea typeface="Calibri"/>
                <a:cs typeface="Calibri"/>
              </a:defRPr>
            </a:pPr>
            <a:r>
              <a:rPr sz="1800" b="0">
                <a:solidFill>
                  <a:srgbClr val="606060"/>
                </a:solidFill>
                <a:latin typeface="Calibri"/>
                <a:ea typeface="Calibri"/>
                <a:cs typeface="Calibri"/>
              </a:rPr>
              <a:t>Validation difference: −0.1107 pp (interval crosses zero).</a:t>
            </a:r>
          </a:p>
          <a:p>
            <a:pPr algn="l">
              <a:buNone/>
              <a:defRPr sz="1800" b="0">
                <a:solidFill>
                  <a:srgbClr val="606060"/>
                </a:solidFill>
                <a:latin typeface="Calibri"/>
                <a:ea typeface="Calibri"/>
                <a:cs typeface="Calibri"/>
              </a:defRPr>
            </a:pPr>
            <a:r>
              <a:rPr sz="1800" b="0">
                <a:solidFill>
                  <a:srgbClr val="606060"/>
                </a:solidFill>
                <a:latin typeface="Calibri"/>
                <a:ea typeface="Calibri"/>
                <a:cs typeface="Calibri"/>
              </a:rPr>
              <a:t>Binding repair improves target assignment; it is not the architectural contribution.</a:t>
            </a:r>
          </a:p>
        </p:txBody>
      </p:sp>
      <p:sp>
        <p:nvSpPr>
          <p:cNvPr id="6" name="Backup: binding comparison">
            <a:extLst>
              <a:ext uri="{FF2B5EF4-FFF2-40B4-BE49-F238E27FC236}">
                <a16:creationId xmlns:a16="http://schemas.microsoft.com/office/drawing/2014/main" id="{9EE7FE15-B3F9-412F-828C-4CE89DC5B2CA}"/>
              </a:ext>
            </a:extLst>
          </p:cNvPr>
          <p:cNvSpPr>
            <a:spLocks noGrp="1"/>
          </p:cNvSpPr>
          <p:nvPr/>
        </p:nvSpPr>
        <p:spPr>
          <a:xfrm>
            <a:off x="638175" y="6467475"/>
            <a:ext cx="9906000" cy="190500"/>
          </a:xfrm>
          <a:prstGeom prst="rect">
            <a:avLst/>
          </a:prstGeom>
          <a:noFill/>
          <a:ln w="0">
            <a:noFill/>
          </a:ln>
        </p:spPr>
        <p:txBody>
          <a:bodyPr wrap="square" lIns="0" tIns="0" rIns="0" bIns="0" anchor="ctr">
            <a:noAutofit/>
          </a:bodyPr>
          <a:lstStyle/>
          <a:p>
            <a:pPr algn="l">
              <a:buNone/>
              <a:defRPr sz="900" b="0">
                <a:solidFill>
                  <a:srgbClr val="999999"/>
                </a:solidFill>
                <a:latin typeface="Calibri"/>
                <a:ea typeface="Calibri"/>
                <a:cs typeface="Calibri"/>
              </a:defRPr>
            </a:pPr>
            <a:r>
              <a:rPr sz="900" b="0">
                <a:solidFill>
                  <a:srgbClr val="999999"/>
                </a:solidFill>
                <a:latin typeface="Calibri"/>
                <a:ea typeface="Calibri"/>
                <a:cs typeface="Calibri"/>
              </a:rPr>
              <a:t>Backup: binding comparison, seed 1219</a:t>
            </a:r>
          </a:p>
        </p:txBody>
      </p:sp>
      <p:sp>
        <p:nvSpPr>
          <p:cNvPr id="7" name="20">
            <a:extLst>
              <a:ext uri="{FF2B5EF4-FFF2-40B4-BE49-F238E27FC236}">
                <a16:creationId xmlns:a16="http://schemas.microsoft.com/office/drawing/2014/main" id="{FB950C35-0FC9-4A89-9DAC-2762C51838ED}"/>
              </a:ext>
            </a:extLst>
          </p:cNvPr>
          <p:cNvSpPr>
            <a:spLocks noGrp="1"/>
          </p:cNvSpPr>
          <p:nvPr/>
        </p:nvSpPr>
        <p:spPr>
          <a:xfrm>
            <a:off x="11144250" y="6467475"/>
            <a:ext cx="409575" cy="190500"/>
          </a:xfrm>
          <a:prstGeom prst="rect">
            <a:avLst/>
          </a:prstGeom>
          <a:noFill/>
          <a:ln w="0">
            <a:noFill/>
          </a:ln>
        </p:spPr>
        <p:txBody>
          <a:bodyPr wrap="square" lIns="0" tIns="0" rIns="0" bIns="0" anchor="t">
            <a:noAutofit/>
          </a:bodyPr>
          <a:lstStyle/>
          <a:p>
            <a:pPr algn="r">
              <a:buNone/>
              <a:defRPr sz="900" b="0">
                <a:solidFill>
                  <a:srgbClr val="999999"/>
                </a:solidFill>
                <a:latin typeface="Calibri"/>
                <a:ea typeface="Calibri"/>
                <a:cs typeface="Calibri"/>
              </a:defRPr>
            </a:pPr>
            <a:r>
              <a:rPr sz="900" b="0">
                <a:solidFill>
                  <a:srgbClr val="999999"/>
                </a:solidFill>
                <a:latin typeface="Calibri"/>
                <a:ea typeface="Calibri"/>
                <a:cs typeface="Calibri"/>
              </a:rPr>
              <a:t>21</a:t>
            </a:r>
          </a:p>
        </p:txBody>
      </p:sp>
    </p:spTree>
    <p:extLst>
      <p:ext uri="{BB962C8B-B14F-4D97-AF65-F5344CB8AC3E}">
        <p14:creationId xmlns:p14="http://schemas.microsoft.com/office/powerpoint/2010/main" val="6702855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TotalTime>
  <Words>4432</Words>
  <Application>Microsoft Office PowerPoint</Application>
  <DocSecurity>0</DocSecurity>
  <PresentationFormat>宽屏</PresentationFormat>
  <Paragraphs>548</Paragraphs>
  <Slides>23</Slides>
  <Notes>20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23</vt:i4>
      </vt:variant>
    </vt:vector>
  </HeadingPairs>
  <TitlesOfParts>
    <vt:vector size="27" baseType="lpstr">
      <vt:lpstr>Arial</vt:lpstr>
      <vt:lpstr>Calibri</vt:lpstr>
      <vt:lpstr>Cambria</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Ramos Wang</cp:lastModifiedBy>
  <cp:revision>3</cp:revision>
  <dcterms:created xsi:type="dcterms:W3CDTF">2026-09-21T17:19:21Z</dcterms:created>
  <dcterms:modified xsi:type="dcterms:W3CDTF">2026-09-22T04:55:49Z</dcterms:modified>
</cp:coreProperties>
</file>